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" Target="slide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" Target="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slide" Target="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18.png"/><Relationship Id="rId10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DDE6F2"/>
                </a:solidFill>
                <a:latin typeface="Times New Roman"/>
              </a:rPr>
              <a:t>Military Security and Defense University of the Republic of Uzbekistan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DDE6F2"/>
                </a:solidFill>
                <a:latin typeface="Times New Roman"/>
              </a:rPr>
              <a:t>Institute of Information and Communication Technologies and Military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7FD1BD"/>
                </a:solidFill>
                <a:latin typeface="Times New Roman"/>
              </a:rPr>
              <a:t>Cyber Forensics and Ethical Hacking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Topic 2. Linux OS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Lesson 3. Working in Linux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THEORY: recon actions and network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21208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Practical lesson · 4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5212080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Kali Linux · Metasploitable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1">
                <a:solidFill>
                  <a:srgbClr val="DDE6F2"/>
                </a:solidFill>
                <a:latin typeface="Times New Roman"/>
              </a:rPr>
              <a:t>Tashkent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LESSON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The lesson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5760719" cy="38039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420623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Details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Subject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Cyber Forensics and Ethical Hacking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Topic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2. Linux OS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Lesson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3. Working in Linux OS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Type and time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Practical · 4 hours = 2 sessions × 80 min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Learning questions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1. Recon actions in Linux OS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2. Nmap, Netcat, Traceroute, whois, dig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Laboratory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Kali Linux (you) and Metasploitable (target)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Prior knowledge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2.2: terminal,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|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&gt;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grep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apt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1600200"/>
            <a:ext cx="50292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600200"/>
            <a:ext cx="64008" cy="36118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8249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By the end of the lesson you will: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011680"/>
            <a:ext cx="4718304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tell passive from active recon;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find domain and IP info with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whois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dig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see a packet’s path with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find open ports, services and versions with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nmap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grab a banner with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save results to a file and write a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349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Theory block: 20 min (start of session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669280"/>
            <a:ext cx="801624" cy="45720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Theory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20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1880" y="5669280"/>
            <a:ext cx="1639824" cy="45720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Tasks 1–2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40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5669280"/>
            <a:ext cx="2478024" cy="4572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Tasks 3–6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60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86400"/>
            <a:ext cx="5760720" cy="731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687568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" y="5486400"/>
            <a:ext cx="5074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Today we learn five tools for gathering information about a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LABORATORY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Two virtual machines, one closed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0671" y="1508760"/>
            <a:ext cx="10220178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5_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91" y="1554480"/>
            <a:ext cx="10128738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937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1. Lab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618988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5349240"/>
            <a:ext cx="9829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The most important rule: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scan only your own lab target. Scanning another network without the owner’s written permission may be a crime; never connect Metasploitable to the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THEORY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5 items – 3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26517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783080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924812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328" y="1874519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78A73"/>
                </a:solidFill>
                <a:latin typeface="Times New Roman"/>
              </a:rPr>
              <a:t>A. Recon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697480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1.1  Recon: passive and active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1.2  whois and DNS: dig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002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00200"/>
            <a:ext cx="64008" cy="265176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1783080"/>
            <a:ext cx="566928" cy="566928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32" y="1924812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57800" y="1874519"/>
            <a:ext cx="24688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E08E1D"/>
                </a:solidFill>
                <a:latin typeface="Times New Roman"/>
              </a:rPr>
              <a:t>B. Path and 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97480"/>
            <a:ext cx="30632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1.3  traceroute: packet path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1.4  nmap: ports and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60020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600200"/>
            <a:ext cx="64008" cy="2651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83879" y="1783080"/>
            <a:ext cx="566928" cy="5669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ermina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611" y="1924812"/>
            <a:ext cx="283464" cy="2834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69680" y="1874519"/>
            <a:ext cx="26974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C. Service and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97480"/>
            <a:ext cx="32918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1.5  netcat: connecting to a port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3.2  Scanning leaves traces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57200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_178A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818888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33856" y="4572000"/>
            <a:ext cx="10378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Each item: diagram → rule → example. Every practical task carries a “Theory: 1.x” 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7FD1BD"/>
                </a:solidFill>
                <a:latin typeface="Times New Roman"/>
              </a:rPr>
              <a:t>I.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269748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Recon actions and network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 i="0">
                <a:solidFill>
                  <a:srgbClr val="DDE6F2"/>
                </a:solidFill>
                <a:latin typeface="Times New Roman"/>
              </a:rPr>
              <a:t>How information about a target is gathered: passive first, then active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 · RECON: PASSIVE AND 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Recon is the first stage: gathering information about a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994" y="1508760"/>
            <a:ext cx="10501532" cy="3474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1_re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14" y="1554480"/>
            <a:ext cx="10410092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2. Recon stages and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664708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5440680"/>
            <a:ext cx="9829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Passive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does not touch the target (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whois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dig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). </a:t>
            </a:r>
            <a:r>
              <a:rPr sz="1300" b="1" i="0">
                <a:solidFill>
                  <a:srgbClr val="1F3864"/>
                </a:solidFill>
                <a:latin typeface="Times New Roman"/>
              </a:rPr>
              <a:t>Active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sends packets, leaves traces in the target’s logs (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nmap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 · RECON: PASSIVE AND 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Five tools – five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45920"/>
          <a:ext cx="10515600" cy="3730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/>
                <a:gridCol w="7040880"/>
                <a:gridCol w="182880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Tool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Question it answers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whois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Who owns the domain or IP?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Passive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dig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Which IP does it have? Mail and name servers?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Passive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traceroute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Which path does a packet take?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Active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nmap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Which hosts are up? Which ports are open? Which service and version?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Active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nc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How does a service introduce itself on connection?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Active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68756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89888" y="5486400"/>
            <a:ext cx="9829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Order: passive first (leaves no trace), then 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1.2 · WHOIS &amp; DIG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whois and DNS: dig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23444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whois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3583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domain owner, registration date, name servers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for an IP: which organization owns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180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71800"/>
            <a:ext cx="64008" cy="123444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5409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dig · 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383280"/>
            <a:ext cx="53583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DNS turns a domain name into an IP – “the phone book”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the record type says what you want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4340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40740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672584"/>
            <a:ext cx="53949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whois example.com | head -20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dig +short example.com 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dig +short gmail.com MX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dig -x 8.8.8.8 +short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52160"/>
            <a:ext cx="5669280" cy="457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916168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3856" y="5852160"/>
            <a:ext cx="4983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“REDACTED FOR PRIVACY” is normal.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46520" y="1600200"/>
          <a:ext cx="5166360" cy="3584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720"/>
                <a:gridCol w="397764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Record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IPv4 address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AAAA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IPv6 address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name servers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MX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mail servers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TXT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text record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PTR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reverse: IP → name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6446520" y="5577840"/>
            <a:ext cx="92811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DNS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1.3 · TRACEROUTE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traceroute: the path of a packet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508760"/>
            <a:ext cx="7040879" cy="287121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2_trace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480"/>
            <a:ext cx="6949439" cy="2779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425696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3. Finding the path with TTL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983480"/>
            <a:ext cx="694944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047488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312664"/>
            <a:ext cx="6675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traceroute -n example.com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ping -c 2 -t 1 example.com  </a:t>
            </a:r>
            <a:r>
              <a:rPr sz="1100">
                <a:solidFill>
                  <a:srgbClr val="7FD1B9"/>
                </a:solidFill>
                <a:latin typeface="Consolas"/>
              </a:rPr>
              <a:t> # TTL=1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traceroute -n $TARGET  </a:t>
            </a:r>
            <a:r>
              <a:rPr sz="1100">
                <a:solidFill>
                  <a:srgbClr val="7FD1B9"/>
                </a:solidFill>
                <a:latin typeface="Consolas"/>
              </a:rPr>
              <a:t> # one hop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600200"/>
            <a:ext cx="38862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1600200"/>
            <a:ext cx="64008" cy="237744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1682496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Reading the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7" y="2011680"/>
            <a:ext cx="357530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* * *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– no reply from this hop (firewall); the path is not necessarily broken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The hop count may vary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Same network – usually 1 hop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160520"/>
            <a:ext cx="3886200" cy="11887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5" y="459028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93607" y="4160520"/>
            <a:ext cx="3200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Each router lowers TTL by 1; at 0 it drops the packet and sends a message back.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7726679" y="5577840"/>
            <a:ext cx="92811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TTL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1.4 ·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nmap: the three port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10607040" cy="33775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3_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0515600" cy="3286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932045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4. open, closed and filtered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7498079" cy="8686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618988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5349240"/>
            <a:ext cx="68122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port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is a service’s “door” on a computer (0–65535). An open port is a running service – a door into the target.</a:t>
            </a: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8595360" y="5623560"/>
            <a:ext cx="102412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1.4 ·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The most common 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731520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"/>
                <a:gridCol w="2834640"/>
                <a:gridCol w="822960"/>
                <a:gridCol w="28346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Port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Service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Port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Service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FTP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HTTP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22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SSH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443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HTTPS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Telnet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445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SMB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SMTP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3306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MySQL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DNS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3389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RDP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138160" y="160020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600200"/>
            <a:ext cx="64008" cy="21031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82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Remember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011680"/>
            <a:ext cx="316382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21 – FTP, 22 – SSH, 80 – HTTP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23 Telnet – old, insecure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445 – Windows file sharing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88620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4293108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05088" y="3886200"/>
            <a:ext cx="27889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With no options nmap checks the </a:t>
            </a:r>
            <a:r>
              <a:rPr sz="1300" b="1" i="0">
                <a:solidFill>
                  <a:srgbClr val="1F3864"/>
                </a:solidFill>
                <a:latin typeface="Times New Roman"/>
              </a:rPr>
              <a:t>1000 most popular ports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92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596128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3856" y="5349240"/>
            <a:ext cx="10378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A port number hints at the service, but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-sV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gives the real answer.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1.4 ·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Main options and reading the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585216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38404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Option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it does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-sn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live hosts only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-p 21,80</a:t>
                      </a:r>
                      <a:r>
                        <a:rPr sz="1250" b="1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-p-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listed / all ports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-F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fast scan (100 ports)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-sV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service and version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OS guess (</a:t>
                      </a:r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sudo</a:t>
                      </a:r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--open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open ports only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-oN file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save result to a file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-Pn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skip the ping check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29400" y="1600200"/>
            <a:ext cx="4983480" cy="210312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64208"/>
            <a:ext cx="4709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$ nmap -sV --open $TARGET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29384"/>
            <a:ext cx="4709160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E6EDF5"/>
                </a:solidFill>
                <a:latin typeface="Consolas"/>
              </a:rPr>
              <a:t>PORT   STATE SERVICE VERSION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E6EDF5"/>
                </a:solidFill>
                <a:latin typeface="Consolas"/>
              </a:rPr>
              <a:t>21/tcp open  ftp     vsftpd 2.3.4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E6EDF5"/>
                </a:solidFill>
                <a:latin typeface="Consolas"/>
              </a:rPr>
              <a:t>22/tcp open  ssh     OpenSSH 4.7p1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E6EDF5"/>
                </a:solidFill>
                <a:latin typeface="Consolas"/>
              </a:rPr>
              <a:t>80/tcp open  http    Apache httpd 2.2.8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840480"/>
            <a:ext cx="498348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20840" y="38907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840480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PORT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– number and protocol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315968"/>
            <a:ext cx="498348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0840" y="436626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315968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STATE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– open / closed / filtered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791456"/>
            <a:ext cx="498348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20840" y="484174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791456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VERSION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– goes into the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669280"/>
            <a:ext cx="5852160" cy="59436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801868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33856" y="5669280"/>
            <a:ext cx="5166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An old version can signal known vulnerabilities.</a:t>
            </a:r>
          </a:p>
        </p:txBody>
      </p:sp>
      <p:sp>
        <p:nvSpPr>
          <p:cNvPr id="24" name="Rounded Rectangle 23">
            <a:hlinkClick action="ppaction://hlinksldjump" r:id="rId4"/>
          </p:cNvPr>
          <p:cNvSpPr/>
          <p:nvPr/>
        </p:nvSpPr>
        <p:spPr>
          <a:xfrm>
            <a:off x="6629400" y="5806440"/>
            <a:ext cx="102412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1.5 · NETCAT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netcat (nc): connecting to a port by 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508760"/>
            <a:ext cx="7040879" cy="213283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4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480"/>
            <a:ext cx="6949439" cy="20413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687317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5. Grabbing a banner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60520"/>
            <a:ext cx="6949440" cy="15087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224528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489704"/>
            <a:ext cx="667512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nc -zv $TARGET 21 22 80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nc -nv $TARGET 21    </a:t>
            </a:r>
            <a:r>
              <a:rPr sz="1100">
                <a:solidFill>
                  <a:srgbClr val="7FD1B9"/>
                </a:solidFill>
                <a:latin typeface="Consolas"/>
              </a:rPr>
              <a:t> # FTP banner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nc -lvnp 4444         </a:t>
            </a:r>
            <a:r>
              <a:rPr sz="1100">
                <a:solidFill>
                  <a:srgbClr val="7FD1B9"/>
                </a:solidFill>
                <a:latin typeface="Consolas"/>
              </a:rPr>
              <a:t> # listen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26679" y="1600200"/>
          <a:ext cx="3886200" cy="28163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720"/>
                <a:gridCol w="26974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Option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it does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only checks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-v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verbose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no DNS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-w 3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waits 3 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listens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-p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port number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726679" y="4572000"/>
            <a:ext cx="3886200" cy="109728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5" y="495604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93607" y="4572000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versions differ in Kali: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nc -h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. If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-p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errors: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nc -lvn 4444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806440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arch_1F38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87044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3856" y="5806440"/>
            <a:ext cx="6263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 banner is the text a service sends when you connect.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7726679" y="5852160"/>
            <a:ext cx="12161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banner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Scanning: 6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78308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2024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328" y="178308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C0392B"/>
                </a:solidFill>
                <a:latin typeface="Times New Roman"/>
              </a:rPr>
              <a:t>Only your own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51460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Scan only the lab’s Metasploitable.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60020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60020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17136" y="178308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920240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02936" y="178308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C0392B"/>
                </a:solidFill>
                <a:latin typeface="Times New Roman"/>
              </a:rPr>
              <a:t>Permission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251460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Any other network – only with the owner’s written permission.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60020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600200"/>
            <a:ext cx="64008" cy="219456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38744" y="1783080"/>
            <a:ext cx="548640" cy="54864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920240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24544" y="178308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E08E1D"/>
                </a:solidFill>
                <a:latin typeface="Times New Roman"/>
              </a:rPr>
              <a:t>Keep the weak system isolated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251460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Never connect Metasploitable to the internet; shut it down when idle.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3192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31920"/>
            <a:ext cx="64008" cy="2194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5528" y="411480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251960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81328" y="411480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Active recon leaves traces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8463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Consolas"/>
              </a:rPr>
              <a:t>nmap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5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5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 show up in the target’s logs.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393192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8536" y="3931920"/>
            <a:ext cx="64008" cy="2194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17136" y="411480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251960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202936" y="411480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Save results with a timestamp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136" y="48463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Consolas"/>
              </a:rPr>
              <a:t>-oN file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350" b="1" i="0">
                <a:solidFill>
                  <a:srgbClr val="178A73"/>
                </a:solidFill>
                <a:latin typeface="Consolas"/>
              </a:rPr>
              <a:t>date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 – for the report and as evidence.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393192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10144" y="3931920"/>
            <a:ext cx="64008" cy="2194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38744" y="411480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databas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4251960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924544" y="411480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Take a snapshot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8744" y="48463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Snapshot before you start; restore when finished.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What to remember from the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1828800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977390"/>
            <a:ext cx="297180" cy="2971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" y="1600200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Recon: passive first (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whois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dig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), then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0020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600200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828800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o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526" y="1977390"/>
            <a:ext cx="297180" cy="2971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50608" y="1600200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DNS records: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A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NS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MX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TXT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PTR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70632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770632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8096" y="2999232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86" y="3147822"/>
            <a:ext cx="297180" cy="2971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2768" y="2770632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: TTL=1, 2, 3 … – routers on the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770632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2770632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45936" y="2999232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526" y="3147822"/>
            <a:ext cx="297180" cy="2971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50608" y="2770632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Port states: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open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closed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filtered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41064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941064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8096" y="4169664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za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686" y="4318254"/>
            <a:ext cx="297180" cy="2971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72768" y="3941064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nmap -sV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– service and version;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-oN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– save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3941064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4768" y="3941064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45936" y="4169664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termina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526" y="4318254"/>
            <a:ext cx="297180" cy="2971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50608" y="3941064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– grab a banner and talk over a 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111496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111496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8096" y="5340096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ey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" y="5488686"/>
            <a:ext cx="297180" cy="2971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72768" y="5111496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Active recon leaves traces in the target’s logs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4768" y="5111496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44768" y="5111496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45936" y="5340096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warning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4526" y="5488686"/>
            <a:ext cx="297180" cy="2971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150608" y="5111496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Scan only your own lab target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REVIEW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Test yourself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929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600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What is recon? Passive vs active recon?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00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81928" y="1929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00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What are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whois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dig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for? Why passive?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43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072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743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What do the DNS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A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NS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MX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records mean?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743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81928" y="3072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743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How does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work? What is TTL?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86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4088" y="4215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7" y="3886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How do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open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closed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filtered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differ?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3886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81928" y="4215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886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What do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-sn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-F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-p-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-sV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-O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do?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29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8" y="5358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5029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What is a banner? How do you get one with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5029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81928" y="5358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5029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Why scan only authorized targets?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4400" b="1" i="0">
                <a:solidFill>
                  <a:srgbClr val="FFFFFF"/>
                </a:solidFill>
                <a:latin typeface="Times New Roman"/>
              </a:rPr>
              <a:t>THANK YOU FOR YOUR ATTENTION!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429000"/>
            <a:ext cx="137160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DDE6F2"/>
                </a:solidFill>
                <a:latin typeface="Times New Roman"/>
              </a:rPr>
              <a:t>Now the practice: 6 tasks on Kali and Metasploitable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7FD1BD"/>
                </a:solidFill>
                <a:latin typeface="Times New Roman"/>
              </a:rPr>
              <a:t>GLOSSARY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269748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Tricky terms, explained simply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 i="0">
                <a:solidFill>
                  <a:srgbClr val="DDE6F2"/>
                </a:solidFill>
                <a:latin typeface="Times New Roman"/>
              </a:rPr>
              <a:t>Buttons marked “?” in the slides jump 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Glossary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64008" cy="20116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192024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01952"/>
            <a:ext cx="429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</a:rPr>
              <a:t>DNS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60604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54647A"/>
                </a:solidFill>
                <a:latin typeface="Times New Roman"/>
              </a:rPr>
              <a:t>the domain → IP “phone book”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572768" y="30632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Open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6459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45920"/>
            <a:ext cx="64008" cy="20116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920240"/>
            <a:ext cx="548640" cy="54864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1901952"/>
            <a:ext cx="429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</a:rPr>
              <a:t>TTL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60604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54647A"/>
                </a:solidFill>
                <a:latin typeface="Times New Roman"/>
              </a:rPr>
              <a:t>a packet’s time to live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7150608" y="30632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Open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4048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40480"/>
            <a:ext cx="64008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411480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096512"/>
            <a:ext cx="429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</a:rPr>
              <a:t>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800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54647A"/>
                </a:solidFill>
                <a:latin typeface="Times New Roman"/>
              </a:rPr>
              <a:t>a service’s “door”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1572768" y="52578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Open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4048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840480"/>
            <a:ext cx="6400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19088" y="411480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4096512"/>
            <a:ext cx="429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</a:rPr>
              <a:t>Banner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4800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54647A"/>
                </a:solidFill>
                <a:latin typeface="Times New Roman"/>
              </a:rPr>
              <a:t>a service’s introduction text</a:t>
            </a:r>
          </a:p>
        </p:txBody>
      </p:sp>
      <p:sp>
        <p:nvSpPr>
          <p:cNvPr id="31" name="Rounded Rectangle 30">
            <a:hlinkClick action="ppaction://hlinksldjump" r:id="rId6"/>
          </p:cNvPr>
          <p:cNvSpPr/>
          <p:nvPr/>
        </p:nvSpPr>
        <p:spPr>
          <a:xfrm>
            <a:off x="7150608" y="52578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Open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DNS: the phone book of the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417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In plain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0840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People remember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names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(example.com); computers use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numbers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(IPs). DNS links the two.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54680"/>
            <a:ext cx="64008" cy="13258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Analogy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66160"/>
            <a:ext cx="50840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 phone book: look up a number by name.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1772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681728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946904"/>
            <a:ext cx="51206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dig +short example.com 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dig -x 8.8.8.8 +short  </a:t>
            </a:r>
            <a:r>
              <a:rPr sz="1050">
                <a:solidFill>
                  <a:srgbClr val="7FD1B9"/>
                </a:solidFill>
                <a:latin typeface="Consolas"/>
              </a:rPr>
              <a:t> # reverse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53949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1828800"/>
            <a:ext cx="2286000" cy="7315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example.com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name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778240" y="2697480"/>
            <a:ext cx="365760" cy="50292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0" y="3291840"/>
            <a:ext cx="2286000" cy="82296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DNS server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dig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778240" y="4251960"/>
            <a:ext cx="365760" cy="50292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0" y="4846320"/>
            <a:ext cx="2286000" cy="73152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93.184.216.34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IP address (A)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66928" y="59436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Back to the topic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TTL: a packet’s time to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417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In plain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0840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 packet carries a number. Each router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lowers it by 1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. At 0 the packet is dropped and a message goes back to the sender.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54680"/>
            <a:ext cx="64008" cy="13258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Analogy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66160"/>
            <a:ext cx="50840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 letter: one stamp is used at every stop; when stamps run out the letter is returned.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1772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681728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946904"/>
            <a:ext cx="51206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ping -c 2 -t 1 example.com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Time to live exceeded    </a:t>
            </a:r>
            <a:r>
              <a:rPr sz="1050">
                <a:solidFill>
                  <a:srgbClr val="7FD1B9"/>
                </a:solidFill>
                <a:latin typeface="Consolas"/>
              </a:rPr>
              <a:t> # the expected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53949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286000"/>
            <a:ext cx="1005840" cy="100584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3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TTL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98079" y="2651760"/>
            <a:ext cx="22860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2286000"/>
            <a:ext cx="1005840" cy="100584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2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TTL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78240" y="2651760"/>
            <a:ext cx="22860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06840" y="2286000"/>
            <a:ext cx="1005840" cy="100584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1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TTL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058400" y="2651760"/>
            <a:ext cx="22860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87000" y="2286000"/>
            <a:ext cx="1005840" cy="100584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0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TTL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290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4290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4290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34290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0624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At TTL=0 the router drops the packet and says “time exceeded” (ICMP) – traceroute relies on exactly that.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566928" y="59436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Back to the topic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Port: a service’s door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417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In plain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0840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Many services run on one IP address. The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port number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says which service to connect to (0–65535).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54680"/>
            <a:ext cx="64008" cy="13258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Analogy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66160"/>
            <a:ext cx="50840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 building and its rooms: the IP is the street address, the port is the room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1772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681728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946904"/>
            <a:ext cx="51206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nmap -p 21,22,80 $TARGET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nmap -p- --open $TARGET  </a:t>
            </a:r>
            <a:r>
              <a:rPr sz="1050">
                <a:solidFill>
                  <a:srgbClr val="7FD1B9"/>
                </a:solidFill>
                <a:latin typeface="Consolas"/>
              </a:rPr>
              <a:t> # all 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53949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0" y="1828800"/>
            <a:ext cx="4572000" cy="7315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192.168.56.101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IP – the building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017520"/>
            <a:ext cx="1371600" cy="128016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21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FTP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017520"/>
            <a:ext cx="1371600" cy="128016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22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SSH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3017520"/>
            <a:ext cx="1371600" cy="128016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80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6344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Open port = running service = a door you can reach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66928" y="59436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Back to the topic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Banner: a service’s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Cyber Forensics &amp; Ethical Hacking · Topic 2 · Linux OS · Lesson 3 · Theory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417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In plain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0840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Some services, when you connect, send their own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name and version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. That text is the banner.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54680"/>
            <a:ext cx="64008" cy="13258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Analogy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66160"/>
            <a:ext cx="50840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Picking up the phone: “Hello, this is vsFTPd 2.3.4”.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1772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681728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946904"/>
            <a:ext cx="51206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nc -nv $TARGET 21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220 (vsFTPd 2.3.4)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53949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2103120"/>
            <a:ext cx="2011680" cy="82296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Kali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nc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103120"/>
            <a:ext cx="2011680" cy="82296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Service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port 21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95360" y="2377440"/>
            <a:ext cx="82296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3657600"/>
            <a:ext cx="5029200" cy="914400"/>
          </a:xfrm>
          <a:prstGeom prst="roundRect">
            <a:avLst>
              <a:gd name="adj" fmla="val 1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 i="0">
                <a:solidFill>
                  <a:srgbClr val="6EE7B7"/>
                </a:solidFill>
                <a:latin typeface="Times New Roman"/>
              </a:rPr>
              <a:t>220 (vsFTPd 2.3.4)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463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Know the version – and you can look up known vulnerabilities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66928" y="59436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Back to the topic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