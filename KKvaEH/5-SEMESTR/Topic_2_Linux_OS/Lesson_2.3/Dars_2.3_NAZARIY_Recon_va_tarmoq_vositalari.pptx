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" Target="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slide" Target="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18.png"/><Relationship Id="rId10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O‘zbekiston Respublikasi Harbiy xavfsizlik va mudofaa universiteti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Axborot-kommunikatsiya texnologiyalari va harbiy aloqa instituti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7FD1BD"/>
                </a:solidFill>
                <a:latin typeface="Times New Roman"/>
              </a:rPr>
              <a:t>Kiber kriminalistika va etikal haking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2-mavzu. Linux OT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3-mashg‘ulot. Linux OTda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NAZARIY QISM: recon amallari va tarmoq vositalari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1208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Amaliy mashg‘ulot · 4 soat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21208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Kali Linux · Metasploitable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1">
                <a:solidFill>
                  <a:srgbClr val="DDE6F2"/>
                </a:solidFill>
                <a:latin typeface="Times New Roman"/>
              </a:rPr>
              <a:t>Toshkent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MASHG‘ULOT KARTOCHKASI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Mashg‘ulot haqida qisqacha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5760719" cy="3803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420623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Ko‘rsatkich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Ma’lumot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Fan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Kiber kriminalistika va etikal haking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Mavzu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2-mavzu. Linux OT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Mashg‘ulot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3-mashg‘ulot. Linux OTda ishlash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Turi va vaqti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Amaliy · 4 soat = 2 juftlik × 80 daqiqa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O‘quv savollari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1. Linux OTda recon amallar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2. Nmap, Netcat, Traceroute, whois, dig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Laboratoriya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Kali Linux (siz) va Metasploitable (nishon)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Oldingi bilim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2.2: terminal,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|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&gt;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grep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apt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600200"/>
            <a:ext cx="50292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600200"/>
            <a:ext cx="64008" cy="36118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8249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Mashg‘ulot oxirida siz: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011680"/>
            <a:ext cx="4718304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passiv va faol reconni farqlaysiz;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bilan domen va IP topasiz;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bilan paket yo‘lini ko‘rasiz;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bilan ochiq port, servis va versiyani aniqlaysiz;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bilan banner olasiz;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natijani faylga saqlab, hisobot tuzasiz.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49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Nazariy qism: 20 daqiqa (1-juftlik boshida)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669280"/>
            <a:ext cx="801624" cy="45720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Nazariya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20 daq.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1880" y="5669280"/>
            <a:ext cx="1639824" cy="4572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1–2-topshiriq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40 daq.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5669280"/>
            <a:ext cx="2478024" cy="4572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3–6-topshiriq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60 daq.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86400"/>
            <a:ext cx="5760720" cy="731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87568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5486400"/>
            <a:ext cx="5074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Bugun nishon haqida ma’lumot yig‘ishning besh vositasini o‘rganamiz.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LABORATORIYA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Ikki virtual mashina, bitta yopiq tarmoq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0671" y="1508760"/>
            <a:ext cx="10220178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5_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91" y="1554480"/>
            <a:ext cx="10128738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7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1-rasm. Laboratoriya sxemasi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61898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349240"/>
            <a:ext cx="9829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Eng muhim qoida: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skanerlash faqat o‘zingizning laboratoriya nishoningizda. Boshqa tarmoqni egasining yozma ruxsatisiz skanerlash qonunbuzarlik bo‘lishi mumkin; Metasploitable’ni internetga ulamang.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NAZARIY QISM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5 ta band – 3 ta blok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26517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83080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924812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874519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78A73"/>
                </a:solidFill>
                <a:latin typeface="Times New Roman"/>
              </a:rPr>
              <a:t>A. Recon asoslari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697480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1.1  Recon: passiv va faol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1.2  whois va DNS: dig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00200"/>
            <a:ext cx="64008" cy="26517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783080"/>
            <a:ext cx="566928" cy="56692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1924812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57800" y="1874519"/>
            <a:ext cx="2468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E08E1D"/>
                </a:solidFill>
                <a:latin typeface="Times New Roman"/>
              </a:rPr>
              <a:t>B. Yo‘l va portlar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97480"/>
            <a:ext cx="30632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1.3  traceroute: paket yo‘li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1.4  nmap: port va servislar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60020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600200"/>
            <a:ext cx="64008" cy="2651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83879" y="1783080"/>
            <a:ext cx="566928" cy="5669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ermina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611" y="1924812"/>
            <a:ext cx="283464" cy="2834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69680" y="1874519"/>
            <a:ext cx="26974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C. Servis va qoidalar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97480"/>
            <a:ext cx="32918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1.5  netcat: portga ulanish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3.2  Skanerlash iz qoldiradi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57200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_178A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81888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856" y="4572000"/>
            <a:ext cx="10378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Har bir band: sxema → qoida → misol. Amaliyotda har bir topshiriqda “Nazariya: 1.x” havolasi bor.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I. NAZARIY QISM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269748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Recon amallari va tarmoq vositalari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Nishon haqida ma’lumot qanday yig‘iladi: avval passiv, keyin faol usullar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RECON: PASSIV VA FAOL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Recon – tekshiruvning birinchi bosqichi: nishon haqida ma’lumot yig‘ish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994" y="1508760"/>
            <a:ext cx="10501532" cy="3474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1_re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14" y="1554480"/>
            <a:ext cx="10410092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2-rasm. Recon bosqichlari va vositalari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66470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440680"/>
            <a:ext cx="9829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Passiv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nishonga tegmaydi (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). </a:t>
            </a:r>
            <a:r>
              <a:rPr sz="1300" b="1" i="0">
                <a:solidFill>
                  <a:srgbClr val="1F3864"/>
                </a:solidFill>
                <a:latin typeface="Times New Roman"/>
              </a:rPr>
              <a:t>Faol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– nishonga paket yuboradi, nishon jurnalida iz qoladi (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1.1 · RECON: PASSIV VA FAOL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Besh vosita – besh savol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45920"/>
          <a:ext cx="10515600" cy="3730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/>
                <a:gridCol w="7040880"/>
                <a:gridCol w="182880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Vosita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Qanday savolga javob beradi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Turi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whois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Domen yoki IP kimga tegishli?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Passiv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dig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Domen qaysi IP ga ega? Pochta va nom serverlari?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Passiv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traceroute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Paket nishongacha qaysi yo‘ldan o‘tadi?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Faol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nmap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Qaysi host yoqiq? Qaysi port ochiq? Qaysi servis va versiya?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Faol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78A73"/>
                          </a:solidFill>
                          <a:latin typeface="Consolas"/>
                        </a:rPr>
                        <a:t>nc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Portga ulanganda servis o‘zini qanday tanishtiradi?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02A38"/>
                          </a:solidFill>
                          <a:latin typeface="Times New Roman"/>
                        </a:rPr>
                        <a:t>Faol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68756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89888" y="5486400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Tartib: avval passiv (iz qoldirmaydi), keyin faol.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1.2 · WHOIS &amp; DIG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whois va DNS: dig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2344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whois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358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domen egasi, ro‘yxatga olingan sana, nom serverlari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IP uchun: qaysi tashkilotga tegishli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180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71800"/>
            <a:ext cx="64008" cy="12344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5409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dig ·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383280"/>
            <a:ext cx="5358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DNS – domen nomini IP ga aylantiruvchi “telefon daftari”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yozuv turi nima kerakligini bildiradi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4340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40740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72584"/>
            <a:ext cx="53949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whois example.com | head -20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dig +short example.com 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dig +short gmail.com MX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dig -x 8.8.8.8 +short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52160"/>
            <a:ext cx="5669280" cy="457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916168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856" y="5852160"/>
            <a:ext cx="4983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“REDACTED FOR PRIVACY” – normal holat.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46520" y="1600200"/>
          <a:ext cx="5166360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/>
                <a:gridCol w="397764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Yozuv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Ma’nosi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IPv4 manzil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AAAA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IPv6 manzil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nom serverlari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MX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pochta serverlari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TXT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matnli yozuv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PTR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teskari: IP → nom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6446520" y="5577840"/>
            <a:ext cx="92811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DNS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1.3 · TRACEROUTE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traceroute: paket yo‘li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508760"/>
            <a:ext cx="7040879" cy="287121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2_trace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6949439" cy="2779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425696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3-rasm. TTL yordamida yo‘lni topish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83480"/>
            <a:ext cx="694944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04748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312664"/>
            <a:ext cx="6675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traceroute -n example.com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ping -c 2 -t 1 example.com  </a:t>
            </a:r>
            <a:r>
              <a:rPr sz="1100">
                <a:solidFill>
                  <a:srgbClr val="7FD1B9"/>
                </a:solidFill>
                <a:latin typeface="Consolas"/>
              </a:rPr>
              <a:t> # TTL=1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traceroute -n $TARGET  </a:t>
            </a:r>
            <a:r>
              <a:rPr sz="1100">
                <a:solidFill>
                  <a:srgbClr val="7FD1B9"/>
                </a:solidFill>
                <a:latin typeface="Consolas"/>
              </a:rPr>
              <a:t> # bir qadam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600200"/>
            <a:ext cx="38862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600200"/>
            <a:ext cx="64008" cy="23774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1682496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Natijani o‘qish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7" y="2011680"/>
            <a:ext cx="357530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* * *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– shu qadamdan javob yo‘q (firewall); yo‘l uzilgan degani emas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Qadamlar soni farq qilishi mumkin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Bir tarmoqda – odatda 1 qadam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160520"/>
            <a:ext cx="3886200" cy="11887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5" y="459028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93607" y="4160520"/>
            <a:ext cx="3200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Har router TTL ni 1 ga kamaytiradi; 0 bo‘lsa – paketni tashlab, xabar qaytaradi.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7726679" y="5577840"/>
            <a:ext cx="92811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TTL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nmap: portning uch holati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0607040" cy="33775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3_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0515600" cy="3286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2045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4-rasm. open, closed va filtered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7498079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61898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5349240"/>
            <a:ext cx="68122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Port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– kompyuterdagi servisning “eshigi” (0–65535). Ochiq port – ishlayotgan servis, ya’ni nishonga kirish mumkin bo‘lgan eshik.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8595360" y="5623560"/>
            <a:ext cx="102412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Eng ko‘p uchraydigan portlar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731520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"/>
                <a:gridCol w="2834640"/>
                <a:gridCol w="822960"/>
                <a:gridCol w="28346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Servis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Servis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FTP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HTTP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22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SSH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443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HTTPS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Telnet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445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SMB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SMTP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3306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MySQL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02A38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DNS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3389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02A38"/>
                          </a:solidFill>
                          <a:latin typeface="Times New Roman"/>
                        </a:rPr>
                        <a:t>RDP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38160" y="160020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64008" cy="2103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82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Eslab qoling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316382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21 – FTP, 22 – SSH, 80 – HTTP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23 Telnet – eski, xavfsiz emas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445 – Windows fayl almashish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862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429310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05088" y="3886200"/>
            <a:ext cx="27889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Kalit berilmasa, nmap eng mashhur </a:t>
            </a:r>
            <a:r>
              <a:rPr sz="1300" b="1" i="0">
                <a:solidFill>
                  <a:srgbClr val="1F3864"/>
                </a:solidFill>
                <a:latin typeface="Times New Roman"/>
              </a:rPr>
              <a:t>1000 port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ni tekshiradi.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92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596128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" y="5349240"/>
            <a:ext cx="10378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Port raqamidan servisni taxmin qilish mumkin, lekin aniq javobni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-sV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beradi.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1.4 ·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Asosiy kalitlar va natijani o‘qish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585216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38404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Kalit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Nima qiladi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-sn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faqat yoqiq hostlar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 21,80</a:t>
                      </a:r>
                      <a:r>
                        <a:rPr sz="12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-p-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ko‘rsatilgan / barcha portlar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tez skan (100 port)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-sV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servis va versiya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OT taxmini (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sudo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--open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faqat ochiq portlar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-oN fayl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natijani faylga saqlash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ping bilan tekshirmaslik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1600200"/>
            <a:ext cx="4983480" cy="21031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64208"/>
            <a:ext cx="4709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$ nmap -sV --open $TARGET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29384"/>
            <a:ext cx="4709160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PORT   STATE SERVICE VERSION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21/tcp open  ftp     vsftpd 2.3.4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22/tcp open  ssh     OpenSSH 4.7p1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E6EDF5"/>
                </a:solidFill>
                <a:latin typeface="Consolas"/>
              </a:rPr>
              <a:t>80/tcp open  http    Apache httpd 2.2.8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840480"/>
            <a:ext cx="49834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38907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84048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PORT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– raqam va protokol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315968"/>
            <a:ext cx="49834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436626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315968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STATE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– open / closed / filtered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791456"/>
            <a:ext cx="49834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0840" y="484174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791456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VERSION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– hisobotga yoziladi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669280"/>
            <a:ext cx="5852160" cy="59436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80186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3856" y="5669280"/>
            <a:ext cx="5166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Eski versiya – ma’lum zaiflik belgisi bo‘lishi mumkin.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6629400" y="5806440"/>
            <a:ext cx="102412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1.5 · NETCAT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netcat (nc): portga qo‘lda ulanish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508760"/>
            <a:ext cx="7040879" cy="213283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04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6949439" cy="20413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687317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5-rasm. Banner olish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60520"/>
            <a:ext cx="6949440" cy="15087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22452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89704"/>
            <a:ext cx="667512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nc -zv $TARGET 21 22 80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nc -nv $TARGET 21    </a:t>
            </a:r>
            <a:r>
              <a:rPr sz="1100">
                <a:solidFill>
                  <a:srgbClr val="7FD1B9"/>
                </a:solidFill>
                <a:latin typeface="Consolas"/>
              </a:rPr>
              <a:t> # FTP banneri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nc -lvnp 4444 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tinglash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26679" y="1600200"/>
          <a:ext cx="3886200" cy="2816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/>
                <a:gridCol w="26974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Kalit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Nima qiladi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faqat tekshiradi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batafsil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DNS yo‘q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-w 3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3 s kutadi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tinglaydi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-p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port raqami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726679" y="4572000"/>
            <a:ext cx="3886200" cy="109728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5" y="495604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3607" y="457200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Kalida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versiyalari farq qiladi: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nc -h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-p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xato bersa: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nc -lvn 4444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0644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arch_1F3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87044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3856" y="5806440"/>
            <a:ext cx="6263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Banner – servis ulanganda o‘zi yuboradigan matn.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7726679" y="5852160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banner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QOIDALAR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Skanerlash: 6 qoida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830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202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78308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imes New Roman"/>
              </a:rPr>
              <a:t>Faqat o‘z nishoningiz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146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Skanerlash faqat laboratoriyadagi Metasploitable’da.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60020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6002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7136" y="17830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92024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02936" y="178308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imes New Roman"/>
              </a:rPr>
              <a:t>Ruxsat shart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5146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Boshqa tarmoq – egasining yozma ruxsati bilan.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60020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600200"/>
            <a:ext cx="64008" cy="219456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38744" y="1783080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92024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24544" y="178308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E08E1D"/>
                </a:solidFill>
                <a:latin typeface="Times New Roman"/>
              </a:rPr>
              <a:t>Zaif tizimni yopiq saqlang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5146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Metasploitable’ni internetga ulamang; ishlatilmasa o‘chiring.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3192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31920"/>
            <a:ext cx="64008" cy="2194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5528" y="411480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251960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81328" y="411480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Faol recon iz qoldiradi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846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nishon jurnalida ko‘rinadi.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393192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8536" y="3931920"/>
            <a:ext cx="64008" cy="2194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17136" y="41148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251960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202936" y="411480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Natijani vaqti bilan saqlang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4846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Consolas"/>
              </a:rPr>
              <a:t>-oN fayl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date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– hisobot va dalil uchun.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3931920"/>
            <a:ext cx="35844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10144" y="3931920"/>
            <a:ext cx="64008" cy="2194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38744" y="411480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atabas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25196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924544" y="4114800"/>
            <a:ext cx="2606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Snapshot oling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8744" y="4846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Boshlashdan oldin snapshot; tugagach – qaytarish.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Nazariy qismdan eslab qolish kerak bo‘lganlar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82880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977390"/>
            <a:ext cx="297180" cy="2971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1600200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Recon: avval passiv (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), keyin faol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0020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600200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82880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526" y="1977390"/>
            <a:ext cx="297180" cy="2971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50608" y="1600200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DNS yozuvlari: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A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NS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MX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TXT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PTR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70632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770632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" y="2999232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6" y="3147822"/>
            <a:ext cx="297180" cy="2971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2768" y="2770632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: TTL=1, 2, 3 … – yo‘ldagi routerlar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770632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2770632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45936" y="2999232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526" y="3147822"/>
            <a:ext cx="297180" cy="2971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50608" y="2770632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Port holati: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open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closed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filtered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41064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941064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096" y="4169664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z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686" y="4318254"/>
            <a:ext cx="297180" cy="2971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72768" y="3941064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nmap -sV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– servis va versiya;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-oN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– saqlash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3941064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3941064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45936" y="4169664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ermina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526" y="4318254"/>
            <a:ext cx="297180" cy="2971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50608" y="3941064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– banner olish va oddiy aloqa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11496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111496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8096" y="5340096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ey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" y="5488686"/>
            <a:ext cx="297180" cy="2971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72768" y="5111496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Faol recon nishon jurnalida iz qoldiradi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5111496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5111496"/>
            <a:ext cx="64008" cy="10515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45936" y="5340096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warning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4526" y="5488686"/>
            <a:ext cx="297180" cy="2971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50608" y="5111496"/>
            <a:ext cx="4343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Faqat o‘z laboratoriya nishoningizni skanerlang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O‘zingizni tekshiring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929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600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Recon nima? Passiv va faol reconning farqi?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00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1928" y="1929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00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whois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dig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nima uchun ishlatiladi? Nega passiv?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43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072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743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DNSning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A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NS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MX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yozuvlari nimani bildiradi?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743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81928" y="3072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743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traceroute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qanday ishlaydi? TTL nima?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86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" y="4215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3886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open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closed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filtered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qanday farq qiladi?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886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1928" y="4215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886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-sn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-F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-p-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-sV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-O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nima qiladi?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29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8" y="5358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5029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Banner nima?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nc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bilan qanday olinadi?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50292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81928" y="5358384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029200"/>
            <a:ext cx="4663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Nega faqat ruxsat berilgan nishonlarni skanerlash kerak?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429000"/>
            <a:ext cx="137160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Endi amaliyot: 6 ta topshiriq, Kali va Metasploitable’da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LUG‘AT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269748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Chalkash atamalar: sodda tushuntirish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Taqdimot davomida “?” belgili tugmalar shu yerga olib keladi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Lug‘at indeksi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64008" cy="20116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192024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0195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0604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domen → IP “telefon daftari”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572768" y="3063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Batafsil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6459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45920"/>
            <a:ext cx="64008" cy="20116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920240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90195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TTL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60604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paketning yashash vaqti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7150608" y="3063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Batafsil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4048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40480"/>
            <a:ext cx="64008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1148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09651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800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servisning “eshigi”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1572768" y="52578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Batafsil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4048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40480"/>
            <a:ext cx="6400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088" y="411480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096512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</a:rPr>
              <a:t>Banner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800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54647A"/>
                </a:solidFill>
                <a:latin typeface="Times New Roman"/>
              </a:rPr>
              <a:t>servisning tanishtiruv matni</a:t>
            </a:r>
          </a:p>
        </p:txBody>
      </p:sp>
      <p:sp>
        <p:nvSpPr>
          <p:cNvPr id="31" name="Rounded Rectangle 30">
            <a:hlinkClick action="ppaction://hlinksldjump" r:id="rId6"/>
          </p:cNvPr>
          <p:cNvSpPr/>
          <p:nvPr/>
        </p:nvSpPr>
        <p:spPr>
          <a:xfrm>
            <a:off x="7150608" y="52578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Batafsil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DNS: internetning telefon daftari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Oddiy so‘z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Odam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nom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(example.com) eslaydi, kompyuter esa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raqam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(IP) bilan ishlaydi. DNS shu ikkisini bog‘laydi.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O‘xshatish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Telefon daftari: ism bo‘yicha raqamni topasiz.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Misol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dig +short example.com 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dig -x 8.8.8.8 +short  </a:t>
            </a:r>
            <a:r>
              <a:rPr sz="1050">
                <a:solidFill>
                  <a:srgbClr val="7FD1B9"/>
                </a:solidFill>
                <a:latin typeface="Consolas"/>
              </a:rPr>
              <a:t> # teskari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1828800"/>
            <a:ext cx="228600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example.com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nom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778240" y="2697480"/>
            <a:ext cx="365760" cy="50292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3291840"/>
            <a:ext cx="2286000" cy="8229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DNS server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dig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778240" y="4251960"/>
            <a:ext cx="365760" cy="50292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0" y="4846320"/>
            <a:ext cx="2286000" cy="73152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93.184.216.34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IP manzil (A)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TTL: paketning yashash vaqti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Oddiy so‘z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Paketda son bor. Har router uni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1 ga kamaytiradi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. 0 bo‘lsa – paket tashlanadi va yuboruvchiga xabar qaytadi.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O‘xshatish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Xat konverti: har bekatda bitta shtamp; shtamp tugasa – xat qaytariladi.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Misol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ping -c 2 -t 1 example.com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Time to live exceeded    </a:t>
            </a:r>
            <a:r>
              <a:rPr sz="1050">
                <a:solidFill>
                  <a:srgbClr val="7FD1B9"/>
                </a:solidFill>
                <a:latin typeface="Consolas"/>
              </a:rPr>
              <a:t> # to‘g‘ri natija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3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98079" y="2651760"/>
            <a:ext cx="22860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2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240" y="2651760"/>
            <a:ext cx="22860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6840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58400" y="2651760"/>
            <a:ext cx="22860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87000" y="2286000"/>
            <a:ext cx="1005840" cy="100584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0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TTL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34290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0624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TTL=0 bo‘lganda router paketni tashlaydi va “vaqt tugadi” (ICMP Time Exceeded) deydi – traceroute shundan foydalanadi.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Port: servisning eshigi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Oddiy so‘z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Bitta IP manzilda ko‘p servis ishlaydi.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Port raqami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qaysi servisga ulanishni ko‘rsatadi (0–65535).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O‘xshatish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Bino va xonalar: IP – bino manzili, port – xona raqami.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Misol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nmap -p 21,22,80 $TARGET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nmap -p- --open $TARGET  </a:t>
            </a:r>
            <a:r>
              <a:rPr sz="1050">
                <a:solidFill>
                  <a:srgbClr val="7FD1B9"/>
                </a:solidFill>
                <a:latin typeface="Consolas"/>
              </a:rPr>
              <a:t> # barcha portlar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1828800"/>
            <a:ext cx="457200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192.168.56.101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IP – bino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017520"/>
            <a:ext cx="1371600" cy="12801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FTP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1371600" cy="128016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22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SSH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3017520"/>
            <a:ext cx="1371600" cy="12801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80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634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Ochiq port = ishlayotgan servis = kirish mumkin bo‘lgan eshik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Banner: servisning tanishtiruvi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3-mashg‘ulot · Nazariy qism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417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Oddiy so‘z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50840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Ayrim servislar ulanganingizda o‘zi 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nomi va versiyasini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yozib yuboradi. Shu matn – banner.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O‘xshatish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66160"/>
            <a:ext cx="50840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Telefonni ko‘targanda: “Allo, bu vsFTPd 2.3.4”.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1772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Misol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946904"/>
            <a:ext cx="5120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nc -nv $TARGET 21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220 (vsFTPd 2.3.4)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103120"/>
            <a:ext cx="201168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Kali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103120"/>
            <a:ext cx="2011680" cy="8229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Servis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21-port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95360" y="2377440"/>
            <a:ext cx="82296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3657600"/>
            <a:ext cx="5029200" cy="914400"/>
          </a:xfrm>
          <a:prstGeom prst="roundRect">
            <a:avLst>
              <a:gd name="adj" fmla="val 1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6EE7B7"/>
                </a:solidFill>
                <a:latin typeface="Times New Roman"/>
              </a:rPr>
              <a:t>220 (vsFTPd 2.3.4)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463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Versiyani bilsangiz – ma’lum zaiflikni qidirish mumkin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66928" y="59436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