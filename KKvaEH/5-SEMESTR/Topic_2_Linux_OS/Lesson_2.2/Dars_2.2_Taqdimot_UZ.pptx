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 i="0">
                <a:solidFill>
                  <a:srgbClr val="DDE6F2"/>
                </a:solidFill>
                <a:latin typeface="Times New Roman"/>
              </a:rPr>
              <a:t>O‘zbekiston Respublikasi Harbiy xavfsizlik va mudofaa universiteti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 i="0">
                <a:solidFill>
                  <a:srgbClr val="DDE6F2"/>
                </a:solidFill>
                <a:latin typeface="Times New Roman"/>
              </a:rPr>
              <a:t>Axborot-kommunikatsiya texnologiyalari va harbiy aloqa instituti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7FD1BD"/>
                </a:solidFill>
                <a:latin typeface="Times New Roman"/>
              </a:rPr>
              <a:t>Kiber kriminalistika va etikal haking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06040"/>
            <a:ext cx="128016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Times New Roman"/>
              </a:rPr>
              <a:t>2-mavzu. Linux OT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Times New Roman"/>
              </a:rPr>
              <a:t>2-mashg‘ulot. Linux OTda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NAZARIY QISM: terminal bilan ishlash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21208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Amaliy mashg‘ulot · 4 soat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521208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Kali Linux · zsh · bash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1">
                <a:solidFill>
                  <a:srgbClr val="DDE6F2"/>
                </a:solidFill>
                <a:latin typeface="Times New Roman"/>
              </a:rPr>
              <a:t>Toshkent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 · TERMINAL, KONSOL,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Terminal, konsol va shell: kim nima qiladi?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9" y="2363152"/>
            <a:ext cx="6995157" cy="268033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3_terminal_sh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9" y="2408872"/>
            <a:ext cx="6903717" cy="25888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089206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2-rasm. Buyruqning yo‘li: klaviaturadan yadrogacha va orqaga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Terminal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matn yoziladigan oyna (Kalida: QTerminal)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Shell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buyruqni tushunadigan dastur (Kalida zsh, serverlarda bash)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Konsol (TTY)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grafikasiz, butun ekranli matn rejimi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CLI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buyruqlar bilan ishlash usuli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Terminal – oyna, shell – “tarjimon”: buyruqni aynan shell tushunadi va bajartiradi.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 · TERMINAL, KONSOL,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Amalda: qaysi konsol va qaysi shell?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262" y="1508760"/>
            <a:ext cx="5706931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82" y="1554480"/>
            <a:ext cx="5615491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937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4-rasm. Konsol (TTY3):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tty</a:t>
            </a:r>
            <a:r>
              <a:rPr sz="1050" b="0" i="1">
                <a:solidFill>
                  <a:srgbClr val="54647A"/>
                </a:solidFill>
                <a:latin typeface="Times New Roman"/>
              </a:rPr>
              <a:t> buyrug‘i /dev/tty3 ni ko‘rsatadi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99232" y="1508760"/>
            <a:ext cx="4226695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952" y="1554480"/>
            <a:ext cx="4135255" cy="3291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12280" y="493776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5-rasm. Shellni aniqlash: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echo $SHELL</a:t>
            </a:r>
            <a:r>
              <a:rPr sz="1050" b="0" i="1">
                <a:solidFill>
                  <a:srgbClr val="54647A"/>
                </a:solidFill>
                <a:latin typeface="Times New Roman"/>
              </a:rPr>
              <a:t>,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echo $0</a:t>
            </a:r>
            <a:r>
              <a:rPr sz="1050" b="0" i="1">
                <a:solidFill>
                  <a:srgbClr val="54647A"/>
                </a:solidFill>
                <a:latin typeface="Times New Roman"/>
              </a:rPr>
              <a:t>,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bash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349240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arch_1F38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641848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3856" y="5349240"/>
            <a:ext cx="5257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Konsolga o‘tish: </a:t>
            </a:r>
            <a:r>
              <a:rPr sz="1300" b="1" i="0">
                <a:solidFill>
                  <a:srgbClr val="1F3864"/>
                </a:solidFill>
                <a:latin typeface="Cambria Math"/>
              </a:rPr>
              <a:t> Host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+ </a:t>
            </a:r>
            <a:r>
              <a:rPr sz="1300" b="1" i="0">
                <a:solidFill>
                  <a:srgbClr val="1F3864"/>
                </a:solidFill>
                <a:latin typeface="Cambria Math"/>
              </a:rPr>
              <a:t> F3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; qaytish: </a:t>
            </a:r>
            <a:r>
              <a:rPr sz="1300" b="1" i="0">
                <a:solidFill>
                  <a:srgbClr val="1F3864"/>
                </a:solidFill>
                <a:latin typeface="Cambria Math"/>
              </a:rPr>
              <a:t> Host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+ </a:t>
            </a:r>
            <a:r>
              <a:rPr sz="1300" b="1" i="0">
                <a:solidFill>
                  <a:srgbClr val="1F3864"/>
                </a:solidFill>
                <a:latin typeface="Cambria Math"/>
              </a:rPr>
              <a:t> F7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. Chiqish: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exit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534924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eck_178A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5641848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79208" y="5349240"/>
            <a:ext cx="4114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bash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– bash ochadi,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exit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– zsh ga qaytaradi.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1.2 · TAKLIF SATRI (PROMPT)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Prompt: shell “buyruq kutyapman” deydi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9" y="2233707"/>
            <a:ext cx="6995158" cy="29392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5_prom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9" y="2279427"/>
            <a:ext cx="6903718" cy="28477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218651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6-rasm. Kali promptining tuzilishi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Ikki qator: yuqorida ma’lumot, pastda buyruq yoziladi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kali㉿kali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kim va qaysi kompyuterda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[~]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joriy katalog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$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oddiy foydalanuvchi,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#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root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zsh yordamchilari: kulrang taklif (</a:t>
            </a:r>
            <a:r>
              <a:rPr sz="1300" b="1" i="0">
                <a:solidFill>
                  <a:srgbClr val="1F3864"/>
                </a:solidFill>
                <a:latin typeface="Cambria Math"/>
              </a:rPr>
              <a:t> →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qabul qiladi); to‘g‘ri buyruq – yashil, xato – qizil.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1.3 · BUYRUQ SINTAKSISI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Buyruq = buyruq + kalit + argument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888521"/>
            <a:ext cx="6995159" cy="3629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6_sintak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4241"/>
            <a:ext cx="6903719" cy="35381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63837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8-rasm. Buyruq qatorining qismlari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Buyruq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nima qilish: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ls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Kalit (option)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qanday qilish: qisqa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-l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uzun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--all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Argument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nimaga nisbatan: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/etc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Qisqa kalitlar birlashadi: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ls -la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Harf registri farq qiladi: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ls -r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va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ls -R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– boshqa-boshqa kalitlar.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1.3 · BUYRUQ SINTAKSISI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Qo‘shtirnoq va </a:t>
            </a:r>
            <a:r>
              <a:rPr sz="2550" b="1" i="0">
                <a:solidFill>
                  <a:srgbClr val="178A73"/>
                </a:solidFill>
                <a:latin typeface="Consolas"/>
              </a:rPr>
              <a:t>--</a:t>
            </a:r>
            <a:r>
              <a:rPr sz="2600" b="1" i="0">
                <a:solidFill>
                  <a:srgbClr val="1F3864"/>
                </a:solidFill>
                <a:latin typeface="Times New Roman"/>
              </a:rPr>
              <a:t> belgisi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2017966"/>
            <a:ext cx="6995160" cy="337070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7_soz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63686"/>
            <a:ext cx="6903720" cy="3279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434393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9-rasm. Shell qatorni so‘zlarga qanday ajratadi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Bo‘sh joy so‘zlarni ajratadi – bo‘sh joyli nomni qo‘shtirnoqqa oling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“ ” ichida o‘zgaruvchi ochiladi: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$USER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‘ ’ ichida hammasi so‘zma-so‘z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--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“kalitlar tugadi”: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rm -- -fayl.txt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Shubha bo‘lsa – qo‘shaloq qo‘shtirnoq ishlating.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1.4 · BUYRUQ TURLARI VA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Buyruq qayerdan topiladi?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888521"/>
            <a:ext cx="6995159" cy="3629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8_qidiru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4241"/>
            <a:ext cx="6903719" cy="35381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63837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10-rasm. Qidirish tartibi va PATH kataloglari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Tartib: alias → kalit so‘z → funksiya → ichki buyruq → dastur fayli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PATH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kataloglar ro‘yxati (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: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bilan), chapdan o‘ngga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Topilmasa: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command not found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(kod 127)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type -a ls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manbani ko‘rsatadi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Katalog qo‘shish: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export PATH="$PATH:$HOME/lab22/bin"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. Joriy katalog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.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ni PATH ga qo‘shmang!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1.5 · YORDAM 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Yodlash shart emas – topa bilish kerak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888521"/>
            <a:ext cx="6995159" cy="3629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9_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4241"/>
            <a:ext cx="6903719" cy="35381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63837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11-rasm. man sahifasi: tuzilishi, tugmalar, bo‘limlar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man grep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to‘liq rasmiy qo‘llanma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ls --help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qisqa eslatma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man -k so‘z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nomini bilmasangiz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man ichida: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/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qidirish,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q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chiqish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Har yangi vositani qo‘llanma o‘qishdan boshlang.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1.6 · TEZ ISHLASH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Tab, tarix va tezkor tugmalar: kam yozing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9" y="2147411"/>
            <a:ext cx="6995158" cy="311181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10_tugma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9" y="2193131"/>
            <a:ext cx="6903718" cy="30203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304948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12-rasm. Qatorni tahrirlash tugmalari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Tab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nomni to‘ldiradi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↑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oldingi buyruq;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history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ro‘yxat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Ctrl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+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R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tarixda qidirish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Ctrl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+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C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to‘xtatadi (nusxa EMAS)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Buyruq ichida parol yozmang – tarixda ochiq qoladi.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1.7 · OQIMLAR VA YO‘NALTIRISH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Natijani ekrandan faylga yo‘naltirish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337" y="1691640"/>
            <a:ext cx="6510901" cy="4023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13_yonaltir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57" y="1737360"/>
            <a:ext cx="6419461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60720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14-rasm. Yo‘naltirish operatorlari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Uch oqim: stdin 0 (kirish), stdout 1 (natija), stderr 2 (xato)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&gt;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faylga yozadi,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&gt;&gt;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oxiriga qo‘shadi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2&gt;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faqat xatolarni yo‘naltiradi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2&gt;/dev/null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xatolarni tashlaydi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&gt;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faylning eski mazmunini o‘chiradi – ehtiyot bo‘ling!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1.8 · KONVEYER (PIPE)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Kichik buyruqlarni zanjirga ulash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888521"/>
            <a:ext cx="6995159" cy="3629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14_p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4241"/>
            <a:ext cx="6903719" cy="35381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63837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15-rasm. Konveyer: har bosqichda ma’lumot qisqaradi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|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bir buyruq natijasini keyingisiga uzatadi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Filtrlar: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grep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sort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uniq -c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cut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wc -l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Zanjirni bittadan quring va har safar natijani ko‘ring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sort | uniq -c | sort -nr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– “nima necha marta uchradi?”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1.9 · BUYRUQLARNI BIRLASHTIRISH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50" b="1" i="0">
                <a:solidFill>
                  <a:srgbClr val="178A73"/>
                </a:solidFill>
                <a:latin typeface="Consolas"/>
              </a:rPr>
              <a:t>;</a:t>
            </a:r>
            <a:r>
              <a:rPr sz="2600" b="1" i="0">
                <a:solidFill>
                  <a:srgbClr val="1F3864"/>
                </a:solidFill>
                <a:latin typeface="Times New Roman"/>
              </a:rPr>
              <a:t> </a:t>
            </a:r>
            <a:r>
              <a:rPr sz="2550" b="1" i="0">
                <a:solidFill>
                  <a:srgbClr val="178A73"/>
                </a:solidFill>
                <a:latin typeface="Consolas"/>
              </a:rPr>
              <a:t>&amp;&amp;</a:t>
            </a:r>
            <a:r>
              <a:rPr sz="2600" b="1" i="0">
                <a:solidFill>
                  <a:srgbClr val="1F3864"/>
                </a:solidFill>
                <a:latin typeface="Times New Roman"/>
              </a:rPr>
              <a:t> </a:t>
            </a:r>
            <a:r>
              <a:rPr sz="2550" b="1" i="0">
                <a:solidFill>
                  <a:srgbClr val="178A73"/>
                </a:solidFill>
                <a:latin typeface="Consolas"/>
              </a:rPr>
              <a:t>||</a:t>
            </a:r>
            <a:r>
              <a:rPr sz="2600" b="1" i="0">
                <a:solidFill>
                  <a:srgbClr val="1F3864"/>
                </a:solidFill>
                <a:latin typeface="Times New Roman"/>
              </a:rPr>
              <a:t> va chiqish kodi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2276856"/>
            <a:ext cx="6995160" cy="28529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15_operator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22576"/>
            <a:ext cx="6903720" cy="2761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175504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16-rasm.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;</a:t>
            </a:r>
            <a:r>
              <a:rPr sz="1050" b="0" i="1">
                <a:solidFill>
                  <a:srgbClr val="54647A"/>
                </a:solidFill>
                <a:latin typeface="Times New Roman"/>
              </a:rPr>
              <a:t>,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&amp;&amp;</a:t>
            </a:r>
            <a:r>
              <a:rPr sz="1050" b="0" i="1">
                <a:solidFill>
                  <a:srgbClr val="54647A"/>
                </a:solidFill>
                <a:latin typeface="Times New Roman"/>
              </a:rPr>
              <a:t> va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||</a:t>
            </a:r>
            <a:r>
              <a:rPr sz="1050" b="0" i="1">
                <a:solidFill>
                  <a:srgbClr val="54647A"/>
                </a:solidFill>
                <a:latin typeface="Times New Roman"/>
              </a:rPr>
              <a:t> operatorlari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;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har doim keyingisini bajaradi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&amp;&amp;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oldingisi muvaffaqiyatli bo‘lsa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||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oldingisi xato bo‘lsa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Chiqish kodi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$?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: 0 – yaxshi, boshqa son – xato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cd papka &amp;&amp; rm -r *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–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;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dan xavfsizroq.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1.10 · O‘ZGARUVCHI, ALIAS, SOZLAMALAR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O‘zgaruvchilar va alias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2017966"/>
            <a:ext cx="6995160" cy="337070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16_ozgaruvc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63686"/>
            <a:ext cx="6903720" cy="3279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434393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17-rasm. Oddiy va eksport qilingan o‘zgaruvchi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NOM=qiymat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(bo‘sh joysiz), o‘qish: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$NOM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export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bola jarayonlarga uzatadi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alias ll='ls -l'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qisqa nom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Doimiy qilish: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~/.zshrc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fayliga yozing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~/.zshrc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ga faqat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&gt;&gt;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bilan yozing –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&gt;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butun faylni o‘chiradi.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1.11 · JARAYONLAR VA SIGNALLAR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Jarayon – ishlab turgan dastur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2276856"/>
            <a:ext cx="6995160" cy="28529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17_jaray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22576"/>
            <a:ext cx="6903720" cy="2761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175504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18-rasm. Jarayonlar daraxti: PID va PPID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Har jarayonning raqami bor: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PID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; ota jarayoni: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PPID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Ko‘rish: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ps aux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top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pgrep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kill PID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muloyim;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kill -9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oxirgi chora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Fon rejimi: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&amp;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Ctrl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+ </a:t>
            </a:r>
            <a:r>
              <a:rPr sz="1550" b="1" i="0">
                <a:solidFill>
                  <a:srgbClr val="1F3864"/>
                </a:solidFill>
                <a:latin typeface="Cambria Math"/>
              </a:rPr>
              <a:t> Z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bg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fg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Terminal yopilsa, undagi fon vazifalari ham to‘xtaydi.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1.12 · PAKETLAR: APT VA DPKG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Dasturni paket menejeri bilan o‘rnatish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9" y="2147411"/>
            <a:ext cx="6995158" cy="311181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20_a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9" y="2193131"/>
            <a:ext cx="6903718" cy="30203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304948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20-rasm. apt: repozitoriydan tizimgacha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sudo apt update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ro‘yxatni yangilaydi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sudo apt install nmap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o‘rnatadi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apt remove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/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apt purge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o‘chiradi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dpkg -S fayl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fayl qaysi paketniki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Faqat rasmiy repozitoriydan o‘rnating.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sudo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– o‘z parolingizni so‘raydi.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1.13 · SERVISLAR: SYSTEMD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Servis – fonda doimiy ishlaydigan dastur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2017966"/>
            <a:ext cx="6995160" cy="337070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21_system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63686"/>
            <a:ext cx="6903720" cy="3279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434393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21-rasm. Hozirgi holat va yuklanishdagi holat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systemctl status ssh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holatni ko‘rish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start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/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stop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hozirgi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holat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enable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/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disable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</a:t>
            </a:r>
            <a:r>
              <a:rPr sz="1550" b="1" i="0">
                <a:solidFill>
                  <a:srgbClr val="1F3864"/>
                </a:solidFill>
                <a:latin typeface="Times New Roman"/>
              </a:rPr>
              <a:t>yuklanishdagi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holat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journalctl -u ssh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servis jurnali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Kalida SSH standart holatda o‘chiq. Darsdan keyin ham o‘chiq qoldiring.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1.14 · BASH SKRIPT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Skript – buyruqlar saqlangan fayl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2-mashg‘ulot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715928"/>
            <a:ext cx="6995159" cy="397478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22_sk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61648"/>
            <a:ext cx="6903719" cy="38833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36430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22-rasm. Skriptning tuzilishi va ishga tushirish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64008" cy="3337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82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Asosiy fikrlar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011680"/>
            <a:ext cx="362102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Birinchi qator: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#!/bin/bash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(shebang)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bash triage.sh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maxsus huquq kerak emas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chmod +x triage.sh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./triage.sh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$1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argument, </a:t>
            </a:r>
            <a:r>
              <a:rPr sz="1500" b="1" i="0">
                <a:solidFill>
                  <a:srgbClr val="178A73"/>
                </a:solidFill>
                <a:latin typeface="Consolas"/>
              </a:rPr>
              <a:t>$?</a:t>
            </a:r>
            <a:r>
              <a:rPr sz="1550" b="0" i="0">
                <a:solidFill>
                  <a:srgbClr val="202A38"/>
                </a:solidFill>
                <a:latin typeface="Times New Roman"/>
              </a:rPr>
              <a:t> – chiqish kodi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74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48182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47888" y="5074920"/>
            <a:ext cx="3246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Bir marta yozing – istagancha ishga tushiring.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4400" b="1" i="0">
                <a:solidFill>
                  <a:srgbClr val="FFFFFF"/>
                </a:solidFill>
                <a:latin typeface="Times New Roman"/>
              </a:rPr>
              <a:t>E’TIBORINGIZ UCHUN RAHMAT!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3429000"/>
            <a:ext cx="137160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0" i="0">
                <a:solidFill>
                  <a:srgbClr val="DDE6F2"/>
                </a:solidFill>
                <a:latin typeface="Times New Roman"/>
              </a:rPr>
              <a:t>Endi amaliyot: 13 ta topshiriq, Kali Linux VM 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