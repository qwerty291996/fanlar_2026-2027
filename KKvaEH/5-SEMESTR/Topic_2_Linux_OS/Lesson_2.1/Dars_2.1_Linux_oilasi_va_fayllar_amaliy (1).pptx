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7.xml"/><Relationship Id="rId4" Type="http://schemas.openxmlformats.org/officeDocument/2006/relationships/slide" Target="slide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3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slide" Target="slide3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5" Type="http://schemas.openxmlformats.org/officeDocument/2006/relationships/slide" Target="slide4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slide" Target="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slide" Target="slide4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9.png"/><Relationship Id="rId8" Type="http://schemas.openxmlformats.org/officeDocument/2006/relationships/image" Target="../media/image34.png"/><Relationship Id="rId9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36.png"/><Relationship Id="rId7" Type="http://schemas.openxmlformats.org/officeDocument/2006/relationships/image" Target="../media/image18.png"/><Relationship Id="rId8" Type="http://schemas.openxmlformats.org/officeDocument/2006/relationships/image" Target="../media/image34.png"/><Relationship Id="rId9" Type="http://schemas.openxmlformats.org/officeDocument/2006/relationships/slide" Target="slide37.xml"/><Relationship Id="rId10" Type="http://schemas.openxmlformats.org/officeDocument/2006/relationships/slide" Target="slide38.xml"/><Relationship Id="rId11" Type="http://schemas.openxmlformats.org/officeDocument/2006/relationships/slide" Target="slide39.xml"/><Relationship Id="rId12" Type="http://schemas.openxmlformats.org/officeDocument/2006/relationships/slide" Target="slide40.xml"/><Relationship Id="rId13" Type="http://schemas.openxmlformats.org/officeDocument/2006/relationships/slide" Target="slide41.xml"/><Relationship Id="rId14" Type="http://schemas.openxmlformats.org/officeDocument/2006/relationships/slide" Target="slide4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1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slide" Target="slide2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slide" Target="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1920240" cy="1947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43484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C9D6E8"/>
                </a:solidFill>
                <a:latin typeface="Times New Roman"/>
              </a:rPr>
              <a:t>O‘ZBEKISTON RESPUBLIKASI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C9D6E8"/>
                </a:solidFill>
                <a:latin typeface="Times New Roman"/>
              </a:rPr>
              <a:t>HARBIY XAVFSIZLIK VA MUDOFAA UNIVERSITETI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C9D6E8"/>
                </a:solidFill>
                <a:latin typeface="Times New Roman"/>
              </a:rPr>
              <a:t>Axborot-kommunikatsiya texnologiyalari va harbiy aloqa instituti · Kiberxavfsizlik kafedrasi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7FD1BD"/>
                </a:solidFill>
                <a:latin typeface="Times New Roman"/>
              </a:rPr>
              <a:t>FAN: “KIBER KRIMINALISTIKA VA ETIKAL HAKING”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2-MAVZU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1460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Times New Roman"/>
              </a:rPr>
              <a:t>LINUX OT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370332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886200"/>
            <a:ext cx="8046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1-mashg‘ulot · Linux OTda ishlash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Linux oilasi bilan tanishish va fayllar bilan ishlash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Amaliy mashg‘ulot, 4 soat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8978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1">
                <a:solidFill>
                  <a:srgbClr val="C9D6E8"/>
                </a:solidFill>
                <a:latin typeface="Times New Roman"/>
              </a:rPr>
              <a:t>Ma’ruzachi: Kiberxavfsizlik kafedrasi katta o‘qituvchisi — kapitan M. Isakov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2-MAVZUGA KIRISH · QISQA MA’RUZA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Nega kiberxavfsizlik mutaxassisi Linuxni bilishi kerak?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2618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874520"/>
            <a:ext cx="685800" cy="685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rv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" y="2045970"/>
            <a:ext cx="342900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91056" y="174650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Serverlar va bulut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2075688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Internet serverlari va bulutli xizmatlarning katta qismi Linuxda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00200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00200"/>
            <a:ext cx="64008" cy="126187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187452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298" y="2045970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21808" y="174650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Superkompyuterlar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075688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Dunyodagi eng kuchli 500 ta superkompyuterning barchasi Linuxda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600200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600200"/>
            <a:ext cx="64008" cy="126187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9" y="1874520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049" y="2045970"/>
            <a:ext cx="3429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52559" y="174650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E08E1D"/>
                </a:solidFill>
                <a:latin typeface="Times New Roman"/>
              </a:rPr>
              <a:t>Android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075688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Eng ko‘p tarqalgan mobil OT Linux yadrosi asosida qurilgan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17520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017520"/>
            <a:ext cx="64008" cy="12618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8096" y="3291840"/>
            <a:ext cx="685800" cy="685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ifi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46" y="3463290"/>
            <a:ext cx="342900" cy="342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91056" y="316382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Tarmoq va IoT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1056" y="3493008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Marshrutizatorlar, firewall’lar, kameralar va “aqlli” qurilmalar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017520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017520"/>
            <a:ext cx="64008" cy="126187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98848" y="329184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298" y="3463290"/>
            <a:ext cx="342900" cy="3429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21808" y="316382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Xavfsizlik vositalari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3493008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Skanerlar, SIEM, IDS, Wazuh — asosan Linux uchun yozilgan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1" y="3017520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1" y="3017520"/>
            <a:ext cx="64008" cy="126187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599" y="3291840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earch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1049" y="3463290"/>
            <a:ext cx="342900" cy="3429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52559" y="316382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E08E1D"/>
                </a:solidFill>
                <a:latin typeface="Times New Roman"/>
              </a:rPr>
              <a:t>Kriminalistika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59" y="3493008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Raqamli tekshiruv OT’lari (CSI Linux, REMnux) — Linux asosida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526280"/>
            <a:ext cx="11045952" cy="10972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526280"/>
            <a:ext cx="64008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59943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Xulosa: Linuxni bilmasdan kiberxavfsizlikda ishlab bo‘lmaydi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9377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Himoya qilinadigan tizimlarning ko‘pi Linux, ularni tekshiradigan va himoyalaydigan vositalarning ko‘pi ham Linux. Shu sababli fanning keyingi barcha mavzulari (virusologiya, SIEM, Metasploitable, C2, kriminalistika) Linux bilimiga tayanadi.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760720"/>
            <a:ext cx="11045952" cy="5486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earch_1F38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5870448"/>
            <a:ext cx="329184" cy="3291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33856" y="5760720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Ushbu mavzuda asosiy laboratoriya OT —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Kali Linux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(VirtualBox virtual mashinasi).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2-MAVZU XARITASI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2-mavzu “Linux OT”: 4 ta amaliy mashg‘ulot, 18 soat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26060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1-MASHG‘ULOT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FFFFFF"/>
                </a:solidFill>
                <a:latin typeface="Times New Roman"/>
              </a:rPr>
              <a:t>Amaliy · 4 soat</a:t>
            </a:r>
          </a:p>
        </p:txBody>
      </p:sp>
      <p:pic>
        <p:nvPicPr>
          <p:cNvPr id="12" name="Picture 11" descr="fold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773936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" y="24688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54647A"/>
                </a:solidFill>
                <a:latin typeface="Times New Roman"/>
              </a:rPr>
              <a:t>O‘quv savollari: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432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Linux oilasi bilan tanishish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Fayllar bilan ishlash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" y="41605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BUGUN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0400" y="2971800"/>
            <a:ext cx="13716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1645920"/>
            <a:ext cx="26060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55848" y="164592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17190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2-MASHG‘ULOT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0116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FFFFFF"/>
                </a:solidFill>
                <a:latin typeface="Times New Roman"/>
              </a:rPr>
              <a:t>Amaliy · 4 soat</a:t>
            </a:r>
          </a:p>
        </p:txBody>
      </p:sp>
      <p:pic>
        <p:nvPicPr>
          <p:cNvPr id="21" name="Picture 20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773936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38728" y="24688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54647A"/>
                </a:solidFill>
                <a:latin typeface="Times New Roman"/>
              </a:rPr>
              <a:t>O‘quv savollari: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27432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Terminal bilan ishlash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2971800"/>
            <a:ext cx="13716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44768" y="1645920"/>
            <a:ext cx="26060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44768" y="164592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7190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3-MASHG‘ULOT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0116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FFFFFF"/>
                </a:solidFill>
                <a:latin typeface="Times New Roman"/>
              </a:rPr>
              <a:t>Amaliy · 4 soat</a:t>
            </a:r>
          </a:p>
        </p:txBody>
      </p:sp>
      <p:pic>
        <p:nvPicPr>
          <p:cNvPr id="29" name="Picture 28" descr="glob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773936"/>
            <a:ext cx="438912" cy="4389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27648" y="24688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54647A"/>
                </a:solidFill>
                <a:latin typeface="Times New Roman"/>
              </a:rPr>
              <a:t>O‘quv savollari: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7432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Linux OTda recon amallar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Nmap, Netcat, Traceroute, whois, dig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778240" y="2971800"/>
            <a:ext cx="137160" cy="274320"/>
          </a:xfrm>
          <a:prstGeom prst="right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33687" y="1645920"/>
            <a:ext cx="26060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33687" y="164592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6567" y="17190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4-MASHG‘ULOT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7" y="20116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FFFFFF"/>
                </a:solidFill>
                <a:latin typeface="Times New Roman"/>
              </a:rPr>
              <a:t>Amaliy · 6 soat</a:t>
            </a:r>
          </a:p>
        </p:txBody>
      </p:sp>
      <p:pic>
        <p:nvPicPr>
          <p:cNvPr id="37" name="Picture 36" descr="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5367" y="1773936"/>
            <a:ext cx="438912" cy="4389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16567" y="24688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54647A"/>
                </a:solidFill>
                <a:latin typeface="Times New Roman"/>
              </a:rPr>
              <a:t>O‘quv savollari: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7" y="27432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Huquqlarni boshqarish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LinPEAS skriptlari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00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Mavzu soatlarining taqsimoti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120640"/>
            <a:ext cx="2454656" cy="411480"/>
          </a:xfrm>
          <a:prstGeom prst="roundRect">
            <a:avLst>
              <a:gd name="adj" fmla="val 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1-mashg‘ulot · 4 soat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21584" y="5120640"/>
            <a:ext cx="2454656" cy="41148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2-mashg‘ulot · 4 soat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76240" y="5120640"/>
            <a:ext cx="2454656" cy="411480"/>
          </a:xfrm>
          <a:prstGeom prst="roundRect">
            <a:avLst>
              <a:gd name="adj" fmla="val 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3-mashg‘ulot · 4 soat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30896" y="5120640"/>
            <a:ext cx="3681984" cy="411480"/>
          </a:xfrm>
          <a:prstGeom prst="roundRect">
            <a:avLst>
              <a:gd name="adj" fmla="val 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4-mashg‘ulot · 6 soat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669280"/>
            <a:ext cx="11045952" cy="621792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heck_178A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815584"/>
            <a:ext cx="329184" cy="32918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33856" y="5669280"/>
            <a:ext cx="1036015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Har bir mashg‘ulot oldingisining ustiga quriladi: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fayllar → terminal → tarmoq → huquqlar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. Bir mavzu ikki marta o‘tilmaydi.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2-MAVZU XARITASI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Har bir mashg‘ulotda nima o‘rganiladi?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4595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621"/>
                <a:gridCol w="6025064"/>
                <a:gridCol w="3560265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Mashg‘ulot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Mazmuni (asosiy buyruqlar va tushunchalar)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Kursant nimani qila oladi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1-mashg‘ulot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Linux tarixi, yadro va distributiv, distributiv oilalari, Kali muhiti, tizim haqida ma’lumot; FHS katalog tuzilmasi, yo‘llar,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ls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cd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mkdir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cp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mv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rm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cat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less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tail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nano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file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stat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find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havolalar,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tar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zip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Fayl tizimida erkin harakatlanadi, fayllarni yaratadi, nusxalaydi, qidiradi va ularning haqiqiy turini aniqlaydi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2-mashg‘ulot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Shell va buyruq sintaksisi,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man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--help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buyruqlar tarixi va tezkor tugmalar,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&gt;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&gt;&gt;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|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grep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sort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cut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wc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jarayonlar (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ps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top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kill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),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apt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systemctl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muhit o‘zgaruvchilari, bash skript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Buyruqlarni birlashtirib, loglarni filtrlaydi, dastur o‘rnatadi, jarayon va xizmatlarni boshqaradi, oddiy skript yozadi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3-mashg‘ulot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Tarmoq sozlamalari (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ip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ss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), passiv va faol razvedka,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whois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dig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traceroute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nmap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(xostlar, portlar, versiyalar),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netcat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Laboratoriya tarmog‘idagi xostlar va ochiq portlarni aniqlaydi, natijalarni izohlaydi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4-mashg‘ulot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Foydalanuvchilar va guruhlar,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/etc/passwd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/etc/shadow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sudo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rwx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ruxsatlari,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chmod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chown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, SUID/SGID, huquqni oshirish tushunchasi, LinPEAS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Ruxsatlarni to‘g‘ri sozlaydi, xavfli sozlamalarni topadi va LinPEAS hisobotini o‘qiydi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715000"/>
            <a:ext cx="11045952" cy="5669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833872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856" y="5715000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Mashg‘ulotlar bir-birini takrorlamaydi: ruxsatlar (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rwx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) — 4-mashg‘ulotda,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|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grep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2-mashg‘ulotda, tarmoq buyruqlari — 3-mashg‘ulotda o‘rganiladi.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QISQA MA’RUZA · LINUX NIMA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Yadro, GNU va distributiv: Linux qanday tuzilgan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Linux arxitekturasi — qatlamlar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4160520" cy="7315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Foydalanuvchi dasturlari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brauzer · fayl menejeri · nmap · Wireshark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1305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E08E1D"/>
                </a:solidFill>
                <a:latin typeface="Consolas"/>
              </a:rPr>
              <a:t>user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43200"/>
            <a:ext cx="4160520" cy="73152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Shell va kutubxonalar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bash / zsh · GNU coreutils (ls, cp, 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971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178A73"/>
                </a:solidFill>
                <a:latin typeface="Consolas"/>
              </a:rPr>
              <a:t>user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4160520" cy="7315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Linux yadrosi (kernel)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jarayonlar · xotira · fayl tizimi · drayverlar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8130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1F3864"/>
                </a:solidFill>
                <a:latin typeface="Consolas"/>
              </a:rPr>
              <a:t>kernel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25696"/>
            <a:ext cx="4160520" cy="73152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Apparat ta’minot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protsessor · xotira · disk · tarmoq kartasi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46542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54647A"/>
                </a:solidFill>
                <a:latin typeface="Consolas"/>
              </a:rP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30352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Dastur apparatga bevosita murojaat qilmaydi — yadrodan “tizim chaqiruvi” (system call) orqali so‘raydi.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566928" y="5897880"/>
            <a:ext cx="1984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Yadro (kernel)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Distributiv = yadro + “o‘ram”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901952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Linux yadrosi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1901952"/>
            <a:ext cx="274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359152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GNU vositalari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2359152"/>
            <a:ext cx="274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816352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Paket menejeri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816352"/>
            <a:ext cx="274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273552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Grafik muhit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273552"/>
            <a:ext cx="274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730752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Tayyor dasturlar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15400" y="2743200"/>
            <a:ext cx="411480" cy="411480"/>
          </a:xfrm>
          <a:prstGeom prst="rightArrow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18320" y="2286000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DISTRIBUTIV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Kali · Ubuntu · Debian · Fedora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297680"/>
            <a:ext cx="5440680" cy="1481328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297680"/>
            <a:ext cx="64008" cy="1481328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370832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Linux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aslida faqat yadro (1991, Linus Torvalds, GPL litsenziyasi).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GNU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(1983, R. Stallman) — buyruqlar, kompilyator, shell.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Distributiv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ularni yig‘ib, sozlab, tayyor OT qilib beradi; yadro bir xil, “o‘rami” har xil.</a:t>
            </a:r>
          </a:p>
        </p:txBody>
      </p:sp>
      <p:sp>
        <p:nvSpPr>
          <p:cNvPr id="34" name="Rounded Rectangle 33">
            <a:hlinkClick action="ppaction://hlinksldjump" r:id="rId4"/>
          </p:cNvPr>
          <p:cNvSpPr/>
          <p:nvPr/>
        </p:nvSpPr>
        <p:spPr>
          <a:xfrm>
            <a:off x="6172200" y="5897880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Distributiv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QISQA MA’RUZA · TARIX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Unixdan Kaligacha: Linux tarixidagi muhim sanalar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10607040" cy="54864"/>
          </a:xfrm>
          <a:prstGeom prst="rect">
            <a:avLst/>
          </a:prstGeom>
          <a:solidFill>
            <a:srgbClr val="D8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" y="2880360"/>
            <a:ext cx="329184" cy="32918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1536192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1969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8328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F3864"/>
                </a:solidFill>
                <a:latin typeface="Times New Roman"/>
              </a:rPr>
              <a:t>Unix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49039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Bell Labs: K. Thompson, D. Ritchie. “Hamma narsa — fayl” g‘oyasi</a:t>
            </a:r>
          </a:p>
        </p:txBody>
      </p:sp>
      <p:sp>
        <p:nvSpPr>
          <p:cNvPr id="13" name="Oval 12"/>
          <p:cNvSpPr/>
          <p:nvPr/>
        </p:nvSpPr>
        <p:spPr>
          <a:xfrm>
            <a:off x="2770632" y="2880360"/>
            <a:ext cx="329184" cy="329184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67128" y="1965960"/>
            <a:ext cx="1536192" cy="56692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1983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338328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GNU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3749039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R. Stallman: erkin buyruqlar, kompilyator, shell</a:t>
            </a:r>
          </a:p>
        </p:txBody>
      </p:sp>
      <p:sp>
        <p:nvSpPr>
          <p:cNvPr id="17" name="Oval 16"/>
          <p:cNvSpPr/>
          <p:nvPr/>
        </p:nvSpPr>
        <p:spPr>
          <a:xfrm>
            <a:off x="4370832" y="2880360"/>
            <a:ext cx="329184" cy="329184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7328" y="1965960"/>
            <a:ext cx="1536192" cy="566928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1991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38328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43B02A"/>
                </a:solidFill>
                <a:latin typeface="Times New Roman"/>
              </a:rPr>
              <a:t>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749039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Linus Torvalds yadroning birinchi versiyasini e’lon qildi</a:t>
            </a:r>
          </a:p>
        </p:txBody>
      </p:sp>
      <p:sp>
        <p:nvSpPr>
          <p:cNvPr id="21" name="Oval 20"/>
          <p:cNvSpPr/>
          <p:nvPr/>
        </p:nvSpPr>
        <p:spPr>
          <a:xfrm>
            <a:off x="5971032" y="2880360"/>
            <a:ext cx="329184" cy="32918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67528" y="1965960"/>
            <a:ext cx="1536192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1993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38328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F3864"/>
                </a:solidFill>
                <a:latin typeface="Times New Roman"/>
              </a:rPr>
              <a:t>Debian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749039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Eng qadimgi faol distributivlardan biri (Slackware ham)</a:t>
            </a:r>
          </a:p>
        </p:txBody>
      </p:sp>
      <p:sp>
        <p:nvSpPr>
          <p:cNvPr id="25" name="Oval 24"/>
          <p:cNvSpPr/>
          <p:nvPr/>
        </p:nvSpPr>
        <p:spPr>
          <a:xfrm>
            <a:off x="7571232" y="2880360"/>
            <a:ext cx="329184" cy="329184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67728" y="1965960"/>
            <a:ext cx="1536192" cy="566928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2004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38328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E08E1D"/>
                </a:solidFill>
                <a:latin typeface="Times New Roman"/>
              </a:rPr>
              <a:t>Ubuntu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749039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Debian asosida, oddiy foydalanuvchilar uchun qulay</a:t>
            </a:r>
          </a:p>
        </p:txBody>
      </p:sp>
      <p:sp>
        <p:nvSpPr>
          <p:cNvPr id="29" name="Oval 28"/>
          <p:cNvSpPr/>
          <p:nvPr/>
        </p:nvSpPr>
        <p:spPr>
          <a:xfrm>
            <a:off x="9171432" y="2880360"/>
            <a:ext cx="329184" cy="329184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67928" y="1965960"/>
            <a:ext cx="1536192" cy="56692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338328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178A73"/>
                </a:solidFill>
                <a:latin typeface="Times New Roman"/>
              </a:rPr>
              <a:t>Android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3749039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Linux yadrosi asosidagi mobil OT</a:t>
            </a:r>
          </a:p>
        </p:txBody>
      </p:sp>
      <p:sp>
        <p:nvSpPr>
          <p:cNvPr id="33" name="Oval 32"/>
          <p:cNvSpPr/>
          <p:nvPr/>
        </p:nvSpPr>
        <p:spPr>
          <a:xfrm>
            <a:off x="10771632" y="2880360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68128" y="1965960"/>
            <a:ext cx="1536192" cy="566928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2013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338328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 i="0">
                <a:solidFill>
                  <a:srgbClr val="C0392B"/>
                </a:solidFill>
                <a:latin typeface="Times New Roman"/>
              </a:rPr>
              <a:t>Kali Linux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8128" y="3749039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BackTrack o‘rniga: kirish testlari va kriminalistika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120640"/>
            <a:ext cx="11045952" cy="11430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120640"/>
            <a:ext cx="64008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193792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Unix merosi: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kichik buyruqlar, har biri bitta ishni yaxshi bajaradi va ular birlashtiriladi (2-mashg‘ulotda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|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orqali).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Ochiq kod: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istalgan kishi kodni o‘qishi, tekshirishi va o‘zgartirishi mumkin — shuning uchun minglab distributivlar paydo bo‘lgan.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QISQA MA’RUZA · SOLISHTIRISH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Windowsdan Linuxga: nimalar boshqacha?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740664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265176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Xususiyat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Windows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Linux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Fayl tizimi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Disklar: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C:\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D:\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Yagona daraxt: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(ildiz)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Yo‘l ajratuvchisi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\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(teskari chiziq)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(to‘g‘ri chiziq)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Harflar registri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Fayl.txt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=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fayl.txt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Fayl.txt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≠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fayl.txt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Sozlamalar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Registry (reyestr)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Matnli fayllar, asosan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/etc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Bajariladigan fayl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.exe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(PE), kengaytmaga qaraydi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ELF; kengaytma ahamiyatsiz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Administrator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Administrator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root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(4-mashg‘ulot)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Fon xizmatlari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Servislar (services.msc)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Daemon’lar,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systemd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(2-mashg‘ulot)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Dastur o‘rnatish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Installer fayli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Paket menejeri: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apt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(2-mashg‘ulot)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83879" y="1600200"/>
            <a:ext cx="3429000" cy="4096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600200"/>
            <a:ext cx="64008" cy="409651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0" y="1783080"/>
            <a:ext cx="548640" cy="54864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2024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98280" y="184708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Windows foydalanuvchisi ko‘p adashadigan joylar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Documents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documents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ikki xil katalog.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rasm.jpg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aslida dastur bo‘lishi mumkin — turi ichidagi baytlardan aniqlanadi.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Fleshka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D: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emas,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/media/kali/...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katalogida.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rm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bilan o‘chirilgan fayl “Korzina”ga tushmaydi.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06440"/>
            <a:ext cx="11045952" cy="5029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89330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3856" y="5806440"/>
            <a:ext cx="103601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Darsning oxirida Windows (cmd) → Linux buyruqlari lug‘ati beriladi.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2-MAVZU · LINUX 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1-mashg‘ulot: Linux OTda ishlash (amaliy)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661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7373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7452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35608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Mavzu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Linux 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00200"/>
            <a:ext cx="35661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7373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87452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84648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Mashg‘ulot turi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Amaliy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1600200"/>
            <a:ext cx="35661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2167" y="17373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7" y="187452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33687" y="16916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Davomiyligi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7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4 soat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651760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651760"/>
            <a:ext cx="64008" cy="25146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734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O‘quv savollari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315468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108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Linux oilasi bilan tanishish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401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54647A"/>
                </a:solidFill>
                <a:latin typeface="Times New Roman"/>
              </a:rPr>
              <a:t>Yadro va distributiv, oilalar, Kali muhiti, tizim va resurslar haqida ma’lumot (1.1–1.3)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114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Fayllar bilan ishlash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40740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54647A"/>
                </a:solidFill>
                <a:latin typeface="Times New Roman"/>
              </a:rPr>
              <a:t>FHS, yo‘llar, yaratish/nusxalash/o‘chirish, ko‘rish, tur va vaqt, qidirish, havolalar, arxivlar, katalog hajmi (2.1–2.9)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65176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651760"/>
            <a:ext cx="64008" cy="251460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73405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E08E1D"/>
                </a:solidFill>
                <a:latin typeface="Times New Roman"/>
              </a:rPr>
              <a:t>Xavfsizlik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063240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Barcha amallar faqat Kali Linux virtual mashinasida bajariladi.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Mashg‘ulot boshida snapshot oling.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Barcha buyruqlar oddiy foydalanuvchi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kali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nomidan —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sudo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kerak emas.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Linuxda “Korzina” yo‘q: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rm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bilan o‘chirilgan fayl qaytmaydi.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349240"/>
            <a:ext cx="11045952" cy="7772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earch_1F38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573268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33856" y="5349240"/>
            <a:ext cx="103601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Har bir topshiriqda skrinshot uchun joy ajratilgan: natijangizni ish daftariga (tarqatma material) joylang. Har bir topshiriq “Xulosa” bilan yakunlanadi.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AMALIY MASHG‘ULOT · TASHKIL ETISH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Laboratoriya rejasi: 12 bosqich, ~170 daqiqa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1-savol · Linux oilasi bilan tanishish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087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E08E1D"/>
                </a:solidFill>
                <a:latin typeface="Times New Roman"/>
              </a:rPr>
              <a:t>2-savol · Fayllar bilan ishlash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539496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1883664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828800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Tayyorgarlik: Kali, snapshot, 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828800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10 daq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40864"/>
            <a:ext cx="539496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2395728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340864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Kali grafik muhiti bilan tanishish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2340864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15 daq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52928"/>
            <a:ext cx="539496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2907792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852928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Distributiv va yadro versiyasini aniqlash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852928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15 daq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4992"/>
            <a:ext cx="539496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" y="341985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1.3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364992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Resurslar va “hamma narsa — fayl”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336499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10 daq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8105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27064" y="18653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8105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Navigatsiya: pwd, cd, 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18105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15 daq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2677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27064" y="23225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2677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Yaratish: mkdir, touch, nano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22677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10 daq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7249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27064" y="27797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7249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cp, mv, rm va shablonlar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27249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20 daq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1821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27064" y="32369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1821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Ko‘rish: cat, less, head, tail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4200" y="31821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10 daq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6393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27064" y="36941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6393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Fayl turi va vaqt: file, stat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36393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15 daq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0965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27064" y="41513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0965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Qidirish: find, which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40965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15 daq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5537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27064" y="46085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5537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Havolalar: ln -s, ln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45537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10 daq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50109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27064" y="50657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0109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Arxivlar: tar, gzip, zip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44200" y="50109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15 daq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5468112"/>
            <a:ext cx="544068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27064" y="5522976"/>
            <a:ext cx="548640" cy="310896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2.9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5468112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Katalog hajmi: du, tree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44200" y="5468112"/>
            <a:ext cx="777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10 daq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3977639"/>
            <a:ext cx="5394960" cy="224028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" y="4069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7FD1B9"/>
                </a:solidFill>
                <a:latin typeface="Times New Roman"/>
              </a:rPr>
              <a:t>Bugungi asosiy buyruqlar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8" y="4389120"/>
            <a:ext cx="50292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onsolas"/>
              </a:rPr>
              <a:t>uname  hostnamectl  lscpu  free  df  lsblk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onsolas"/>
              </a:rPr>
              <a:t>pwd  cd  ls  mkdir  touch  nano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onsolas"/>
              </a:rPr>
              <a:t>cp  mv  rm  rmdir  cat  less  head  tail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onsolas"/>
              </a:rPr>
              <a:t>file  stat  xxd  find  which  ln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onsolas"/>
              </a:rPr>
              <a:t>tar  gzip  zip  du  tree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72200" y="5989320"/>
            <a:ext cx="5440680" cy="384048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6016752"/>
            <a:ext cx="329184" cy="32918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739128" y="5989320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Yakun: lab tozalash · yakuniy topshiriq · nazorat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TAYYORGARLIK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Laboratoriya muhitini tekshirish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46504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166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Kali VMni ishga tushiring. Login: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kali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parol: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kali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(tayyor VirtualBox obrazi).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95144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44144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95144"/>
            <a:ext cx="5166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VirtualBoxda “Dars-2.1 boshlanishi” snapshotini oling.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90088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1363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990088"/>
            <a:ext cx="5166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Terminalni oching (o‘ngdagi tugmalar) yoki paneldagi terminal belgisini bosing.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85032"/>
            <a:ext cx="57607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83133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685032"/>
            <a:ext cx="5166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whoami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natija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kali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(oddiy foydalanuvchi).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600200"/>
            <a:ext cx="5074920" cy="123444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664208"/>
            <a:ext cx="4800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Kali terminali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29384"/>
            <a:ext cx="480060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 b="0">
                <a:solidFill>
                  <a:srgbClr val="E6EDF5"/>
                </a:solidFill>
                <a:latin typeface="Consolas"/>
              </a:rPr>
              <a:t>┌──(kali㉿kali)-[~]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 b="0">
                <a:solidFill>
                  <a:srgbClr val="E6EDF5"/>
                </a:solidFill>
                <a:latin typeface="Consolas"/>
              </a:rPr>
              <a:t>└─$ whoami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 b="0">
                <a:solidFill>
                  <a:srgbClr val="E6EDF5"/>
                </a:solidFill>
                <a:latin typeface="Consolas"/>
              </a:rPr>
              <a:t>kali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718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Taklif satrini (prompt) o‘qish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3310128"/>
            <a:ext cx="1463040" cy="38404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kali㉿kali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310128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foydalanuvchi ㉿ kompyuter nomi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85616"/>
            <a:ext cx="1463040" cy="38404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[~]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785616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hozirgi katalog (~ = /home/kali)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261104"/>
            <a:ext cx="1463040" cy="384048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$  /  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261104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oddiy foydalanuvchi / root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80560"/>
            <a:ext cx="5760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480560"/>
            <a:ext cx="64008" cy="17830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5537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Tezkor tugmalar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937760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4168" y="4937760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63624" y="4937760"/>
            <a:ext cx="466344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Alt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9968" y="4937760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49424" y="493776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93776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terminal ochish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376672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" y="5376672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63624" y="5376672"/>
            <a:ext cx="667512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Shift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31136" y="5376672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50592" y="5376672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5376672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yangi terminal varag‘i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815584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815584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63624" y="5815584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5815584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buyruqni to‘xtatish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37960" y="4846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5138928"/>
            <a:ext cx="329184" cy="32918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104888" y="4846320"/>
            <a:ext cx="4389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Terminal haqida batafsil (shell, sintaksis, tarix, barcha tezkor tugmalar) — </a:t>
            </a:r>
            <a:r>
              <a:rPr sz="1200" b="1" i="0">
                <a:solidFill>
                  <a:srgbClr val="1F3864"/>
                </a:solidFill>
                <a:latin typeface="Times New Roman"/>
              </a:rPr>
              <a:t>2-mashg‘ulotda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8978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0: Kali ish stoli va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whoami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natijasi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1-SAVOL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269748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Linux oilasi bilan tanishish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Distributivlar, oilalar, Kali muhiti va tizim haqida ma’lumot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1-SAVOL · DISTRIBUTIV OILALARI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Bitta yadro — ko‘plab distributivlar: asosiy oilalar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Linux yadrosi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331720"/>
            <a:ext cx="9006840" cy="36576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2103120"/>
            <a:ext cx="36576" cy="246888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81912" y="2350008"/>
            <a:ext cx="36576" cy="22860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25786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Debian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.deb</a:t>
            </a:r>
            <a:r>
              <a:rPr sz="110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050" b="1" i="0">
                <a:solidFill>
                  <a:srgbClr val="FFFFFF"/>
                </a:solidFill>
                <a:latin typeface="Consolas"/>
              </a:rPr>
              <a:t>apt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45643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178A73"/>
                </a:solidFill>
                <a:latin typeface="Times New Roman"/>
              </a:rPr>
              <a:t>Debian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867911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178A73"/>
                </a:solidFill>
                <a:latin typeface="Times New Roman"/>
              </a:rPr>
              <a:t>Ubuntu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27939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Kali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69087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178A73"/>
                </a:solidFill>
                <a:latin typeface="Times New Roman"/>
              </a:rPr>
              <a:t>Parrot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22192" y="2350008"/>
            <a:ext cx="36576" cy="22860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07208" y="25786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Red Hat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.rpm</a:t>
            </a:r>
            <a:r>
              <a:rPr sz="110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050" b="1" i="0">
                <a:solidFill>
                  <a:srgbClr val="FFFFFF"/>
                </a:solidFill>
                <a:latin typeface="Consolas"/>
              </a:rPr>
              <a:t>dnf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0088" y="345643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C0392B"/>
                </a:solidFill>
                <a:latin typeface="Times New Roman"/>
              </a:rPr>
              <a:t>RHEL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0088" y="3867911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C0392B"/>
                </a:solidFill>
                <a:latin typeface="Times New Roman"/>
              </a:rPr>
              <a:t>Fedora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90088" y="427939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C0392B"/>
                </a:solidFill>
                <a:latin typeface="Times New Roman"/>
              </a:rPr>
              <a:t>Rocky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0088" y="469087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C0392B"/>
                </a:solidFill>
                <a:latin typeface="Times New Roman"/>
              </a:rPr>
              <a:t>AlmaLinux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2472" y="2350008"/>
            <a:ext cx="36576" cy="22860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47488" y="25786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Arch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pacman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0368" y="345643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1F3864"/>
                </a:solidFill>
                <a:latin typeface="Times New Roman"/>
              </a:rPr>
              <a:t>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3867911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1F3864"/>
                </a:solidFill>
                <a:latin typeface="Times New Roman"/>
              </a:rPr>
              <a:t>Manjaro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427939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1F3864"/>
                </a:solidFill>
                <a:latin typeface="Times New Roman"/>
              </a:rPr>
              <a:t>BlackArch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2350008"/>
            <a:ext cx="36576" cy="22860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87768" y="25786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SUSE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.rpm</a:t>
            </a:r>
            <a:r>
              <a:rPr sz="110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050" b="1" i="0">
                <a:solidFill>
                  <a:srgbClr val="FFFFFF"/>
                </a:solidFill>
                <a:latin typeface="Consolas"/>
              </a:rPr>
              <a:t>zypper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0648" y="345643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43B02A"/>
                </a:solidFill>
                <a:latin typeface="Times New Roman"/>
              </a:rPr>
              <a:t>openSUSE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0648" y="3867911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43B02A"/>
                </a:solidFill>
                <a:latin typeface="Times New Roman"/>
              </a:rPr>
              <a:t>SLES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43032" y="2350008"/>
            <a:ext cx="36576" cy="22860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28048" y="25786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Alpine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apk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10928" y="3456432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E08E1D"/>
                </a:solidFill>
                <a:latin typeface="Times New Roman"/>
              </a:rPr>
              <a:t>Alpine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0928" y="3867911"/>
            <a:ext cx="1691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0" i="0">
                <a:solidFill>
                  <a:srgbClr val="E08E1D"/>
                </a:solidFill>
                <a:latin typeface="Times New Roman"/>
              </a:rPr>
              <a:t>(Docker)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66928" y="5212080"/>
          <a:ext cx="7589518" cy="1060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39"/>
                <a:gridCol w="6126479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Oila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Qayerda ko‘p uchraydi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Debian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Serverlar, ish stoli, kiberxavfsizlik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Red Hat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Korporativ serverlar, bank va davlat tizimlari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Alpine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Docker konteynerlari (juda kichik)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8321040" y="5212080"/>
            <a:ext cx="3291840" cy="1060704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5577840"/>
            <a:ext cx="329184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887968" y="5212080"/>
            <a:ext cx="260604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Kali — </a:t>
            </a:r>
            <a:r>
              <a:rPr sz="1200" b="1" i="0">
                <a:solidFill>
                  <a:srgbClr val="1F3864"/>
                </a:solidFill>
                <a:latin typeface="Times New Roman"/>
              </a:rPr>
              <a:t>Debian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oilasidan: Debian/Ubuntu ko‘rsatmalari Kalida ham ishlaydi.</a:t>
            </a:r>
          </a:p>
        </p:txBody>
      </p:sp>
      <p:sp>
        <p:nvSpPr>
          <p:cNvPr id="40" name="Rounded Rectangle 39">
            <a:hlinkClick action="ppaction://hlinksldjump" r:id="rId4"/>
          </p:cNvPr>
          <p:cNvSpPr/>
          <p:nvPr/>
        </p:nvSpPr>
        <p:spPr>
          <a:xfrm>
            <a:off x="9738360" y="1627632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Distributiv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1-SAVOL · MAXSUS DISTRIBUTIVLAR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Kiberxavfsizlik uchun maxsus distributivlar va fanda ularning o‘rni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661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71907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783080"/>
            <a:ext cx="594360" cy="5943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931670"/>
            <a:ext cx="297180" cy="2971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78A73"/>
                </a:solidFill>
                <a:latin typeface="Times New Roman"/>
              </a:rPr>
              <a:t>Kali 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49631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Kirish testlari, 600+ tayyor vosita (Debian asosida)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▸ Butun fan davomida — asosiy laboratoriya 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00200"/>
            <a:ext cx="35661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00200"/>
            <a:ext cx="64008" cy="17190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98848" y="178308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438" y="1931670"/>
            <a:ext cx="297180" cy="2971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2080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Parrot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49631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Kirish testlari va anonimlik (Debian asosida)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▸ Kaliga muqobil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1600200"/>
            <a:ext cx="35661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1600200"/>
            <a:ext cx="64008" cy="17190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9" y="178308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189" y="1931670"/>
            <a:ext cx="297180" cy="2971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42831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BlackArch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249631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Arch asosida, 2800+ vosita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▸ Tanishuv uchun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74720"/>
            <a:ext cx="35661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474720"/>
            <a:ext cx="64008" cy="17190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" y="365760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686" y="3806190"/>
            <a:ext cx="297180" cy="2971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81328" y="37490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C0392B"/>
                </a:solidFill>
                <a:latin typeface="Times New Roman"/>
              </a:rPr>
              <a:t>REMnux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43708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Zararli dasturlarni tahlil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48006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▸ 3-mavzu “Virusologiya”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474720"/>
            <a:ext cx="35661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474720"/>
            <a:ext cx="64008" cy="171907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98848" y="3657600"/>
            <a:ext cx="594360" cy="59436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438" y="3806190"/>
            <a:ext cx="297180" cy="2971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212080" y="37490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E08E1D"/>
                </a:solidFill>
                <a:latin typeface="Times New Roman"/>
              </a:rPr>
              <a:t>Tails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3708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Anonim, izsiz OT, USB’dan yuklanadi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8006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▸ 6-semestr, 9-mashg‘ulot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1" y="3474720"/>
            <a:ext cx="35661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28431" y="3474720"/>
            <a:ext cx="64008" cy="1719072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29599" y="3657600"/>
            <a:ext cx="594360" cy="5943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earch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8189" y="3806190"/>
            <a:ext cx="297180" cy="2971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42831" y="37490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43B02A"/>
                </a:solidFill>
                <a:latin typeface="Times New Roman"/>
              </a:rPr>
              <a:t>CSI Linux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7031" y="43708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Kiberkriminalistik tekshiruv va OSINT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7031" y="48006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▸ 7-semestr, 13-mashg‘ulot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5440680"/>
            <a:ext cx="11045952" cy="7772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earch_1F38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5664708"/>
            <a:ext cx="329184" cy="32918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33856" y="5440680"/>
            <a:ext cx="103601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Hammasi Linux: yadro bir xil, farqi — oldindan o‘rnatilgan vositalar va sozlamalarda. Bugun o‘rgangan buyruqlaringiz ularning barchasida ishlaydi.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1-SAVOL · 1.1-TOPSHIRIQ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1.1 — Kali grafik muhiti bilan tanishish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760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190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5166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Paneldagi ko‘k Kali belgisi →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Applications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menyusi: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MITRE ATT&amp;CK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hujum bosqichlari bo‘yicha guruhlangan (2025.2 dan beri).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40280"/>
            <a:ext cx="5760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35915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40280"/>
            <a:ext cx="5166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Reconnaissance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bo‘limini oching: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nmap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dmitry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theHarvester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(3-mashg‘ulotda).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80360"/>
            <a:ext cx="5760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9992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880360"/>
            <a:ext cx="5166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Fayl menejeri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Thunar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: yashirin fayllar va manzil satri — pastdagi tugmalar.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20440"/>
            <a:ext cx="5760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63931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520440"/>
            <a:ext cx="5166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Thunar manzil satriga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yozing — ildiz katalog ochiladi (2-savol).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60520"/>
            <a:ext cx="57607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42793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160520"/>
            <a:ext cx="5166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Settings →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Settings Manager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: Appearance, Display, Keyboard.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92040"/>
            <a:ext cx="5760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892040"/>
            <a:ext cx="64008" cy="8686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138928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5138928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63624" y="5138928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8878" y="5138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yashirin fayllar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5138928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5138928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2544" y="5138928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7798" y="5138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manzil satri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89788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1.1: Applications menyusi (Reconnaissance) va Thunarda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/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katalogi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Menyu = MITRE ATT&amp;CK hujum bosqichlari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1901952"/>
            <a:ext cx="50749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01968" y="1965960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Rec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1901952"/>
            <a:ext cx="2606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Reconnaissance (razvedka)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190195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2-mavzu 3-mash., 5-mavzu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2450592"/>
            <a:ext cx="50749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01968" y="2514600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2450592"/>
            <a:ext cx="2606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Initial Access (dastlabki kirish)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245059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4-mavzu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2999232"/>
            <a:ext cx="50749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601968" y="3063240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2999232"/>
            <a:ext cx="2606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Credential Access (parollar)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299923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4-mavzu (Hydra, John)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3547872"/>
            <a:ext cx="50749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01968" y="3611880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3547872"/>
            <a:ext cx="2606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Privilege Escalation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800" y="354787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2-mavzu 4-mashg‘ulot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37960" y="4096512"/>
            <a:ext cx="50749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01968" y="4160520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C2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4096512"/>
            <a:ext cx="2606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Command &amp; Control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409651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4-mavzu (Metasploit)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37960" y="4645152"/>
            <a:ext cx="50749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601968" y="4709160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4645152"/>
            <a:ext cx="2606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Forensics (kriminalistika)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800" y="464515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5-mavzu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37960" y="5193792"/>
            <a:ext cx="50749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01968" y="5257800"/>
            <a:ext cx="566928" cy="347472"/>
          </a:xfrm>
          <a:prstGeom prst="roundRect">
            <a:avLst>
              <a:gd name="adj" fmla="val 15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Rep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5193792"/>
            <a:ext cx="2606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Reporting Tools (hisobot)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800" y="519379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Butun fan davomida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37960" y="5806440"/>
            <a:ext cx="5074920" cy="50292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5893308"/>
            <a:ext cx="329184" cy="32918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104888" y="5806440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0">
                <a:solidFill>
                  <a:srgbClr val="202A38"/>
                </a:solidFill>
                <a:latin typeface="Times New Roman"/>
              </a:rPr>
              <a:t>Vositalar vazifasi (ATT&amp;CK bosqichi) bo‘yicha guruhlangan; amalda terminaldan ishga tushiriladi.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1-SAVOL · 1.2-TOPSHIRIQ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1.2 — Distributiv va yadro versiyasini aniqlash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1206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664208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4526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Distributiv: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cat /etc/os-release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93976"/>
            <a:ext cx="51206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157984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093976"/>
            <a:ext cx="4526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Yadro: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uname -r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uname -a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uname -m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87752"/>
            <a:ext cx="51206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651760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587752"/>
            <a:ext cx="4526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Hammasi birga: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hostnamectl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Operating System, Kernel, Virtualization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81528"/>
            <a:ext cx="51206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3145536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081528"/>
            <a:ext cx="4526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Yadrodan to‘g‘ridan-to‘g‘ri: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cat /proc/version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75304"/>
            <a:ext cx="51206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363931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575304"/>
            <a:ext cx="4526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Kompyuter nomi va vaqt: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hostname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uptime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1600200"/>
            <a:ext cx="5715000" cy="260604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664208"/>
            <a:ext cx="5440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 (namunaviy natija)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929384"/>
            <a:ext cx="5440680" cy="2221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E6EDF5"/>
                </a:solidFill>
                <a:latin typeface="Consolas"/>
              </a:rPr>
              <a:t>$ cat /etc/os-release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E6EDF5"/>
                </a:solidFill>
                <a:latin typeface="Consolas"/>
              </a:rPr>
              <a:t>PRETTY_NAME="Kali GNU/Linux Rolling"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E6EDF5"/>
                </a:solidFill>
                <a:latin typeface="Consolas"/>
              </a:rPr>
              <a:t>VERSION="2026.2"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E6EDF5"/>
                </a:solidFill>
                <a:latin typeface="Consolas"/>
              </a:rPr>
              <a:t>ID=kali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E6EDF5"/>
                </a:solidFill>
                <a:latin typeface="Consolas"/>
              </a:rPr>
              <a:t>ID_LIKE=debian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E6EDF5"/>
                </a:solidFill>
                <a:latin typeface="Consolas"/>
              </a:rPr>
              <a:t>VERSION_CODENAME=kali-rolling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E6EDF5"/>
                </a:solidFill>
                <a:latin typeface="Consolas"/>
              </a:rPr>
              <a:t>$ uname -r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E6EDF5"/>
                </a:solidFill>
                <a:latin typeface="Consolas"/>
              </a:rPr>
              <a:t>6.19.0-amd64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E6EDF5"/>
                </a:solidFill>
                <a:latin typeface="Consolas"/>
              </a:rPr>
              <a:t>$ hostnamectl  </a:t>
            </a:r>
            <a:r>
              <a:rPr sz="1000">
                <a:solidFill>
                  <a:srgbClr val="7FD1B9"/>
                </a:solidFill>
                <a:latin typeface="Consolas"/>
              </a:rPr>
              <a:t> # ... Virtualization: oracle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Yadro versiyasini o‘qish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480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9834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asosiy versiya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92807" y="4480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7" y="49834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kichik versiya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18688" y="4480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8688" y="49834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tuzatish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44568" y="4480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amd64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49834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64 bitli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39496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Eski yadro — ma’lum zaifliklar ehtimoli. 4-mashg‘ulotda LinPEAS buni avtomatik tekshiradi.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897880" y="4343400"/>
          <a:ext cx="571500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7500"/>
                <a:gridCol w="28575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 / ID_LIKE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Oila va paket menejeri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kali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debian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Debian ·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apt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ubuntu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debian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Debian ·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apt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rocky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rhel centos fedora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Red Hat ·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dnf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alpine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—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Alpine ·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apk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(ko‘pincha Docker)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1-SAVOL · 1.3-TOPSHIRIQ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1.3 — Resurslar va “hamma narsa — fayl” tamoyili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5852160" cy="2523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/>
                <a:gridCol w="2651760"/>
                <a:gridCol w="20116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Buyruq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Ko‘rsatadi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Manba (fayl)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lscpu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Protsessor, yadrolar soni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/proc/cpuinfo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free -h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Operativ xotira, swap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/proc/meminfo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uptime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Qancha vaqtdan beri ishlayapti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/proc/uptime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lsblk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Disklar va bo‘limlar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/dev/sd*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df -h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Bo‘limlarda bo‘sh joy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ulangan fayl tizimlari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297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Bajaring: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572000"/>
            <a:ext cx="5852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free -h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lsblk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df -h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natijalarni yozib oling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cat /proc/meminfo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xuddi shu ma’lumot, lekin fayldan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ls /dev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sda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sda1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null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random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tty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ni toping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978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1.3: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free -h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lsblk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va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 /dev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Linuxda hamma narsa — fayl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743200"/>
            <a:ext cx="493776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0" y="2816352"/>
            <a:ext cx="457200" cy="4572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0" y="2930652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60920" y="2743200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/home/kali/hisobot.txt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743200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oddiy hujjat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456432"/>
            <a:ext cx="493776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66560" y="3529584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d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3643884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60920" y="3456432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Consolas"/>
              </a:rPr>
              <a:t>/dev/sda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456432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butun disk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169664"/>
            <a:ext cx="493776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6560" y="4242816"/>
            <a:ext cx="457200" cy="4572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860" y="4357116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60920" y="4169664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E08E1D"/>
                </a:solidFill>
                <a:latin typeface="Consolas"/>
              </a:rPr>
              <a:t>/proc/meminfo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169664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xotira holati (virtual)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4882896"/>
            <a:ext cx="493776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66560" y="4956048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ras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860" y="5070348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60920" y="4882896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C0392B"/>
                </a:solidFill>
                <a:latin typeface="Consolas"/>
              </a:rPr>
              <a:t>/dev/null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882896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“qora tuynuk”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5669280"/>
            <a:ext cx="4937760" cy="621792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warning_E08E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136" y="5815584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42048" y="5669280"/>
            <a:ext cx="4251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178A73"/>
                </a:solidFill>
                <a:latin typeface="Consolas"/>
              </a:rPr>
              <a:t>/proc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/sys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diskda yo‘q — yadro ularni o‘qilgan paytda yaratadi.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7FD1BD"/>
                </a:solidFill>
                <a:latin typeface="Times New Roman"/>
              </a:rPr>
              <a:t>2-SAVOL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2697480"/>
            <a:ext cx="1280160" cy="457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Fayllar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700" b="0" i="0">
                <a:solidFill>
                  <a:srgbClr val="DDE6F2"/>
                </a:solidFill>
                <a:latin typeface="Times New Roman"/>
              </a:rPr>
              <a:t>FHS, yo‘llar, yaratish va o‘chirish, ko‘rish, tur va vaqt, qidirish, havolalar, arxivlar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FAYL TIZIMI TUZILMASI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FHS: yagona daraxt — har bir katalogning o‘z vazifasi bor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5361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/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176272"/>
            <a:ext cx="923544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71616" y="1993392"/>
            <a:ext cx="27432" cy="201168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81912" y="2194560"/>
            <a:ext cx="27432" cy="13716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233172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31720"/>
            <a:ext cx="64008" cy="16276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0487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Consolas"/>
              </a:rPr>
              <a:t>/bin → /usr/bin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buyruqlar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Almashtirilgan buyruq — rootkit belgisi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22192" y="2194560"/>
            <a:ext cx="27432" cy="13716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07208" y="233172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07208" y="2331720"/>
            <a:ext cx="64008" cy="16276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40487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Consolas"/>
              </a:rPr>
              <a:t>/etc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7432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sozlamalar (matn)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089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Foydalanuvchilar, parol xeshlari (4-mash.)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2472" y="2194560"/>
            <a:ext cx="27432" cy="13716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47488" y="233172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7488" y="2331720"/>
            <a:ext cx="64008" cy="162763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240487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/home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7432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uy kataloglari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1089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Shaxsiy fayllar, buyruqlar tarixi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02752" y="2194560"/>
            <a:ext cx="27432" cy="13716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87768" y="233172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87768" y="2331720"/>
            <a:ext cx="64008" cy="16276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40487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Consolas"/>
              </a:rPr>
              <a:t>/root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7432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root uyi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1089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Hujumchining asosiy nishoni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43032" y="2194560"/>
            <a:ext cx="27432" cy="13716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28048" y="233172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28048" y="2331720"/>
            <a:ext cx="64008" cy="162763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240487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E08E1D"/>
                </a:solidFill>
                <a:latin typeface="Consolas"/>
              </a:rPr>
              <a:t>/tmp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7432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vaqtinchalik, hamma yozadi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1089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Zararli fayllar ko‘pincha shu yerda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11480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114800"/>
            <a:ext cx="64008" cy="162763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1879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/var/log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52628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jurnallar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9204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Kriminalistik izlar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07208" y="411480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07208" y="4114800"/>
            <a:ext cx="64008" cy="16276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1800" y="41879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Consolas"/>
              </a:rPr>
              <a:t>/dev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452628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qurilmalar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489204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Diskning nusxasini olish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47488" y="411480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47488" y="4114800"/>
            <a:ext cx="64008" cy="1627632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41879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E08E1D"/>
                </a:solidFill>
                <a:latin typeface="Consolas"/>
              </a:rPr>
              <a:t>/proc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452628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jarayonlar (virtual)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489204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Ishlayotgan jarayonlar tahlili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87768" y="411480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87768" y="4114800"/>
            <a:ext cx="64008" cy="16276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52360" y="41879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Consolas"/>
              </a:rPr>
              <a:t>/opt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52628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qo‘shimcha dasturlar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52360" y="489204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Qo‘lda o‘rnatilgan vositalar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8048" y="4114800"/>
            <a:ext cx="2103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28048" y="4114800"/>
            <a:ext cx="64008" cy="1627632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41879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/usr/share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8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umumiy ma’lumotlar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489204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/usr/share/wordlists — parol ro‘yxatlari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5943600"/>
            <a:ext cx="8778240" cy="3840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971032"/>
            <a:ext cx="329184" cy="32918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133856" y="5943600"/>
            <a:ext cx="8092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Fleshka va ikkinchi disk ham shu daraxtga ulanadi: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/media/kali/...</a:t>
            </a:r>
          </a:p>
        </p:txBody>
      </p:sp>
      <p:sp>
        <p:nvSpPr>
          <p:cNvPr id="69" name="Rounded Rectangle 68">
            <a:hlinkClick action="ppaction://hlinksldjump" r:id="rId4"/>
          </p:cNvPr>
          <p:cNvSpPr/>
          <p:nvPr/>
        </p:nvSpPr>
        <p:spPr>
          <a:xfrm>
            <a:off x="9509760" y="5980176"/>
            <a:ext cx="92811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FHS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YO‘LLAR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Absolyut va nisbiy yo‘l: fayl manzilini qanday yozish kerak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Daraxt bo‘ylab yo‘l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/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606040"/>
            <a:ext cx="41148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242316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3108960"/>
            <a:ext cx="41148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292608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kali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3611880"/>
            <a:ext cx="41148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342900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4114800"/>
            <a:ext cx="41148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393192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Desktop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4617720"/>
            <a:ext cx="41148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443484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etc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5120640"/>
            <a:ext cx="41148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77440" y="493776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hostname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2304288"/>
            <a:ext cx="27432" cy="233172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65960" y="2807208"/>
            <a:ext cx="27432" cy="32004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8920" y="3310128"/>
            <a:ext cx="27432" cy="82296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4818888"/>
            <a:ext cx="27432" cy="32004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1600200"/>
            <a:ext cx="7040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600200"/>
            <a:ext cx="64008" cy="1325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673352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Absolyut yo‘l — har doim </a:t>
            </a:r>
            <a:r>
              <a:rPr sz="1300" b="1" i="0">
                <a:solidFill>
                  <a:srgbClr val="178A73"/>
                </a:solidFill>
                <a:latin typeface="Consolas"/>
              </a:rPr>
              <a:t>/</a:t>
            </a:r>
            <a:r>
              <a:rPr sz="1350" b="1" i="0">
                <a:solidFill>
                  <a:srgbClr val="1F3864"/>
                </a:solidFill>
                <a:latin typeface="Times New Roman"/>
              </a:rPr>
              <a:t> dan boshlanadi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2011680"/>
            <a:ext cx="6675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/home/kali/Documents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qayerda turmang, bir xil joy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/etc/hostname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063240"/>
            <a:ext cx="7040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063240"/>
            <a:ext cx="64008" cy="13258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3136392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 i="0">
                <a:solidFill>
                  <a:srgbClr val="178A73"/>
                </a:solidFill>
                <a:latin typeface="Times New Roman"/>
              </a:rPr>
              <a:t>Nisbiy yo‘l — hozirgi katalogdan hisoblanadi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474720"/>
            <a:ext cx="6675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/home/kali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da turib: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Documents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=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/home/kali/Documents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/home/kali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da turib: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../../etc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=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/etc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572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~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206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uy katalogi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98464" y="4572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98464" y="51206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hozirgi katalog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24928" y="4572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8" y="51206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ota katalog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51392" y="4572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51206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oldingi (cd -)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77856" y="457200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.nom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77856" y="51206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yashirin fayl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577840"/>
            <a:ext cx="11045952" cy="6858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756148"/>
            <a:ext cx="329184" cy="329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33856" y="5577840"/>
            <a:ext cx="103601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Registr farqlanadi: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Hisobot.txt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≠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hisobot.txt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 Nomdagi bo‘sh joy — qo‘shtirnoqda: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"Mening fayllarim"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 Kengaytma faqat odamlar uchun belgi.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2.1-TOPSHIRIQ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2.1 — Navigatsiya: pwd, cd, 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669280" cy="301752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5394960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pwd         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qayerdaman? -&gt; /home/kali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ls -la ~    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batafsil + yashirin fayllar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ls -lh /usr/bin/nmap  </a:t>
            </a:r>
            <a:r>
              <a:rPr sz="1100">
                <a:solidFill>
                  <a:srgbClr val="7FD1B9"/>
                </a:solidFill>
                <a:latin typeface="Consolas"/>
              </a:rPr>
              <a:t> # hajm KB/MB da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ls -lt /etc 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vaqt bo‘yicha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ls -l /     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bin -&gt; usr/bin ga e’tibor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cd /etc ; cd ..    </a:t>
            </a:r>
            <a:r>
              <a:rPr sz="1100">
                <a:solidFill>
                  <a:srgbClr val="7FD1B9"/>
                </a:solidFill>
                <a:latin typeface="Consolas"/>
              </a:rPr>
              <a:t> # absolyut, keyin yuqoriga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cd usr/share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nisbiy yo‘l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E6EDF5"/>
                </a:solidFill>
                <a:latin typeface="Consolas"/>
              </a:rPr>
              <a:t>$ cd ~ ; cd -        </a:t>
            </a:r>
            <a:r>
              <a:rPr sz="1100">
                <a:solidFill>
                  <a:srgbClr val="7FD1B9"/>
                </a:solidFill>
                <a:latin typeface="Consolas"/>
              </a:rPr>
              <a:t> # uyga, keyin orqaga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Taxmin qiling, keyin tekshiring (siz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/home/kali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 da)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46520" y="1874519"/>
          <a:ext cx="516636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423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Buyruq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Natija (pwd)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cd ../../etc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/etc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cd Desktop/..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/home/kali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cd /var/log/../tmp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/var/tmp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cd ~/../..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47548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ls -l</a:t>
            </a:r>
            <a:r>
              <a:rPr sz="1300" b="1" i="0">
                <a:solidFill>
                  <a:srgbClr val="1F3864"/>
                </a:solidFill>
                <a:latin typeface="Times New Roman"/>
              </a:rPr>
              <a:t> natijasini o‘qish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74920"/>
            <a:ext cx="356616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532120"/>
            <a:ext cx="3566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tur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" y="5074920"/>
            <a:ext cx="1133856" cy="41148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rwxr-xr-x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5532120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ruxsat (4-mash.)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67128" y="5074920"/>
            <a:ext cx="448056" cy="41148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5532120"/>
            <a:ext cx="448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havola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5074920"/>
            <a:ext cx="950976" cy="41148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kali kali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5532120"/>
            <a:ext cx="950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egasi, guruh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5888" y="5074920"/>
            <a:ext cx="585215" cy="41148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4096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5532120"/>
            <a:ext cx="585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hajm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5074920"/>
            <a:ext cx="1088136" cy="4114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Oct 7 09:30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5532120"/>
            <a:ext cx="1088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mtime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58968" y="5074920"/>
            <a:ext cx="768096" cy="41148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553212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1">
                <a:solidFill>
                  <a:srgbClr val="54647A"/>
                </a:solidFill>
                <a:latin typeface="Times New Roman"/>
              </a:rPr>
              <a:t>nom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977639"/>
            <a:ext cx="51663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3977639"/>
            <a:ext cx="64008" cy="146304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050791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Tur belgisi (1-belgi)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38912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-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oddiy fayl 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katalog  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l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ramziy havola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/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b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belgili / blokli qurilma (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/dev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577840"/>
            <a:ext cx="5166360" cy="6858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5756148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13448" y="5577840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Hujumchilar fayllarini nuqtali nomlarda yashiradi (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/tmp/.x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) — doim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 -la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2.2-TOPSHIRIQ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2.2 — Yaratish: mkdir, touch va nano muharriri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035040" cy="283464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5760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5760720" cy="245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cd ~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mkdir lab2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mkdir -p lab2/hisobot/2026/oktabr  </a:t>
            </a:r>
            <a:r>
              <a:rPr sz="1050">
                <a:solidFill>
                  <a:srgbClr val="7FD1B9"/>
                </a:solidFill>
                <a:latin typeface="Consolas"/>
              </a:rPr>
              <a:t> # oraliqlar ham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mkdir lab2/loglar lab2/rasmlar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touch lab2/eslatma.txt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bo‘sh fayl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touch "lab2/mening hujjatim.txt"   </a:t>
            </a:r>
            <a:r>
              <a:rPr sz="1050">
                <a:solidFill>
                  <a:srgbClr val="7FD1B9"/>
                </a:solidFill>
                <a:latin typeface="Consolas"/>
              </a:rPr>
              <a:t> # bo‘sh joyli nom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touch lab2/.yashirin  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yashirin fayl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ls lab2 ; ls -a lab2  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farqni ko‘ring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554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Natija: ~/lab2 tuzilmasi</a:t>
            </a:r>
          </a:p>
        </p:txBody>
      </p:sp>
      <p:pic>
        <p:nvPicPr>
          <p:cNvPr id="12" name="Picture 11" descr="folder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74519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0" y="1874519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Consolas"/>
              </a:rPr>
              <a:t>lab2/</a:t>
            </a:r>
          </a:p>
        </p:txBody>
      </p:sp>
      <p:pic>
        <p:nvPicPr>
          <p:cNvPr id="14" name="Picture 13" descr="folder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40279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35240" y="2240279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hisobot/2026/oktabr/</a:t>
            </a:r>
          </a:p>
        </p:txBody>
      </p:sp>
      <p:pic>
        <p:nvPicPr>
          <p:cNvPr id="16" name="Picture 15" descr="folder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606039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35240" y="2606039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loglar/</a:t>
            </a:r>
          </a:p>
        </p:txBody>
      </p:sp>
      <p:pic>
        <p:nvPicPr>
          <p:cNvPr id="18" name="Picture 17" descr="folder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97180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35240" y="2971800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rasmlar/</a:t>
            </a:r>
          </a:p>
        </p:txBody>
      </p:sp>
      <p:pic>
        <p:nvPicPr>
          <p:cNvPr id="20" name="Picture 19" descr="file_E08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33756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3337560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E08E1D"/>
                </a:solidFill>
                <a:latin typeface="Consolas"/>
              </a:rPr>
              <a:t>eslatma.txt</a:t>
            </a:r>
          </a:p>
        </p:txBody>
      </p:sp>
      <p:pic>
        <p:nvPicPr>
          <p:cNvPr id="22" name="Picture 21" descr="file_E08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703320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35240" y="3703320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E08E1D"/>
                </a:solidFill>
                <a:latin typeface="Consolas"/>
              </a:rPr>
              <a:t>mening hujjatim.txt</a:t>
            </a:r>
          </a:p>
        </p:txBody>
      </p:sp>
      <p:pic>
        <p:nvPicPr>
          <p:cNvPr id="24" name="Picture 23" descr="file_E08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406908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35240" y="4069080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54647A"/>
                </a:solidFill>
                <a:latin typeface="Consolas"/>
              </a:rPr>
              <a:t>.yashirin  (faqat ls -a)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572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nano: faylni tahrirlash —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nano lab2/eslatma.txt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937760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4937760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53312" y="493776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0278" y="493776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saqlash (+ Enter)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4937760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51376" y="4937760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493776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7798" y="493776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chiqish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413248"/>
            <a:ext cx="566928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Ctrl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5413248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53312" y="5413248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0278" y="541324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qidirish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84448" y="5413248"/>
            <a:ext cx="466344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Alt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0792" y="5413248"/>
            <a:ext cx="2194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54647A"/>
                </a:solidFill>
                <a:latin typeface="Times New Roman"/>
              </a:rP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70248" y="5413248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14" y="541324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bekor qilish (undo)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12280" y="4526280"/>
            <a:ext cx="4800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12280" y="4526280"/>
            <a:ext cx="64008" cy="11430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4590288"/>
            <a:ext cx="4526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mkdir -p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butun zanjirni bitta buyruqda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touch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mavjud faylning faqat vaqtini yangilaydi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^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belgisi nano menyusida = </a:t>
            </a:r>
            <a:r>
              <a:rPr sz="1200" b="1" i="0">
                <a:solidFill>
                  <a:srgbClr val="1F3864"/>
                </a:solidFill>
                <a:latin typeface="Cambria Math"/>
              </a:rPr>
              <a:t> Ctrl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5760720"/>
            <a:ext cx="4800600" cy="53035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earch_1F38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5861304"/>
            <a:ext cx="329184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79208" y="5760720"/>
            <a:ext cx="4114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 i="0">
                <a:solidFill>
                  <a:srgbClr val="202A38"/>
                </a:solidFill>
                <a:latin typeface="Times New Roman"/>
              </a:rPr>
              <a:t>Serverlarda grafik muhit yo‘q — sozlamalar terminal muharririda tahrirlanadi.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94360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2.2: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 -a lab2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va nano oynasi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2.3-TOPSHIRIQ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2.3 — Nusxalash, ko‘chirish, o‘chirish va shablonlar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1828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874519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1719072"/>
            <a:ext cx="502920" cy="5029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p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1844802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4168" y="173736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178A73"/>
                </a:solidFill>
                <a:latin typeface="Consolas"/>
              </a:rPr>
              <a:t>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317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nusxalash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8892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178A73"/>
                </a:solidFill>
                <a:latin typeface="Consolas"/>
              </a:rPr>
              <a:t>cp a.txt b.txt</a:t>
            </a:r>
            <a:r>
              <a:rPr sz="1050" b="0" i="0">
                <a:solidFill>
                  <a:srgbClr val="202A38"/>
                </a:solidFill>
                <a:latin typeface="Times New Roman"/>
              </a:rPr>
              <a:t> · katalog: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cp -r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6" y="1600200"/>
            <a:ext cx="1828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5456" y="1600200"/>
            <a:ext cx="64008" cy="187451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88336" y="1719072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old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066" y="1844802"/>
            <a:ext cx="251460" cy="2514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82696" y="173736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1F3864"/>
                </a:solidFill>
                <a:latin typeface="Consolas"/>
              </a:rPr>
              <a:t>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23317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ko‘chirish / nomini o‘zgartirish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278892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178A73"/>
                </a:solidFill>
                <a:latin typeface="Consolas"/>
              </a:rPr>
              <a:t>mv eski.txt yangi.txt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1600200"/>
            <a:ext cx="1828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43984" y="1600200"/>
            <a:ext cx="64008" cy="187451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26864" y="1719072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a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594" y="1844802"/>
            <a:ext cx="251460" cy="2514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21224" y="173736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C0392B"/>
                </a:solidFill>
                <a:latin typeface="Consolas"/>
              </a:rPr>
              <a:t>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23317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o‘chirish (qaytmaydi!)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278892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178A73"/>
                </a:solidFill>
                <a:latin typeface="Consolas"/>
              </a:rPr>
              <a:t>rm fayl</a:t>
            </a:r>
            <a:r>
              <a:rPr sz="1050" b="0" i="0">
                <a:solidFill>
                  <a:srgbClr val="202A38"/>
                </a:solidFill>
                <a:latin typeface="Times New Roman"/>
              </a:rPr>
              <a:t> · katalog: </a:t>
            </a:r>
            <a:r>
              <a:rPr sz="1000" b="1" i="0">
                <a:solidFill>
                  <a:srgbClr val="178A73"/>
                </a:solidFill>
                <a:latin typeface="Consolas"/>
              </a:rPr>
              <a:t>rm -r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61188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Kalitlar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931920"/>
            <a:ext cx="640080" cy="34747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931920"/>
            <a:ext cx="4572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katalog bilan (recursive)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43400"/>
            <a:ext cx="640080" cy="34747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43400"/>
            <a:ext cx="4572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ustiga yozish/o‘chirishdan oldin so‘raydi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754880"/>
            <a:ext cx="640080" cy="34747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754880"/>
            <a:ext cx="4572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nima qilinayotganini ko‘rsatadi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66360"/>
            <a:ext cx="640080" cy="347472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166360"/>
            <a:ext cx="4572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so‘ramasdan, majburan (xavfli)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62356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Shablonlar: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*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istalgan belgilar ·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?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bitta belgi ·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[12]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1 yoki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94360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2.3: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 -R lab2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va shablonlar bilan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537960" y="1600200"/>
          <a:ext cx="507492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/>
                <a:gridCol w="2788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Holat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Natija va sababi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cp hisobot yangi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omitting directory</a:t>
                      </a:r>
                      <a:r>
                        <a:rPr sz="1100" b="0" i="0">
                          <a:solidFill>
                            <a:srgbClr val="202A38"/>
                          </a:solidFill>
                          <a:latin typeface="Times New Roman"/>
                        </a:rPr>
                        <a:t> — </a:t>
                      </a:r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-r</a:t>
                      </a:r>
                      <a:r>
                        <a:rPr sz="1100" b="0" i="0">
                          <a:solidFill>
                            <a:srgbClr val="202A38"/>
                          </a:solidFill>
                          <a:latin typeface="Times New Roman"/>
                        </a:rPr>
                        <a:t> kerak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rmdir hisobot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Directory not empty</a:t>
                      </a:r>
                      <a:r>
                        <a:rPr sz="1100" b="0" i="0">
                          <a:solidFill>
                            <a:srgbClr val="202A38"/>
                          </a:solidFill>
                          <a:latin typeface="Times New Roman"/>
                        </a:rPr>
                        <a:t> — </a:t>
                      </a:r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rm -r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mv a.txt b.txt</a:t>
                      </a:r>
                      <a:r>
                        <a:rPr sz="1100" b="1" i="0">
                          <a:solidFill>
                            <a:srgbClr val="202A38"/>
                          </a:solidFill>
                          <a:latin typeface="Times New Roman"/>
                        </a:rPr>
                        <a:t> (b bor)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8"/>
                          </a:solidFill>
                          <a:latin typeface="Times New Roman"/>
                        </a:rPr>
                        <a:t>Xabarsiz almashtiriladi! </a:t>
                      </a:r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-i</a:t>
                      </a:r>
                      <a:r>
                        <a:rPr sz="1100" b="0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-n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rm /etc/hostname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Permission denied</a:t>
                      </a:r>
                      <a:r>
                        <a:rPr sz="1100" b="0" i="0">
                          <a:solidFill>
                            <a:srgbClr val="202A38"/>
                          </a:solidFill>
                          <a:latin typeface="Times New Roman"/>
                        </a:rPr>
                        <a:t> (4-mash.)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cp f Loglar/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78A73"/>
                          </a:solidFill>
                          <a:latin typeface="Consolas"/>
                        </a:rPr>
                        <a:t>Loglar</a:t>
                      </a:r>
                      <a:r>
                        <a:rPr sz="1100" b="0" i="0">
                          <a:solidFill>
                            <a:srgbClr val="202A38"/>
                          </a:solidFill>
                          <a:latin typeface="Times New Roman"/>
                        </a:rPr>
                        <a:t> nomli FAYL paydo bo‘ladi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6537960" y="45262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x_C039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818888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104888" y="4526280"/>
            <a:ext cx="4389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78A73"/>
                </a:solidFill>
                <a:latin typeface="Consolas"/>
              </a:rPr>
              <a:t>rm -rf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qaytarib bo‘lmaydi. Shablonli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rm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dan oldin o‘sha shablonni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ls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bilan tekshiring.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5559552"/>
            <a:ext cx="5074920" cy="731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earch_1F38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5760720"/>
            <a:ext cx="329184" cy="329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104888" y="5559552"/>
            <a:ext cx="4389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Kriminalistikada dalil fayl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mv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qilinmaydi — faqat nusxasi bilan ishlanadi.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2.4-TOPSHIRIQ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2.4 — Fayl mazmunini ko‘rish: cat, less, head, 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64008" cy="132588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78A73"/>
                </a:solidFill>
                <a:latin typeface="Consolas"/>
              </a:rPr>
              <a:t>cat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kichik fayl — butunlay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 i="0">
                <a:solidFill>
                  <a:srgbClr val="178A73"/>
                </a:solidFill>
                <a:latin typeface="Consolas"/>
              </a:rPr>
              <a:t>cat /etc/hostname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60020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600200"/>
            <a:ext cx="64008" cy="1325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66420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1F3864"/>
                </a:solidFill>
                <a:latin typeface="Consolas"/>
              </a:rPr>
              <a:t>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1031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katta fayl — sahifalab, qidirish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 i="0">
                <a:solidFill>
                  <a:srgbClr val="178A73"/>
                </a:solidFill>
                <a:latin typeface="Consolas"/>
              </a:rPr>
              <a:t>less /etc/services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60020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600200"/>
            <a:ext cx="64008" cy="132588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66420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E08E1D"/>
                </a:solidFill>
                <a:latin typeface="Consolas"/>
              </a:rPr>
              <a:t>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1031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boshi (sukut: 10 qator)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 i="0">
                <a:solidFill>
                  <a:srgbClr val="178A73"/>
                </a:solidFill>
                <a:latin typeface="Consolas"/>
              </a:rPr>
              <a:t>head -n 25 /etc/services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7" y="160020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3687" y="1600200"/>
            <a:ext cx="64008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166420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i="0">
                <a:solidFill>
                  <a:srgbClr val="C0392B"/>
                </a:solidFill>
                <a:latin typeface="Consolas"/>
              </a:rPr>
              <a:t>tail -f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1031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yozilib turgan log — jonli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 i="0">
                <a:solidFill>
                  <a:srgbClr val="178A73"/>
                </a:solidFill>
                <a:latin typeface="Consolas"/>
              </a:rPr>
              <a:t>tail -f xato.txt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108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Mashq: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/etc/services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 — portlar ro‘yxati (3-mashg‘ulotga tayyorgarlik)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66928" y="3429000"/>
          <a:ext cx="539496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Xizmat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Port (less: /nom)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ssh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22/tcp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http</a:t>
                      </a:r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https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80/tcp · 443/tcp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ftp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21/tcp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microsoft-ds</a:t>
                      </a:r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 (SMB)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445/tcp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66928" y="53492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Avval o‘zingiz toping, keyin jadval bilan solishtiring.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1089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less ichida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429000"/>
            <a:ext cx="667512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4290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pastga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342900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0654" y="34290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yuqoriga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88620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3174" y="38862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qidirish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388620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0654" y="38862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keyingi topilma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34340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3174" y="43434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boshi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5400" y="434340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0654" y="43434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oxiri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800600"/>
            <a:ext cx="325526" cy="365760"/>
          </a:xfrm>
          <a:prstGeom prst="roundRect">
            <a:avLst>
              <a:gd name="adj" fmla="val 28000"/>
            </a:avLst>
          </a:prstGeom>
          <a:solidFill>
            <a:srgbClr val="ECEFF3"/>
          </a:solidFill>
          <a:ln w="15875">
            <a:solidFill>
              <a:srgbClr val="ADB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1F3864"/>
                </a:solidFill>
                <a:latin typeface="Cambria Math"/>
              </a:rPr>
              <a:t>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3174" y="48006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chiqish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349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5641848"/>
            <a:ext cx="329184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84848" y="5349240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178A73"/>
                </a:solidFill>
                <a:latin typeface="Consolas"/>
              </a:rPr>
              <a:t>tail -f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: 1-oynada kuzating, 2-oynada qator qo‘shing (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&gt;&gt;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— 2-mashg‘ulot mavzusi). To‘xtatish: </a:t>
            </a:r>
            <a:r>
              <a:rPr sz="1150" b="1" i="0">
                <a:solidFill>
                  <a:srgbClr val="1F3864"/>
                </a:solidFill>
                <a:latin typeface="Cambria Math"/>
              </a:rPr>
              <a:t> Ctrl 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+ </a:t>
            </a:r>
            <a:r>
              <a:rPr sz="1150" b="1" i="0">
                <a:solidFill>
                  <a:srgbClr val="1F3864"/>
                </a:solidFill>
                <a:latin typeface="Cambria Math"/>
              </a:rPr>
              <a:t> C 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. SOC operatorining kundalik vositasi.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2.5-TOPSHIRIQ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2.5 — Fayl turi: kengaytma emas, ichidagi imzo muhim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943600" cy="233172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5669280" cy="1947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file /usr/bin/ls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ELF 64-bit LSB pie executable, x86-64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cp /usr/bin/ls ~/lab2/rasm.jpg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file ~/lab2/rasm.jpg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ELF 64-bit LSB pie executable ...   </a:t>
            </a:r>
            <a:r>
              <a:rPr sz="1050">
                <a:solidFill>
                  <a:srgbClr val="7FD1B9"/>
                </a:solidFill>
                <a:latin typeface="Consolas"/>
              </a:rPr>
              <a:t> # rasm emas!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xxd -l 16 ~/lab2/rasm.jpg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00000000: 7f45 4c46 0201 0100 ...  .ELF....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14800"/>
            <a:ext cx="1737360" cy="68580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rasm.jpg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nomi aldaydi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31720" y="4325112"/>
            <a:ext cx="219456" cy="256032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78608" y="4114800"/>
            <a:ext cx="1737360" cy="685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7f 45 4c 46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dastlabki baytlar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43400" y="4325112"/>
            <a:ext cx="219456" cy="256032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4114800"/>
            <a:ext cx="1737360" cy="68580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file → ELF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haqiqiy turi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83480"/>
            <a:ext cx="5943600" cy="86868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253228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856" y="4983480"/>
            <a:ext cx="5257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Zararli dasturlar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hujjat.pdf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rasm.jpg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kabi nomlar bilan niqoblanadi — kriminalist turini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file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bilan tekshiradi.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9436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2.5: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file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,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xxd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va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stat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4114800" y="5943600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Magic bytes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720840" y="1600200"/>
          <a:ext cx="4892040" cy="3218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1600200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Tur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Imzo (hex)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Matn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Linux dasturi (ELF)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7f 45 4c 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.ELF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Windows (.exe, .dll)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4d 5a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MZ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PNG rasm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89 50 4e 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.PNG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JPEG rasm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ff d8 ff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PDF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25 50 44 46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%PDF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ZIP (.docx, .apk)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50 4b 03 04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PK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GZIP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1f 8b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720840" y="4983480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5253228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87768" y="4983480"/>
            <a:ext cx="4206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78A73"/>
                </a:solidFill>
                <a:latin typeface="Consolas"/>
              </a:rPr>
              <a:t>.docx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ham ZIP arxiv: uning imzosi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PK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ichida XML fayllar bor.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2.5-TOPSHIRIQ (DAVOMI)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Vaqt belgilari va ularni soxtalashtirishni aniqlash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035040" cy="251460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5760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5760720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stat ~/lab2/eslatma.txt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  Access: 2026-10-07 09:41  </a:t>
            </a:r>
            <a:r>
              <a:rPr sz="1050">
                <a:solidFill>
                  <a:srgbClr val="7FD1B9"/>
                </a:solidFill>
                <a:latin typeface="Consolas"/>
              </a:rPr>
              <a:t> # oxirgi o‘qilgan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  Modify: 2026-10-07 09:40  </a:t>
            </a:r>
            <a:r>
              <a:rPr sz="1050">
                <a:solidFill>
                  <a:srgbClr val="7FD1B9"/>
                </a:solidFill>
                <a:latin typeface="Consolas"/>
              </a:rPr>
              <a:t> # mazmuni o‘zgargan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  Change: 2026-10-07 09:40  </a:t>
            </a:r>
            <a:r>
              <a:rPr sz="1050">
                <a:solidFill>
                  <a:srgbClr val="7FD1B9"/>
                </a:solidFill>
                <a:latin typeface="Consolas"/>
              </a:rPr>
              <a:t> # metama’lumot o‘zgargan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0">
                <a:solidFill>
                  <a:srgbClr val="E6EDF5"/>
                </a:solidFill>
                <a:latin typeface="Consolas"/>
              </a:rPr>
              <a:t>   Birth: 2026-10-07 09:35  </a:t>
            </a:r>
            <a:r>
              <a:rPr sz="1050">
                <a:solidFill>
                  <a:srgbClr val="7FD1B9"/>
                </a:solidFill>
                <a:latin typeface="Consolas"/>
              </a:rPr>
              <a:t> # yaratilgan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touch -d "2020-01-01 10:00" ~/lab2/eslatma.txt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stat ~/lab2/eslatma.txt   </a:t>
            </a:r>
            <a:r>
              <a:rPr sz="1050">
                <a:solidFill>
                  <a:srgbClr val="7FD1B9"/>
                </a:solidFill>
                <a:latin typeface="Consolas"/>
              </a:rPr>
              <a:t> # Modify=2020, Change=HOZIR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6002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atime · Access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oxirgi o‘qilgan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002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mtime · Modify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mazmuni o‘zgargan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65176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ctime · Change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metama’lumot o‘zgargan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65176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btime · Birth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yaratilgan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749039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Consolas"/>
              </a:rPr>
              <a:t>touch -d</a:t>
            </a:r>
            <a:r>
              <a:rPr sz="1300" b="1" i="0">
                <a:solidFill>
                  <a:srgbClr val="1F3864"/>
                </a:solidFill>
                <a:latin typeface="Times New Roman"/>
              </a:rPr>
              <a:t> dan keyin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4069080"/>
            <a:ext cx="1280160" cy="384048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Modify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69080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2020-01-01 — soxta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4544568"/>
            <a:ext cx="1280160" cy="384048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44568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hozirgi vaqt — haqiqiy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97680"/>
            <a:ext cx="6035040" cy="96012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x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61314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3856" y="4297680"/>
            <a:ext cx="5349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Modify ≪ Change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vaqt belgisi qo‘lda o‘zgartirilganining belgisi (timestomping).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ls -l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faqat Modify ni ko‘rsatadi — tekshirish uchun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stat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kerak.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94960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664708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33856" y="5394960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Ba’zi fayl tizimlarida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Birth: -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chiqadi — yaratilish vaqti saqlanmagan.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6812280" y="5120640"/>
            <a:ext cx="1984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Vaqt belgilari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557784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eck_178A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5756148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79208" y="5577840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Kriminalistik vaqt shkalasi (timeline) aynan shu belgilardan tuziladi.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2.6-TOPSHIRIQ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2.6 — Fayllarni qidirish: find, which, whereis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400800" cy="329184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6126480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find ~/lab2 -name "*.txt"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nom bo‘yicha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find ~/lab2 -iname "ESLATMA*"     </a:t>
            </a:r>
            <a:r>
              <a:rPr sz="1050">
                <a:solidFill>
                  <a:srgbClr val="7FD1B9"/>
                </a:solidFill>
                <a:latin typeface="Consolas"/>
              </a:rPr>
              <a:t> # registrsiz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find ~/lab2 -type d  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faqat kataloglar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find /usr/share -name "rockyou*"  </a:t>
            </a:r>
            <a:r>
              <a:rPr sz="1050">
                <a:solidFill>
                  <a:srgbClr val="7FD1B9"/>
                </a:solidFill>
                <a:latin typeface="Consolas"/>
              </a:rPr>
              <a:t> # parollar ro‘yxati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find /usr/bin -size +5M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5 MB dan katta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find ~ -mmin -30     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oxirgi 30 daqiqada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find /etc -name "*.conf"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Permission denied?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which nmap           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/usr/bin/nmap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whereis 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292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find sintaksisi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4924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52160"/>
            <a:ext cx="841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buyruq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5349240"/>
            <a:ext cx="1298448" cy="45720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~/lab2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5852160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qayerdan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5349240"/>
            <a:ext cx="1024127" cy="45720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-name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5852160"/>
            <a:ext cx="10241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shart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0208" y="5349240"/>
            <a:ext cx="1207007" cy="45720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“*.txt”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5852160"/>
            <a:ext cx="12070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qiymat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178040" y="1600200"/>
          <a:ext cx="4434840" cy="30723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2423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Shart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Ma’nosi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-name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-iname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nom (registrli / registrsiz)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-type f|d|l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fayl / katalog / havola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-size +100M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hajm: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+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katta, </a:t>
                      </a:r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</a:t>
                      </a:r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 kichik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-mmin -60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oxirgi 60 daqiqada o‘zgargan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-mtime -1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oxirgi sutkada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-newer fayl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shu fayldan yangiroq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-empty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bo‘sh fayl/katalog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178040" y="4800600"/>
            <a:ext cx="4434840" cy="77724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502462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44968" y="4800600"/>
            <a:ext cx="3749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Hodisada birinchi savol: “oxirgi soatda nima o‘zgardi?” →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find / -mmin -60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5669280"/>
            <a:ext cx="4434840" cy="62179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581558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44968" y="5669280"/>
            <a:ext cx="37490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178A73"/>
                </a:solidFill>
                <a:latin typeface="Consolas"/>
              </a:rPr>
              <a:t>Permission denied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— sababi 4-mashg‘ulotda.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2.7-TOPSHIRIQ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2.7 — Havolalar: ramziy (ln -s) va qattiq (ln)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669280" cy="297180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5394960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cd ~/lab2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echo "Asl matn" &gt; asl.txt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ln -s ~/lab2/asl.txt ramziy.lnk  </a:t>
            </a:r>
            <a:r>
              <a:rPr sz="1050">
                <a:solidFill>
                  <a:srgbClr val="7FD1B9"/>
                </a:solidFill>
                <a:latin typeface="Consolas"/>
              </a:rPr>
              <a:t> # ramziy havola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ln asl.txt qattiq.lnk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qattiq havola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ls -li              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inode raqamlari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rm asl.txt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cat ramziy.lnk    </a:t>
            </a:r>
            <a:r>
              <a:rPr sz="1050">
                <a:solidFill>
                  <a:srgbClr val="7FD1B9"/>
                </a:solidFill>
                <a:latin typeface="Consolas"/>
              </a:rPr>
              <a:t> # No such file (singan)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cat qattiq.lnk    </a:t>
            </a:r>
            <a:r>
              <a:rPr sz="1050">
                <a:solidFill>
                  <a:srgbClr val="7FD1B9"/>
                </a:solidFill>
                <a:latin typeface="Consolas"/>
              </a:rPr>
              <a:t> # Asl matn — saqlandi!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Ichkarida nima bo‘ladi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ramziy.lnk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4320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asl.txt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52044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qattiq.lnk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743200"/>
            <a:ext cx="2560320" cy="502920"/>
          </a:xfrm>
          <a:prstGeom prst="roundRect">
            <a:avLst>
              <a:gd name="adj" fmla="val 12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inode 1234 → ma’lumot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600" y="2487168"/>
            <a:ext cx="274320" cy="237744"/>
          </a:xfrm>
          <a:prstGeom prst="downArrow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4688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E08E1D"/>
                </a:solidFill>
                <a:latin typeface="Times New Roman"/>
              </a:rPr>
              <a:t>nomni ko‘rsatadi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38160" y="2862072"/>
            <a:ext cx="822960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749039"/>
            <a:ext cx="1188720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53728" y="3273552"/>
            <a:ext cx="36576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8404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1">
                <a:solidFill>
                  <a:srgbClr val="1F3864"/>
                </a:solidFill>
                <a:latin typeface="Times New Roman"/>
              </a:rPr>
              <a:t>bir xil inode (ikkinchi nom)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46520" y="4251960"/>
          <a:ext cx="5166360" cy="1389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/>
                <a:gridCol w="1737360"/>
                <a:gridCol w="17830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Ramziy </a:t>
                      </a:r>
                      <a:r>
                        <a:rPr sz="1100" b="1" i="0">
                          <a:solidFill>
                            <a:srgbClr val="FFFFFF"/>
                          </a:solidFill>
                          <a:latin typeface="Consolas"/>
                        </a:rPr>
                        <a:t>-s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Qattiq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Asl o‘chirilsa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singan havola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ma’lumot qoladi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Katalogga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mumkin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mumkin emas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Boshqa diskka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mumkin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mumkin emas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66928" y="470916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01768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33856" y="4709160"/>
            <a:ext cx="4983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178A73"/>
                </a:solidFill>
                <a:latin typeface="Consolas"/>
              </a:rPr>
              <a:t>~/.bash_history -&gt; /dev/null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— buyruqlar tarixi yozilmasligi uchun qilingan nayrang. Kriminalist uni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 -l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dagi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-&gt;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dan ko‘radi.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7607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2.7: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ls -li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va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cat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natijasi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4206240" y="576072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178A73"/>
                </a:solidFill>
                <a:latin typeface="Consolas"/>
              </a:rPr>
              <a:t>?  Inode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2.8-TOPSHIRIQ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2.8 — Arxivlash va siqish: tar, gzip, 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035040" cy="278892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5760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5760720" cy="2404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tar -czvf lab2.tar.gz lab2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arxiv + siqish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tar -tzvf lab2.tar.gz     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ochmasdan ko‘rish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tar -xzvf lab2.tar.gz -C /tmp/ochish</a:t>
            </a:r>
            <a:r>
              <a:rPr sz="1050">
                <a:solidFill>
                  <a:srgbClr val="7FD1B9"/>
                </a:solidFill>
                <a:latin typeface="Consolas"/>
              </a:rPr>
              <a:t> # ochish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zip -r lab2.zip lab2 ; unzip -l lab2.zip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cp /usr/share/wordlists/rockyou.txt.gz ~/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gunzip -k ~/rockyou.txt.gz 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~50 MB -&gt; ~134 MB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head -n 15 ~/rockyou.txt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554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tar kalitlari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874519"/>
            <a:ext cx="502920" cy="36576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74519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create —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74519"/>
            <a:ext cx="502920" cy="36576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1874519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extract — ochish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331720"/>
            <a:ext cx="502920" cy="36576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3172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ro‘yxatni ko‘rish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31720"/>
            <a:ext cx="502920" cy="3657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33172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jarayonni ko‘rsatish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2788920"/>
            <a:ext cx="502920" cy="3657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8892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arxiv nomi (oxirida)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788920"/>
            <a:ext cx="502920" cy="3657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78892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gzip (.tar.gz)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3246120"/>
            <a:ext cx="502920" cy="3657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4612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qaysi katalogga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94760"/>
            <a:ext cx="1417320" cy="64008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lab2/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ko‘p fayl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238744" y="3986784"/>
            <a:ext cx="182880" cy="237744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9912" y="3794760"/>
            <a:ext cx="1417320" cy="6400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lab2.tar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bitta arxiv (tar)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66376" y="3986784"/>
            <a:ext cx="182880" cy="237744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67544" y="3794760"/>
            <a:ext cx="1417320" cy="64008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lab2.tar.gz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siqilgan (gzip)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52628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x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910328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33856" y="4526280"/>
            <a:ext cx="5349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rockyou.txt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— 2009-yilda o‘g‘irlangan 32 mln+ paroldan tuzilgan ro‘yxat (14 mln+ noyob parol). Faqat parol bardoshliligini tekshirish uchun, o‘z laboratoriyangizda.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2280" y="4617720"/>
            <a:ext cx="4800600" cy="1005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4956048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79208" y="4617720"/>
            <a:ext cx="4114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Dalillar arxivlanib, xesh bilan saqlanadi.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/tmp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dagi kutilmagan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.tar.gz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— ma’lumot chiqarib ketilayotganining belgisi bo‘lishi mumkin.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80644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2.8: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tar -tzvf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va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rockyou.txt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hajmi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2-SAVOL · 2.9-TOPSHIRIQ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2.9 — Katalog hajmi va tuzilmasi: du,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6035040" cy="2377440"/>
          </a:xfrm>
          <a:prstGeom prst="roundRect">
            <a:avLst>
              <a:gd name="adj" fmla="val 4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64208"/>
            <a:ext cx="5760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7FD1B9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5760720" cy="1993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cd ~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du -sh lab2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butun katalog hajmi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du -h lab2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har bir ichki katalog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du -ah lab2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fayllar ham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tree lab2 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katalog daraxti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tree -a lab2      </a:t>
            </a:r>
            <a:r>
              <a:rPr sz="1050">
                <a:solidFill>
                  <a:srgbClr val="7FD1B9"/>
                </a:solidFill>
                <a:latin typeface="Consolas"/>
              </a:rPr>
              <a:t> # yashirin fayllar bilan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E6EDF5"/>
                </a:solidFill>
                <a:latin typeface="Consolas"/>
              </a:rPr>
              <a:t>$ ls -R lab2        </a:t>
            </a:r>
            <a:r>
              <a:rPr sz="1050">
                <a:solidFill>
                  <a:srgbClr val="7FD1B9"/>
                </a:solidFill>
                <a:latin typeface="Consolas"/>
              </a:rPr>
              <a:t> # tree bo‘lmasa — muqobil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60020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600200"/>
            <a:ext cx="64008" cy="11887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6916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 i="0">
                <a:solidFill>
                  <a:srgbClr val="178A73"/>
                </a:solidFill>
                <a:latin typeface="Consolas"/>
              </a:rPr>
              <a:t>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103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disk usage — hajm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4231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178A73"/>
                </a:solidFill>
                <a:latin typeface="Consolas"/>
              </a:rPr>
              <a:t>du -sh lab2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0020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600200"/>
            <a:ext cx="64008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916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 i="0">
                <a:solidFill>
                  <a:srgbClr val="1F3864"/>
                </a:solidFill>
                <a:latin typeface="Consolas"/>
              </a:rPr>
              <a:t>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daraxt ko‘rinishi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231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 i="0">
                <a:solidFill>
                  <a:srgbClr val="178A73"/>
                </a:solidFill>
                <a:latin typeface="Consolas"/>
              </a:rPr>
              <a:t>tree lab2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9718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du kalitlari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310128"/>
            <a:ext cx="548640" cy="36576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310128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jami (summary)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3749039"/>
            <a:ext cx="548640" cy="36576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749039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o‘qilishi qulay (K, M, 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4187952"/>
            <a:ext cx="548640" cy="36576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-a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18795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fayllarni ham ko‘rsatadi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160520"/>
            <a:ext cx="6035040" cy="86868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430268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4160520"/>
            <a:ext cx="5349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Tekshiruvda “qaysi katalog disk joyini to‘ldiryapti?” degan savolga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du -sh *</a:t>
            </a:r>
            <a:r>
              <a:rPr sz="1150" b="0" i="0">
                <a:solidFill>
                  <a:srgbClr val="202A38"/>
                </a:solidFill>
                <a:latin typeface="Times New Roman"/>
              </a:rPr>
              <a:t> tez javob beradi.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4754880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earch_1F38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5001768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79208" y="4754880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1" i="0">
                <a:solidFill>
                  <a:srgbClr val="178A73"/>
                </a:solidFill>
                <a:latin typeface="Consolas"/>
              </a:rPr>
              <a:t>tree</a:t>
            </a:r>
            <a:r>
              <a:rPr sz="1100" b="0" i="0">
                <a:solidFill>
                  <a:srgbClr val="202A38"/>
                </a:solidFill>
                <a:latin typeface="Times New Roman"/>
              </a:rPr>
              <a:t> o‘rnatilmagan bo‘lsa — </a:t>
            </a:r>
            <a:r>
              <a:rPr sz="1050" b="1" i="0">
                <a:solidFill>
                  <a:srgbClr val="178A73"/>
                </a:solidFill>
                <a:latin typeface="Consolas"/>
              </a:rPr>
              <a:t>apt</a:t>
            </a:r>
            <a:r>
              <a:rPr sz="1100" b="0" i="0">
                <a:solidFill>
                  <a:srgbClr val="202A38"/>
                </a:solidFill>
                <a:latin typeface="Times New Roman"/>
              </a:rPr>
              <a:t> bilan o‘rnatish 2-mashg‘ulotda; hozircha </a:t>
            </a:r>
            <a:r>
              <a:rPr sz="1050" b="1" i="0">
                <a:solidFill>
                  <a:srgbClr val="178A73"/>
                </a:solidFill>
                <a:latin typeface="Consolas"/>
              </a:rPr>
              <a:t>ls -R</a:t>
            </a:r>
            <a:r>
              <a:rPr sz="11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16636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Skrinshot 2.9: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du -sh lab2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va </a:t>
            </a:r>
            <a:r>
              <a:rPr sz="1100" b="1" i="0">
                <a:solidFill>
                  <a:srgbClr val="178A73"/>
                </a:solidFill>
                <a:latin typeface="Consolas"/>
              </a:rPr>
              <a:t>tree lab2</a:t>
            </a:r>
            <a:r>
              <a:rPr sz="1150" b="0" i="1">
                <a:solidFill>
                  <a:srgbClr val="54647A"/>
                </a:solidFill>
                <a:latin typeface="Times New Roman"/>
              </a:rPr>
              <a:t> natijasi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QO‘SHIMCHA MUHIM MA’LUMOT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Windows (cmd) buyruqlarining Linuxdagi muqobillari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45952" cy="4224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0"/>
                <a:gridCol w="3657600"/>
                <a:gridCol w="37307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Vazifa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Windows (cmd)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Linux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Katalog tarkibi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dir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ls -l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Hozirgi katalog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cd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pwd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Katalog yaratish / o‘chirish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mkdir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rmdir /s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mkdir -p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rm -r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Nusxalash / ko‘chirish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copy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xcopy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move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cp -r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 /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mv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O‘chirish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del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rm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Faylni ko‘rish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type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more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cat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less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Nomini o‘zgartirish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ren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mv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Fayl qidirish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dir /s fayl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find / -name fayl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Ekranni tozalash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cls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clear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 · </a:t>
                      </a:r>
                      <a:r>
                        <a:rPr sz="1300" b="1" i="0">
                          <a:solidFill>
                            <a:srgbClr val="1F3864"/>
                          </a:solidFill>
                          <a:latin typeface="Cambria Math"/>
                        </a:rPr>
                        <a:t> Ctrl 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 + </a:t>
                      </a:r>
                      <a:r>
                        <a:rPr sz="1300" b="1" i="0">
                          <a:solidFill>
                            <a:srgbClr val="1F3864"/>
                          </a:solidFill>
                          <a:latin typeface="Cambria Math"/>
                        </a:rPr>
                        <a:t> L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02A38"/>
                          </a:solidFill>
                          <a:latin typeface="Times New Roman"/>
                        </a:rPr>
                        <a:t>Tizim ma’lumoti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systeminfo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winver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hostnamectl</a:t>
                      </a:r>
                      <a:r>
                        <a:rPr sz="13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250" b="1" i="0">
                          <a:solidFill>
                            <a:srgbClr val="178A73"/>
                          </a:solidFill>
                          <a:latin typeface="Consolas"/>
                        </a:rPr>
                        <a:t>uname -a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943600"/>
            <a:ext cx="11045952" cy="3840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971032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856" y="5943600"/>
            <a:ext cx="103601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Linuxda alohida “rename” buyrug‘i shart emas —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mv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nomini ham o‘zgartiradi.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Laboratoriyani avvalgi holatga qaytarish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7315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8765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00200"/>
            <a:ext cx="6720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Yaratilgan fayllar: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rm -r ~/lab2 ~/lab2.tar ~/lab2.tar.gz ~/lab2.zip /tmp/ochish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7315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256489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377440"/>
            <a:ext cx="6720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Ro‘yxat nusxalari: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rm ~/rockyou.txt ~/rockyou.txt.gz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(asl fayl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/usr/share/wordlists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da qoladi)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7315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34213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154680"/>
            <a:ext cx="6720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Tekshiring: 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ls ~</a:t>
            </a:r>
            <a:r>
              <a:rPr sz="1300" b="0" i="0">
                <a:solidFill>
                  <a:srgbClr val="202A38"/>
                </a:solidFill>
                <a:latin typeface="Times New Roman"/>
              </a:rPr>
              <a:t> — faqat standart kataloglar qolishi kerak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7315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4119372"/>
            <a:ext cx="310896" cy="31089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931920"/>
            <a:ext cx="6720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Eng oson yo‘l — snapshotga qaytish (Restore)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0020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1828800"/>
            <a:ext cx="1051560" cy="10515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ist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70" y="2091690"/>
            <a:ext cx="525780" cy="5257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75320" y="30632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Consolas"/>
              </a:rPr>
              <a:t>Snapshot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6118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DDE6F2"/>
                </a:solidFill>
                <a:latin typeface="Times New Roman"/>
              </a:rPr>
              <a:t>Restore — hamma o‘zgarishni bir amalda bekor qiladi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92040"/>
            <a:ext cx="11045952" cy="73152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arning_E08E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93208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33856" y="4892040"/>
            <a:ext cx="1036015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Shablonli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rm -r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dan oldin xuddi shu yo‘llarni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ls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bilan ko‘rib chiqing — bitta ortiqcha bo‘sh joy boshqa fayllarni o‘chirib yuborishi mumkin.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YAKUNIY LABORATORIYA TOPSHIRIG‘I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Mustaqil bajaring va skrinshotli hisobot tayyorlang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1045952" cy="3401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6400800"/>
                <a:gridCol w="418795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Topshiriq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Hisobotdagi dalil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Tizim pasporti: distributiv va oila, yadro, arxitektura, CPU, RAM, disk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/etc/os-release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uname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lscpu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free -h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df -h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~/tekshiruv/{dalillar,hisobot,tmp}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tuzilmasini yarating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ls -R ~/tekshiruv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/etc/services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dan 5 ta xizmat portini toping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less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qidiruvi, jadval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/usr/bin/ls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ni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hisob.pdf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nomida nusxalang; turini isbotlang; sanasini 2019 ga o‘zgartirib, soxtalikni ko‘rsating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file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xxd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touch -d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stat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8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Oxirgi 20 daqiqada o‘zgargan fayllar;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tekshiruv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 ni arxivlang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find ~ -mmin -20</a:t>
                      </a:r>
                      <a:r>
                        <a:rPr sz="1200" b="0" i="0">
                          <a:solidFill>
                            <a:srgbClr val="202A38"/>
                          </a:solidFill>
                          <a:latin typeface="Times New Roman"/>
                        </a:rPr>
                        <a:t>, </a:t>
                      </a:r>
                      <a:r>
                        <a:rPr sz="1150" b="1" i="0">
                          <a:solidFill>
                            <a:srgbClr val="178A73"/>
                          </a:solidFill>
                          <a:latin typeface="Consolas"/>
                        </a:rPr>
                        <a:t>tar -tzvf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303520"/>
            <a:ext cx="11045952" cy="5669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_1F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422392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856" y="5303520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Har bir skrinshot ostiga u nimani isbotlashini bir gap bilan yozing.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947672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10769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2768" y="1600200"/>
            <a:ext cx="4297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Linux — yadro; distributiv = yadro + GNU + paketlar + grafik muhit. Kali — Debian oilasidan.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0020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947672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ni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2107692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50608" y="1600200"/>
            <a:ext cx="4297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/etc/os-release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uname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hostnamectl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tizim pasporti;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/proc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/dev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“hamma narsa — fayl”.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6324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410712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3570732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2768" y="3063240"/>
            <a:ext cx="4297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FHS: yagona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daraxti;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/etc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/home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/tmp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/var/log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xavfsizlikda muhim kataloglar.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306324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3410712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p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3570732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50608" y="3063240"/>
            <a:ext cx="4297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ls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cd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mkdir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cp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mv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rm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-r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-i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kalitlari;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rm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qaytmaydi.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2628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4873752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ear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5033772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72768" y="4526280"/>
            <a:ext cx="4297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file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haqiqiy tur (magic bytes);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stat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vaqt belgilari va soxtalikni aniqlash;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find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— qidirish.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452628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27648" y="4873752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in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668" y="5033772"/>
            <a:ext cx="320040" cy="320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50608" y="4526280"/>
            <a:ext cx="42976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Havolalar (ramziy/qattiq, inode) va arxivlar (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tar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gzip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zip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989320"/>
            <a:ext cx="11045952" cy="347472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_178A7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59984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33856" y="5989320"/>
            <a:ext cx="103601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02A38"/>
                </a:solidFill>
                <a:latin typeface="Times New Roman"/>
              </a:rPr>
              <a:t>Keyingi mashg‘ulot: terminal bilan ishlash — buyruqlarni birlashtirish, filtrlash, jarayonlar va paketlar.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Nazorat savollari — 2-mavzu, 1-mashg‘ulot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1810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600200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Yadro va distributiv farqi nima? GNU loyihasining o‘rni qanday?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96312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" y="2706624"/>
            <a:ext cx="365760" cy="3657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496312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Debian va Red Hat oilalari qanday farqlanadi? Kali qaysi oilaga kiradi va buni qaysi fayldan bilamiz?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92424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3602736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392424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“Hamma narsa — fayl” nimani anglatadi?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/proc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/dev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ga misol keltiring.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88536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" y="4498848"/>
            <a:ext cx="365760" cy="3657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288536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78A73"/>
                </a:solidFill>
                <a:latin typeface="Consolas"/>
              </a:rPr>
              <a:t>/etc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/tmp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/var/log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/home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/root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vazifasi? Qaysi biri hujumchiga qulay?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84648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539496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5184648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Absolyut va nisbiy yo‘l farqi?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/home/kali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da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cd ../../etc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qayerga olib boradi?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600200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54496" y="1810512"/>
            <a:ext cx="365760" cy="3657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1600200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1" i="0">
                <a:solidFill>
                  <a:srgbClr val="178A73"/>
                </a:solidFill>
                <a:latin typeface="Consolas"/>
              </a:rPr>
              <a:t>-r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-i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-v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,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-f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kalitlari nimani bildiradi?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mv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ning xavfli tomoni?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496312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54496" y="2706624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2496312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Kichik fayl, katta fayl va yozilib turgan log uchun qaysi buyruqlar mos?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3392424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54496" y="3602736"/>
            <a:ext cx="365760" cy="3657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3392424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Magic bytes nima? ELF va PE imzolari qanday?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4288536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54496" y="4498848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4288536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atime, mtime, ctime farqi? Soxtalashtirilgan vaqt belgisi qanday aniqlanadi?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184648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54496" y="5394960"/>
            <a:ext cx="365760" cy="36576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5184648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Ramziy va qattiq havola farqi? Asl fayl o‘chirilsa nima bo‘ladi?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1371600" cy="1389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E’TIBORINGIZ UCHUN RAHMAT!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Savollaringiz bo‘lsa, marhamat.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DDE6F2"/>
                </a:solidFill>
                <a:latin typeface="Times New Roman"/>
              </a:rPr>
              <a:t>Keyingi bo‘lim — atamalar lug‘ati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Lug‘at — ushbu bo‘limda quyidagilar tushuntiriladi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187452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034540"/>
            <a:ext cx="320040" cy="320040"/>
          </a:xfrm>
          <a:prstGeom prst="rect">
            <a:avLst/>
          </a:prstGeom>
        </p:spPr>
      </p:pic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1572768" y="1920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Yadro (kernel)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OTning “yuragi”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98848" y="1874520"/>
            <a:ext cx="640080" cy="6400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2034540"/>
            <a:ext cx="320040" cy="320040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0"/>
          </p:cNvPr>
          <p:cNvSpPr txBox="1"/>
          <p:nvPr/>
        </p:nvSpPr>
        <p:spPr>
          <a:xfrm>
            <a:off x="5303520" y="1920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Distributiv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06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yadro + “o‘ram”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6459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9" y="187452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19" y="2034540"/>
            <a:ext cx="320040" cy="320040"/>
          </a:xfrm>
          <a:prstGeom prst="rect">
            <a:avLst/>
          </a:prstGeom>
        </p:spPr>
      </p:pic>
      <p:sp>
        <p:nvSpPr>
          <p:cNvPr id="21" name="TextBox 20">
            <a:hlinkClick action="ppaction://hlinksldjump" r:id="rId11"/>
          </p:cNvPr>
          <p:cNvSpPr txBox="1"/>
          <p:nvPr/>
        </p:nvSpPr>
        <p:spPr>
          <a:xfrm>
            <a:off x="9034271" y="1920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FHS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606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kataloglar standarti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461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" y="347472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as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3634740"/>
            <a:ext cx="320040" cy="320040"/>
          </a:xfrm>
          <a:prstGeom prst="rect">
            <a:avLst/>
          </a:prstGeom>
        </p:spPr>
      </p:pic>
      <p:sp>
        <p:nvSpPr>
          <p:cNvPr id="26" name="TextBox 25">
            <a:hlinkClick action="ppaction://hlinksldjump" r:id="rId12"/>
          </p:cNvPr>
          <p:cNvSpPr txBox="1"/>
          <p:nvPr/>
        </p:nvSpPr>
        <p:spPr>
          <a:xfrm>
            <a:off x="1572768" y="35204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Magic bytes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2062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faylning haqiqiy imzosi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2461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98848" y="347472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lo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868" y="3634740"/>
            <a:ext cx="320040" cy="320040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13"/>
          </p:cNvPr>
          <p:cNvSpPr txBox="1"/>
          <p:nvPr/>
        </p:nvSpPr>
        <p:spPr>
          <a:xfrm>
            <a:off x="5303520" y="35204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MAC vaqtlari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2062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faylning to‘rt vaqt belgisi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32461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599" y="347472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in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9619" y="3634740"/>
            <a:ext cx="320040" cy="320040"/>
          </a:xfrm>
          <a:prstGeom prst="rect">
            <a:avLst/>
          </a:prstGeom>
        </p:spPr>
      </p:pic>
      <p:sp>
        <p:nvSpPr>
          <p:cNvPr id="36" name="TextBox 35">
            <a:hlinkClick action="ppaction://hlinksldjump" r:id="rId14"/>
          </p:cNvPr>
          <p:cNvSpPr txBox="1"/>
          <p:nvPr/>
        </p:nvSpPr>
        <p:spPr>
          <a:xfrm>
            <a:off x="9034271" y="35204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Inode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42062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faylning “pasporti”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Har bir atama boshlang‘ich darajaga mos tilda, misol va diagramma bilan tushuntiriladi. Atama ustiga bosing — tegishli slaydga o‘tasiz.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Yadro (kernel)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OTning markaziy qismi: dasturlar bilan apparat ta’minot orasidagi vositachi.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Linux — aslida aynan shu yadroning nomi (1991, Linus Torvalds).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03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Dastur diskka, xotiraga yoki tarmoqqa faqat yadro orqali murojaat qiladi.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Yadrodagi zaiflik hujumchiga butun tizim ustidan nazorat berishi mumkin — shuning uchun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uname -r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bilan versiyani bilish muhim.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64592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brauzer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263640" y="2267712"/>
            <a:ext cx="274320" cy="292608"/>
          </a:xfrm>
          <a:prstGeom prst="down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164592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nmap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366759" y="2267712"/>
            <a:ext cx="274320" cy="292608"/>
          </a:xfrm>
          <a:prstGeom prst="down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64592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bash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469880" y="2267712"/>
            <a:ext cx="274320" cy="292608"/>
          </a:xfrm>
          <a:prstGeom prst="downArrow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60604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tizim chaqiruvlari (system calls): “faylni o‘qi”, “xotira ber”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926080"/>
            <a:ext cx="6172200" cy="7772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LINUX YADROSI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jarayonlar · xotira · fayl tizimi · drayverlar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02336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CPU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3448" y="402336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86216" y="402336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Disk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58984" y="402336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Tarmoq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5074920"/>
            <a:ext cx="6172200" cy="86868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5344668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07608" y="507492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Misol: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uname -r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6.12.20-amd64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— tizim 6.12 yadrosida ishlayapti.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566928" y="59893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Distributiv (distribution, “distro”)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Yadro + GNU vositalari + paket menejeri + grafik muhit + tayyor dasturlardan yig‘ilgan to‘liq OT.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Kali, Ubuntu, Debian, Fedora — barchasi distributivlar.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03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Distributiv oilasi qaysi buyruqlar va paket menejeri ishlashini belgilaydi (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apt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yoki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dnf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Tizimga kirganda birinchi aniqlanadigan narsa: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cat /etc/os-release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691640"/>
            <a:ext cx="1920240" cy="2011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Linux yadrosi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hammasida bir xil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52360" y="2514600"/>
            <a:ext cx="365760" cy="365760"/>
          </a:xfrm>
          <a:prstGeom prst="rightArrow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3657600" cy="59436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Kali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+ 600 ta xavfsizlik vositasi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404872"/>
            <a:ext cx="3657600" cy="59436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Ubuntu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+ qulay ish stoli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118104"/>
            <a:ext cx="3657600" cy="59436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Rocky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+ korporativ server sozlamalari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931920"/>
            <a:ext cx="6172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Bir xil “dvigatel”, har xil “avtomobil”: yadro bir, lekin har bir distributiv o‘z dasturlari va sozlamalari bilan keladi.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5074920"/>
            <a:ext cx="6172200" cy="86868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534466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07608" y="507492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Kali — Debian oilasidan: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ID_LIKE=debian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qatori buni ko‘rsatadi.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566928" y="59893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FHS (Filesystem Hierarchy Standard)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Linux kataloglarining nomi va vazifasini belgilovchi standart.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Shu tufayli barcha distributivlarda sozlamalar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/etc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da, loglar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/var/log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03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Kriminalist yoki administrator qayerdan nimani qidirishni oldindan biladi.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Kutilmagan joydagi fayl (masalan,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/tmp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dagi dastur) — shubha belgisi.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002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2194560"/>
            <a:ext cx="27432" cy="27432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0680" y="246888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/etc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sozlamalar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17536" y="2194560"/>
            <a:ext cx="27432" cy="27432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13448" y="246888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/home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foydalanuvchilar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0304" y="2194560"/>
            <a:ext cx="27432" cy="27432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86216" y="246888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/tmp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vaqtinchalik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63072" y="2194560"/>
            <a:ext cx="27432" cy="27432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58984" y="2468880"/>
            <a:ext cx="1417320" cy="77724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/var/log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jurnallar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194560"/>
            <a:ext cx="4754880" cy="27432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85632" y="2057400"/>
            <a:ext cx="27432" cy="155448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3520440"/>
            <a:ext cx="6172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Ubuntu, Kali, Rocky, Debian — hammasida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/etc/hostname</a:t>
            </a:r>
            <a:r>
              <a:rPr sz="1200" b="0" i="1">
                <a:solidFill>
                  <a:srgbClr val="54647A"/>
                </a:solidFill>
                <a:latin typeface="Times New Roman"/>
              </a:rPr>
              <a:t> bir joyda. Bitta tizimni bilsangiz, qolganlarida ham adashmaysiz.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5074920"/>
            <a:ext cx="6172200" cy="86868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5344668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07608" y="507492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Misol: begona server — parol siyosati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/etc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da, kirish izlari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/var/log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da.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566928" y="59893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Magic bytes (fayl imzosi)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Fayl boshidagi bir necha bayt — uning haqiqiy turi “pasporti”.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Kengaytmani istalgancha o‘zgartirish mumkin, imzoni esa — yo‘q (fayl buziladi).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03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file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buyrug‘i aynan shu imzoni o‘qiydi.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Niqoblangan zararli faylni (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rasm.jpg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→ aslida dastur) fosh qiladi.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6916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hujjat.pdf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nomi: PDF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42631" y="1984248"/>
            <a:ext cx="201168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16916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4d 5a ...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dastlabki baytlar: MZ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45751" y="1984248"/>
            <a:ext cx="201168" cy="274320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6916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Windows dasturi!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Times New Roman"/>
              </a:rPr>
              <a:t>haqiqiy turi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40680" y="2788920"/>
          <a:ext cx="61722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3063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Imzo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Tur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7f 45 4c 46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(.ELF)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Linux dasturi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4d 5a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(MZ)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Windows dasturi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25 50 44 46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(%PDF)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PDF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78A73"/>
                          </a:solidFill>
                          <a:latin typeface="Consolas"/>
                        </a:rPr>
                        <a:t>50 4b 03 04</a:t>
                      </a:r>
                      <a:r>
                        <a:rPr sz="1150" b="1" i="0">
                          <a:solidFill>
                            <a:srgbClr val="202A38"/>
                          </a:solidFill>
                          <a:latin typeface="Times New Roman"/>
                        </a:rPr>
                        <a:t> (PK)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8"/>
                          </a:solidFill>
                          <a:latin typeface="Times New Roman"/>
                        </a:rPr>
                        <a:t>ZIP, .docx</a:t>
                      </a:r>
                    </a:p>
                  </a:txBody>
                  <a:tcPr marL="63500" marR="63500" marT="25400" marB="2540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40680" y="5074920"/>
            <a:ext cx="6172200" cy="86868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 w="15875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arning_E08E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534466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07608" y="507492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Tekshirish: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file rasm.jpg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yoki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xxd -l 16 rasm.jpg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566928" y="59893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MAC vaqtlari (fayl vaqt belgilari)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Har bir fayl uchun saqlanadigan vaqtlar: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M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odify,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A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ccess, </a:t>
            </a:r>
            <a:r>
              <a:rPr sz="1250" b="1" i="0">
                <a:solidFill>
                  <a:srgbClr val="1F3864"/>
                </a:solidFill>
                <a:latin typeface="Times New Roman"/>
              </a:rPr>
              <a:t>C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hange (+ Birth).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Ularni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stat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buyrug‘i ko‘rsatadi; </a:t>
            </a:r>
            <a:r>
              <a:rPr sz="1200" b="1" i="0">
                <a:solidFill>
                  <a:srgbClr val="178A73"/>
                </a:solidFill>
                <a:latin typeface="Consolas"/>
              </a:rPr>
              <a:t>ls -l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faqat Modify 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03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Kriminalistik vaqt shkalasi shu belgilardan tuziladi: “qaysi fayl qachon o‘zgardi?”.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Hujumchi vaqtni soxtalashtirsa, Change uni fosh qiladi.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6916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Access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o‘qildi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3448" y="16916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Modify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mazmuni o‘zgardi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86216" y="16916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Change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metama’lumot o‘zgardi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58984" y="16916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</a:rPr>
              <a:t>Birth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yaratildi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74320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C0392B"/>
                </a:solidFill>
                <a:latin typeface="Times New Roman"/>
              </a:rPr>
              <a:t>Timestomping (</a:t>
            </a:r>
            <a:r>
              <a:rPr sz="1250" b="1" i="0">
                <a:solidFill>
                  <a:srgbClr val="178A73"/>
                </a:solidFill>
                <a:latin typeface="Consolas"/>
              </a:rPr>
              <a:t>touch -d "2020-01-01"</a:t>
            </a:r>
            <a:r>
              <a:rPr sz="1300" b="1" i="0">
                <a:solidFill>
                  <a:srgbClr val="C0392B"/>
                </a:solidFill>
                <a:latin typeface="Times New Roman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1089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Modify: 2020-01-01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soxta — o‘zgartirildi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365760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</a:rPr>
              <a:t>Change: bugun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5760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haqiqiy — o‘zgartirib bo‘lmaydi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5074920"/>
            <a:ext cx="6172200" cy="86868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x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534466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07608" y="507492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Belgi: Modify juda eski, Change esa yangi — vaqt qo‘lda o‘zgartirilgan.</a:t>
            </a:r>
          </a:p>
        </p:txBody>
      </p:sp>
      <p:sp>
        <p:nvSpPr>
          <p:cNvPr id="24" name="Rounded Rectangle 23">
            <a:hlinkClick action="ppaction://hlinksldjump" r:id="rId4"/>
          </p:cNvPr>
          <p:cNvSpPr/>
          <p:nvPr/>
        </p:nvSpPr>
        <p:spPr>
          <a:xfrm>
            <a:off x="566928" y="59893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Inode (index node)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2-mavzu · Linux OT · 1-mashg‘ulot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40080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Faylning “pasporti”: hajmi, egasi, vaqtlari va diskdagi joylashuvi. Nom inode’da emas — katalogda saqlanadi.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 i="0">
                <a:solidFill>
                  <a:srgbClr val="178A73"/>
                </a:solidFill>
                <a:latin typeface="Consolas"/>
              </a:rPr>
              <a:t>ls -i</a:t>
            </a:r>
            <a:r>
              <a:rPr sz="1250" b="0" i="0">
                <a:solidFill>
                  <a:srgbClr val="202A38"/>
                </a:solidFill>
                <a:latin typeface="Times New Roman"/>
              </a:rPr>
              <a:t> inode raqamini ko‘rsatadi.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03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8E1D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Qattiq havola — bitta inode’ning ikkinchi nomi; ramziy havola — boshqa nomga ishora.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O‘chirilgan, lekin hali ochiq turgan fayllarni tiklashda kriminalistlar inode’lar bilan ishlaydi.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6916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asl.txt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3774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qattiq.lnk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32918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ramziy.lnk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828800"/>
            <a:ext cx="3017520" cy="1005840"/>
          </a:xfrm>
          <a:prstGeom prst="roundRect">
            <a:avLst>
              <a:gd name="adj" fmla="val 12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inode 1234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Times New Roman"/>
              </a:rPr>
              <a:t>hajm · egasi · vaqtlar · bloklar manzili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60920" y="1810512"/>
            <a:ext cx="1143000" cy="256032"/>
          </a:xfrm>
          <a:prstGeom prst="rightArrow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360920" y="2496312"/>
            <a:ext cx="1143000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33832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1">
                <a:solidFill>
                  <a:srgbClr val="E08E1D"/>
                </a:solidFill>
                <a:latin typeface="Times New Roman"/>
              </a:rPr>
              <a:t>→ “asl.txt” nomini ko‘rsatadi (o‘z inode’i bor)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023360"/>
            <a:ext cx="6172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Fayl nomi — faqat inode’ga “yorliq”. Ma’lumot oxirgi nom o‘chirilgandagina yo‘qoladi.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5074920"/>
            <a:ext cx="6172200" cy="868680"/>
          </a:xfrm>
          <a:prstGeom prst="roundRect">
            <a:avLst>
              <a:gd name="adj" fmla="val 8000"/>
            </a:avLst>
          </a:prstGeom>
          <a:solidFill>
            <a:srgbClr val="E3F3EE"/>
          </a:solidFill>
          <a:ln w="15875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178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534466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07608" y="507492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Misol: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ls -li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asl.txt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va </a:t>
            </a:r>
            <a:r>
              <a:rPr sz="1150" b="1" i="0">
                <a:solidFill>
                  <a:srgbClr val="178A73"/>
                </a:solidFill>
                <a:latin typeface="Consolas"/>
              </a:rPr>
              <a:t>qattiq.lnk</a:t>
            </a:r>
            <a:r>
              <a:rPr sz="1200" b="0" i="0">
                <a:solidFill>
                  <a:srgbClr val="202A38"/>
                </a:solidFill>
                <a:latin typeface="Times New Roman"/>
              </a:rPr>
              <a:t> raqami bir xil.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566928" y="59893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