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slide" Target="slide37.xml"/><Relationship Id="rId4" Type="http://schemas.openxmlformats.org/officeDocument/2006/relationships/slide" Target="slide3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6.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18.png"/><Relationship Id="rId6"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slide" Target="slide3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0.png"/><Relationship Id="rId4" Type="http://schemas.openxmlformats.org/officeDocument/2006/relationships/image" Target="../media/image8.png"/><Relationship Id="rId5" Type="http://schemas.openxmlformats.org/officeDocument/2006/relationships/image" Target="../media/image17.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9.png"/><Relationship Id="rId9"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5.png"/><Relationship Id="rId6" Type="http://schemas.openxmlformats.org/officeDocument/2006/relationships/image" Target="../media/image25.png"/><Relationship Id="rId7"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slide" Target="slide3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0.png"/><Relationship Id="rId4" Type="http://schemas.openxmlformats.org/officeDocument/2006/relationships/image" Target="../media/image11.png"/><Relationship Id="rId5" Type="http://schemas.openxmlformats.org/officeDocument/2006/relationships/image" Target="../media/image25.png"/><Relationship Id="rId6" Type="http://schemas.openxmlformats.org/officeDocument/2006/relationships/image" Target="../media/image31.png"/><Relationship Id="rId7"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6.png"/><Relationship Id="rId4" Type="http://schemas.openxmlformats.org/officeDocument/2006/relationships/image" Target="../media/image10.png"/><Relationship Id="rId5" Type="http://schemas.openxmlformats.org/officeDocument/2006/relationships/slide" Target="slide4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1.png"/><Relationship Id="rId4" Type="http://schemas.openxmlformats.org/officeDocument/2006/relationships/image" Target="../media/image10.png"/><Relationship Id="rId5" Type="http://schemas.openxmlformats.org/officeDocument/2006/relationships/image" Target="../media/image15.png"/><Relationship Id="rId6" Type="http://schemas.openxmlformats.org/officeDocument/2006/relationships/slide" Target="slide4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6.png"/><Relationship Id="rId4" Type="http://schemas.openxmlformats.org/officeDocument/2006/relationships/slide" Target="slide4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1.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2.pn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7.png"/><Relationship Id="rId4" Type="http://schemas.openxmlformats.org/officeDocument/2006/relationships/image" Target="../media/image33.png"/><Relationship Id="rId5" Type="http://schemas.openxmlformats.org/officeDocument/2006/relationships/image" Target="../media/image11.png"/><Relationship Id="rId6" Type="http://schemas.openxmlformats.org/officeDocument/2006/relationships/image" Target="../media/image30.png"/><Relationship Id="rId7" Type="http://schemas.openxmlformats.org/officeDocument/2006/relationships/image" Target="../media/image9.png"/><Relationship Id="rId8" Type="http://schemas.openxmlformats.org/officeDocument/2006/relationships/image" Target="../media/image34.png"/><Relationship Id="rId9"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17.png"/><Relationship Id="rId5" Type="http://schemas.openxmlformats.org/officeDocument/2006/relationships/image" Target="../media/image11.png"/><Relationship Id="rId6" Type="http://schemas.openxmlformats.org/officeDocument/2006/relationships/image" Target="../media/image36.png"/><Relationship Id="rId7" Type="http://schemas.openxmlformats.org/officeDocument/2006/relationships/image" Target="../media/image18.png"/><Relationship Id="rId8" Type="http://schemas.openxmlformats.org/officeDocument/2006/relationships/image" Target="../media/image34.png"/><Relationship Id="rId9" Type="http://schemas.openxmlformats.org/officeDocument/2006/relationships/slide" Target="slide37.xml"/><Relationship Id="rId10" Type="http://schemas.openxmlformats.org/officeDocument/2006/relationships/slide" Target="slide38.xml"/><Relationship Id="rId11" Type="http://schemas.openxmlformats.org/officeDocument/2006/relationships/slide" Target="slide39.xml"/><Relationship Id="rId12" Type="http://schemas.openxmlformats.org/officeDocument/2006/relationships/slide" Target="slide40.xml"/><Relationship Id="rId13" Type="http://schemas.openxmlformats.org/officeDocument/2006/relationships/slide" Target="slide41.xml"/><Relationship Id="rId14" Type="http://schemas.openxmlformats.org/officeDocument/2006/relationships/slide" Target="slide4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slide" Target="slide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slide" Target="slide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slide" Target="slide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6.png"/><Relationship Id="rId4" Type="http://schemas.openxmlformats.org/officeDocument/2006/relationships/slide" Target="slide2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1.png"/><Relationship Id="rId4" Type="http://schemas.openxmlformats.org/officeDocument/2006/relationships/slide" Target="slide2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slide" Target="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itle.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png"/>
          <p:cNvPicPr>
            <a:picLocks noChangeAspect="1"/>
          </p:cNvPicPr>
          <p:nvPr/>
        </p:nvPicPr>
        <p:blipFill>
          <a:blip r:embed="rId3"/>
          <a:stretch>
            <a:fillRect/>
          </a:stretch>
        </p:blipFill>
        <p:spPr>
          <a:xfrm>
            <a:off x="640080" y="2331720"/>
            <a:ext cx="1920240" cy="1947672"/>
          </a:xfrm>
          <a:prstGeom prst="rect">
            <a:avLst/>
          </a:prstGeom>
        </p:spPr>
      </p:pic>
      <p:sp>
        <p:nvSpPr>
          <p:cNvPr id="4" name="TextBox 3"/>
          <p:cNvSpPr txBox="1"/>
          <p:nvPr/>
        </p:nvSpPr>
        <p:spPr>
          <a:xfrm>
            <a:off x="320040" y="4434840"/>
            <a:ext cx="3108960" cy="1280160"/>
          </a:xfrm>
          <a:prstGeom prst="rect">
            <a:avLst/>
          </a:prstGeom>
          <a:noFill/>
        </p:spPr>
        <p:txBody>
          <a:bodyPr wrap="square" anchor="t" lIns="0" rIns="0" tIns="0" bIns="0">
            <a:spAutoFit/>
          </a:bodyPr>
          <a:lstStyle/>
          <a:p>
            <a:pPr algn="ctr">
              <a:lnSpc>
                <a:spcPct val="110000"/>
              </a:lnSpc>
              <a:spcAft>
                <a:spcPts val="300"/>
              </a:spcAft>
            </a:pPr>
            <a:r>
              <a:rPr sz="1000" b="0" i="1">
                <a:solidFill>
                  <a:srgbClr val="C9D6E8"/>
                </a:solidFill>
                <a:latin typeface="Times New Roman"/>
              </a:rPr>
              <a:t>REPUBLIC OF UZBEKISTAN</a:t>
            </a:r>
          </a:p>
          <a:p>
            <a:pPr algn="ctr">
              <a:lnSpc>
                <a:spcPct val="110000"/>
              </a:lnSpc>
              <a:spcAft>
                <a:spcPts val="300"/>
              </a:spcAft>
            </a:pPr>
            <a:r>
              <a:rPr sz="1000" b="0" i="1">
                <a:solidFill>
                  <a:srgbClr val="C9D6E8"/>
                </a:solidFill>
                <a:latin typeface="Times New Roman"/>
              </a:rPr>
              <a:t>MILITARY SECURITY AND DEFENSE UNIVERSITY</a:t>
            </a:r>
          </a:p>
          <a:p>
            <a:pPr algn="ctr">
              <a:lnSpc>
                <a:spcPct val="110000"/>
              </a:lnSpc>
              <a:spcAft>
                <a:spcPts val="300"/>
              </a:spcAft>
            </a:pPr>
            <a:r>
              <a:rPr sz="1000" b="0" i="1">
                <a:solidFill>
                  <a:srgbClr val="C9D6E8"/>
                </a:solidFill>
                <a:latin typeface="Times New Roman"/>
              </a:rPr>
              <a:t>Institute of ICT and Military Communications · Cybersecurity Department</a:t>
            </a:r>
          </a:p>
        </p:txBody>
      </p:sp>
      <p:sp>
        <p:nvSpPr>
          <p:cNvPr id="5" name="TextBox 4"/>
          <p:cNvSpPr txBox="1"/>
          <p:nvPr/>
        </p:nvSpPr>
        <p:spPr>
          <a:xfrm>
            <a:off x="3657600" y="1371600"/>
            <a:ext cx="8046720" cy="365760"/>
          </a:xfrm>
          <a:prstGeom prst="rect">
            <a:avLst/>
          </a:prstGeom>
          <a:noFill/>
        </p:spPr>
        <p:txBody>
          <a:bodyPr wrap="square" anchor="t" lIns="0" rIns="0" tIns="0" bIns="0">
            <a:spAutoFit/>
          </a:bodyPr>
          <a:lstStyle/>
          <a:p>
            <a:pPr algn="l">
              <a:lnSpc>
                <a:spcPct val="110000"/>
              </a:lnSpc>
              <a:spcAft>
                <a:spcPts val="300"/>
              </a:spcAft>
            </a:pPr>
            <a:r>
              <a:rPr sz="1400" b="1" i="0">
                <a:solidFill>
                  <a:srgbClr val="7FD1BD"/>
                </a:solidFill>
                <a:latin typeface="Times New Roman"/>
              </a:rPr>
              <a:t>SUBJECT: “CYBER FORENSICS AND ETHICAL HACKING”</a:t>
            </a:r>
          </a:p>
        </p:txBody>
      </p:sp>
      <p:sp>
        <p:nvSpPr>
          <p:cNvPr id="6" name="TextBox 5"/>
          <p:cNvSpPr txBox="1"/>
          <p:nvPr/>
        </p:nvSpPr>
        <p:spPr>
          <a:xfrm>
            <a:off x="3657600" y="2011680"/>
            <a:ext cx="8046720" cy="457200"/>
          </a:xfrm>
          <a:prstGeom prst="rect">
            <a:avLst/>
          </a:prstGeom>
          <a:noFill/>
        </p:spPr>
        <p:txBody>
          <a:bodyPr wrap="square" anchor="t" lIns="0" rIns="0" tIns="0" bIns="0">
            <a:spAutoFit/>
          </a:bodyPr>
          <a:lstStyle/>
          <a:p>
            <a:pPr algn="l">
              <a:lnSpc>
                <a:spcPct val="110000"/>
              </a:lnSpc>
              <a:spcAft>
                <a:spcPts val="300"/>
              </a:spcAft>
            </a:pPr>
            <a:r>
              <a:rPr sz="2000" b="1" i="0">
                <a:solidFill>
                  <a:srgbClr val="FFFFFF"/>
                </a:solidFill>
                <a:latin typeface="Times New Roman"/>
              </a:rPr>
              <a:t>TOPIC 2</a:t>
            </a:r>
          </a:p>
        </p:txBody>
      </p:sp>
      <p:sp>
        <p:nvSpPr>
          <p:cNvPr id="7" name="TextBox 6"/>
          <p:cNvSpPr txBox="1"/>
          <p:nvPr/>
        </p:nvSpPr>
        <p:spPr>
          <a:xfrm>
            <a:off x="3657600" y="2514600"/>
            <a:ext cx="8138160" cy="1097280"/>
          </a:xfrm>
          <a:prstGeom prst="rect">
            <a:avLst/>
          </a:prstGeom>
          <a:noFill/>
        </p:spPr>
        <p:txBody>
          <a:bodyPr wrap="square" anchor="t" lIns="0" rIns="0" tIns="0" bIns="0">
            <a:spAutoFit/>
          </a:bodyPr>
          <a:lstStyle/>
          <a:p>
            <a:pPr algn="l">
              <a:lnSpc>
                <a:spcPct val="110000"/>
              </a:lnSpc>
              <a:spcAft>
                <a:spcPts val="300"/>
              </a:spcAft>
            </a:pPr>
            <a:r>
              <a:rPr sz="5400" b="1" i="0">
                <a:solidFill>
                  <a:srgbClr val="FFFFFF"/>
                </a:solidFill>
                <a:latin typeface="Times New Roman"/>
              </a:rPr>
              <a:t>LINUX OS</a:t>
            </a:r>
          </a:p>
        </p:txBody>
      </p:sp>
      <p:sp>
        <p:nvSpPr>
          <p:cNvPr id="8" name="Rectangle 7"/>
          <p:cNvSpPr/>
          <p:nvPr/>
        </p:nvSpPr>
        <p:spPr>
          <a:xfrm>
            <a:off x="3675887" y="3703320"/>
            <a:ext cx="1280160" cy="4572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3886200"/>
            <a:ext cx="8046720" cy="1188720"/>
          </a:xfrm>
          <a:prstGeom prst="rect">
            <a:avLst/>
          </a:prstGeom>
          <a:noFill/>
        </p:spPr>
        <p:txBody>
          <a:bodyPr wrap="square" anchor="t" lIns="0" rIns="0" tIns="0" bIns="0">
            <a:spAutoFit/>
          </a:bodyPr>
          <a:lstStyle/>
          <a:p>
            <a:pPr algn="l">
              <a:lnSpc>
                <a:spcPct val="120000"/>
              </a:lnSpc>
              <a:spcAft>
                <a:spcPts val="300"/>
              </a:spcAft>
            </a:pPr>
            <a:r>
              <a:rPr sz="1700" b="0" i="0">
                <a:solidFill>
                  <a:srgbClr val="DDE6F2"/>
                </a:solidFill>
                <a:latin typeface="Times New Roman"/>
              </a:rPr>
              <a:t>Lesson 1 · Working in Linux OS</a:t>
            </a:r>
          </a:p>
          <a:p>
            <a:pPr algn="l">
              <a:lnSpc>
                <a:spcPct val="120000"/>
              </a:lnSpc>
              <a:spcAft>
                <a:spcPts val="300"/>
              </a:spcAft>
            </a:pPr>
            <a:r>
              <a:rPr sz="1700" b="0" i="0">
                <a:solidFill>
                  <a:srgbClr val="DDE6F2"/>
                </a:solidFill>
                <a:latin typeface="Times New Roman"/>
              </a:rPr>
              <a:t>Getting to know the Linux family and working with files</a:t>
            </a:r>
          </a:p>
          <a:p>
            <a:pPr algn="l">
              <a:lnSpc>
                <a:spcPct val="120000"/>
              </a:lnSpc>
              <a:spcAft>
                <a:spcPts val="300"/>
              </a:spcAft>
            </a:pPr>
            <a:r>
              <a:rPr sz="1700" b="0" i="0">
                <a:solidFill>
                  <a:srgbClr val="DDE6F2"/>
                </a:solidFill>
                <a:latin typeface="Times New Roman"/>
              </a:rPr>
              <a:t>Practical lesson, 4 hours</a:t>
            </a:r>
          </a:p>
        </p:txBody>
      </p:sp>
      <p:sp>
        <p:nvSpPr>
          <p:cNvPr id="10" name="TextBox 9"/>
          <p:cNvSpPr txBox="1"/>
          <p:nvPr/>
        </p:nvSpPr>
        <p:spPr>
          <a:xfrm>
            <a:off x="3657600" y="5897880"/>
            <a:ext cx="8046720" cy="365760"/>
          </a:xfrm>
          <a:prstGeom prst="rect">
            <a:avLst/>
          </a:prstGeom>
          <a:noFill/>
        </p:spPr>
        <p:txBody>
          <a:bodyPr wrap="square" anchor="t" lIns="0" rIns="0" tIns="0" bIns="0">
            <a:spAutoFit/>
          </a:bodyPr>
          <a:lstStyle/>
          <a:p>
            <a:pPr algn="l">
              <a:lnSpc>
                <a:spcPct val="110000"/>
              </a:lnSpc>
              <a:spcAft>
                <a:spcPts val="300"/>
              </a:spcAft>
            </a:pPr>
            <a:r>
              <a:rPr sz="1250" b="0" i="1">
                <a:solidFill>
                  <a:srgbClr val="C9D6E8"/>
                </a:solidFill>
                <a:latin typeface="Times New Roman"/>
              </a:rPr>
              <a:t>Based on Kali Linux 2026.2 (kernel 6.19, Xfce 4.20.7)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TOPIC 2 INTRO · SHORT LECTURE</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Why must a cybersecurity specialist know Linux?</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2</a:t>
            </a:r>
          </a:p>
        </p:txBody>
      </p:sp>
      <p:sp>
        <p:nvSpPr>
          <p:cNvPr id="8" name="Rounded Rectangle 7"/>
          <p:cNvSpPr/>
          <p:nvPr/>
        </p:nvSpPr>
        <p:spPr>
          <a:xfrm>
            <a:off x="566928" y="1600200"/>
            <a:ext cx="3566160" cy="126187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00200"/>
            <a:ext cx="64008" cy="126187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68096" y="1874520"/>
            <a:ext cx="685800" cy="6858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erver_FFFFFF.png"/>
          <p:cNvPicPr>
            <a:picLocks noChangeAspect="1"/>
          </p:cNvPicPr>
          <p:nvPr/>
        </p:nvPicPr>
        <p:blipFill>
          <a:blip r:embed="rId3"/>
          <a:stretch>
            <a:fillRect/>
          </a:stretch>
        </p:blipFill>
        <p:spPr>
          <a:xfrm>
            <a:off x="939546" y="2045970"/>
            <a:ext cx="342900" cy="342900"/>
          </a:xfrm>
          <a:prstGeom prst="rect">
            <a:avLst/>
          </a:prstGeom>
        </p:spPr>
      </p:pic>
      <p:sp>
        <p:nvSpPr>
          <p:cNvPr id="12" name="TextBox 11"/>
          <p:cNvSpPr txBox="1"/>
          <p:nvPr/>
        </p:nvSpPr>
        <p:spPr>
          <a:xfrm>
            <a:off x="1591056" y="1746504"/>
            <a:ext cx="2468880" cy="320040"/>
          </a:xfrm>
          <a:prstGeom prst="rect">
            <a:avLst/>
          </a:prstGeom>
          <a:noFill/>
        </p:spPr>
        <p:txBody>
          <a:bodyPr wrap="square" anchor="t" lIns="0" rIns="0" tIns="0" bIns="0">
            <a:spAutoFit/>
          </a:bodyPr>
          <a:lstStyle/>
          <a:p>
            <a:pPr algn="l">
              <a:lnSpc>
                <a:spcPct val="110000"/>
              </a:lnSpc>
              <a:spcAft>
                <a:spcPts val="300"/>
              </a:spcAft>
            </a:pPr>
            <a:r>
              <a:rPr sz="1500" b="1" i="0">
                <a:solidFill>
                  <a:srgbClr val="1F3864"/>
                </a:solidFill>
                <a:latin typeface="Times New Roman"/>
              </a:rPr>
              <a:t>Servers and cloud</a:t>
            </a:r>
          </a:p>
        </p:txBody>
      </p:sp>
      <p:sp>
        <p:nvSpPr>
          <p:cNvPr id="13" name="TextBox 12"/>
          <p:cNvSpPr txBox="1"/>
          <p:nvPr/>
        </p:nvSpPr>
        <p:spPr>
          <a:xfrm>
            <a:off x="1591056" y="2075688"/>
            <a:ext cx="2423160" cy="777240"/>
          </a:xfrm>
          <a:prstGeom prst="rect">
            <a:avLst/>
          </a:prstGeom>
          <a:noFill/>
        </p:spPr>
        <p:txBody>
          <a:bodyPr wrap="square" anchor="t" lIns="0" rIns="0" tIns="0" bIns="0">
            <a:spAutoFit/>
          </a:bodyPr>
          <a:lstStyle/>
          <a:p>
            <a:pPr algn="l">
              <a:lnSpc>
                <a:spcPct val="110000"/>
              </a:lnSpc>
              <a:spcAft>
                <a:spcPts val="300"/>
              </a:spcAft>
            </a:pPr>
            <a:r>
              <a:rPr sz="1200" b="0" i="0">
                <a:solidFill>
                  <a:srgbClr val="202A38"/>
                </a:solidFill>
                <a:latin typeface="Times New Roman"/>
              </a:rPr>
              <a:t>Most internet servers and cloud services run on Linux</a:t>
            </a:r>
          </a:p>
        </p:txBody>
      </p:sp>
      <p:sp>
        <p:nvSpPr>
          <p:cNvPr id="14" name="Rounded Rectangle 13"/>
          <p:cNvSpPr/>
          <p:nvPr/>
        </p:nvSpPr>
        <p:spPr>
          <a:xfrm>
            <a:off x="4297680" y="1600200"/>
            <a:ext cx="3566160" cy="126187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600200"/>
            <a:ext cx="64008" cy="1261872"/>
          </a:xfrm>
          <a:prstGeom prst="rect">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98848" y="1874520"/>
            <a:ext cx="685800" cy="68580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pu_FFFFFF.png"/>
          <p:cNvPicPr>
            <a:picLocks noChangeAspect="1"/>
          </p:cNvPicPr>
          <p:nvPr/>
        </p:nvPicPr>
        <p:blipFill>
          <a:blip r:embed="rId4"/>
          <a:stretch>
            <a:fillRect/>
          </a:stretch>
        </p:blipFill>
        <p:spPr>
          <a:xfrm>
            <a:off x="4670298" y="2045970"/>
            <a:ext cx="342900" cy="342900"/>
          </a:xfrm>
          <a:prstGeom prst="rect">
            <a:avLst/>
          </a:prstGeom>
        </p:spPr>
      </p:pic>
      <p:sp>
        <p:nvSpPr>
          <p:cNvPr id="18" name="TextBox 17"/>
          <p:cNvSpPr txBox="1"/>
          <p:nvPr/>
        </p:nvSpPr>
        <p:spPr>
          <a:xfrm>
            <a:off x="5321808" y="1746504"/>
            <a:ext cx="2468880" cy="320040"/>
          </a:xfrm>
          <a:prstGeom prst="rect">
            <a:avLst/>
          </a:prstGeom>
          <a:noFill/>
        </p:spPr>
        <p:txBody>
          <a:bodyPr wrap="square" anchor="t" lIns="0" rIns="0" tIns="0" bIns="0">
            <a:spAutoFit/>
          </a:bodyPr>
          <a:lstStyle/>
          <a:p>
            <a:pPr algn="l">
              <a:lnSpc>
                <a:spcPct val="110000"/>
              </a:lnSpc>
              <a:spcAft>
                <a:spcPts val="300"/>
              </a:spcAft>
            </a:pPr>
            <a:r>
              <a:rPr sz="1500" b="1" i="0">
                <a:solidFill>
                  <a:srgbClr val="178A73"/>
                </a:solidFill>
                <a:latin typeface="Times New Roman"/>
              </a:rPr>
              <a:t>Supercomputers</a:t>
            </a:r>
          </a:p>
        </p:txBody>
      </p:sp>
      <p:sp>
        <p:nvSpPr>
          <p:cNvPr id="19" name="TextBox 18"/>
          <p:cNvSpPr txBox="1"/>
          <p:nvPr/>
        </p:nvSpPr>
        <p:spPr>
          <a:xfrm>
            <a:off x="5321808" y="2075688"/>
            <a:ext cx="2423160" cy="777240"/>
          </a:xfrm>
          <a:prstGeom prst="rect">
            <a:avLst/>
          </a:prstGeom>
          <a:noFill/>
        </p:spPr>
        <p:txBody>
          <a:bodyPr wrap="square" anchor="t" lIns="0" rIns="0" tIns="0" bIns="0">
            <a:spAutoFit/>
          </a:bodyPr>
          <a:lstStyle/>
          <a:p>
            <a:pPr algn="l">
              <a:lnSpc>
                <a:spcPct val="110000"/>
              </a:lnSpc>
              <a:spcAft>
                <a:spcPts val="300"/>
              </a:spcAft>
            </a:pPr>
            <a:r>
              <a:rPr sz="1200" b="0" i="0">
                <a:solidFill>
                  <a:srgbClr val="202A38"/>
                </a:solidFill>
                <a:latin typeface="Times New Roman"/>
              </a:rPr>
              <a:t>All of the world’s 500 most powerful supercomputers run Linux</a:t>
            </a:r>
          </a:p>
        </p:txBody>
      </p:sp>
      <p:sp>
        <p:nvSpPr>
          <p:cNvPr id="20" name="Rounded Rectangle 19"/>
          <p:cNvSpPr/>
          <p:nvPr/>
        </p:nvSpPr>
        <p:spPr>
          <a:xfrm>
            <a:off x="8028431" y="1600200"/>
            <a:ext cx="3566160" cy="126187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28431" y="1600200"/>
            <a:ext cx="64008" cy="1261872"/>
          </a:xfrm>
          <a:prstGeom prst="rect">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229599" y="1874520"/>
            <a:ext cx="685800" cy="685800"/>
          </a:xfrm>
          <a:prstGeom prst="ellipse">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phone_FFFFFF.png"/>
          <p:cNvPicPr>
            <a:picLocks noChangeAspect="1"/>
          </p:cNvPicPr>
          <p:nvPr/>
        </p:nvPicPr>
        <p:blipFill>
          <a:blip r:embed="rId5"/>
          <a:stretch>
            <a:fillRect/>
          </a:stretch>
        </p:blipFill>
        <p:spPr>
          <a:xfrm>
            <a:off x="8401049" y="2045970"/>
            <a:ext cx="342900" cy="342900"/>
          </a:xfrm>
          <a:prstGeom prst="rect">
            <a:avLst/>
          </a:prstGeom>
        </p:spPr>
      </p:pic>
      <p:sp>
        <p:nvSpPr>
          <p:cNvPr id="24" name="TextBox 23"/>
          <p:cNvSpPr txBox="1"/>
          <p:nvPr/>
        </p:nvSpPr>
        <p:spPr>
          <a:xfrm>
            <a:off x="9052559" y="1746504"/>
            <a:ext cx="2468880" cy="320040"/>
          </a:xfrm>
          <a:prstGeom prst="rect">
            <a:avLst/>
          </a:prstGeom>
          <a:noFill/>
        </p:spPr>
        <p:txBody>
          <a:bodyPr wrap="square" anchor="t" lIns="0" rIns="0" tIns="0" bIns="0">
            <a:spAutoFit/>
          </a:bodyPr>
          <a:lstStyle/>
          <a:p>
            <a:pPr algn="l">
              <a:lnSpc>
                <a:spcPct val="110000"/>
              </a:lnSpc>
              <a:spcAft>
                <a:spcPts val="300"/>
              </a:spcAft>
            </a:pPr>
            <a:r>
              <a:rPr sz="1500" b="1" i="0">
                <a:solidFill>
                  <a:srgbClr val="E08E1D"/>
                </a:solidFill>
                <a:latin typeface="Times New Roman"/>
              </a:rPr>
              <a:t>Android</a:t>
            </a:r>
          </a:p>
        </p:txBody>
      </p:sp>
      <p:sp>
        <p:nvSpPr>
          <p:cNvPr id="25" name="TextBox 24"/>
          <p:cNvSpPr txBox="1"/>
          <p:nvPr/>
        </p:nvSpPr>
        <p:spPr>
          <a:xfrm>
            <a:off x="9052559" y="2075688"/>
            <a:ext cx="2423160" cy="777240"/>
          </a:xfrm>
          <a:prstGeom prst="rect">
            <a:avLst/>
          </a:prstGeom>
          <a:noFill/>
        </p:spPr>
        <p:txBody>
          <a:bodyPr wrap="square" anchor="t" lIns="0" rIns="0" tIns="0" bIns="0">
            <a:spAutoFit/>
          </a:bodyPr>
          <a:lstStyle/>
          <a:p>
            <a:pPr algn="l">
              <a:lnSpc>
                <a:spcPct val="110000"/>
              </a:lnSpc>
              <a:spcAft>
                <a:spcPts val="300"/>
              </a:spcAft>
            </a:pPr>
            <a:r>
              <a:rPr sz="1200" b="0" i="0">
                <a:solidFill>
                  <a:srgbClr val="202A38"/>
                </a:solidFill>
                <a:latin typeface="Times New Roman"/>
              </a:rPr>
              <a:t>The most widespread mobile OS is built on the Linux kernel</a:t>
            </a:r>
          </a:p>
        </p:txBody>
      </p:sp>
      <p:sp>
        <p:nvSpPr>
          <p:cNvPr id="26" name="Rounded Rectangle 25"/>
          <p:cNvSpPr/>
          <p:nvPr/>
        </p:nvSpPr>
        <p:spPr>
          <a:xfrm>
            <a:off x="566928" y="3017520"/>
            <a:ext cx="3566160" cy="126187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3017520"/>
            <a:ext cx="64008" cy="126187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8096" y="3291840"/>
            <a:ext cx="685800" cy="6858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wifi_FFFFFF.png"/>
          <p:cNvPicPr>
            <a:picLocks noChangeAspect="1"/>
          </p:cNvPicPr>
          <p:nvPr/>
        </p:nvPicPr>
        <p:blipFill>
          <a:blip r:embed="rId6"/>
          <a:stretch>
            <a:fillRect/>
          </a:stretch>
        </p:blipFill>
        <p:spPr>
          <a:xfrm>
            <a:off x="939546" y="3463290"/>
            <a:ext cx="342900" cy="342900"/>
          </a:xfrm>
          <a:prstGeom prst="rect">
            <a:avLst/>
          </a:prstGeom>
        </p:spPr>
      </p:pic>
      <p:sp>
        <p:nvSpPr>
          <p:cNvPr id="30" name="TextBox 29"/>
          <p:cNvSpPr txBox="1"/>
          <p:nvPr/>
        </p:nvSpPr>
        <p:spPr>
          <a:xfrm>
            <a:off x="1591056" y="3163824"/>
            <a:ext cx="2468880" cy="320040"/>
          </a:xfrm>
          <a:prstGeom prst="rect">
            <a:avLst/>
          </a:prstGeom>
          <a:noFill/>
        </p:spPr>
        <p:txBody>
          <a:bodyPr wrap="square" anchor="t" lIns="0" rIns="0" tIns="0" bIns="0">
            <a:spAutoFit/>
          </a:bodyPr>
          <a:lstStyle/>
          <a:p>
            <a:pPr algn="l">
              <a:lnSpc>
                <a:spcPct val="110000"/>
              </a:lnSpc>
              <a:spcAft>
                <a:spcPts val="300"/>
              </a:spcAft>
            </a:pPr>
            <a:r>
              <a:rPr sz="1500" b="1" i="0">
                <a:solidFill>
                  <a:srgbClr val="1F3864"/>
                </a:solidFill>
                <a:latin typeface="Times New Roman"/>
              </a:rPr>
              <a:t>Network and IoT</a:t>
            </a:r>
          </a:p>
        </p:txBody>
      </p:sp>
      <p:sp>
        <p:nvSpPr>
          <p:cNvPr id="31" name="TextBox 30"/>
          <p:cNvSpPr txBox="1"/>
          <p:nvPr/>
        </p:nvSpPr>
        <p:spPr>
          <a:xfrm>
            <a:off x="1591056" y="3493008"/>
            <a:ext cx="2423160" cy="777240"/>
          </a:xfrm>
          <a:prstGeom prst="rect">
            <a:avLst/>
          </a:prstGeom>
          <a:noFill/>
        </p:spPr>
        <p:txBody>
          <a:bodyPr wrap="square" anchor="t" lIns="0" rIns="0" tIns="0" bIns="0">
            <a:spAutoFit/>
          </a:bodyPr>
          <a:lstStyle/>
          <a:p>
            <a:pPr algn="l">
              <a:lnSpc>
                <a:spcPct val="110000"/>
              </a:lnSpc>
              <a:spcAft>
                <a:spcPts val="300"/>
              </a:spcAft>
            </a:pPr>
            <a:r>
              <a:rPr sz="1200" b="0" i="0">
                <a:solidFill>
                  <a:srgbClr val="202A38"/>
                </a:solidFill>
                <a:latin typeface="Times New Roman"/>
              </a:rPr>
              <a:t>Routers, firewalls, cameras and “smart” devices</a:t>
            </a:r>
          </a:p>
        </p:txBody>
      </p:sp>
      <p:sp>
        <p:nvSpPr>
          <p:cNvPr id="32" name="Rounded Rectangle 31"/>
          <p:cNvSpPr/>
          <p:nvPr/>
        </p:nvSpPr>
        <p:spPr>
          <a:xfrm>
            <a:off x="4297680" y="3017520"/>
            <a:ext cx="3566160" cy="126187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297680" y="3017520"/>
            <a:ext cx="64008" cy="1261872"/>
          </a:xfrm>
          <a:prstGeom prst="rect">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498848" y="3291840"/>
            <a:ext cx="685800" cy="68580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shield_FFFFFF.png"/>
          <p:cNvPicPr>
            <a:picLocks noChangeAspect="1"/>
          </p:cNvPicPr>
          <p:nvPr/>
        </p:nvPicPr>
        <p:blipFill>
          <a:blip r:embed="rId7"/>
          <a:stretch>
            <a:fillRect/>
          </a:stretch>
        </p:blipFill>
        <p:spPr>
          <a:xfrm>
            <a:off x="4670298" y="3463290"/>
            <a:ext cx="342900" cy="342900"/>
          </a:xfrm>
          <a:prstGeom prst="rect">
            <a:avLst/>
          </a:prstGeom>
        </p:spPr>
      </p:pic>
      <p:sp>
        <p:nvSpPr>
          <p:cNvPr id="36" name="TextBox 35"/>
          <p:cNvSpPr txBox="1"/>
          <p:nvPr/>
        </p:nvSpPr>
        <p:spPr>
          <a:xfrm>
            <a:off x="5321808" y="3163824"/>
            <a:ext cx="2468880" cy="320040"/>
          </a:xfrm>
          <a:prstGeom prst="rect">
            <a:avLst/>
          </a:prstGeom>
          <a:noFill/>
        </p:spPr>
        <p:txBody>
          <a:bodyPr wrap="square" anchor="t" lIns="0" rIns="0" tIns="0" bIns="0">
            <a:spAutoFit/>
          </a:bodyPr>
          <a:lstStyle/>
          <a:p>
            <a:pPr algn="l">
              <a:lnSpc>
                <a:spcPct val="110000"/>
              </a:lnSpc>
              <a:spcAft>
                <a:spcPts val="300"/>
              </a:spcAft>
            </a:pPr>
            <a:r>
              <a:rPr sz="1500" b="1" i="0">
                <a:solidFill>
                  <a:srgbClr val="178A73"/>
                </a:solidFill>
                <a:latin typeface="Times New Roman"/>
              </a:rPr>
              <a:t>Security tools</a:t>
            </a:r>
          </a:p>
        </p:txBody>
      </p:sp>
      <p:sp>
        <p:nvSpPr>
          <p:cNvPr id="37" name="TextBox 36"/>
          <p:cNvSpPr txBox="1"/>
          <p:nvPr/>
        </p:nvSpPr>
        <p:spPr>
          <a:xfrm>
            <a:off x="5321808" y="3493008"/>
            <a:ext cx="2423160" cy="777240"/>
          </a:xfrm>
          <a:prstGeom prst="rect">
            <a:avLst/>
          </a:prstGeom>
          <a:noFill/>
        </p:spPr>
        <p:txBody>
          <a:bodyPr wrap="square" anchor="t" lIns="0" rIns="0" tIns="0" bIns="0">
            <a:spAutoFit/>
          </a:bodyPr>
          <a:lstStyle/>
          <a:p>
            <a:pPr algn="l">
              <a:lnSpc>
                <a:spcPct val="110000"/>
              </a:lnSpc>
              <a:spcAft>
                <a:spcPts val="300"/>
              </a:spcAft>
            </a:pPr>
            <a:r>
              <a:rPr sz="1200" b="0" i="0">
                <a:solidFill>
                  <a:srgbClr val="202A38"/>
                </a:solidFill>
                <a:latin typeface="Times New Roman"/>
              </a:rPr>
              <a:t>Scanners, SIEM, IDS, Wazuh — mostly written for Linux</a:t>
            </a:r>
          </a:p>
        </p:txBody>
      </p:sp>
      <p:sp>
        <p:nvSpPr>
          <p:cNvPr id="38" name="Rounded Rectangle 37"/>
          <p:cNvSpPr/>
          <p:nvPr/>
        </p:nvSpPr>
        <p:spPr>
          <a:xfrm>
            <a:off x="8028431" y="3017520"/>
            <a:ext cx="3566160" cy="126187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8431" y="3017520"/>
            <a:ext cx="64008" cy="1261872"/>
          </a:xfrm>
          <a:prstGeom prst="rect">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229599" y="3291840"/>
            <a:ext cx="685800" cy="685800"/>
          </a:xfrm>
          <a:prstGeom prst="ellipse">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search_FFFFFF.png"/>
          <p:cNvPicPr>
            <a:picLocks noChangeAspect="1"/>
          </p:cNvPicPr>
          <p:nvPr/>
        </p:nvPicPr>
        <p:blipFill>
          <a:blip r:embed="rId8"/>
          <a:stretch>
            <a:fillRect/>
          </a:stretch>
        </p:blipFill>
        <p:spPr>
          <a:xfrm>
            <a:off x="8401049" y="3463290"/>
            <a:ext cx="342900" cy="342900"/>
          </a:xfrm>
          <a:prstGeom prst="rect">
            <a:avLst/>
          </a:prstGeom>
        </p:spPr>
      </p:pic>
      <p:sp>
        <p:nvSpPr>
          <p:cNvPr id="42" name="TextBox 41"/>
          <p:cNvSpPr txBox="1"/>
          <p:nvPr/>
        </p:nvSpPr>
        <p:spPr>
          <a:xfrm>
            <a:off x="9052559" y="3163824"/>
            <a:ext cx="2468880" cy="320040"/>
          </a:xfrm>
          <a:prstGeom prst="rect">
            <a:avLst/>
          </a:prstGeom>
          <a:noFill/>
        </p:spPr>
        <p:txBody>
          <a:bodyPr wrap="square" anchor="t" lIns="0" rIns="0" tIns="0" bIns="0">
            <a:spAutoFit/>
          </a:bodyPr>
          <a:lstStyle/>
          <a:p>
            <a:pPr algn="l">
              <a:lnSpc>
                <a:spcPct val="110000"/>
              </a:lnSpc>
              <a:spcAft>
                <a:spcPts val="300"/>
              </a:spcAft>
            </a:pPr>
            <a:r>
              <a:rPr sz="1500" b="1" i="0">
                <a:solidFill>
                  <a:srgbClr val="E08E1D"/>
                </a:solidFill>
                <a:latin typeface="Times New Roman"/>
              </a:rPr>
              <a:t>Forensics</a:t>
            </a:r>
          </a:p>
        </p:txBody>
      </p:sp>
      <p:sp>
        <p:nvSpPr>
          <p:cNvPr id="43" name="TextBox 42"/>
          <p:cNvSpPr txBox="1"/>
          <p:nvPr/>
        </p:nvSpPr>
        <p:spPr>
          <a:xfrm>
            <a:off x="9052559" y="3493008"/>
            <a:ext cx="2423160" cy="777240"/>
          </a:xfrm>
          <a:prstGeom prst="rect">
            <a:avLst/>
          </a:prstGeom>
          <a:noFill/>
        </p:spPr>
        <p:txBody>
          <a:bodyPr wrap="square" anchor="t" lIns="0" rIns="0" tIns="0" bIns="0">
            <a:spAutoFit/>
          </a:bodyPr>
          <a:lstStyle/>
          <a:p>
            <a:pPr algn="l">
              <a:lnSpc>
                <a:spcPct val="110000"/>
              </a:lnSpc>
              <a:spcAft>
                <a:spcPts val="300"/>
              </a:spcAft>
            </a:pPr>
            <a:r>
              <a:rPr sz="1200" b="0" i="0">
                <a:solidFill>
                  <a:srgbClr val="202A38"/>
                </a:solidFill>
                <a:latin typeface="Times New Roman"/>
              </a:rPr>
              <a:t>Digital investigation OSes (CSI Linux, REMnux) — Linux-based</a:t>
            </a:r>
          </a:p>
        </p:txBody>
      </p:sp>
      <p:sp>
        <p:nvSpPr>
          <p:cNvPr id="44" name="Rounded Rectangle 43"/>
          <p:cNvSpPr/>
          <p:nvPr/>
        </p:nvSpPr>
        <p:spPr>
          <a:xfrm>
            <a:off x="566928" y="4526280"/>
            <a:ext cx="11045952" cy="1097280"/>
          </a:xfrm>
          <a:prstGeom prst="roundRect">
            <a:avLst>
              <a:gd name="adj" fmla="val 6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66928" y="4526280"/>
            <a:ext cx="64008" cy="10972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2960" y="4599432"/>
            <a:ext cx="10607040" cy="274320"/>
          </a:xfrm>
          <a:prstGeom prst="rect">
            <a:avLst/>
          </a:prstGeom>
          <a:noFill/>
        </p:spPr>
        <p:txBody>
          <a:bodyPr wrap="square" anchor="t" lIns="0" rIns="0" tIns="0" bIns="0">
            <a:spAutoFit/>
          </a:bodyPr>
          <a:lstStyle/>
          <a:p>
            <a:pPr algn="l">
              <a:lnSpc>
                <a:spcPct val="110000"/>
              </a:lnSpc>
              <a:spcAft>
                <a:spcPts val="300"/>
              </a:spcAft>
            </a:pPr>
            <a:r>
              <a:rPr sz="1400" b="1" i="0">
                <a:solidFill>
                  <a:srgbClr val="1F3864"/>
                </a:solidFill>
                <a:latin typeface="Times New Roman"/>
              </a:rPr>
              <a:t>Conclusion: you cannot work in cybersecurity without knowing Linux</a:t>
            </a:r>
          </a:p>
        </p:txBody>
      </p:sp>
      <p:sp>
        <p:nvSpPr>
          <p:cNvPr id="47" name="TextBox 46"/>
          <p:cNvSpPr txBox="1"/>
          <p:nvPr/>
        </p:nvSpPr>
        <p:spPr>
          <a:xfrm>
            <a:off x="822960" y="4937760"/>
            <a:ext cx="10607040" cy="685800"/>
          </a:xfrm>
          <a:prstGeom prst="rect">
            <a:avLst/>
          </a:prstGeom>
          <a:noFill/>
        </p:spPr>
        <p:txBody>
          <a:bodyPr wrap="square" anchor="t" lIns="0" rIns="0" tIns="0" bIns="0">
            <a:spAutoFit/>
          </a:bodyPr>
          <a:lstStyle/>
          <a:p>
            <a:pPr algn="l">
              <a:lnSpc>
                <a:spcPct val="110000"/>
              </a:lnSpc>
              <a:spcAft>
                <a:spcPts val="300"/>
              </a:spcAft>
            </a:pPr>
            <a:r>
              <a:rPr sz="1250" b="0" i="0">
                <a:solidFill>
                  <a:srgbClr val="202A38"/>
                </a:solidFill>
                <a:latin typeface="Times New Roman"/>
              </a:rPr>
              <a:t>Most of the systems to be defended are Linux, and most of the tools that test and defend them are Linux too. That is why all later topics of the subject (virology, SIEM, Metasploitable, C2, forensics) rely on Linux knowledge.</a:t>
            </a:r>
          </a:p>
        </p:txBody>
      </p:sp>
      <p:sp>
        <p:nvSpPr>
          <p:cNvPr id="48" name="Rounded Rectangle 47"/>
          <p:cNvSpPr/>
          <p:nvPr/>
        </p:nvSpPr>
        <p:spPr>
          <a:xfrm>
            <a:off x="566928" y="5760720"/>
            <a:ext cx="11045952" cy="548640"/>
          </a:xfrm>
          <a:prstGeom prst="roundRect">
            <a:avLst>
              <a:gd name="adj" fmla="val 8000"/>
            </a:avLst>
          </a:prstGeom>
          <a:solidFill>
            <a:srgbClr val="F5F8FC"/>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search_1F3864.png"/>
          <p:cNvPicPr>
            <a:picLocks noChangeAspect="1"/>
          </p:cNvPicPr>
          <p:nvPr/>
        </p:nvPicPr>
        <p:blipFill>
          <a:blip r:embed="rId9"/>
          <a:stretch>
            <a:fillRect/>
          </a:stretch>
        </p:blipFill>
        <p:spPr>
          <a:xfrm>
            <a:off x="694944" y="5870448"/>
            <a:ext cx="329184" cy="329184"/>
          </a:xfrm>
          <a:prstGeom prst="rect">
            <a:avLst/>
          </a:prstGeom>
        </p:spPr>
      </p:pic>
      <p:sp>
        <p:nvSpPr>
          <p:cNvPr id="50" name="TextBox 49"/>
          <p:cNvSpPr txBox="1"/>
          <p:nvPr/>
        </p:nvSpPr>
        <p:spPr>
          <a:xfrm>
            <a:off x="1133856" y="5760720"/>
            <a:ext cx="10360152" cy="548640"/>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The main lab OS for this topic is </a:t>
            </a:r>
            <a:r>
              <a:rPr sz="1250" b="1" i="0">
                <a:solidFill>
                  <a:srgbClr val="1F3864"/>
                </a:solidFill>
                <a:latin typeface="Times New Roman"/>
              </a:rPr>
              <a:t>Kali Linux</a:t>
            </a:r>
            <a:r>
              <a:rPr sz="1250" b="0" i="0">
                <a:solidFill>
                  <a:srgbClr val="202A38"/>
                </a:solidFill>
                <a:latin typeface="Times New Roman"/>
              </a:rPr>
              <a:t> (a VirtualBox virtual machine).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TOPIC 2 MAP</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Topic 2 “Linux OS”: 4 practical lessons, 18 hours</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3</a:t>
            </a:r>
          </a:p>
        </p:txBody>
      </p:sp>
      <p:sp>
        <p:nvSpPr>
          <p:cNvPr id="8" name="Rounded Rectangle 7"/>
          <p:cNvSpPr/>
          <p:nvPr/>
        </p:nvSpPr>
        <p:spPr>
          <a:xfrm>
            <a:off x="566928" y="1645920"/>
            <a:ext cx="2606040" cy="2971800"/>
          </a:xfrm>
          <a:prstGeom prst="roundRect">
            <a:avLst>
              <a:gd name="adj" fmla="val 6000"/>
            </a:avLst>
          </a:prstGeom>
          <a:solidFill>
            <a:srgbClr val="FFFFFF"/>
          </a:solidFill>
          <a:ln w="12700">
            <a:solidFill>
              <a:srgbClr val="178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66928" y="1645920"/>
            <a:ext cx="2606040" cy="685800"/>
          </a:xfrm>
          <a:prstGeom prst="roundRect">
            <a:avLst>
              <a:gd name="adj" fmla="val 6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719072"/>
            <a:ext cx="173736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FFFFFF"/>
                </a:solidFill>
                <a:latin typeface="Times New Roman"/>
              </a:rPr>
              <a:t>LESSON 1</a:t>
            </a:r>
          </a:p>
        </p:txBody>
      </p:sp>
      <p:sp>
        <p:nvSpPr>
          <p:cNvPr id="11" name="TextBox 10"/>
          <p:cNvSpPr txBox="1"/>
          <p:nvPr/>
        </p:nvSpPr>
        <p:spPr>
          <a:xfrm>
            <a:off x="749808" y="2011680"/>
            <a:ext cx="1737360" cy="274320"/>
          </a:xfrm>
          <a:prstGeom prst="rect">
            <a:avLst/>
          </a:prstGeom>
          <a:noFill/>
        </p:spPr>
        <p:txBody>
          <a:bodyPr wrap="square" anchor="t" lIns="0" rIns="0" tIns="0" bIns="0">
            <a:spAutoFit/>
          </a:bodyPr>
          <a:lstStyle/>
          <a:p>
            <a:pPr algn="l">
              <a:lnSpc>
                <a:spcPct val="110000"/>
              </a:lnSpc>
              <a:spcAft>
                <a:spcPts val="300"/>
              </a:spcAft>
            </a:pPr>
            <a:r>
              <a:rPr sz="1150" b="0" i="1">
                <a:solidFill>
                  <a:srgbClr val="FFFFFF"/>
                </a:solidFill>
                <a:latin typeface="Times New Roman"/>
              </a:rPr>
              <a:t>Practical · 4 h</a:t>
            </a:r>
          </a:p>
        </p:txBody>
      </p:sp>
      <p:pic>
        <p:nvPicPr>
          <p:cNvPr id="12" name="Picture 11" descr="folder_FFFFFF.png"/>
          <p:cNvPicPr>
            <a:picLocks noChangeAspect="1"/>
          </p:cNvPicPr>
          <p:nvPr/>
        </p:nvPicPr>
        <p:blipFill>
          <a:blip r:embed="rId3"/>
          <a:stretch>
            <a:fillRect/>
          </a:stretch>
        </p:blipFill>
        <p:spPr>
          <a:xfrm>
            <a:off x="2578608" y="1773936"/>
            <a:ext cx="438912" cy="438912"/>
          </a:xfrm>
          <a:prstGeom prst="rect">
            <a:avLst/>
          </a:prstGeom>
        </p:spPr>
      </p:pic>
      <p:sp>
        <p:nvSpPr>
          <p:cNvPr id="13" name="TextBox 12"/>
          <p:cNvSpPr txBox="1"/>
          <p:nvPr/>
        </p:nvSpPr>
        <p:spPr>
          <a:xfrm>
            <a:off x="749808" y="2468880"/>
            <a:ext cx="2286000" cy="274320"/>
          </a:xfrm>
          <a:prstGeom prst="rect">
            <a:avLst/>
          </a:prstGeom>
          <a:noFill/>
        </p:spPr>
        <p:txBody>
          <a:bodyPr wrap="square" anchor="t" lIns="0" rIns="0" tIns="0" bIns="0">
            <a:spAutoFit/>
          </a:bodyPr>
          <a:lstStyle/>
          <a:p>
            <a:pPr algn="l">
              <a:lnSpc>
                <a:spcPct val="110000"/>
              </a:lnSpc>
              <a:spcAft>
                <a:spcPts val="300"/>
              </a:spcAft>
            </a:pPr>
            <a:r>
              <a:rPr sz="1150" b="1" i="0">
                <a:solidFill>
                  <a:srgbClr val="54647A"/>
                </a:solidFill>
                <a:latin typeface="Times New Roman"/>
              </a:rPr>
              <a:t>Learning questions:</a:t>
            </a:r>
          </a:p>
        </p:txBody>
      </p:sp>
      <p:sp>
        <p:nvSpPr>
          <p:cNvPr id="14" name="TextBox 13"/>
          <p:cNvSpPr txBox="1"/>
          <p:nvPr/>
        </p:nvSpPr>
        <p:spPr>
          <a:xfrm>
            <a:off x="749808" y="2743200"/>
            <a:ext cx="2286000" cy="1737360"/>
          </a:xfrm>
          <a:prstGeom prst="rect">
            <a:avLst/>
          </a:prstGeom>
          <a:noFill/>
        </p:spPr>
        <p:txBody>
          <a:bodyPr wrap="square" anchor="t" lIns="0" rIns="0" tIns="0" bIns="0">
            <a:spAutoFit/>
          </a:bodyPr>
          <a:lstStyle/>
          <a:p>
            <a:pPr algn="l">
              <a:lnSpc>
                <a:spcPct val="110000"/>
              </a:lnSpc>
              <a:spcAft>
                <a:spcPts val="600"/>
              </a:spcAft>
            </a:pPr>
            <a:r>
              <a:rPr sz="1300" b="1">
                <a:solidFill>
                  <a:srgbClr val="178A73"/>
                </a:solidFill>
                <a:latin typeface="Times New Roman"/>
              </a:rPr>
              <a:t>▸  </a:t>
            </a:r>
            <a:r>
              <a:rPr sz="1300" b="0" i="0">
                <a:solidFill>
                  <a:srgbClr val="202A38"/>
                </a:solidFill>
                <a:latin typeface="Times New Roman"/>
              </a:rPr>
              <a:t>Getting to know the Linux family</a:t>
            </a:r>
          </a:p>
          <a:p>
            <a:pPr algn="l">
              <a:lnSpc>
                <a:spcPct val="110000"/>
              </a:lnSpc>
              <a:spcAft>
                <a:spcPts val="600"/>
              </a:spcAft>
            </a:pPr>
            <a:r>
              <a:rPr sz="1300" b="1">
                <a:solidFill>
                  <a:srgbClr val="178A73"/>
                </a:solidFill>
                <a:latin typeface="Times New Roman"/>
              </a:rPr>
              <a:t>▸  </a:t>
            </a:r>
            <a:r>
              <a:rPr sz="1300" b="0" i="0">
                <a:solidFill>
                  <a:srgbClr val="202A38"/>
                </a:solidFill>
                <a:latin typeface="Times New Roman"/>
              </a:rPr>
              <a:t>Working with files</a:t>
            </a:r>
          </a:p>
        </p:txBody>
      </p:sp>
      <p:sp>
        <p:nvSpPr>
          <p:cNvPr id="15" name="Rounded Rectangle 14"/>
          <p:cNvSpPr/>
          <p:nvPr/>
        </p:nvSpPr>
        <p:spPr>
          <a:xfrm>
            <a:off x="1069848" y="4160520"/>
            <a:ext cx="1600200" cy="310896"/>
          </a:xfrm>
          <a:prstGeom prst="roundRect">
            <a:avLst>
              <a:gd name="adj" fmla="val 50000"/>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i="0">
                <a:solidFill>
                  <a:srgbClr val="FFFFFF"/>
                </a:solidFill>
                <a:latin typeface="Times New Roman"/>
              </a:rPr>
              <a:t>TODAY</a:t>
            </a:r>
          </a:p>
        </p:txBody>
      </p:sp>
      <p:sp>
        <p:nvSpPr>
          <p:cNvPr id="16" name="Right Arrow 15"/>
          <p:cNvSpPr/>
          <p:nvPr/>
        </p:nvSpPr>
        <p:spPr>
          <a:xfrm>
            <a:off x="3200400" y="2971800"/>
            <a:ext cx="137160" cy="274320"/>
          </a:xfrm>
          <a:prstGeom prst="rightArrow">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355848" y="1645920"/>
            <a:ext cx="2606040" cy="297180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355848" y="1645920"/>
            <a:ext cx="2606040" cy="685800"/>
          </a:xfrm>
          <a:prstGeom prst="roundRect">
            <a:avLst>
              <a:gd name="adj" fmla="val 6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38728" y="1719072"/>
            <a:ext cx="173736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FFFFFF"/>
                </a:solidFill>
                <a:latin typeface="Times New Roman"/>
              </a:rPr>
              <a:t>LESSON 2</a:t>
            </a:r>
          </a:p>
        </p:txBody>
      </p:sp>
      <p:sp>
        <p:nvSpPr>
          <p:cNvPr id="20" name="TextBox 19"/>
          <p:cNvSpPr txBox="1"/>
          <p:nvPr/>
        </p:nvSpPr>
        <p:spPr>
          <a:xfrm>
            <a:off x="3538728" y="2011680"/>
            <a:ext cx="1737360" cy="274320"/>
          </a:xfrm>
          <a:prstGeom prst="rect">
            <a:avLst/>
          </a:prstGeom>
          <a:noFill/>
        </p:spPr>
        <p:txBody>
          <a:bodyPr wrap="square" anchor="t" lIns="0" rIns="0" tIns="0" bIns="0">
            <a:spAutoFit/>
          </a:bodyPr>
          <a:lstStyle/>
          <a:p>
            <a:pPr algn="l">
              <a:lnSpc>
                <a:spcPct val="110000"/>
              </a:lnSpc>
              <a:spcAft>
                <a:spcPts val="300"/>
              </a:spcAft>
            </a:pPr>
            <a:r>
              <a:rPr sz="1150" b="0" i="1">
                <a:solidFill>
                  <a:srgbClr val="FFFFFF"/>
                </a:solidFill>
                <a:latin typeface="Times New Roman"/>
              </a:rPr>
              <a:t>Practical · 4 h</a:t>
            </a:r>
          </a:p>
        </p:txBody>
      </p:sp>
      <p:pic>
        <p:nvPicPr>
          <p:cNvPr id="21" name="Picture 20" descr="terminal_FFFFFF.png"/>
          <p:cNvPicPr>
            <a:picLocks noChangeAspect="1"/>
          </p:cNvPicPr>
          <p:nvPr/>
        </p:nvPicPr>
        <p:blipFill>
          <a:blip r:embed="rId4"/>
          <a:stretch>
            <a:fillRect/>
          </a:stretch>
        </p:blipFill>
        <p:spPr>
          <a:xfrm>
            <a:off x="5367528" y="1773936"/>
            <a:ext cx="438912" cy="438912"/>
          </a:xfrm>
          <a:prstGeom prst="rect">
            <a:avLst/>
          </a:prstGeom>
        </p:spPr>
      </p:pic>
      <p:sp>
        <p:nvSpPr>
          <p:cNvPr id="22" name="TextBox 21"/>
          <p:cNvSpPr txBox="1"/>
          <p:nvPr/>
        </p:nvSpPr>
        <p:spPr>
          <a:xfrm>
            <a:off x="3538728" y="2468880"/>
            <a:ext cx="2286000" cy="274320"/>
          </a:xfrm>
          <a:prstGeom prst="rect">
            <a:avLst/>
          </a:prstGeom>
          <a:noFill/>
        </p:spPr>
        <p:txBody>
          <a:bodyPr wrap="square" anchor="t" lIns="0" rIns="0" tIns="0" bIns="0">
            <a:spAutoFit/>
          </a:bodyPr>
          <a:lstStyle/>
          <a:p>
            <a:pPr algn="l">
              <a:lnSpc>
                <a:spcPct val="110000"/>
              </a:lnSpc>
              <a:spcAft>
                <a:spcPts val="300"/>
              </a:spcAft>
            </a:pPr>
            <a:r>
              <a:rPr sz="1150" b="1" i="0">
                <a:solidFill>
                  <a:srgbClr val="54647A"/>
                </a:solidFill>
                <a:latin typeface="Times New Roman"/>
              </a:rPr>
              <a:t>Learning questions:</a:t>
            </a:r>
          </a:p>
        </p:txBody>
      </p:sp>
      <p:sp>
        <p:nvSpPr>
          <p:cNvPr id="23" name="TextBox 22"/>
          <p:cNvSpPr txBox="1"/>
          <p:nvPr/>
        </p:nvSpPr>
        <p:spPr>
          <a:xfrm>
            <a:off x="3538728" y="2743200"/>
            <a:ext cx="2286000" cy="1737360"/>
          </a:xfrm>
          <a:prstGeom prst="rect">
            <a:avLst/>
          </a:prstGeom>
          <a:noFill/>
        </p:spPr>
        <p:txBody>
          <a:bodyPr wrap="square" anchor="t" lIns="0" rIns="0" tIns="0" bIns="0">
            <a:spAutoFit/>
          </a:bodyPr>
          <a:lstStyle/>
          <a:p>
            <a:pPr algn="l">
              <a:lnSpc>
                <a:spcPct val="110000"/>
              </a:lnSpc>
              <a:spcAft>
                <a:spcPts val="600"/>
              </a:spcAft>
            </a:pPr>
            <a:r>
              <a:rPr sz="1300" b="1">
                <a:solidFill>
                  <a:srgbClr val="178A73"/>
                </a:solidFill>
                <a:latin typeface="Times New Roman"/>
              </a:rPr>
              <a:t>▸  </a:t>
            </a:r>
            <a:r>
              <a:rPr sz="1300" b="0" i="0">
                <a:solidFill>
                  <a:srgbClr val="202A38"/>
                </a:solidFill>
                <a:latin typeface="Times New Roman"/>
              </a:rPr>
              <a:t>Working with the terminal</a:t>
            </a:r>
          </a:p>
        </p:txBody>
      </p:sp>
      <p:sp>
        <p:nvSpPr>
          <p:cNvPr id="24" name="Right Arrow 23"/>
          <p:cNvSpPr/>
          <p:nvPr/>
        </p:nvSpPr>
        <p:spPr>
          <a:xfrm>
            <a:off x="5989320" y="2971800"/>
            <a:ext cx="137160" cy="274320"/>
          </a:xfrm>
          <a:prstGeom prst="rightArrow">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44768" y="1645920"/>
            <a:ext cx="2606040" cy="297180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144768" y="1645920"/>
            <a:ext cx="2606040" cy="685800"/>
          </a:xfrm>
          <a:prstGeom prst="roundRect">
            <a:avLst>
              <a:gd name="adj" fmla="val 6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27648" y="1719072"/>
            <a:ext cx="173736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FFFFFF"/>
                </a:solidFill>
                <a:latin typeface="Times New Roman"/>
              </a:rPr>
              <a:t>LESSON 3</a:t>
            </a:r>
          </a:p>
        </p:txBody>
      </p:sp>
      <p:sp>
        <p:nvSpPr>
          <p:cNvPr id="28" name="TextBox 27"/>
          <p:cNvSpPr txBox="1"/>
          <p:nvPr/>
        </p:nvSpPr>
        <p:spPr>
          <a:xfrm>
            <a:off x="6327648" y="2011680"/>
            <a:ext cx="1737360" cy="274320"/>
          </a:xfrm>
          <a:prstGeom prst="rect">
            <a:avLst/>
          </a:prstGeom>
          <a:noFill/>
        </p:spPr>
        <p:txBody>
          <a:bodyPr wrap="square" anchor="t" lIns="0" rIns="0" tIns="0" bIns="0">
            <a:spAutoFit/>
          </a:bodyPr>
          <a:lstStyle/>
          <a:p>
            <a:pPr algn="l">
              <a:lnSpc>
                <a:spcPct val="110000"/>
              </a:lnSpc>
              <a:spcAft>
                <a:spcPts val="300"/>
              </a:spcAft>
            </a:pPr>
            <a:r>
              <a:rPr sz="1150" b="0" i="1">
                <a:solidFill>
                  <a:srgbClr val="FFFFFF"/>
                </a:solidFill>
                <a:latin typeface="Times New Roman"/>
              </a:rPr>
              <a:t>Practical · 4 h</a:t>
            </a:r>
          </a:p>
        </p:txBody>
      </p:sp>
      <p:pic>
        <p:nvPicPr>
          <p:cNvPr id="29" name="Picture 28" descr="globe_FFFFFF.png"/>
          <p:cNvPicPr>
            <a:picLocks noChangeAspect="1"/>
          </p:cNvPicPr>
          <p:nvPr/>
        </p:nvPicPr>
        <p:blipFill>
          <a:blip r:embed="rId5"/>
          <a:stretch>
            <a:fillRect/>
          </a:stretch>
        </p:blipFill>
        <p:spPr>
          <a:xfrm>
            <a:off x="8156448" y="1773936"/>
            <a:ext cx="438912" cy="438912"/>
          </a:xfrm>
          <a:prstGeom prst="rect">
            <a:avLst/>
          </a:prstGeom>
        </p:spPr>
      </p:pic>
      <p:sp>
        <p:nvSpPr>
          <p:cNvPr id="30" name="TextBox 29"/>
          <p:cNvSpPr txBox="1"/>
          <p:nvPr/>
        </p:nvSpPr>
        <p:spPr>
          <a:xfrm>
            <a:off x="6327648" y="2468880"/>
            <a:ext cx="2286000" cy="274320"/>
          </a:xfrm>
          <a:prstGeom prst="rect">
            <a:avLst/>
          </a:prstGeom>
          <a:noFill/>
        </p:spPr>
        <p:txBody>
          <a:bodyPr wrap="square" anchor="t" lIns="0" rIns="0" tIns="0" bIns="0">
            <a:spAutoFit/>
          </a:bodyPr>
          <a:lstStyle/>
          <a:p>
            <a:pPr algn="l">
              <a:lnSpc>
                <a:spcPct val="110000"/>
              </a:lnSpc>
              <a:spcAft>
                <a:spcPts val="300"/>
              </a:spcAft>
            </a:pPr>
            <a:r>
              <a:rPr sz="1150" b="1" i="0">
                <a:solidFill>
                  <a:srgbClr val="54647A"/>
                </a:solidFill>
                <a:latin typeface="Times New Roman"/>
              </a:rPr>
              <a:t>Learning questions:</a:t>
            </a:r>
          </a:p>
        </p:txBody>
      </p:sp>
      <p:sp>
        <p:nvSpPr>
          <p:cNvPr id="31" name="TextBox 30"/>
          <p:cNvSpPr txBox="1"/>
          <p:nvPr/>
        </p:nvSpPr>
        <p:spPr>
          <a:xfrm>
            <a:off x="6327648" y="2743200"/>
            <a:ext cx="2286000" cy="1737360"/>
          </a:xfrm>
          <a:prstGeom prst="rect">
            <a:avLst/>
          </a:prstGeom>
          <a:noFill/>
        </p:spPr>
        <p:txBody>
          <a:bodyPr wrap="square" anchor="t" lIns="0" rIns="0" tIns="0" bIns="0">
            <a:spAutoFit/>
          </a:bodyPr>
          <a:lstStyle/>
          <a:p>
            <a:pPr algn="l">
              <a:lnSpc>
                <a:spcPct val="110000"/>
              </a:lnSpc>
              <a:spcAft>
                <a:spcPts val="600"/>
              </a:spcAft>
            </a:pPr>
            <a:r>
              <a:rPr sz="1300" b="1">
                <a:solidFill>
                  <a:srgbClr val="178A73"/>
                </a:solidFill>
                <a:latin typeface="Times New Roman"/>
              </a:rPr>
              <a:t>▸  </a:t>
            </a:r>
            <a:r>
              <a:rPr sz="1300" b="0" i="0">
                <a:solidFill>
                  <a:srgbClr val="202A38"/>
                </a:solidFill>
                <a:latin typeface="Times New Roman"/>
              </a:rPr>
              <a:t>Recon actions in Linux OS</a:t>
            </a:r>
          </a:p>
          <a:p>
            <a:pPr algn="l">
              <a:lnSpc>
                <a:spcPct val="110000"/>
              </a:lnSpc>
              <a:spcAft>
                <a:spcPts val="600"/>
              </a:spcAft>
            </a:pPr>
            <a:r>
              <a:rPr sz="1300" b="1">
                <a:solidFill>
                  <a:srgbClr val="178A73"/>
                </a:solidFill>
                <a:latin typeface="Times New Roman"/>
              </a:rPr>
              <a:t>▸  </a:t>
            </a:r>
            <a:r>
              <a:rPr sz="1300" b="0" i="0">
                <a:solidFill>
                  <a:srgbClr val="202A38"/>
                </a:solidFill>
                <a:latin typeface="Times New Roman"/>
              </a:rPr>
              <a:t>Nmap, Netcat, Traceroute, whois, dig</a:t>
            </a:r>
          </a:p>
        </p:txBody>
      </p:sp>
      <p:sp>
        <p:nvSpPr>
          <p:cNvPr id="32" name="Right Arrow 31"/>
          <p:cNvSpPr/>
          <p:nvPr/>
        </p:nvSpPr>
        <p:spPr>
          <a:xfrm>
            <a:off x="8778240" y="2971800"/>
            <a:ext cx="137160" cy="274320"/>
          </a:xfrm>
          <a:prstGeom prst="rightArrow">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933687" y="1645920"/>
            <a:ext cx="2606040" cy="297180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933687" y="1645920"/>
            <a:ext cx="2606040" cy="685800"/>
          </a:xfrm>
          <a:prstGeom prst="roundRect">
            <a:avLst>
              <a:gd name="adj" fmla="val 6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16567" y="1719072"/>
            <a:ext cx="173736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FFFFFF"/>
                </a:solidFill>
                <a:latin typeface="Times New Roman"/>
              </a:rPr>
              <a:t>LESSON 4</a:t>
            </a:r>
          </a:p>
        </p:txBody>
      </p:sp>
      <p:sp>
        <p:nvSpPr>
          <p:cNvPr id="36" name="TextBox 35"/>
          <p:cNvSpPr txBox="1"/>
          <p:nvPr/>
        </p:nvSpPr>
        <p:spPr>
          <a:xfrm>
            <a:off x="9116567" y="2011680"/>
            <a:ext cx="1737360" cy="274320"/>
          </a:xfrm>
          <a:prstGeom prst="rect">
            <a:avLst/>
          </a:prstGeom>
          <a:noFill/>
        </p:spPr>
        <p:txBody>
          <a:bodyPr wrap="square" anchor="t" lIns="0" rIns="0" tIns="0" bIns="0">
            <a:spAutoFit/>
          </a:bodyPr>
          <a:lstStyle/>
          <a:p>
            <a:pPr algn="l">
              <a:lnSpc>
                <a:spcPct val="110000"/>
              </a:lnSpc>
              <a:spcAft>
                <a:spcPts val="300"/>
              </a:spcAft>
            </a:pPr>
            <a:r>
              <a:rPr sz="1150" b="0" i="1">
                <a:solidFill>
                  <a:srgbClr val="FFFFFF"/>
                </a:solidFill>
                <a:latin typeface="Times New Roman"/>
              </a:rPr>
              <a:t>Practical · 6 h</a:t>
            </a:r>
          </a:p>
        </p:txBody>
      </p:sp>
      <p:pic>
        <p:nvPicPr>
          <p:cNvPr id="37" name="Picture 36" descr="key_FFFFFF.png"/>
          <p:cNvPicPr>
            <a:picLocks noChangeAspect="1"/>
          </p:cNvPicPr>
          <p:nvPr/>
        </p:nvPicPr>
        <p:blipFill>
          <a:blip r:embed="rId6"/>
          <a:stretch>
            <a:fillRect/>
          </a:stretch>
        </p:blipFill>
        <p:spPr>
          <a:xfrm>
            <a:off x="10945367" y="1773936"/>
            <a:ext cx="438912" cy="438912"/>
          </a:xfrm>
          <a:prstGeom prst="rect">
            <a:avLst/>
          </a:prstGeom>
        </p:spPr>
      </p:pic>
      <p:sp>
        <p:nvSpPr>
          <p:cNvPr id="38" name="TextBox 37"/>
          <p:cNvSpPr txBox="1"/>
          <p:nvPr/>
        </p:nvSpPr>
        <p:spPr>
          <a:xfrm>
            <a:off x="9116567" y="2468880"/>
            <a:ext cx="2286000" cy="274320"/>
          </a:xfrm>
          <a:prstGeom prst="rect">
            <a:avLst/>
          </a:prstGeom>
          <a:noFill/>
        </p:spPr>
        <p:txBody>
          <a:bodyPr wrap="square" anchor="t" lIns="0" rIns="0" tIns="0" bIns="0">
            <a:spAutoFit/>
          </a:bodyPr>
          <a:lstStyle/>
          <a:p>
            <a:pPr algn="l">
              <a:lnSpc>
                <a:spcPct val="110000"/>
              </a:lnSpc>
              <a:spcAft>
                <a:spcPts val="300"/>
              </a:spcAft>
            </a:pPr>
            <a:r>
              <a:rPr sz="1150" b="1" i="0">
                <a:solidFill>
                  <a:srgbClr val="54647A"/>
                </a:solidFill>
                <a:latin typeface="Times New Roman"/>
              </a:rPr>
              <a:t>Learning questions:</a:t>
            </a:r>
          </a:p>
        </p:txBody>
      </p:sp>
      <p:sp>
        <p:nvSpPr>
          <p:cNvPr id="39" name="TextBox 38"/>
          <p:cNvSpPr txBox="1"/>
          <p:nvPr/>
        </p:nvSpPr>
        <p:spPr>
          <a:xfrm>
            <a:off x="9116567" y="2743200"/>
            <a:ext cx="2286000" cy="1737360"/>
          </a:xfrm>
          <a:prstGeom prst="rect">
            <a:avLst/>
          </a:prstGeom>
          <a:noFill/>
        </p:spPr>
        <p:txBody>
          <a:bodyPr wrap="square" anchor="t" lIns="0" rIns="0" tIns="0" bIns="0">
            <a:spAutoFit/>
          </a:bodyPr>
          <a:lstStyle/>
          <a:p>
            <a:pPr algn="l">
              <a:lnSpc>
                <a:spcPct val="110000"/>
              </a:lnSpc>
              <a:spcAft>
                <a:spcPts val="600"/>
              </a:spcAft>
            </a:pPr>
            <a:r>
              <a:rPr sz="1300" b="1">
                <a:solidFill>
                  <a:srgbClr val="178A73"/>
                </a:solidFill>
                <a:latin typeface="Times New Roman"/>
              </a:rPr>
              <a:t>▸  </a:t>
            </a:r>
            <a:r>
              <a:rPr sz="1300" b="0" i="0">
                <a:solidFill>
                  <a:srgbClr val="202A38"/>
                </a:solidFill>
                <a:latin typeface="Times New Roman"/>
              </a:rPr>
              <a:t>Managing permissions</a:t>
            </a:r>
          </a:p>
          <a:p>
            <a:pPr algn="l">
              <a:lnSpc>
                <a:spcPct val="110000"/>
              </a:lnSpc>
              <a:spcAft>
                <a:spcPts val="600"/>
              </a:spcAft>
            </a:pPr>
            <a:r>
              <a:rPr sz="1300" b="1">
                <a:solidFill>
                  <a:srgbClr val="178A73"/>
                </a:solidFill>
                <a:latin typeface="Times New Roman"/>
              </a:rPr>
              <a:t>▸  </a:t>
            </a:r>
            <a:r>
              <a:rPr sz="1300" b="0" i="0">
                <a:solidFill>
                  <a:srgbClr val="202A38"/>
                </a:solidFill>
                <a:latin typeface="Times New Roman"/>
              </a:rPr>
              <a:t>LinPEAS scripts</a:t>
            </a:r>
          </a:p>
        </p:txBody>
      </p:sp>
      <p:sp>
        <p:nvSpPr>
          <p:cNvPr id="40" name="TextBox 39"/>
          <p:cNvSpPr txBox="1"/>
          <p:nvPr/>
        </p:nvSpPr>
        <p:spPr>
          <a:xfrm>
            <a:off x="566928" y="4800600"/>
            <a:ext cx="548640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1F3864"/>
                </a:solidFill>
                <a:latin typeface="Times New Roman"/>
              </a:rPr>
              <a:t>Distribution of the topic’s hours</a:t>
            </a:r>
          </a:p>
        </p:txBody>
      </p:sp>
      <p:sp>
        <p:nvSpPr>
          <p:cNvPr id="41" name="Rounded Rectangle 40"/>
          <p:cNvSpPr/>
          <p:nvPr/>
        </p:nvSpPr>
        <p:spPr>
          <a:xfrm>
            <a:off x="566928" y="5120640"/>
            <a:ext cx="2454656" cy="411480"/>
          </a:xfrm>
          <a:prstGeom prst="roundRect">
            <a:avLst>
              <a:gd name="adj" fmla="val 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i="0">
                <a:solidFill>
                  <a:srgbClr val="FFFFFF"/>
                </a:solidFill>
                <a:latin typeface="Times New Roman"/>
              </a:rPr>
              <a:t>Lesson 1 · 4 h</a:t>
            </a:r>
          </a:p>
        </p:txBody>
      </p:sp>
      <p:sp>
        <p:nvSpPr>
          <p:cNvPr id="42" name="Rounded Rectangle 41"/>
          <p:cNvSpPr/>
          <p:nvPr/>
        </p:nvSpPr>
        <p:spPr>
          <a:xfrm>
            <a:off x="3021584" y="5120640"/>
            <a:ext cx="2454656" cy="411480"/>
          </a:xfrm>
          <a:prstGeom prst="roundRect">
            <a:avLst>
              <a:gd name="adj" fmla="val 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i="0">
                <a:solidFill>
                  <a:srgbClr val="FFFFFF"/>
                </a:solidFill>
                <a:latin typeface="Times New Roman"/>
              </a:rPr>
              <a:t>Lesson 2 · 4 h</a:t>
            </a:r>
          </a:p>
        </p:txBody>
      </p:sp>
      <p:sp>
        <p:nvSpPr>
          <p:cNvPr id="43" name="Rounded Rectangle 42"/>
          <p:cNvSpPr/>
          <p:nvPr/>
        </p:nvSpPr>
        <p:spPr>
          <a:xfrm>
            <a:off x="5476240" y="5120640"/>
            <a:ext cx="2454656" cy="411480"/>
          </a:xfrm>
          <a:prstGeom prst="roundRect">
            <a:avLst>
              <a:gd name="adj" fmla="val 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i="0">
                <a:solidFill>
                  <a:srgbClr val="FFFFFF"/>
                </a:solidFill>
                <a:latin typeface="Times New Roman"/>
              </a:rPr>
              <a:t>Lesson 3 · 4 h</a:t>
            </a:r>
          </a:p>
        </p:txBody>
      </p:sp>
      <p:sp>
        <p:nvSpPr>
          <p:cNvPr id="44" name="Rounded Rectangle 43"/>
          <p:cNvSpPr/>
          <p:nvPr/>
        </p:nvSpPr>
        <p:spPr>
          <a:xfrm>
            <a:off x="7930896" y="5120640"/>
            <a:ext cx="3681984" cy="411480"/>
          </a:xfrm>
          <a:prstGeom prst="roundRect">
            <a:avLst>
              <a:gd name="adj" fmla="val 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i="0">
                <a:solidFill>
                  <a:srgbClr val="FFFFFF"/>
                </a:solidFill>
                <a:latin typeface="Times New Roman"/>
              </a:rPr>
              <a:t>Lesson 4 · 6 h</a:t>
            </a:r>
          </a:p>
        </p:txBody>
      </p:sp>
      <p:sp>
        <p:nvSpPr>
          <p:cNvPr id="45" name="Rounded Rectangle 44"/>
          <p:cNvSpPr/>
          <p:nvPr/>
        </p:nvSpPr>
        <p:spPr>
          <a:xfrm>
            <a:off x="566928" y="5669280"/>
            <a:ext cx="11045952" cy="621792"/>
          </a:xfrm>
          <a:prstGeom prst="roundRect">
            <a:avLst>
              <a:gd name="adj" fmla="val 8000"/>
            </a:avLst>
          </a:prstGeom>
          <a:solidFill>
            <a:srgbClr val="E3F3EE"/>
          </a:solidFill>
          <a:ln w="15875">
            <a:solidFill>
              <a:srgbClr val="178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check_178A73.png"/>
          <p:cNvPicPr>
            <a:picLocks noChangeAspect="1"/>
          </p:cNvPicPr>
          <p:nvPr/>
        </p:nvPicPr>
        <p:blipFill>
          <a:blip r:embed="rId7"/>
          <a:stretch>
            <a:fillRect/>
          </a:stretch>
        </p:blipFill>
        <p:spPr>
          <a:xfrm>
            <a:off x="694944" y="5815584"/>
            <a:ext cx="329184" cy="329184"/>
          </a:xfrm>
          <a:prstGeom prst="rect">
            <a:avLst/>
          </a:prstGeom>
        </p:spPr>
      </p:pic>
      <p:sp>
        <p:nvSpPr>
          <p:cNvPr id="47" name="TextBox 46"/>
          <p:cNvSpPr txBox="1"/>
          <p:nvPr/>
        </p:nvSpPr>
        <p:spPr>
          <a:xfrm>
            <a:off x="1133856" y="5669280"/>
            <a:ext cx="10360152" cy="621792"/>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Each lesson builds on the previous one: </a:t>
            </a:r>
            <a:r>
              <a:rPr sz="1250" b="1" i="0">
                <a:solidFill>
                  <a:srgbClr val="1F3864"/>
                </a:solidFill>
                <a:latin typeface="Times New Roman"/>
              </a:rPr>
              <a:t>files → terminal → network → permissions</a:t>
            </a:r>
            <a:r>
              <a:rPr sz="1250" b="0" i="0">
                <a:solidFill>
                  <a:srgbClr val="202A38"/>
                </a:solidFill>
                <a:latin typeface="Times New Roman"/>
              </a:rPr>
              <a:t>. No topic is taught twice.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TOPIC 2 MAP</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What is studied in each lesson?</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4</a:t>
            </a:r>
          </a:p>
        </p:txBody>
      </p:sp>
      <p:graphicFrame>
        <p:nvGraphicFramePr>
          <p:cNvPr id="8" name="Table 7"/>
          <p:cNvGraphicFramePr>
            <a:graphicFrameLocks noGrp="1"/>
          </p:cNvGraphicFramePr>
          <p:nvPr/>
        </p:nvGraphicFramePr>
        <p:xfrm>
          <a:off x="566928" y="1600200"/>
          <a:ext cx="11045950" cy="3886200"/>
        </p:xfrm>
        <a:graphic>
          <a:graphicData uri="http://schemas.openxmlformats.org/drawingml/2006/table">
            <a:tbl>
              <a:tblPr firstRow="1" bandRow="1">
                <a:tableStyleId>{5940675A-B579-460E-94D1-54222C63F5DA}</a:tableStyleId>
              </a:tblPr>
              <a:tblGrid>
                <a:gridCol w="1369332"/>
                <a:gridCol w="6116353"/>
                <a:gridCol w="3560265"/>
              </a:tblGrid>
              <a:tr h="777240">
                <a:tc>
                  <a:txBody>
                    <a:bodyPr wrap="square"/>
                    <a:lstStyle/>
                    <a:p>
                      <a:pPr algn="l"/>
                      <a:r>
                        <a:rPr sz="1200" b="1" i="0">
                          <a:solidFill>
                            <a:srgbClr val="FFFFFF"/>
                          </a:solidFill>
                          <a:latin typeface="Times New Roman"/>
                        </a:rPr>
                        <a:t>Lesson</a:t>
                      </a:r>
                    </a:p>
                  </a:txBody>
                  <a:tcPr marL="63500" marR="63500" marT="25400" marB="25400" anchor="ctr">
                    <a:solidFill>
                      <a:srgbClr val="1F3864"/>
                    </a:solidFill>
                  </a:tcPr>
                </a:tc>
                <a:tc>
                  <a:txBody>
                    <a:bodyPr wrap="square"/>
                    <a:lstStyle/>
                    <a:p>
                      <a:pPr algn="l"/>
                      <a:r>
                        <a:rPr sz="1200" b="1" i="0">
                          <a:solidFill>
                            <a:srgbClr val="FFFFFF"/>
                          </a:solidFill>
                          <a:latin typeface="Times New Roman"/>
                        </a:rPr>
                        <a:t>Content (main commands and concepts)</a:t>
                      </a:r>
                    </a:p>
                  </a:txBody>
                  <a:tcPr marL="63500" marR="63500" marT="25400" marB="25400" anchor="ctr">
                    <a:solidFill>
                      <a:srgbClr val="1F3864"/>
                    </a:solidFill>
                  </a:tcPr>
                </a:tc>
                <a:tc>
                  <a:txBody>
                    <a:bodyPr wrap="square"/>
                    <a:lstStyle/>
                    <a:p>
                      <a:pPr algn="l"/>
                      <a:r>
                        <a:rPr sz="1200" b="1" i="0">
                          <a:solidFill>
                            <a:srgbClr val="FFFFFF"/>
                          </a:solidFill>
                          <a:latin typeface="Times New Roman"/>
                        </a:rPr>
                        <a:t>What the student can do</a:t>
                      </a:r>
                    </a:p>
                  </a:txBody>
                  <a:tcPr marL="63500" marR="63500" marT="25400" marB="25400" anchor="ctr">
                    <a:solidFill>
                      <a:srgbClr val="1F3864"/>
                    </a:solidFill>
                  </a:tcPr>
                </a:tc>
              </a:tr>
              <a:tr h="777240">
                <a:tc>
                  <a:txBody>
                    <a:bodyPr wrap="square"/>
                    <a:lstStyle/>
                    <a:p>
                      <a:pPr algn="l"/>
                      <a:r>
                        <a:rPr sz="1150" b="1" i="0">
                          <a:solidFill>
                            <a:srgbClr val="202A38"/>
                          </a:solidFill>
                          <a:latin typeface="Times New Roman"/>
                        </a:rPr>
                        <a:t>Lesson 1</a:t>
                      </a:r>
                    </a:p>
                  </a:txBody>
                  <a:tcPr marL="63500" marR="63500" marT="25400" marB="25400" anchor="ctr">
                    <a:solidFill>
                      <a:srgbClr val="FFFFFF"/>
                    </a:solidFill>
                  </a:tcPr>
                </a:tc>
                <a:tc>
                  <a:txBody>
                    <a:bodyPr wrap="square"/>
                    <a:lstStyle/>
                    <a:p>
                      <a:pPr algn="l"/>
                      <a:r>
                        <a:rPr sz="1150" b="0" i="0">
                          <a:solidFill>
                            <a:srgbClr val="202A38"/>
                          </a:solidFill>
                          <a:latin typeface="Times New Roman"/>
                        </a:rPr>
                        <a:t>Linux history, kernel and distribution, distribution families, Kali environment, system info; FHS directory layout, paths, </a:t>
                      </a:r>
                      <a:r>
                        <a:rPr sz="1100" b="1" i="0">
                          <a:solidFill>
                            <a:srgbClr val="178A73"/>
                          </a:solidFill>
                          <a:latin typeface="Consolas"/>
                        </a:rPr>
                        <a:t>ls</a:t>
                      </a:r>
                      <a:r>
                        <a:rPr sz="1150" b="0" i="0">
                          <a:solidFill>
                            <a:srgbClr val="202A38"/>
                          </a:solidFill>
                          <a:latin typeface="Times New Roman"/>
                        </a:rPr>
                        <a:t> </a:t>
                      </a:r>
                      <a:r>
                        <a:rPr sz="1100" b="1" i="0">
                          <a:solidFill>
                            <a:srgbClr val="178A73"/>
                          </a:solidFill>
                          <a:latin typeface="Consolas"/>
                        </a:rPr>
                        <a:t>cd</a:t>
                      </a:r>
                      <a:r>
                        <a:rPr sz="1150" b="0" i="0">
                          <a:solidFill>
                            <a:srgbClr val="202A38"/>
                          </a:solidFill>
                          <a:latin typeface="Times New Roman"/>
                        </a:rPr>
                        <a:t> </a:t>
                      </a:r>
                      <a:r>
                        <a:rPr sz="1100" b="1" i="0">
                          <a:solidFill>
                            <a:srgbClr val="178A73"/>
                          </a:solidFill>
                          <a:latin typeface="Consolas"/>
                        </a:rPr>
                        <a:t>mkdir</a:t>
                      </a:r>
                      <a:r>
                        <a:rPr sz="1150" b="0" i="0">
                          <a:solidFill>
                            <a:srgbClr val="202A38"/>
                          </a:solidFill>
                          <a:latin typeface="Times New Roman"/>
                        </a:rPr>
                        <a:t> </a:t>
                      </a:r>
                      <a:r>
                        <a:rPr sz="1100" b="1" i="0">
                          <a:solidFill>
                            <a:srgbClr val="178A73"/>
                          </a:solidFill>
                          <a:latin typeface="Consolas"/>
                        </a:rPr>
                        <a:t>cp</a:t>
                      </a:r>
                      <a:r>
                        <a:rPr sz="1150" b="0" i="0">
                          <a:solidFill>
                            <a:srgbClr val="202A38"/>
                          </a:solidFill>
                          <a:latin typeface="Times New Roman"/>
                        </a:rPr>
                        <a:t> </a:t>
                      </a:r>
                      <a:r>
                        <a:rPr sz="1100" b="1" i="0">
                          <a:solidFill>
                            <a:srgbClr val="178A73"/>
                          </a:solidFill>
                          <a:latin typeface="Consolas"/>
                        </a:rPr>
                        <a:t>mv</a:t>
                      </a:r>
                      <a:r>
                        <a:rPr sz="1150" b="0" i="0">
                          <a:solidFill>
                            <a:srgbClr val="202A38"/>
                          </a:solidFill>
                          <a:latin typeface="Times New Roman"/>
                        </a:rPr>
                        <a:t> </a:t>
                      </a:r>
                      <a:r>
                        <a:rPr sz="1100" b="1" i="0">
                          <a:solidFill>
                            <a:srgbClr val="178A73"/>
                          </a:solidFill>
                          <a:latin typeface="Consolas"/>
                        </a:rPr>
                        <a:t>rm</a:t>
                      </a:r>
                      <a:r>
                        <a:rPr sz="1150" b="0" i="0">
                          <a:solidFill>
                            <a:srgbClr val="202A38"/>
                          </a:solidFill>
                          <a:latin typeface="Times New Roman"/>
                        </a:rPr>
                        <a:t>, </a:t>
                      </a:r>
                      <a:r>
                        <a:rPr sz="1100" b="1" i="0">
                          <a:solidFill>
                            <a:srgbClr val="178A73"/>
                          </a:solidFill>
                          <a:latin typeface="Consolas"/>
                        </a:rPr>
                        <a:t>cat</a:t>
                      </a:r>
                      <a:r>
                        <a:rPr sz="1150" b="0" i="0">
                          <a:solidFill>
                            <a:srgbClr val="202A38"/>
                          </a:solidFill>
                          <a:latin typeface="Times New Roman"/>
                        </a:rPr>
                        <a:t> </a:t>
                      </a:r>
                      <a:r>
                        <a:rPr sz="1100" b="1" i="0">
                          <a:solidFill>
                            <a:srgbClr val="178A73"/>
                          </a:solidFill>
                          <a:latin typeface="Consolas"/>
                        </a:rPr>
                        <a:t>less</a:t>
                      </a:r>
                      <a:r>
                        <a:rPr sz="1150" b="0" i="0">
                          <a:solidFill>
                            <a:srgbClr val="202A38"/>
                          </a:solidFill>
                          <a:latin typeface="Times New Roman"/>
                        </a:rPr>
                        <a:t> </a:t>
                      </a:r>
                      <a:r>
                        <a:rPr sz="1100" b="1" i="0">
                          <a:solidFill>
                            <a:srgbClr val="178A73"/>
                          </a:solidFill>
                          <a:latin typeface="Consolas"/>
                        </a:rPr>
                        <a:t>tail</a:t>
                      </a:r>
                      <a:r>
                        <a:rPr sz="1150" b="0" i="0">
                          <a:solidFill>
                            <a:srgbClr val="202A38"/>
                          </a:solidFill>
                          <a:latin typeface="Times New Roman"/>
                        </a:rPr>
                        <a:t>, </a:t>
                      </a:r>
                      <a:r>
                        <a:rPr sz="1100" b="1" i="0">
                          <a:solidFill>
                            <a:srgbClr val="178A73"/>
                          </a:solidFill>
                          <a:latin typeface="Consolas"/>
                        </a:rPr>
                        <a:t>nano</a:t>
                      </a:r>
                      <a:r>
                        <a:rPr sz="1150" b="0" i="0">
                          <a:solidFill>
                            <a:srgbClr val="202A38"/>
                          </a:solidFill>
                          <a:latin typeface="Times New Roman"/>
                        </a:rPr>
                        <a:t>, </a:t>
                      </a:r>
                      <a:r>
                        <a:rPr sz="1100" b="1" i="0">
                          <a:solidFill>
                            <a:srgbClr val="178A73"/>
                          </a:solidFill>
                          <a:latin typeface="Consolas"/>
                        </a:rPr>
                        <a:t>file</a:t>
                      </a:r>
                      <a:r>
                        <a:rPr sz="1150" b="0" i="0">
                          <a:solidFill>
                            <a:srgbClr val="202A38"/>
                          </a:solidFill>
                          <a:latin typeface="Times New Roman"/>
                        </a:rPr>
                        <a:t> </a:t>
                      </a:r>
                      <a:r>
                        <a:rPr sz="1100" b="1" i="0">
                          <a:solidFill>
                            <a:srgbClr val="178A73"/>
                          </a:solidFill>
                          <a:latin typeface="Consolas"/>
                        </a:rPr>
                        <a:t>stat</a:t>
                      </a:r>
                      <a:r>
                        <a:rPr sz="1150" b="0" i="0">
                          <a:solidFill>
                            <a:srgbClr val="202A38"/>
                          </a:solidFill>
                          <a:latin typeface="Times New Roman"/>
                        </a:rPr>
                        <a:t>, </a:t>
                      </a:r>
                      <a:r>
                        <a:rPr sz="1100" b="1" i="0">
                          <a:solidFill>
                            <a:srgbClr val="178A73"/>
                          </a:solidFill>
                          <a:latin typeface="Consolas"/>
                        </a:rPr>
                        <a:t>find</a:t>
                      </a:r>
                      <a:r>
                        <a:rPr sz="1150" b="0" i="0">
                          <a:solidFill>
                            <a:srgbClr val="202A38"/>
                          </a:solidFill>
                          <a:latin typeface="Times New Roman"/>
                        </a:rPr>
                        <a:t>, links, </a:t>
                      </a:r>
                      <a:r>
                        <a:rPr sz="1100" b="1" i="0">
                          <a:solidFill>
                            <a:srgbClr val="178A73"/>
                          </a:solidFill>
                          <a:latin typeface="Consolas"/>
                        </a:rPr>
                        <a:t>tar</a:t>
                      </a:r>
                      <a:r>
                        <a:rPr sz="1150" b="0" i="0">
                          <a:solidFill>
                            <a:srgbClr val="202A38"/>
                          </a:solidFill>
                          <a:latin typeface="Times New Roman"/>
                        </a:rPr>
                        <a:t> </a:t>
                      </a:r>
                      <a:r>
                        <a:rPr sz="1100" b="1" i="0">
                          <a:solidFill>
                            <a:srgbClr val="178A73"/>
                          </a:solidFill>
                          <a:latin typeface="Consolas"/>
                        </a:rPr>
                        <a:t>zip</a:t>
                      </a:r>
                    </a:p>
                  </a:txBody>
                  <a:tcPr marL="63500" marR="63500" marT="25400" marB="25400" anchor="ctr">
                    <a:solidFill>
                      <a:srgbClr val="FFFFFF"/>
                    </a:solidFill>
                  </a:tcPr>
                </a:tc>
                <a:tc>
                  <a:txBody>
                    <a:bodyPr wrap="square"/>
                    <a:lstStyle/>
                    <a:p>
                      <a:pPr algn="l"/>
                      <a:r>
                        <a:rPr sz="1150" b="0" i="0">
                          <a:solidFill>
                            <a:srgbClr val="202A38"/>
                          </a:solidFill>
                          <a:latin typeface="Times New Roman"/>
                        </a:rPr>
                        <a:t>Moves freely in the file system, creates, copies and searches files and determines their real type</a:t>
                      </a:r>
                    </a:p>
                  </a:txBody>
                  <a:tcPr marL="63500" marR="63500" marT="25400" marB="25400" anchor="ctr">
                    <a:solidFill>
                      <a:srgbClr val="FFFFFF"/>
                    </a:solidFill>
                  </a:tcPr>
                </a:tc>
              </a:tr>
              <a:tr h="777240">
                <a:tc>
                  <a:txBody>
                    <a:bodyPr wrap="square"/>
                    <a:lstStyle/>
                    <a:p>
                      <a:pPr algn="l"/>
                      <a:r>
                        <a:rPr sz="1150" b="1" i="0">
                          <a:solidFill>
                            <a:srgbClr val="202A38"/>
                          </a:solidFill>
                          <a:latin typeface="Times New Roman"/>
                        </a:rPr>
                        <a:t>Lesson 2</a:t>
                      </a:r>
                    </a:p>
                  </a:txBody>
                  <a:tcPr marL="63500" marR="63500" marT="25400" marB="25400" anchor="ctr">
                    <a:solidFill>
                      <a:srgbClr val="F5F8FC"/>
                    </a:solidFill>
                  </a:tcPr>
                </a:tc>
                <a:tc>
                  <a:txBody>
                    <a:bodyPr wrap="square"/>
                    <a:lstStyle/>
                    <a:p>
                      <a:pPr algn="l"/>
                      <a:r>
                        <a:rPr sz="1150" b="0" i="0">
                          <a:solidFill>
                            <a:srgbClr val="202A38"/>
                          </a:solidFill>
                          <a:latin typeface="Times New Roman"/>
                        </a:rPr>
                        <a:t>Shell and command syntax, </a:t>
                      </a:r>
                      <a:r>
                        <a:rPr sz="1100" b="1" i="0">
                          <a:solidFill>
                            <a:srgbClr val="178A73"/>
                          </a:solidFill>
                          <a:latin typeface="Consolas"/>
                        </a:rPr>
                        <a:t>man</a:t>
                      </a:r>
                      <a:r>
                        <a:rPr sz="1150" b="0" i="0">
                          <a:solidFill>
                            <a:srgbClr val="202A38"/>
                          </a:solidFill>
                          <a:latin typeface="Times New Roman"/>
                        </a:rPr>
                        <a:t> </a:t>
                      </a:r>
                      <a:r>
                        <a:rPr sz="1100" b="1" i="0">
                          <a:solidFill>
                            <a:srgbClr val="178A73"/>
                          </a:solidFill>
                          <a:latin typeface="Consolas"/>
                        </a:rPr>
                        <a:t>--help</a:t>
                      </a:r>
                      <a:r>
                        <a:rPr sz="1150" b="0" i="0">
                          <a:solidFill>
                            <a:srgbClr val="202A38"/>
                          </a:solidFill>
                          <a:latin typeface="Times New Roman"/>
                        </a:rPr>
                        <a:t>, command history and shortcuts, </a:t>
                      </a:r>
                      <a:r>
                        <a:rPr sz="1100" b="1" i="0">
                          <a:solidFill>
                            <a:srgbClr val="178A73"/>
                          </a:solidFill>
                          <a:latin typeface="Consolas"/>
                        </a:rPr>
                        <a:t>&gt;</a:t>
                      </a:r>
                      <a:r>
                        <a:rPr sz="1150" b="0" i="0">
                          <a:solidFill>
                            <a:srgbClr val="202A38"/>
                          </a:solidFill>
                          <a:latin typeface="Times New Roman"/>
                        </a:rPr>
                        <a:t> </a:t>
                      </a:r>
                      <a:r>
                        <a:rPr sz="1100" b="1" i="0">
                          <a:solidFill>
                            <a:srgbClr val="178A73"/>
                          </a:solidFill>
                          <a:latin typeface="Consolas"/>
                        </a:rPr>
                        <a:t>&gt;&gt;</a:t>
                      </a:r>
                      <a:r>
                        <a:rPr sz="1150" b="0" i="0">
                          <a:solidFill>
                            <a:srgbClr val="202A38"/>
                          </a:solidFill>
                          <a:latin typeface="Times New Roman"/>
                        </a:rPr>
                        <a:t> </a:t>
                      </a:r>
                      <a:r>
                        <a:rPr sz="1100" b="1" i="0">
                          <a:solidFill>
                            <a:srgbClr val="178A73"/>
                          </a:solidFill>
                          <a:latin typeface="Consolas"/>
                        </a:rPr>
                        <a:t>|</a:t>
                      </a:r>
                      <a:r>
                        <a:rPr sz="1150" b="0" i="0">
                          <a:solidFill>
                            <a:srgbClr val="202A38"/>
                          </a:solidFill>
                          <a:latin typeface="Times New Roman"/>
                        </a:rPr>
                        <a:t>, </a:t>
                      </a:r>
                      <a:r>
                        <a:rPr sz="1100" b="1" i="0">
                          <a:solidFill>
                            <a:srgbClr val="178A73"/>
                          </a:solidFill>
                          <a:latin typeface="Consolas"/>
                        </a:rPr>
                        <a:t>grep</a:t>
                      </a:r>
                      <a:r>
                        <a:rPr sz="1150" b="0" i="0">
                          <a:solidFill>
                            <a:srgbClr val="202A38"/>
                          </a:solidFill>
                          <a:latin typeface="Times New Roman"/>
                        </a:rPr>
                        <a:t> </a:t>
                      </a:r>
                      <a:r>
                        <a:rPr sz="1100" b="1" i="0">
                          <a:solidFill>
                            <a:srgbClr val="178A73"/>
                          </a:solidFill>
                          <a:latin typeface="Consolas"/>
                        </a:rPr>
                        <a:t>sort</a:t>
                      </a:r>
                      <a:r>
                        <a:rPr sz="1150" b="0" i="0">
                          <a:solidFill>
                            <a:srgbClr val="202A38"/>
                          </a:solidFill>
                          <a:latin typeface="Times New Roman"/>
                        </a:rPr>
                        <a:t> </a:t>
                      </a:r>
                      <a:r>
                        <a:rPr sz="1100" b="1" i="0">
                          <a:solidFill>
                            <a:srgbClr val="178A73"/>
                          </a:solidFill>
                          <a:latin typeface="Consolas"/>
                        </a:rPr>
                        <a:t>cut</a:t>
                      </a:r>
                      <a:r>
                        <a:rPr sz="1150" b="0" i="0">
                          <a:solidFill>
                            <a:srgbClr val="202A38"/>
                          </a:solidFill>
                          <a:latin typeface="Times New Roman"/>
                        </a:rPr>
                        <a:t> </a:t>
                      </a:r>
                      <a:r>
                        <a:rPr sz="1100" b="1" i="0">
                          <a:solidFill>
                            <a:srgbClr val="178A73"/>
                          </a:solidFill>
                          <a:latin typeface="Consolas"/>
                        </a:rPr>
                        <a:t>wc</a:t>
                      </a:r>
                      <a:r>
                        <a:rPr sz="1150" b="0" i="0">
                          <a:solidFill>
                            <a:srgbClr val="202A38"/>
                          </a:solidFill>
                          <a:latin typeface="Times New Roman"/>
                        </a:rPr>
                        <a:t>, processes (</a:t>
                      </a:r>
                      <a:r>
                        <a:rPr sz="1100" b="1" i="0">
                          <a:solidFill>
                            <a:srgbClr val="178A73"/>
                          </a:solidFill>
                          <a:latin typeface="Consolas"/>
                        </a:rPr>
                        <a:t>ps</a:t>
                      </a:r>
                      <a:r>
                        <a:rPr sz="1150" b="0" i="0">
                          <a:solidFill>
                            <a:srgbClr val="202A38"/>
                          </a:solidFill>
                          <a:latin typeface="Times New Roman"/>
                        </a:rPr>
                        <a:t> </a:t>
                      </a:r>
                      <a:r>
                        <a:rPr sz="1100" b="1" i="0">
                          <a:solidFill>
                            <a:srgbClr val="178A73"/>
                          </a:solidFill>
                          <a:latin typeface="Consolas"/>
                        </a:rPr>
                        <a:t>top</a:t>
                      </a:r>
                      <a:r>
                        <a:rPr sz="1150" b="0" i="0">
                          <a:solidFill>
                            <a:srgbClr val="202A38"/>
                          </a:solidFill>
                          <a:latin typeface="Times New Roman"/>
                        </a:rPr>
                        <a:t> </a:t>
                      </a:r>
                      <a:r>
                        <a:rPr sz="1100" b="1" i="0">
                          <a:solidFill>
                            <a:srgbClr val="178A73"/>
                          </a:solidFill>
                          <a:latin typeface="Consolas"/>
                        </a:rPr>
                        <a:t>kill</a:t>
                      </a:r>
                      <a:r>
                        <a:rPr sz="1150" b="0" i="0">
                          <a:solidFill>
                            <a:srgbClr val="202A38"/>
                          </a:solidFill>
                          <a:latin typeface="Times New Roman"/>
                        </a:rPr>
                        <a:t>), </a:t>
                      </a:r>
                      <a:r>
                        <a:rPr sz="1100" b="1" i="0">
                          <a:solidFill>
                            <a:srgbClr val="178A73"/>
                          </a:solidFill>
                          <a:latin typeface="Consolas"/>
                        </a:rPr>
                        <a:t>apt</a:t>
                      </a:r>
                      <a:r>
                        <a:rPr sz="1150" b="0" i="0">
                          <a:solidFill>
                            <a:srgbClr val="202A38"/>
                          </a:solidFill>
                          <a:latin typeface="Times New Roman"/>
                        </a:rPr>
                        <a:t>, </a:t>
                      </a:r>
                      <a:r>
                        <a:rPr sz="1100" b="1" i="0">
                          <a:solidFill>
                            <a:srgbClr val="178A73"/>
                          </a:solidFill>
                          <a:latin typeface="Consolas"/>
                        </a:rPr>
                        <a:t>systemctl</a:t>
                      </a:r>
                      <a:r>
                        <a:rPr sz="1150" b="0" i="0">
                          <a:solidFill>
                            <a:srgbClr val="202A38"/>
                          </a:solidFill>
                          <a:latin typeface="Times New Roman"/>
                        </a:rPr>
                        <a:t>, environment variables, bash script</a:t>
                      </a:r>
                    </a:p>
                  </a:txBody>
                  <a:tcPr marL="63500" marR="63500" marT="25400" marB="25400" anchor="ctr">
                    <a:solidFill>
                      <a:srgbClr val="F5F8FC"/>
                    </a:solidFill>
                  </a:tcPr>
                </a:tc>
                <a:tc>
                  <a:txBody>
                    <a:bodyPr wrap="square"/>
                    <a:lstStyle/>
                    <a:p>
                      <a:pPr algn="l"/>
                      <a:r>
                        <a:rPr sz="1150" b="0" i="0">
                          <a:solidFill>
                            <a:srgbClr val="202A38"/>
                          </a:solidFill>
                          <a:latin typeface="Times New Roman"/>
                        </a:rPr>
                        <a:t>Combines commands to filter logs, installs software, manages processes and services, writes a simple script</a:t>
                      </a:r>
                    </a:p>
                  </a:txBody>
                  <a:tcPr marL="63500" marR="63500" marT="25400" marB="25400" anchor="ctr">
                    <a:solidFill>
                      <a:srgbClr val="F5F8FC"/>
                    </a:solidFill>
                  </a:tcPr>
                </a:tc>
              </a:tr>
              <a:tr h="777240">
                <a:tc>
                  <a:txBody>
                    <a:bodyPr wrap="square"/>
                    <a:lstStyle/>
                    <a:p>
                      <a:pPr algn="l"/>
                      <a:r>
                        <a:rPr sz="1150" b="1" i="0">
                          <a:solidFill>
                            <a:srgbClr val="202A38"/>
                          </a:solidFill>
                          <a:latin typeface="Times New Roman"/>
                        </a:rPr>
                        <a:t>Lesson 3</a:t>
                      </a:r>
                    </a:p>
                  </a:txBody>
                  <a:tcPr marL="63500" marR="63500" marT="25400" marB="25400" anchor="ctr">
                    <a:solidFill>
                      <a:srgbClr val="FFFFFF"/>
                    </a:solidFill>
                  </a:tcPr>
                </a:tc>
                <a:tc>
                  <a:txBody>
                    <a:bodyPr wrap="square"/>
                    <a:lstStyle/>
                    <a:p>
                      <a:pPr algn="l"/>
                      <a:r>
                        <a:rPr sz="1150" b="0" i="0">
                          <a:solidFill>
                            <a:srgbClr val="202A38"/>
                          </a:solidFill>
                          <a:latin typeface="Times New Roman"/>
                        </a:rPr>
                        <a:t>Network settings (</a:t>
                      </a:r>
                      <a:r>
                        <a:rPr sz="1100" b="1" i="0">
                          <a:solidFill>
                            <a:srgbClr val="178A73"/>
                          </a:solidFill>
                          <a:latin typeface="Consolas"/>
                        </a:rPr>
                        <a:t>ip</a:t>
                      </a:r>
                      <a:r>
                        <a:rPr sz="1150" b="0" i="0">
                          <a:solidFill>
                            <a:srgbClr val="202A38"/>
                          </a:solidFill>
                          <a:latin typeface="Times New Roman"/>
                        </a:rPr>
                        <a:t> </a:t>
                      </a:r>
                      <a:r>
                        <a:rPr sz="1100" b="1" i="0">
                          <a:solidFill>
                            <a:srgbClr val="178A73"/>
                          </a:solidFill>
                          <a:latin typeface="Consolas"/>
                        </a:rPr>
                        <a:t>ss</a:t>
                      </a:r>
                      <a:r>
                        <a:rPr sz="1150" b="0" i="0">
                          <a:solidFill>
                            <a:srgbClr val="202A38"/>
                          </a:solidFill>
                          <a:latin typeface="Times New Roman"/>
                        </a:rPr>
                        <a:t>), passive and active recon, </a:t>
                      </a:r>
                      <a:r>
                        <a:rPr sz="1100" b="1" i="0">
                          <a:solidFill>
                            <a:srgbClr val="178A73"/>
                          </a:solidFill>
                          <a:latin typeface="Consolas"/>
                        </a:rPr>
                        <a:t>whois</a:t>
                      </a:r>
                      <a:r>
                        <a:rPr sz="1150" b="0" i="0">
                          <a:solidFill>
                            <a:srgbClr val="202A38"/>
                          </a:solidFill>
                          <a:latin typeface="Times New Roman"/>
                        </a:rPr>
                        <a:t>, </a:t>
                      </a:r>
                      <a:r>
                        <a:rPr sz="1100" b="1" i="0">
                          <a:solidFill>
                            <a:srgbClr val="178A73"/>
                          </a:solidFill>
                          <a:latin typeface="Consolas"/>
                        </a:rPr>
                        <a:t>dig</a:t>
                      </a:r>
                      <a:r>
                        <a:rPr sz="1150" b="0" i="0">
                          <a:solidFill>
                            <a:srgbClr val="202A38"/>
                          </a:solidFill>
                          <a:latin typeface="Times New Roman"/>
                        </a:rPr>
                        <a:t>, </a:t>
                      </a:r>
                      <a:r>
                        <a:rPr sz="1100" b="1" i="0">
                          <a:solidFill>
                            <a:srgbClr val="178A73"/>
                          </a:solidFill>
                          <a:latin typeface="Consolas"/>
                        </a:rPr>
                        <a:t>traceroute</a:t>
                      </a:r>
                      <a:r>
                        <a:rPr sz="1150" b="0" i="0">
                          <a:solidFill>
                            <a:srgbClr val="202A38"/>
                          </a:solidFill>
                          <a:latin typeface="Times New Roman"/>
                        </a:rPr>
                        <a:t>, </a:t>
                      </a:r>
                      <a:r>
                        <a:rPr sz="1100" b="1" i="0">
                          <a:solidFill>
                            <a:srgbClr val="178A73"/>
                          </a:solidFill>
                          <a:latin typeface="Consolas"/>
                        </a:rPr>
                        <a:t>nmap</a:t>
                      </a:r>
                      <a:r>
                        <a:rPr sz="1150" b="0" i="0">
                          <a:solidFill>
                            <a:srgbClr val="202A38"/>
                          </a:solidFill>
                          <a:latin typeface="Times New Roman"/>
                        </a:rPr>
                        <a:t> (hosts, ports, versions), </a:t>
                      </a:r>
                      <a:r>
                        <a:rPr sz="1100" b="1" i="0">
                          <a:solidFill>
                            <a:srgbClr val="178A73"/>
                          </a:solidFill>
                          <a:latin typeface="Consolas"/>
                        </a:rPr>
                        <a:t>netcat</a:t>
                      </a:r>
                    </a:p>
                  </a:txBody>
                  <a:tcPr marL="63500" marR="63500" marT="25400" marB="25400" anchor="ctr">
                    <a:solidFill>
                      <a:srgbClr val="FFFFFF"/>
                    </a:solidFill>
                  </a:tcPr>
                </a:tc>
                <a:tc>
                  <a:txBody>
                    <a:bodyPr wrap="square"/>
                    <a:lstStyle/>
                    <a:p>
                      <a:pPr algn="l"/>
                      <a:r>
                        <a:rPr sz="1150" b="0" i="0">
                          <a:solidFill>
                            <a:srgbClr val="202A38"/>
                          </a:solidFill>
                          <a:latin typeface="Times New Roman"/>
                        </a:rPr>
                        <a:t>Identifies hosts and open ports in the lab network, interprets the results</a:t>
                      </a:r>
                    </a:p>
                  </a:txBody>
                  <a:tcPr marL="63500" marR="63500" marT="25400" marB="25400" anchor="ctr">
                    <a:solidFill>
                      <a:srgbClr val="FFFFFF"/>
                    </a:solidFill>
                  </a:tcPr>
                </a:tc>
              </a:tr>
              <a:tr h="777240">
                <a:tc>
                  <a:txBody>
                    <a:bodyPr wrap="square"/>
                    <a:lstStyle/>
                    <a:p>
                      <a:pPr algn="l"/>
                      <a:r>
                        <a:rPr sz="1150" b="1" i="0">
                          <a:solidFill>
                            <a:srgbClr val="202A38"/>
                          </a:solidFill>
                          <a:latin typeface="Times New Roman"/>
                        </a:rPr>
                        <a:t>Lesson 4</a:t>
                      </a:r>
                    </a:p>
                  </a:txBody>
                  <a:tcPr marL="63500" marR="63500" marT="25400" marB="25400" anchor="ctr">
                    <a:solidFill>
                      <a:srgbClr val="F5F8FC"/>
                    </a:solidFill>
                  </a:tcPr>
                </a:tc>
                <a:tc>
                  <a:txBody>
                    <a:bodyPr wrap="square"/>
                    <a:lstStyle/>
                    <a:p>
                      <a:pPr algn="l"/>
                      <a:r>
                        <a:rPr sz="1150" b="0" i="0">
                          <a:solidFill>
                            <a:srgbClr val="202A38"/>
                          </a:solidFill>
                          <a:latin typeface="Times New Roman"/>
                        </a:rPr>
                        <a:t>Users and groups, </a:t>
                      </a:r>
                      <a:r>
                        <a:rPr sz="1100" b="1" i="0">
                          <a:solidFill>
                            <a:srgbClr val="178A73"/>
                          </a:solidFill>
                          <a:latin typeface="Consolas"/>
                        </a:rPr>
                        <a:t>/etc/passwd</a:t>
                      </a:r>
                      <a:r>
                        <a:rPr sz="1150" b="0" i="0">
                          <a:solidFill>
                            <a:srgbClr val="202A38"/>
                          </a:solidFill>
                          <a:latin typeface="Times New Roman"/>
                        </a:rPr>
                        <a:t> </a:t>
                      </a:r>
                      <a:r>
                        <a:rPr sz="1100" b="1" i="0">
                          <a:solidFill>
                            <a:srgbClr val="178A73"/>
                          </a:solidFill>
                          <a:latin typeface="Consolas"/>
                        </a:rPr>
                        <a:t>/etc/shadow</a:t>
                      </a:r>
                      <a:r>
                        <a:rPr sz="1150" b="0" i="0">
                          <a:solidFill>
                            <a:srgbClr val="202A38"/>
                          </a:solidFill>
                          <a:latin typeface="Times New Roman"/>
                        </a:rPr>
                        <a:t>, </a:t>
                      </a:r>
                      <a:r>
                        <a:rPr sz="1100" b="1" i="0">
                          <a:solidFill>
                            <a:srgbClr val="178A73"/>
                          </a:solidFill>
                          <a:latin typeface="Consolas"/>
                        </a:rPr>
                        <a:t>sudo</a:t>
                      </a:r>
                      <a:r>
                        <a:rPr sz="1150" b="0" i="0">
                          <a:solidFill>
                            <a:srgbClr val="202A38"/>
                          </a:solidFill>
                          <a:latin typeface="Times New Roman"/>
                        </a:rPr>
                        <a:t>, </a:t>
                      </a:r>
                      <a:r>
                        <a:rPr sz="1100" b="1" i="0">
                          <a:solidFill>
                            <a:srgbClr val="178A73"/>
                          </a:solidFill>
                          <a:latin typeface="Consolas"/>
                        </a:rPr>
                        <a:t>rwx</a:t>
                      </a:r>
                      <a:r>
                        <a:rPr sz="1150" b="0" i="0">
                          <a:solidFill>
                            <a:srgbClr val="202A38"/>
                          </a:solidFill>
                          <a:latin typeface="Times New Roman"/>
                        </a:rPr>
                        <a:t> permissions, </a:t>
                      </a:r>
                      <a:r>
                        <a:rPr sz="1100" b="1" i="0">
                          <a:solidFill>
                            <a:srgbClr val="178A73"/>
                          </a:solidFill>
                          <a:latin typeface="Consolas"/>
                        </a:rPr>
                        <a:t>chmod</a:t>
                      </a:r>
                      <a:r>
                        <a:rPr sz="1150" b="0" i="0">
                          <a:solidFill>
                            <a:srgbClr val="202A38"/>
                          </a:solidFill>
                          <a:latin typeface="Times New Roman"/>
                        </a:rPr>
                        <a:t> </a:t>
                      </a:r>
                      <a:r>
                        <a:rPr sz="1100" b="1" i="0">
                          <a:solidFill>
                            <a:srgbClr val="178A73"/>
                          </a:solidFill>
                          <a:latin typeface="Consolas"/>
                        </a:rPr>
                        <a:t>chown</a:t>
                      </a:r>
                      <a:r>
                        <a:rPr sz="1150" b="0" i="0">
                          <a:solidFill>
                            <a:srgbClr val="202A38"/>
                          </a:solidFill>
                          <a:latin typeface="Times New Roman"/>
                        </a:rPr>
                        <a:t>, SUID/SGID, the concept of privilege escalation, LinPEAS</a:t>
                      </a:r>
                    </a:p>
                  </a:txBody>
                  <a:tcPr marL="63500" marR="63500" marT="25400" marB="25400" anchor="ctr">
                    <a:solidFill>
                      <a:srgbClr val="F5F8FC"/>
                    </a:solidFill>
                  </a:tcPr>
                </a:tc>
                <a:tc>
                  <a:txBody>
                    <a:bodyPr wrap="square"/>
                    <a:lstStyle/>
                    <a:p>
                      <a:pPr algn="l"/>
                      <a:r>
                        <a:rPr sz="1150" b="0" i="0">
                          <a:solidFill>
                            <a:srgbClr val="202A38"/>
                          </a:solidFill>
                          <a:latin typeface="Times New Roman"/>
                        </a:rPr>
                        <a:t>Sets permissions correctly, finds dangerous settings and reads a LinPEAS report</a:t>
                      </a:r>
                    </a:p>
                  </a:txBody>
                  <a:tcPr marL="63500" marR="63500" marT="25400" marB="25400" anchor="ctr">
                    <a:solidFill>
                      <a:srgbClr val="F5F8FC"/>
                    </a:solidFill>
                  </a:tcPr>
                </a:tc>
              </a:tr>
            </a:tbl>
          </a:graphicData>
        </a:graphic>
      </p:graphicFrame>
      <p:sp>
        <p:nvSpPr>
          <p:cNvPr id="9" name="Rounded Rectangle 8"/>
          <p:cNvSpPr/>
          <p:nvPr/>
        </p:nvSpPr>
        <p:spPr>
          <a:xfrm>
            <a:off x="566928" y="5715000"/>
            <a:ext cx="11045952" cy="566928"/>
          </a:xfrm>
          <a:prstGeom prst="roundRect">
            <a:avLst>
              <a:gd name="adj" fmla="val 8000"/>
            </a:avLst>
          </a:prstGeom>
          <a:solidFill>
            <a:srgbClr val="F5F8FC"/>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earch_1F3864.png"/>
          <p:cNvPicPr>
            <a:picLocks noChangeAspect="1"/>
          </p:cNvPicPr>
          <p:nvPr/>
        </p:nvPicPr>
        <p:blipFill>
          <a:blip r:embed="rId3"/>
          <a:stretch>
            <a:fillRect/>
          </a:stretch>
        </p:blipFill>
        <p:spPr>
          <a:xfrm>
            <a:off x="694944" y="5833872"/>
            <a:ext cx="329184" cy="329184"/>
          </a:xfrm>
          <a:prstGeom prst="rect">
            <a:avLst/>
          </a:prstGeom>
        </p:spPr>
      </p:pic>
      <p:sp>
        <p:nvSpPr>
          <p:cNvPr id="11" name="TextBox 10"/>
          <p:cNvSpPr txBox="1"/>
          <p:nvPr/>
        </p:nvSpPr>
        <p:spPr>
          <a:xfrm>
            <a:off x="1133856" y="5715000"/>
            <a:ext cx="10360152" cy="566928"/>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The lessons do not repeat one another: permissions (</a:t>
            </a:r>
            <a:r>
              <a:rPr sz="1200" b="1" i="0">
                <a:solidFill>
                  <a:srgbClr val="178A73"/>
                </a:solidFill>
                <a:latin typeface="Consolas"/>
              </a:rPr>
              <a:t>rwx</a:t>
            </a:r>
            <a:r>
              <a:rPr sz="1250" b="0" i="0">
                <a:solidFill>
                  <a:srgbClr val="202A38"/>
                </a:solidFill>
                <a:latin typeface="Times New Roman"/>
              </a:rPr>
              <a:t>) — in Lesson 4, </a:t>
            </a:r>
            <a:r>
              <a:rPr sz="1200" b="1" i="0">
                <a:solidFill>
                  <a:srgbClr val="178A73"/>
                </a:solidFill>
                <a:latin typeface="Consolas"/>
              </a:rPr>
              <a:t>|</a:t>
            </a:r>
            <a:r>
              <a:rPr sz="1250" b="0" i="0">
                <a:solidFill>
                  <a:srgbClr val="202A38"/>
                </a:solidFill>
                <a:latin typeface="Times New Roman"/>
              </a:rPr>
              <a:t> and </a:t>
            </a:r>
            <a:r>
              <a:rPr sz="1200" b="1" i="0">
                <a:solidFill>
                  <a:srgbClr val="178A73"/>
                </a:solidFill>
                <a:latin typeface="Consolas"/>
              </a:rPr>
              <a:t>grep</a:t>
            </a:r>
            <a:r>
              <a:rPr sz="1250" b="0" i="0">
                <a:solidFill>
                  <a:srgbClr val="202A38"/>
                </a:solidFill>
                <a:latin typeface="Times New Roman"/>
              </a:rPr>
              <a:t> — in Lesson 2, network commands — in Lesson 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SHORT LECTURE · WHAT LINUX IS</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Kernel, GNU and distribution: how Linux is built</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5</a:t>
            </a:r>
          </a:p>
        </p:txBody>
      </p:sp>
      <p:sp>
        <p:nvSpPr>
          <p:cNvPr id="8" name="TextBox 7"/>
          <p:cNvSpPr txBox="1"/>
          <p:nvPr/>
        </p:nvSpPr>
        <p:spPr>
          <a:xfrm>
            <a:off x="566928" y="1554480"/>
            <a:ext cx="5120640" cy="274320"/>
          </a:xfrm>
          <a:prstGeom prst="rect">
            <a:avLst/>
          </a:prstGeom>
          <a:noFill/>
        </p:spPr>
        <p:txBody>
          <a:bodyPr wrap="square" anchor="t" lIns="0" rIns="0" tIns="0" bIns="0">
            <a:spAutoFit/>
          </a:bodyPr>
          <a:lstStyle/>
          <a:p>
            <a:pPr algn="l">
              <a:lnSpc>
                <a:spcPct val="110000"/>
              </a:lnSpc>
              <a:spcAft>
                <a:spcPts val="300"/>
              </a:spcAft>
            </a:pPr>
            <a:r>
              <a:rPr sz="1350" b="1" i="0">
                <a:solidFill>
                  <a:srgbClr val="1F3864"/>
                </a:solidFill>
                <a:latin typeface="Times New Roman"/>
              </a:rPr>
              <a:t>Linux architecture — layers</a:t>
            </a:r>
          </a:p>
        </p:txBody>
      </p:sp>
      <p:sp>
        <p:nvSpPr>
          <p:cNvPr id="9" name="Rounded Rectangle 8"/>
          <p:cNvSpPr/>
          <p:nvPr/>
        </p:nvSpPr>
        <p:spPr>
          <a:xfrm>
            <a:off x="566928" y="1901952"/>
            <a:ext cx="4160520" cy="731520"/>
          </a:xfrm>
          <a:prstGeom prst="roundRect">
            <a:avLst>
              <a:gd name="adj" fmla="val 12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i="0">
                <a:solidFill>
                  <a:srgbClr val="FFFFFF"/>
                </a:solidFill>
                <a:latin typeface="Times New Roman"/>
              </a:rPr>
              <a:t>User programs</a:t>
            </a:r>
          </a:p>
          <a:p>
            <a:pPr algn="ctr"/>
            <a:r>
              <a:rPr sz="1100" b="0" i="0">
                <a:solidFill>
                  <a:srgbClr val="FFFFFF"/>
                </a:solidFill>
                <a:latin typeface="Times New Roman"/>
              </a:rPr>
              <a:t>browser · file manager · nmap · Wireshark</a:t>
            </a:r>
          </a:p>
        </p:txBody>
      </p:sp>
      <p:sp>
        <p:nvSpPr>
          <p:cNvPr id="10" name="TextBox 9"/>
          <p:cNvSpPr txBox="1"/>
          <p:nvPr/>
        </p:nvSpPr>
        <p:spPr>
          <a:xfrm>
            <a:off x="4818888" y="2130552"/>
            <a:ext cx="1097280" cy="274320"/>
          </a:xfrm>
          <a:prstGeom prst="rect">
            <a:avLst/>
          </a:prstGeom>
          <a:noFill/>
        </p:spPr>
        <p:txBody>
          <a:bodyPr wrap="square" anchor="t" lIns="0" rIns="0" tIns="0" bIns="0">
            <a:spAutoFit/>
          </a:bodyPr>
          <a:lstStyle/>
          <a:p>
            <a:pPr algn="l">
              <a:lnSpc>
                <a:spcPct val="110000"/>
              </a:lnSpc>
              <a:spcAft>
                <a:spcPts val="300"/>
              </a:spcAft>
            </a:pPr>
            <a:r>
              <a:rPr sz="1050" b="0" i="1">
                <a:solidFill>
                  <a:srgbClr val="E08E1D"/>
                </a:solidFill>
                <a:latin typeface="Consolas"/>
              </a:rPr>
              <a:t>user space</a:t>
            </a:r>
          </a:p>
        </p:txBody>
      </p:sp>
      <p:sp>
        <p:nvSpPr>
          <p:cNvPr id="11" name="Rounded Rectangle 10"/>
          <p:cNvSpPr/>
          <p:nvPr/>
        </p:nvSpPr>
        <p:spPr>
          <a:xfrm>
            <a:off x="566928" y="2743200"/>
            <a:ext cx="4160520" cy="731520"/>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i="0">
                <a:solidFill>
                  <a:srgbClr val="FFFFFF"/>
                </a:solidFill>
                <a:latin typeface="Times New Roman"/>
              </a:rPr>
              <a:t>Shell and libraries</a:t>
            </a:r>
          </a:p>
          <a:p>
            <a:pPr algn="ctr"/>
            <a:r>
              <a:rPr sz="1100" b="0" i="0">
                <a:solidFill>
                  <a:srgbClr val="FFFFFF"/>
                </a:solidFill>
                <a:latin typeface="Times New Roman"/>
              </a:rPr>
              <a:t>bash / zsh · GNU coreutils (ls, cp, …)</a:t>
            </a:r>
          </a:p>
        </p:txBody>
      </p:sp>
      <p:sp>
        <p:nvSpPr>
          <p:cNvPr id="12" name="TextBox 11"/>
          <p:cNvSpPr txBox="1"/>
          <p:nvPr/>
        </p:nvSpPr>
        <p:spPr>
          <a:xfrm>
            <a:off x="4818888" y="2971800"/>
            <a:ext cx="1097280" cy="274320"/>
          </a:xfrm>
          <a:prstGeom prst="rect">
            <a:avLst/>
          </a:prstGeom>
          <a:noFill/>
        </p:spPr>
        <p:txBody>
          <a:bodyPr wrap="square" anchor="t" lIns="0" rIns="0" tIns="0" bIns="0">
            <a:spAutoFit/>
          </a:bodyPr>
          <a:lstStyle/>
          <a:p>
            <a:pPr algn="l">
              <a:lnSpc>
                <a:spcPct val="110000"/>
              </a:lnSpc>
              <a:spcAft>
                <a:spcPts val="300"/>
              </a:spcAft>
            </a:pPr>
            <a:r>
              <a:rPr sz="1050" b="0" i="1">
                <a:solidFill>
                  <a:srgbClr val="178A73"/>
                </a:solidFill>
                <a:latin typeface="Consolas"/>
              </a:rPr>
              <a:t>user space</a:t>
            </a:r>
          </a:p>
        </p:txBody>
      </p:sp>
      <p:sp>
        <p:nvSpPr>
          <p:cNvPr id="13" name="Rounded Rectangle 12"/>
          <p:cNvSpPr/>
          <p:nvPr/>
        </p:nvSpPr>
        <p:spPr>
          <a:xfrm>
            <a:off x="566928" y="3584448"/>
            <a:ext cx="4160520" cy="731520"/>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i="0">
                <a:solidFill>
                  <a:srgbClr val="FFFFFF"/>
                </a:solidFill>
                <a:latin typeface="Times New Roman"/>
              </a:rPr>
              <a:t>Linux kernel</a:t>
            </a:r>
          </a:p>
          <a:p>
            <a:pPr algn="ctr"/>
            <a:r>
              <a:rPr sz="1100" b="0" i="0">
                <a:solidFill>
                  <a:srgbClr val="FFFFFF"/>
                </a:solidFill>
                <a:latin typeface="Times New Roman"/>
              </a:rPr>
              <a:t>processes · memory · file system · drivers</a:t>
            </a:r>
          </a:p>
        </p:txBody>
      </p:sp>
      <p:sp>
        <p:nvSpPr>
          <p:cNvPr id="14" name="TextBox 13"/>
          <p:cNvSpPr txBox="1"/>
          <p:nvPr/>
        </p:nvSpPr>
        <p:spPr>
          <a:xfrm>
            <a:off x="4818888" y="3813048"/>
            <a:ext cx="1097280" cy="274320"/>
          </a:xfrm>
          <a:prstGeom prst="rect">
            <a:avLst/>
          </a:prstGeom>
          <a:noFill/>
        </p:spPr>
        <p:txBody>
          <a:bodyPr wrap="square" anchor="t" lIns="0" rIns="0" tIns="0" bIns="0">
            <a:spAutoFit/>
          </a:bodyPr>
          <a:lstStyle/>
          <a:p>
            <a:pPr algn="l">
              <a:lnSpc>
                <a:spcPct val="110000"/>
              </a:lnSpc>
              <a:spcAft>
                <a:spcPts val="300"/>
              </a:spcAft>
            </a:pPr>
            <a:r>
              <a:rPr sz="1050" b="0" i="1">
                <a:solidFill>
                  <a:srgbClr val="1F3864"/>
                </a:solidFill>
                <a:latin typeface="Consolas"/>
              </a:rPr>
              <a:t>kernel space</a:t>
            </a:r>
          </a:p>
        </p:txBody>
      </p:sp>
      <p:sp>
        <p:nvSpPr>
          <p:cNvPr id="15" name="Rounded Rectangle 14"/>
          <p:cNvSpPr/>
          <p:nvPr/>
        </p:nvSpPr>
        <p:spPr>
          <a:xfrm>
            <a:off x="566928" y="4425696"/>
            <a:ext cx="4160520" cy="731520"/>
          </a:xfrm>
          <a:prstGeom prst="roundRect">
            <a:avLst>
              <a:gd name="adj" fmla="val 12000"/>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i="0">
                <a:solidFill>
                  <a:srgbClr val="FFFFFF"/>
                </a:solidFill>
                <a:latin typeface="Times New Roman"/>
              </a:rPr>
              <a:t>Hardware</a:t>
            </a:r>
          </a:p>
          <a:p>
            <a:pPr algn="ctr"/>
            <a:r>
              <a:rPr sz="1100" b="0" i="0">
                <a:solidFill>
                  <a:srgbClr val="FFFFFF"/>
                </a:solidFill>
                <a:latin typeface="Times New Roman"/>
              </a:rPr>
              <a:t>processor · memory · disk · network card</a:t>
            </a:r>
          </a:p>
        </p:txBody>
      </p:sp>
      <p:sp>
        <p:nvSpPr>
          <p:cNvPr id="16" name="TextBox 15"/>
          <p:cNvSpPr txBox="1"/>
          <p:nvPr/>
        </p:nvSpPr>
        <p:spPr>
          <a:xfrm>
            <a:off x="4818888" y="4654296"/>
            <a:ext cx="1097280" cy="274320"/>
          </a:xfrm>
          <a:prstGeom prst="rect">
            <a:avLst/>
          </a:prstGeom>
          <a:noFill/>
        </p:spPr>
        <p:txBody>
          <a:bodyPr wrap="square" anchor="t" lIns="0" rIns="0" tIns="0" bIns="0">
            <a:spAutoFit/>
          </a:bodyPr>
          <a:lstStyle/>
          <a:p>
            <a:pPr algn="l">
              <a:lnSpc>
                <a:spcPct val="110000"/>
              </a:lnSpc>
              <a:spcAft>
                <a:spcPts val="300"/>
              </a:spcAft>
            </a:pPr>
            <a:r>
              <a:rPr sz="1050" b="0" i="1">
                <a:solidFill>
                  <a:srgbClr val="54647A"/>
                </a:solidFill>
                <a:latin typeface="Consolas"/>
              </a:rPr>
              <a:t>hardware</a:t>
            </a:r>
          </a:p>
        </p:txBody>
      </p:sp>
      <p:sp>
        <p:nvSpPr>
          <p:cNvPr id="17" name="TextBox 16"/>
          <p:cNvSpPr txBox="1"/>
          <p:nvPr/>
        </p:nvSpPr>
        <p:spPr>
          <a:xfrm>
            <a:off x="566928" y="5303520"/>
            <a:ext cx="5212080" cy="548640"/>
          </a:xfrm>
          <a:prstGeom prst="rect">
            <a:avLst/>
          </a:prstGeom>
          <a:noFill/>
        </p:spPr>
        <p:txBody>
          <a:bodyPr wrap="square" anchor="t" lIns="0" rIns="0" tIns="0" bIns="0">
            <a:spAutoFit/>
          </a:bodyPr>
          <a:lstStyle/>
          <a:p>
            <a:pPr algn="l">
              <a:lnSpc>
                <a:spcPct val="110000"/>
              </a:lnSpc>
              <a:spcAft>
                <a:spcPts val="300"/>
              </a:spcAft>
            </a:pPr>
            <a:r>
              <a:rPr sz="1150" b="0" i="1">
                <a:solidFill>
                  <a:srgbClr val="54647A"/>
                </a:solidFill>
                <a:latin typeface="Times New Roman"/>
              </a:rPr>
              <a:t>A program never touches the hardware directly — it asks the kernel through a “system call”.</a:t>
            </a:r>
          </a:p>
        </p:txBody>
      </p:sp>
      <p:sp>
        <p:nvSpPr>
          <p:cNvPr id="18" name="Rounded Rectangle 17">
            <a:hlinkClick action="ppaction://hlinksldjump" r:id="rId3"/>
          </p:cNvPr>
          <p:cNvSpPr/>
          <p:nvPr/>
        </p:nvSpPr>
        <p:spPr>
          <a:xfrm>
            <a:off x="566928" y="5897880"/>
            <a:ext cx="1216152" cy="310896"/>
          </a:xfrm>
          <a:prstGeom prst="roundRect">
            <a:avLst>
              <a:gd name="adj" fmla="val 50000"/>
            </a:avLst>
          </a:prstGeom>
          <a:solidFill>
            <a:srgbClr val="FFFFFF"/>
          </a:solidFill>
          <a:ln w="19050">
            <a:solidFill>
              <a:srgbClr val="178A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78A73"/>
                </a:solidFill>
                <a:latin typeface="Consolas"/>
              </a:rPr>
              <a:t>?  Kernel</a:t>
            </a:r>
          </a:p>
        </p:txBody>
      </p:sp>
      <p:sp>
        <p:nvSpPr>
          <p:cNvPr id="19" name="TextBox 18"/>
          <p:cNvSpPr txBox="1"/>
          <p:nvPr/>
        </p:nvSpPr>
        <p:spPr>
          <a:xfrm>
            <a:off x="6172200" y="1554480"/>
            <a:ext cx="5486400" cy="274320"/>
          </a:xfrm>
          <a:prstGeom prst="rect">
            <a:avLst/>
          </a:prstGeom>
          <a:noFill/>
        </p:spPr>
        <p:txBody>
          <a:bodyPr wrap="square" anchor="t" lIns="0" rIns="0" tIns="0" bIns="0">
            <a:spAutoFit/>
          </a:bodyPr>
          <a:lstStyle/>
          <a:p>
            <a:pPr algn="l">
              <a:lnSpc>
                <a:spcPct val="110000"/>
              </a:lnSpc>
              <a:spcAft>
                <a:spcPts val="300"/>
              </a:spcAft>
            </a:pPr>
            <a:r>
              <a:rPr sz="1350" b="1" i="0">
                <a:solidFill>
                  <a:srgbClr val="1F3864"/>
                </a:solidFill>
                <a:latin typeface="Times New Roman"/>
              </a:rPr>
              <a:t>Distribution = kernel + “wrapping”</a:t>
            </a:r>
          </a:p>
        </p:txBody>
      </p:sp>
      <p:sp>
        <p:nvSpPr>
          <p:cNvPr id="20" name="Rounded Rectangle 19"/>
          <p:cNvSpPr/>
          <p:nvPr/>
        </p:nvSpPr>
        <p:spPr>
          <a:xfrm>
            <a:off x="6172200" y="1901952"/>
            <a:ext cx="2377440" cy="384048"/>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Linux kernel</a:t>
            </a:r>
          </a:p>
        </p:txBody>
      </p:sp>
      <p:sp>
        <p:nvSpPr>
          <p:cNvPr id="21" name="TextBox 20"/>
          <p:cNvSpPr txBox="1"/>
          <p:nvPr/>
        </p:nvSpPr>
        <p:spPr>
          <a:xfrm>
            <a:off x="8577072" y="1901952"/>
            <a:ext cx="274320" cy="384048"/>
          </a:xfrm>
          <a:prstGeom prst="rect">
            <a:avLst/>
          </a:prstGeom>
          <a:noFill/>
        </p:spPr>
        <p:txBody>
          <a:bodyPr wrap="square" anchor="ctr" lIns="0" rIns="0" tIns="0" bIns="0">
            <a:spAutoFit/>
          </a:bodyPr>
          <a:lstStyle/>
          <a:p>
            <a:pPr algn="ctr">
              <a:lnSpc>
                <a:spcPct val="110000"/>
              </a:lnSpc>
              <a:spcAft>
                <a:spcPts val="300"/>
              </a:spcAft>
            </a:pPr>
            <a:r>
              <a:rPr sz="1600" b="1" i="0">
                <a:solidFill>
                  <a:srgbClr val="54647A"/>
                </a:solidFill>
                <a:latin typeface="Times New Roman"/>
              </a:rPr>
              <a:t>+</a:t>
            </a:r>
          </a:p>
        </p:txBody>
      </p:sp>
      <p:sp>
        <p:nvSpPr>
          <p:cNvPr id="22" name="Rounded Rectangle 21"/>
          <p:cNvSpPr/>
          <p:nvPr/>
        </p:nvSpPr>
        <p:spPr>
          <a:xfrm>
            <a:off x="6172200" y="2359152"/>
            <a:ext cx="2377440" cy="384048"/>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GNU tools</a:t>
            </a:r>
          </a:p>
        </p:txBody>
      </p:sp>
      <p:sp>
        <p:nvSpPr>
          <p:cNvPr id="23" name="TextBox 22"/>
          <p:cNvSpPr txBox="1"/>
          <p:nvPr/>
        </p:nvSpPr>
        <p:spPr>
          <a:xfrm>
            <a:off x="8577072" y="2359152"/>
            <a:ext cx="274320" cy="384048"/>
          </a:xfrm>
          <a:prstGeom prst="rect">
            <a:avLst/>
          </a:prstGeom>
          <a:noFill/>
        </p:spPr>
        <p:txBody>
          <a:bodyPr wrap="square" anchor="ctr" lIns="0" rIns="0" tIns="0" bIns="0">
            <a:spAutoFit/>
          </a:bodyPr>
          <a:lstStyle/>
          <a:p>
            <a:pPr algn="ctr">
              <a:lnSpc>
                <a:spcPct val="110000"/>
              </a:lnSpc>
              <a:spcAft>
                <a:spcPts val="300"/>
              </a:spcAft>
            </a:pPr>
            <a:r>
              <a:rPr sz="1600" b="1" i="0">
                <a:solidFill>
                  <a:srgbClr val="54647A"/>
                </a:solidFill>
                <a:latin typeface="Times New Roman"/>
              </a:rPr>
              <a:t>+</a:t>
            </a:r>
          </a:p>
        </p:txBody>
      </p:sp>
      <p:sp>
        <p:nvSpPr>
          <p:cNvPr id="24" name="Rounded Rectangle 23"/>
          <p:cNvSpPr/>
          <p:nvPr/>
        </p:nvSpPr>
        <p:spPr>
          <a:xfrm>
            <a:off x="6172200" y="2816352"/>
            <a:ext cx="2377440" cy="384048"/>
          </a:xfrm>
          <a:prstGeom prst="roundRect">
            <a:avLst>
              <a:gd name="adj" fmla="val 12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Package manager</a:t>
            </a:r>
          </a:p>
        </p:txBody>
      </p:sp>
      <p:sp>
        <p:nvSpPr>
          <p:cNvPr id="25" name="TextBox 24"/>
          <p:cNvSpPr txBox="1"/>
          <p:nvPr/>
        </p:nvSpPr>
        <p:spPr>
          <a:xfrm>
            <a:off x="8577072" y="2816352"/>
            <a:ext cx="274320" cy="384048"/>
          </a:xfrm>
          <a:prstGeom prst="rect">
            <a:avLst/>
          </a:prstGeom>
          <a:noFill/>
        </p:spPr>
        <p:txBody>
          <a:bodyPr wrap="square" anchor="ctr" lIns="0" rIns="0" tIns="0" bIns="0">
            <a:spAutoFit/>
          </a:bodyPr>
          <a:lstStyle/>
          <a:p>
            <a:pPr algn="ctr">
              <a:lnSpc>
                <a:spcPct val="110000"/>
              </a:lnSpc>
              <a:spcAft>
                <a:spcPts val="300"/>
              </a:spcAft>
            </a:pPr>
            <a:r>
              <a:rPr sz="1600" b="1" i="0">
                <a:solidFill>
                  <a:srgbClr val="54647A"/>
                </a:solidFill>
                <a:latin typeface="Times New Roman"/>
              </a:rPr>
              <a:t>+</a:t>
            </a:r>
          </a:p>
        </p:txBody>
      </p:sp>
      <p:sp>
        <p:nvSpPr>
          <p:cNvPr id="26" name="Rounded Rectangle 25"/>
          <p:cNvSpPr/>
          <p:nvPr/>
        </p:nvSpPr>
        <p:spPr>
          <a:xfrm>
            <a:off x="6172200" y="3273552"/>
            <a:ext cx="2377440" cy="384048"/>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Graphical env.</a:t>
            </a:r>
          </a:p>
        </p:txBody>
      </p:sp>
      <p:sp>
        <p:nvSpPr>
          <p:cNvPr id="27" name="TextBox 26"/>
          <p:cNvSpPr txBox="1"/>
          <p:nvPr/>
        </p:nvSpPr>
        <p:spPr>
          <a:xfrm>
            <a:off x="8577072" y="3273552"/>
            <a:ext cx="274320" cy="384048"/>
          </a:xfrm>
          <a:prstGeom prst="rect">
            <a:avLst/>
          </a:prstGeom>
          <a:noFill/>
        </p:spPr>
        <p:txBody>
          <a:bodyPr wrap="square" anchor="ctr" lIns="0" rIns="0" tIns="0" bIns="0">
            <a:spAutoFit/>
          </a:bodyPr>
          <a:lstStyle/>
          <a:p>
            <a:pPr algn="ctr">
              <a:lnSpc>
                <a:spcPct val="110000"/>
              </a:lnSpc>
              <a:spcAft>
                <a:spcPts val="300"/>
              </a:spcAft>
            </a:pPr>
            <a:r>
              <a:rPr sz="1600" b="1" i="0">
                <a:solidFill>
                  <a:srgbClr val="54647A"/>
                </a:solidFill>
                <a:latin typeface="Times New Roman"/>
              </a:rPr>
              <a:t>+</a:t>
            </a:r>
          </a:p>
        </p:txBody>
      </p:sp>
      <p:sp>
        <p:nvSpPr>
          <p:cNvPr id="28" name="Rounded Rectangle 27"/>
          <p:cNvSpPr/>
          <p:nvPr/>
        </p:nvSpPr>
        <p:spPr>
          <a:xfrm>
            <a:off x="6172200" y="3730752"/>
            <a:ext cx="2377440" cy="384048"/>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Ready programs</a:t>
            </a:r>
          </a:p>
        </p:txBody>
      </p:sp>
      <p:sp>
        <p:nvSpPr>
          <p:cNvPr id="29" name="Right Arrow 28"/>
          <p:cNvSpPr/>
          <p:nvPr/>
        </p:nvSpPr>
        <p:spPr>
          <a:xfrm>
            <a:off x="8915400" y="2743200"/>
            <a:ext cx="411480" cy="411480"/>
          </a:xfrm>
          <a:prstGeom prst="rightArrow">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418320" y="2286000"/>
            <a:ext cx="2194560" cy="1325880"/>
          </a:xfrm>
          <a:prstGeom prst="roundRect">
            <a:avLst>
              <a:gd name="adj" fmla="val 12000"/>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i="0">
                <a:solidFill>
                  <a:srgbClr val="FFFFFF"/>
                </a:solidFill>
                <a:latin typeface="Times New Roman"/>
              </a:rPr>
              <a:t>DISTRIBUTION</a:t>
            </a:r>
          </a:p>
          <a:p>
            <a:pPr algn="ctr"/>
            <a:r>
              <a:rPr sz="1100" b="0" i="0">
                <a:solidFill>
                  <a:srgbClr val="FFFFFF"/>
                </a:solidFill>
                <a:latin typeface="Times New Roman"/>
              </a:rPr>
              <a:t>Kali · Ubuntu · Debian · Fedora</a:t>
            </a:r>
          </a:p>
        </p:txBody>
      </p:sp>
      <p:sp>
        <p:nvSpPr>
          <p:cNvPr id="31" name="Rounded Rectangle 30"/>
          <p:cNvSpPr/>
          <p:nvPr/>
        </p:nvSpPr>
        <p:spPr>
          <a:xfrm>
            <a:off x="6172200" y="4297680"/>
            <a:ext cx="5440680" cy="1481328"/>
          </a:xfrm>
          <a:prstGeom prst="roundRect">
            <a:avLst>
              <a:gd name="adj" fmla="val 6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72200" y="4297680"/>
            <a:ext cx="64008" cy="1481328"/>
          </a:xfrm>
          <a:prstGeom prst="rect">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82512" y="4370832"/>
            <a:ext cx="5120640" cy="1371600"/>
          </a:xfrm>
          <a:prstGeom prst="rect">
            <a:avLst/>
          </a:prstGeom>
          <a:noFill/>
        </p:spPr>
        <p:txBody>
          <a:bodyPr wrap="square" anchor="t" lIns="0" rIns="0" tIns="0" bIns="0">
            <a:spAutoFit/>
          </a:bodyPr>
          <a:lstStyle/>
          <a:p>
            <a:pPr algn="l">
              <a:lnSpc>
                <a:spcPct val="110000"/>
              </a:lnSpc>
              <a:spcAft>
                <a:spcPts val="500"/>
              </a:spcAft>
            </a:pPr>
            <a:r>
              <a:rPr sz="1200" b="1" i="0">
                <a:solidFill>
                  <a:srgbClr val="1F3864"/>
                </a:solidFill>
                <a:latin typeface="Times New Roman"/>
              </a:rPr>
              <a:t>Linux</a:t>
            </a:r>
            <a:r>
              <a:rPr sz="1200" b="0" i="0">
                <a:solidFill>
                  <a:srgbClr val="202A38"/>
                </a:solidFill>
                <a:latin typeface="Times New Roman"/>
              </a:rPr>
              <a:t> — actually just the kernel (1991, Linus Torvalds, GPL license).</a:t>
            </a:r>
          </a:p>
          <a:p>
            <a:pPr algn="l">
              <a:lnSpc>
                <a:spcPct val="110000"/>
              </a:lnSpc>
              <a:spcAft>
                <a:spcPts val="500"/>
              </a:spcAft>
            </a:pPr>
            <a:r>
              <a:rPr sz="1200" b="1" i="0">
                <a:solidFill>
                  <a:srgbClr val="1F3864"/>
                </a:solidFill>
                <a:latin typeface="Times New Roman"/>
              </a:rPr>
              <a:t>GNU</a:t>
            </a:r>
            <a:r>
              <a:rPr sz="1200" b="0" i="0">
                <a:solidFill>
                  <a:srgbClr val="202A38"/>
                </a:solidFill>
                <a:latin typeface="Times New Roman"/>
              </a:rPr>
              <a:t> (1983, R. Stallman) — commands, compiler, shell.</a:t>
            </a:r>
          </a:p>
          <a:p>
            <a:pPr algn="l">
              <a:lnSpc>
                <a:spcPct val="110000"/>
              </a:lnSpc>
              <a:spcAft>
                <a:spcPts val="500"/>
              </a:spcAft>
            </a:pPr>
            <a:r>
              <a:rPr sz="1200" b="1" i="0">
                <a:solidFill>
                  <a:srgbClr val="1F3864"/>
                </a:solidFill>
                <a:latin typeface="Times New Roman"/>
              </a:rPr>
              <a:t>Distribution</a:t>
            </a:r>
            <a:r>
              <a:rPr sz="1200" b="0" i="0">
                <a:solidFill>
                  <a:srgbClr val="202A38"/>
                </a:solidFill>
                <a:latin typeface="Times New Roman"/>
              </a:rPr>
              <a:t> — assembles and configures them into a ready OS; the kernel is the same, the “wrapping” differs.</a:t>
            </a:r>
          </a:p>
        </p:txBody>
      </p:sp>
      <p:sp>
        <p:nvSpPr>
          <p:cNvPr id="34" name="Rounded Rectangle 33">
            <a:hlinkClick action="ppaction://hlinksldjump" r:id="rId4"/>
          </p:cNvPr>
          <p:cNvSpPr/>
          <p:nvPr/>
        </p:nvSpPr>
        <p:spPr>
          <a:xfrm>
            <a:off x="6172200" y="5897880"/>
            <a:ext cx="1792224" cy="310896"/>
          </a:xfrm>
          <a:prstGeom prst="roundRect">
            <a:avLst>
              <a:gd name="adj" fmla="val 50000"/>
            </a:avLst>
          </a:prstGeom>
          <a:solidFill>
            <a:srgbClr val="FFFFFF"/>
          </a:solidFill>
          <a:ln w="19050">
            <a:solidFill>
              <a:srgbClr val="178A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78A73"/>
                </a:solidFill>
                <a:latin typeface="Consolas"/>
              </a:rPr>
              <a:t>?  Distribution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SHORT LECTURE · HISTORY</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From Unix to Kali: key dates in Linux history</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6</a:t>
            </a:r>
          </a:p>
        </p:txBody>
      </p:sp>
      <p:sp>
        <p:nvSpPr>
          <p:cNvPr id="8" name="Rectangle 7"/>
          <p:cNvSpPr/>
          <p:nvPr/>
        </p:nvSpPr>
        <p:spPr>
          <a:xfrm>
            <a:off x="822960" y="3017520"/>
            <a:ext cx="10607040" cy="54864"/>
          </a:xfrm>
          <a:prstGeom prst="rect">
            <a:avLst/>
          </a:prstGeom>
          <a:solidFill>
            <a:srgbClr val="D8E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70432" y="2880360"/>
            <a:ext cx="329184" cy="32918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66928" y="1965960"/>
            <a:ext cx="1536192" cy="566928"/>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800" b="1" i="0">
                <a:solidFill>
                  <a:srgbClr val="FFFFFF"/>
                </a:solidFill>
                <a:latin typeface="Times New Roman"/>
              </a:rPr>
              <a:t>1969</a:t>
            </a:r>
          </a:p>
        </p:txBody>
      </p:sp>
      <p:sp>
        <p:nvSpPr>
          <p:cNvPr id="11" name="TextBox 10"/>
          <p:cNvSpPr txBox="1"/>
          <p:nvPr/>
        </p:nvSpPr>
        <p:spPr>
          <a:xfrm>
            <a:off x="566928" y="3383280"/>
            <a:ext cx="1536192" cy="320040"/>
          </a:xfrm>
          <a:prstGeom prst="rect">
            <a:avLst/>
          </a:prstGeom>
          <a:noFill/>
        </p:spPr>
        <p:txBody>
          <a:bodyPr wrap="square" anchor="t" lIns="0" rIns="0" tIns="0" bIns="0">
            <a:spAutoFit/>
          </a:bodyPr>
          <a:lstStyle/>
          <a:p>
            <a:pPr algn="ctr">
              <a:lnSpc>
                <a:spcPct val="110000"/>
              </a:lnSpc>
              <a:spcAft>
                <a:spcPts val="300"/>
              </a:spcAft>
            </a:pPr>
            <a:r>
              <a:rPr sz="1450" b="1" i="0">
                <a:solidFill>
                  <a:srgbClr val="1F3864"/>
                </a:solidFill>
                <a:latin typeface="Times New Roman"/>
              </a:rPr>
              <a:t>Unix</a:t>
            </a:r>
          </a:p>
        </p:txBody>
      </p:sp>
      <p:sp>
        <p:nvSpPr>
          <p:cNvPr id="12" name="TextBox 11"/>
          <p:cNvSpPr txBox="1"/>
          <p:nvPr/>
        </p:nvSpPr>
        <p:spPr>
          <a:xfrm>
            <a:off x="566928" y="3749039"/>
            <a:ext cx="1536192" cy="1280160"/>
          </a:xfrm>
          <a:prstGeom prst="rect">
            <a:avLst/>
          </a:prstGeom>
          <a:noFill/>
        </p:spPr>
        <p:txBody>
          <a:bodyPr wrap="square" anchor="t" lIns="0" rIns="0" tIns="0" bIns="0">
            <a:spAutoFit/>
          </a:bodyPr>
          <a:lstStyle/>
          <a:p>
            <a:pPr algn="ctr">
              <a:lnSpc>
                <a:spcPct val="110000"/>
              </a:lnSpc>
              <a:spcAft>
                <a:spcPts val="300"/>
              </a:spcAft>
            </a:pPr>
            <a:r>
              <a:rPr sz="1150" b="0" i="0">
                <a:solidFill>
                  <a:srgbClr val="202A38"/>
                </a:solidFill>
                <a:latin typeface="Times New Roman"/>
              </a:rPr>
              <a:t>Bell Labs: K. Thompson, D. Ritchie. The “everything is a file” idea</a:t>
            </a:r>
          </a:p>
        </p:txBody>
      </p:sp>
      <p:sp>
        <p:nvSpPr>
          <p:cNvPr id="13" name="Oval 12"/>
          <p:cNvSpPr/>
          <p:nvPr/>
        </p:nvSpPr>
        <p:spPr>
          <a:xfrm>
            <a:off x="2770632" y="2880360"/>
            <a:ext cx="329184" cy="329184"/>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167128" y="1965960"/>
            <a:ext cx="1536192" cy="566928"/>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800" b="1" i="0">
                <a:solidFill>
                  <a:srgbClr val="FFFFFF"/>
                </a:solidFill>
                <a:latin typeface="Times New Roman"/>
              </a:rPr>
              <a:t>1983</a:t>
            </a:r>
          </a:p>
        </p:txBody>
      </p:sp>
      <p:sp>
        <p:nvSpPr>
          <p:cNvPr id="15" name="TextBox 14"/>
          <p:cNvSpPr txBox="1"/>
          <p:nvPr/>
        </p:nvSpPr>
        <p:spPr>
          <a:xfrm>
            <a:off x="2167128" y="3383280"/>
            <a:ext cx="1536192" cy="320040"/>
          </a:xfrm>
          <a:prstGeom prst="rect">
            <a:avLst/>
          </a:prstGeom>
          <a:noFill/>
        </p:spPr>
        <p:txBody>
          <a:bodyPr wrap="square" anchor="t" lIns="0" rIns="0" tIns="0" bIns="0">
            <a:spAutoFit/>
          </a:bodyPr>
          <a:lstStyle/>
          <a:p>
            <a:pPr algn="ctr">
              <a:lnSpc>
                <a:spcPct val="110000"/>
              </a:lnSpc>
              <a:spcAft>
                <a:spcPts val="300"/>
              </a:spcAft>
            </a:pPr>
            <a:r>
              <a:rPr sz="1450" b="1" i="0">
                <a:solidFill>
                  <a:srgbClr val="178A73"/>
                </a:solidFill>
                <a:latin typeface="Times New Roman"/>
              </a:rPr>
              <a:t>GNU</a:t>
            </a:r>
          </a:p>
        </p:txBody>
      </p:sp>
      <p:sp>
        <p:nvSpPr>
          <p:cNvPr id="16" name="TextBox 15"/>
          <p:cNvSpPr txBox="1"/>
          <p:nvPr/>
        </p:nvSpPr>
        <p:spPr>
          <a:xfrm>
            <a:off x="2167128" y="3749039"/>
            <a:ext cx="1536192" cy="1280160"/>
          </a:xfrm>
          <a:prstGeom prst="rect">
            <a:avLst/>
          </a:prstGeom>
          <a:noFill/>
        </p:spPr>
        <p:txBody>
          <a:bodyPr wrap="square" anchor="t" lIns="0" rIns="0" tIns="0" bIns="0">
            <a:spAutoFit/>
          </a:bodyPr>
          <a:lstStyle/>
          <a:p>
            <a:pPr algn="ctr">
              <a:lnSpc>
                <a:spcPct val="110000"/>
              </a:lnSpc>
              <a:spcAft>
                <a:spcPts val="300"/>
              </a:spcAft>
            </a:pPr>
            <a:r>
              <a:rPr sz="1150" b="0" i="0">
                <a:solidFill>
                  <a:srgbClr val="202A38"/>
                </a:solidFill>
                <a:latin typeface="Times New Roman"/>
              </a:rPr>
              <a:t>R. Stallman: free commands, compiler, shell</a:t>
            </a:r>
          </a:p>
        </p:txBody>
      </p:sp>
      <p:sp>
        <p:nvSpPr>
          <p:cNvPr id="17" name="Oval 16"/>
          <p:cNvSpPr/>
          <p:nvPr/>
        </p:nvSpPr>
        <p:spPr>
          <a:xfrm>
            <a:off x="4370832" y="2880360"/>
            <a:ext cx="329184" cy="329184"/>
          </a:xfrm>
          <a:prstGeom prst="ellipse">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767328" y="1965960"/>
            <a:ext cx="1536192" cy="566928"/>
          </a:xfrm>
          <a:prstGeom prst="roundRect">
            <a:avLst>
              <a:gd name="adj" fmla="val 12000"/>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800" b="1" i="0">
                <a:solidFill>
                  <a:srgbClr val="FFFFFF"/>
                </a:solidFill>
                <a:latin typeface="Times New Roman"/>
              </a:rPr>
              <a:t>1991</a:t>
            </a:r>
          </a:p>
        </p:txBody>
      </p:sp>
      <p:sp>
        <p:nvSpPr>
          <p:cNvPr id="19" name="TextBox 18"/>
          <p:cNvSpPr txBox="1"/>
          <p:nvPr/>
        </p:nvSpPr>
        <p:spPr>
          <a:xfrm>
            <a:off x="3767328" y="3383280"/>
            <a:ext cx="1536192" cy="320040"/>
          </a:xfrm>
          <a:prstGeom prst="rect">
            <a:avLst/>
          </a:prstGeom>
          <a:noFill/>
        </p:spPr>
        <p:txBody>
          <a:bodyPr wrap="square" anchor="t" lIns="0" rIns="0" tIns="0" bIns="0">
            <a:spAutoFit/>
          </a:bodyPr>
          <a:lstStyle/>
          <a:p>
            <a:pPr algn="ctr">
              <a:lnSpc>
                <a:spcPct val="110000"/>
              </a:lnSpc>
              <a:spcAft>
                <a:spcPts val="300"/>
              </a:spcAft>
            </a:pPr>
            <a:r>
              <a:rPr sz="1450" b="1" i="0">
                <a:solidFill>
                  <a:srgbClr val="43B02A"/>
                </a:solidFill>
                <a:latin typeface="Times New Roman"/>
              </a:rPr>
              <a:t>Linux</a:t>
            </a:r>
          </a:p>
        </p:txBody>
      </p:sp>
      <p:sp>
        <p:nvSpPr>
          <p:cNvPr id="20" name="TextBox 19"/>
          <p:cNvSpPr txBox="1"/>
          <p:nvPr/>
        </p:nvSpPr>
        <p:spPr>
          <a:xfrm>
            <a:off x="3767328" y="3749039"/>
            <a:ext cx="1536192" cy="1280160"/>
          </a:xfrm>
          <a:prstGeom prst="rect">
            <a:avLst/>
          </a:prstGeom>
          <a:noFill/>
        </p:spPr>
        <p:txBody>
          <a:bodyPr wrap="square" anchor="t" lIns="0" rIns="0" tIns="0" bIns="0">
            <a:spAutoFit/>
          </a:bodyPr>
          <a:lstStyle/>
          <a:p>
            <a:pPr algn="ctr">
              <a:lnSpc>
                <a:spcPct val="110000"/>
              </a:lnSpc>
              <a:spcAft>
                <a:spcPts val="300"/>
              </a:spcAft>
            </a:pPr>
            <a:r>
              <a:rPr sz="1150" b="0" i="0">
                <a:solidFill>
                  <a:srgbClr val="202A38"/>
                </a:solidFill>
                <a:latin typeface="Times New Roman"/>
              </a:rPr>
              <a:t>Linus Torvalds announced the first version of the kernel</a:t>
            </a:r>
          </a:p>
        </p:txBody>
      </p:sp>
      <p:sp>
        <p:nvSpPr>
          <p:cNvPr id="21" name="Oval 20"/>
          <p:cNvSpPr/>
          <p:nvPr/>
        </p:nvSpPr>
        <p:spPr>
          <a:xfrm>
            <a:off x="5971032" y="2880360"/>
            <a:ext cx="329184" cy="32918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367528" y="1965960"/>
            <a:ext cx="1536192" cy="566928"/>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800" b="1" i="0">
                <a:solidFill>
                  <a:srgbClr val="FFFFFF"/>
                </a:solidFill>
                <a:latin typeface="Times New Roman"/>
              </a:rPr>
              <a:t>1993</a:t>
            </a:r>
          </a:p>
        </p:txBody>
      </p:sp>
      <p:sp>
        <p:nvSpPr>
          <p:cNvPr id="23" name="TextBox 22"/>
          <p:cNvSpPr txBox="1"/>
          <p:nvPr/>
        </p:nvSpPr>
        <p:spPr>
          <a:xfrm>
            <a:off x="5367528" y="3383280"/>
            <a:ext cx="1536192" cy="320040"/>
          </a:xfrm>
          <a:prstGeom prst="rect">
            <a:avLst/>
          </a:prstGeom>
          <a:noFill/>
        </p:spPr>
        <p:txBody>
          <a:bodyPr wrap="square" anchor="t" lIns="0" rIns="0" tIns="0" bIns="0">
            <a:spAutoFit/>
          </a:bodyPr>
          <a:lstStyle/>
          <a:p>
            <a:pPr algn="ctr">
              <a:lnSpc>
                <a:spcPct val="110000"/>
              </a:lnSpc>
              <a:spcAft>
                <a:spcPts val="300"/>
              </a:spcAft>
            </a:pPr>
            <a:r>
              <a:rPr sz="1450" b="1" i="0">
                <a:solidFill>
                  <a:srgbClr val="1F3864"/>
                </a:solidFill>
                <a:latin typeface="Times New Roman"/>
              </a:rPr>
              <a:t>Debian</a:t>
            </a:r>
          </a:p>
        </p:txBody>
      </p:sp>
      <p:sp>
        <p:nvSpPr>
          <p:cNvPr id="24" name="TextBox 23"/>
          <p:cNvSpPr txBox="1"/>
          <p:nvPr/>
        </p:nvSpPr>
        <p:spPr>
          <a:xfrm>
            <a:off x="5367528" y="3749039"/>
            <a:ext cx="1536192" cy="1280160"/>
          </a:xfrm>
          <a:prstGeom prst="rect">
            <a:avLst/>
          </a:prstGeom>
          <a:noFill/>
        </p:spPr>
        <p:txBody>
          <a:bodyPr wrap="square" anchor="t" lIns="0" rIns="0" tIns="0" bIns="0">
            <a:spAutoFit/>
          </a:bodyPr>
          <a:lstStyle/>
          <a:p>
            <a:pPr algn="ctr">
              <a:lnSpc>
                <a:spcPct val="110000"/>
              </a:lnSpc>
              <a:spcAft>
                <a:spcPts val="300"/>
              </a:spcAft>
            </a:pPr>
            <a:r>
              <a:rPr sz="1150" b="0" i="0">
                <a:solidFill>
                  <a:srgbClr val="202A38"/>
                </a:solidFill>
                <a:latin typeface="Times New Roman"/>
              </a:rPr>
              <a:t>One of the oldest still-active distributions (also Slackware)</a:t>
            </a:r>
          </a:p>
        </p:txBody>
      </p:sp>
      <p:sp>
        <p:nvSpPr>
          <p:cNvPr id="25" name="Oval 24"/>
          <p:cNvSpPr/>
          <p:nvPr/>
        </p:nvSpPr>
        <p:spPr>
          <a:xfrm>
            <a:off x="7571232" y="2880360"/>
            <a:ext cx="329184" cy="329184"/>
          </a:xfrm>
          <a:prstGeom prst="ellipse">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967728" y="1965960"/>
            <a:ext cx="1536192" cy="566928"/>
          </a:xfrm>
          <a:prstGeom prst="roundRect">
            <a:avLst>
              <a:gd name="adj" fmla="val 12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800" b="1" i="0">
                <a:solidFill>
                  <a:srgbClr val="FFFFFF"/>
                </a:solidFill>
                <a:latin typeface="Times New Roman"/>
              </a:rPr>
              <a:t>2004</a:t>
            </a:r>
          </a:p>
        </p:txBody>
      </p:sp>
      <p:sp>
        <p:nvSpPr>
          <p:cNvPr id="27" name="TextBox 26"/>
          <p:cNvSpPr txBox="1"/>
          <p:nvPr/>
        </p:nvSpPr>
        <p:spPr>
          <a:xfrm>
            <a:off x="6967728" y="3383280"/>
            <a:ext cx="1536192" cy="320040"/>
          </a:xfrm>
          <a:prstGeom prst="rect">
            <a:avLst/>
          </a:prstGeom>
          <a:noFill/>
        </p:spPr>
        <p:txBody>
          <a:bodyPr wrap="square" anchor="t" lIns="0" rIns="0" tIns="0" bIns="0">
            <a:spAutoFit/>
          </a:bodyPr>
          <a:lstStyle/>
          <a:p>
            <a:pPr algn="ctr">
              <a:lnSpc>
                <a:spcPct val="110000"/>
              </a:lnSpc>
              <a:spcAft>
                <a:spcPts val="300"/>
              </a:spcAft>
            </a:pPr>
            <a:r>
              <a:rPr sz="1450" b="1" i="0">
                <a:solidFill>
                  <a:srgbClr val="E08E1D"/>
                </a:solidFill>
                <a:latin typeface="Times New Roman"/>
              </a:rPr>
              <a:t>Ubuntu</a:t>
            </a:r>
          </a:p>
        </p:txBody>
      </p:sp>
      <p:sp>
        <p:nvSpPr>
          <p:cNvPr id="28" name="TextBox 27"/>
          <p:cNvSpPr txBox="1"/>
          <p:nvPr/>
        </p:nvSpPr>
        <p:spPr>
          <a:xfrm>
            <a:off x="6967728" y="3749039"/>
            <a:ext cx="1536192" cy="1280160"/>
          </a:xfrm>
          <a:prstGeom prst="rect">
            <a:avLst/>
          </a:prstGeom>
          <a:noFill/>
        </p:spPr>
        <p:txBody>
          <a:bodyPr wrap="square" anchor="t" lIns="0" rIns="0" tIns="0" bIns="0">
            <a:spAutoFit/>
          </a:bodyPr>
          <a:lstStyle/>
          <a:p>
            <a:pPr algn="ctr">
              <a:lnSpc>
                <a:spcPct val="110000"/>
              </a:lnSpc>
              <a:spcAft>
                <a:spcPts val="300"/>
              </a:spcAft>
            </a:pPr>
            <a:r>
              <a:rPr sz="1150" b="0" i="0">
                <a:solidFill>
                  <a:srgbClr val="202A38"/>
                </a:solidFill>
                <a:latin typeface="Times New Roman"/>
              </a:rPr>
              <a:t>Based on Debian, convenient for ordinary users</a:t>
            </a:r>
          </a:p>
        </p:txBody>
      </p:sp>
      <p:sp>
        <p:nvSpPr>
          <p:cNvPr id="29" name="Oval 28"/>
          <p:cNvSpPr/>
          <p:nvPr/>
        </p:nvSpPr>
        <p:spPr>
          <a:xfrm>
            <a:off x="9171432" y="2880360"/>
            <a:ext cx="329184" cy="329184"/>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567928" y="1965960"/>
            <a:ext cx="1536192" cy="566928"/>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800" b="1" i="0">
                <a:solidFill>
                  <a:srgbClr val="FFFFFF"/>
                </a:solidFill>
                <a:latin typeface="Times New Roman"/>
              </a:rPr>
              <a:t>2008</a:t>
            </a:r>
          </a:p>
        </p:txBody>
      </p:sp>
      <p:sp>
        <p:nvSpPr>
          <p:cNvPr id="31" name="TextBox 30"/>
          <p:cNvSpPr txBox="1"/>
          <p:nvPr/>
        </p:nvSpPr>
        <p:spPr>
          <a:xfrm>
            <a:off x="8567928" y="3383280"/>
            <a:ext cx="1536192" cy="320040"/>
          </a:xfrm>
          <a:prstGeom prst="rect">
            <a:avLst/>
          </a:prstGeom>
          <a:noFill/>
        </p:spPr>
        <p:txBody>
          <a:bodyPr wrap="square" anchor="t" lIns="0" rIns="0" tIns="0" bIns="0">
            <a:spAutoFit/>
          </a:bodyPr>
          <a:lstStyle/>
          <a:p>
            <a:pPr algn="ctr">
              <a:lnSpc>
                <a:spcPct val="110000"/>
              </a:lnSpc>
              <a:spcAft>
                <a:spcPts val="300"/>
              </a:spcAft>
            </a:pPr>
            <a:r>
              <a:rPr sz="1450" b="1" i="0">
                <a:solidFill>
                  <a:srgbClr val="178A73"/>
                </a:solidFill>
                <a:latin typeface="Times New Roman"/>
              </a:rPr>
              <a:t>Android</a:t>
            </a:r>
          </a:p>
        </p:txBody>
      </p:sp>
      <p:sp>
        <p:nvSpPr>
          <p:cNvPr id="32" name="TextBox 31"/>
          <p:cNvSpPr txBox="1"/>
          <p:nvPr/>
        </p:nvSpPr>
        <p:spPr>
          <a:xfrm>
            <a:off x="8567928" y="3749039"/>
            <a:ext cx="1536192" cy="1280160"/>
          </a:xfrm>
          <a:prstGeom prst="rect">
            <a:avLst/>
          </a:prstGeom>
          <a:noFill/>
        </p:spPr>
        <p:txBody>
          <a:bodyPr wrap="square" anchor="t" lIns="0" rIns="0" tIns="0" bIns="0">
            <a:spAutoFit/>
          </a:bodyPr>
          <a:lstStyle/>
          <a:p>
            <a:pPr algn="ctr">
              <a:lnSpc>
                <a:spcPct val="110000"/>
              </a:lnSpc>
              <a:spcAft>
                <a:spcPts val="300"/>
              </a:spcAft>
            </a:pPr>
            <a:r>
              <a:rPr sz="1150" b="0" i="0">
                <a:solidFill>
                  <a:srgbClr val="202A38"/>
                </a:solidFill>
                <a:latin typeface="Times New Roman"/>
              </a:rPr>
              <a:t>A mobile OS based on the Linux kernel</a:t>
            </a:r>
          </a:p>
        </p:txBody>
      </p:sp>
      <p:sp>
        <p:nvSpPr>
          <p:cNvPr id="33" name="Oval 32"/>
          <p:cNvSpPr/>
          <p:nvPr/>
        </p:nvSpPr>
        <p:spPr>
          <a:xfrm>
            <a:off x="10771632" y="2880360"/>
            <a:ext cx="329184" cy="32918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168128" y="1965960"/>
            <a:ext cx="1536192" cy="566928"/>
          </a:xfrm>
          <a:prstGeom prst="roundRect">
            <a:avLst>
              <a:gd name="adj" fmla="val 1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800" b="1" i="0">
                <a:solidFill>
                  <a:srgbClr val="FFFFFF"/>
                </a:solidFill>
                <a:latin typeface="Times New Roman"/>
              </a:rPr>
              <a:t>2013</a:t>
            </a:r>
          </a:p>
        </p:txBody>
      </p:sp>
      <p:sp>
        <p:nvSpPr>
          <p:cNvPr id="35" name="TextBox 34"/>
          <p:cNvSpPr txBox="1"/>
          <p:nvPr/>
        </p:nvSpPr>
        <p:spPr>
          <a:xfrm>
            <a:off x="10168128" y="3383280"/>
            <a:ext cx="1536192" cy="320040"/>
          </a:xfrm>
          <a:prstGeom prst="rect">
            <a:avLst/>
          </a:prstGeom>
          <a:noFill/>
        </p:spPr>
        <p:txBody>
          <a:bodyPr wrap="square" anchor="t" lIns="0" rIns="0" tIns="0" bIns="0">
            <a:spAutoFit/>
          </a:bodyPr>
          <a:lstStyle/>
          <a:p>
            <a:pPr algn="ctr">
              <a:lnSpc>
                <a:spcPct val="110000"/>
              </a:lnSpc>
              <a:spcAft>
                <a:spcPts val="300"/>
              </a:spcAft>
            </a:pPr>
            <a:r>
              <a:rPr sz="1450" b="1" i="0">
                <a:solidFill>
                  <a:srgbClr val="C0392B"/>
                </a:solidFill>
                <a:latin typeface="Times New Roman"/>
              </a:rPr>
              <a:t>Kali Linux</a:t>
            </a:r>
          </a:p>
        </p:txBody>
      </p:sp>
      <p:sp>
        <p:nvSpPr>
          <p:cNvPr id="36" name="TextBox 35"/>
          <p:cNvSpPr txBox="1"/>
          <p:nvPr/>
        </p:nvSpPr>
        <p:spPr>
          <a:xfrm>
            <a:off x="10168128" y="3749039"/>
            <a:ext cx="1536192" cy="1280160"/>
          </a:xfrm>
          <a:prstGeom prst="rect">
            <a:avLst/>
          </a:prstGeom>
          <a:noFill/>
        </p:spPr>
        <p:txBody>
          <a:bodyPr wrap="square" anchor="t" lIns="0" rIns="0" tIns="0" bIns="0">
            <a:spAutoFit/>
          </a:bodyPr>
          <a:lstStyle/>
          <a:p>
            <a:pPr algn="ctr">
              <a:lnSpc>
                <a:spcPct val="110000"/>
              </a:lnSpc>
              <a:spcAft>
                <a:spcPts val="300"/>
              </a:spcAft>
            </a:pPr>
            <a:r>
              <a:rPr sz="1150" b="0" i="0">
                <a:solidFill>
                  <a:srgbClr val="202A38"/>
                </a:solidFill>
                <a:latin typeface="Times New Roman"/>
              </a:rPr>
              <a:t>Replacing BackTrack: penetration testing and forensics</a:t>
            </a:r>
          </a:p>
        </p:txBody>
      </p:sp>
      <p:sp>
        <p:nvSpPr>
          <p:cNvPr id="37" name="Rounded Rectangle 36"/>
          <p:cNvSpPr/>
          <p:nvPr/>
        </p:nvSpPr>
        <p:spPr>
          <a:xfrm>
            <a:off x="566928" y="5120640"/>
            <a:ext cx="11045952" cy="1143000"/>
          </a:xfrm>
          <a:prstGeom prst="roundRect">
            <a:avLst>
              <a:gd name="adj" fmla="val 6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120640"/>
            <a:ext cx="64008" cy="1143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4672" y="5193792"/>
            <a:ext cx="10607040" cy="1005840"/>
          </a:xfrm>
          <a:prstGeom prst="rect">
            <a:avLst/>
          </a:prstGeom>
          <a:noFill/>
        </p:spPr>
        <p:txBody>
          <a:bodyPr wrap="square" anchor="t" lIns="0" rIns="0" tIns="0" bIns="0">
            <a:spAutoFit/>
          </a:bodyPr>
          <a:lstStyle/>
          <a:p>
            <a:pPr algn="l">
              <a:lnSpc>
                <a:spcPct val="110000"/>
              </a:lnSpc>
              <a:spcAft>
                <a:spcPts val="500"/>
              </a:spcAft>
            </a:pPr>
            <a:r>
              <a:rPr sz="1250" b="1" i="0">
                <a:solidFill>
                  <a:srgbClr val="1F3864"/>
                </a:solidFill>
                <a:latin typeface="Times New Roman"/>
              </a:rPr>
              <a:t>The Unix legacy:</a:t>
            </a:r>
            <a:r>
              <a:rPr sz="1250" b="0" i="0">
                <a:solidFill>
                  <a:srgbClr val="202A38"/>
                </a:solidFill>
                <a:latin typeface="Times New Roman"/>
              </a:rPr>
              <a:t> small commands, each doing one thing well, combined together (with </a:t>
            </a:r>
            <a:r>
              <a:rPr sz="1200" b="1" i="0">
                <a:solidFill>
                  <a:srgbClr val="178A73"/>
                </a:solidFill>
                <a:latin typeface="Consolas"/>
              </a:rPr>
              <a:t>|</a:t>
            </a:r>
            <a:r>
              <a:rPr sz="1250" b="0" i="0">
                <a:solidFill>
                  <a:srgbClr val="202A38"/>
                </a:solidFill>
                <a:latin typeface="Times New Roman"/>
              </a:rPr>
              <a:t> in Lesson 2).</a:t>
            </a:r>
          </a:p>
          <a:p>
            <a:pPr algn="l">
              <a:lnSpc>
                <a:spcPct val="110000"/>
              </a:lnSpc>
              <a:spcAft>
                <a:spcPts val="500"/>
              </a:spcAft>
            </a:pPr>
            <a:r>
              <a:rPr sz="1250" b="1" i="0">
                <a:solidFill>
                  <a:srgbClr val="1F3864"/>
                </a:solidFill>
                <a:latin typeface="Times New Roman"/>
              </a:rPr>
              <a:t>Open source:</a:t>
            </a:r>
            <a:r>
              <a:rPr sz="1250" b="0" i="0">
                <a:solidFill>
                  <a:srgbClr val="202A38"/>
                </a:solidFill>
                <a:latin typeface="Times New Roman"/>
              </a:rPr>
              <a:t> anyone can read, inspect and change the code — that is why thousands of distributions exist.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SHORT LECTURE · COMPARISON</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From Windows to Linux: what is different?</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7</a:t>
            </a:r>
          </a:p>
        </p:txBody>
      </p:sp>
      <p:graphicFrame>
        <p:nvGraphicFramePr>
          <p:cNvPr id="8" name="Table 7"/>
          <p:cNvGraphicFramePr>
            <a:graphicFrameLocks noGrp="1"/>
          </p:cNvGraphicFramePr>
          <p:nvPr/>
        </p:nvGraphicFramePr>
        <p:xfrm>
          <a:off x="566928" y="1600200"/>
          <a:ext cx="7406640" cy="4114800"/>
        </p:xfrm>
        <a:graphic>
          <a:graphicData uri="http://schemas.openxmlformats.org/drawingml/2006/table">
            <a:tbl>
              <a:tblPr firstRow="1" bandRow="1">
                <a:tableStyleId>{5940675A-B579-460E-94D1-54222C63F5DA}</a:tableStyleId>
              </a:tblPr>
              <a:tblGrid>
                <a:gridCol w="2011680"/>
                <a:gridCol w="2651760"/>
                <a:gridCol w="2743200"/>
              </a:tblGrid>
              <a:tr h="457200">
                <a:tc>
                  <a:txBody>
                    <a:bodyPr wrap="square"/>
                    <a:lstStyle/>
                    <a:p>
                      <a:pPr algn="l"/>
                      <a:r>
                        <a:rPr sz="1200" b="1" i="0">
                          <a:solidFill>
                            <a:srgbClr val="FFFFFF"/>
                          </a:solidFill>
                          <a:latin typeface="Times New Roman"/>
                        </a:rPr>
                        <a:t>Feature</a:t>
                      </a:r>
                    </a:p>
                  </a:txBody>
                  <a:tcPr marL="63500" marR="63500" marT="25400" marB="25400" anchor="ctr">
                    <a:solidFill>
                      <a:srgbClr val="1F3864"/>
                    </a:solidFill>
                  </a:tcPr>
                </a:tc>
                <a:tc>
                  <a:txBody>
                    <a:bodyPr wrap="square"/>
                    <a:lstStyle/>
                    <a:p>
                      <a:pPr algn="l"/>
                      <a:r>
                        <a:rPr sz="1200" b="1" i="0">
                          <a:solidFill>
                            <a:srgbClr val="FFFFFF"/>
                          </a:solidFill>
                          <a:latin typeface="Times New Roman"/>
                        </a:rPr>
                        <a:t>Windows</a:t>
                      </a:r>
                    </a:p>
                  </a:txBody>
                  <a:tcPr marL="63500" marR="63500" marT="25400" marB="25400" anchor="ctr">
                    <a:solidFill>
                      <a:srgbClr val="1F3864"/>
                    </a:solidFill>
                  </a:tcPr>
                </a:tc>
                <a:tc>
                  <a:txBody>
                    <a:bodyPr wrap="square"/>
                    <a:lstStyle/>
                    <a:p>
                      <a:pPr algn="l"/>
                      <a:r>
                        <a:rPr sz="1200" b="1" i="0">
                          <a:solidFill>
                            <a:srgbClr val="FFFFFF"/>
                          </a:solidFill>
                          <a:latin typeface="Times New Roman"/>
                        </a:rPr>
                        <a:t>Linux</a:t>
                      </a:r>
                    </a:p>
                  </a:txBody>
                  <a:tcPr marL="63500" marR="63500" marT="25400" marB="25400" anchor="ctr">
                    <a:solidFill>
                      <a:srgbClr val="1F3864"/>
                    </a:solidFill>
                  </a:tcPr>
                </a:tc>
              </a:tr>
              <a:tr h="457200">
                <a:tc>
                  <a:txBody>
                    <a:bodyPr wrap="square"/>
                    <a:lstStyle/>
                    <a:p>
                      <a:pPr algn="l"/>
                      <a:r>
                        <a:rPr sz="1200" b="1" i="0">
                          <a:solidFill>
                            <a:srgbClr val="202A38"/>
                          </a:solidFill>
                          <a:latin typeface="Times New Roman"/>
                        </a:rPr>
                        <a:t>File system</a:t>
                      </a:r>
                    </a:p>
                  </a:txBody>
                  <a:tcPr marL="63500" marR="63500" marT="25400" marB="25400" anchor="ctr">
                    <a:solidFill>
                      <a:srgbClr val="FFFFFF"/>
                    </a:solidFill>
                  </a:tcPr>
                </a:tc>
                <a:tc>
                  <a:txBody>
                    <a:bodyPr wrap="square"/>
                    <a:lstStyle/>
                    <a:p>
                      <a:pPr algn="l"/>
                      <a:r>
                        <a:rPr sz="1200" b="0" i="0">
                          <a:solidFill>
                            <a:srgbClr val="202A38"/>
                          </a:solidFill>
                          <a:latin typeface="Times New Roman"/>
                        </a:rPr>
                        <a:t>Drives: </a:t>
                      </a:r>
                      <a:r>
                        <a:rPr sz="1150" b="1" i="0">
                          <a:solidFill>
                            <a:srgbClr val="178A73"/>
                          </a:solidFill>
                          <a:latin typeface="Consolas"/>
                        </a:rPr>
                        <a:t>C:\</a:t>
                      </a:r>
                      <a:r>
                        <a:rPr sz="1200" b="0" i="0">
                          <a:solidFill>
                            <a:srgbClr val="202A38"/>
                          </a:solidFill>
                          <a:latin typeface="Times New Roman"/>
                        </a:rPr>
                        <a:t>, </a:t>
                      </a:r>
                      <a:r>
                        <a:rPr sz="1150" b="1" i="0">
                          <a:solidFill>
                            <a:srgbClr val="178A73"/>
                          </a:solidFill>
                          <a:latin typeface="Consolas"/>
                        </a:rPr>
                        <a:t>D:\</a:t>
                      </a:r>
                    </a:p>
                  </a:txBody>
                  <a:tcPr marL="63500" marR="63500" marT="25400" marB="25400" anchor="ctr">
                    <a:solidFill>
                      <a:srgbClr val="FFFFFF"/>
                    </a:solidFill>
                  </a:tcPr>
                </a:tc>
                <a:tc>
                  <a:txBody>
                    <a:bodyPr wrap="square"/>
                    <a:lstStyle/>
                    <a:p>
                      <a:pPr algn="l"/>
                      <a:r>
                        <a:rPr sz="1200" b="0" i="0">
                          <a:solidFill>
                            <a:srgbClr val="202A38"/>
                          </a:solidFill>
                          <a:latin typeface="Times New Roman"/>
                        </a:rPr>
                        <a:t>Single tree: </a:t>
                      </a:r>
                      <a:r>
                        <a:rPr sz="1150" b="1" i="0">
                          <a:solidFill>
                            <a:srgbClr val="178A73"/>
                          </a:solidFill>
                          <a:latin typeface="Consolas"/>
                        </a:rPr>
                        <a:t>/</a:t>
                      </a:r>
                      <a:r>
                        <a:rPr sz="1200" b="0" i="0">
                          <a:solidFill>
                            <a:srgbClr val="202A38"/>
                          </a:solidFill>
                          <a:latin typeface="Times New Roman"/>
                        </a:rPr>
                        <a:t> (root)</a:t>
                      </a:r>
                    </a:p>
                  </a:txBody>
                  <a:tcPr marL="63500" marR="63500" marT="25400" marB="25400" anchor="ctr">
                    <a:solidFill>
                      <a:srgbClr val="FFFFFF"/>
                    </a:solidFill>
                  </a:tcPr>
                </a:tc>
              </a:tr>
              <a:tr h="457200">
                <a:tc>
                  <a:txBody>
                    <a:bodyPr wrap="square"/>
                    <a:lstStyle/>
                    <a:p>
                      <a:pPr algn="l"/>
                      <a:r>
                        <a:rPr sz="1200" b="1" i="0">
                          <a:solidFill>
                            <a:srgbClr val="202A38"/>
                          </a:solidFill>
                          <a:latin typeface="Times New Roman"/>
                        </a:rPr>
                        <a:t>Path separator</a:t>
                      </a:r>
                    </a:p>
                  </a:txBody>
                  <a:tcPr marL="63500" marR="63500" marT="25400" marB="25400" anchor="ctr">
                    <a:solidFill>
                      <a:srgbClr val="F5F8FC"/>
                    </a:solidFill>
                  </a:tcPr>
                </a:tc>
                <a:tc>
                  <a:txBody>
                    <a:bodyPr wrap="square"/>
                    <a:lstStyle/>
                    <a:p>
                      <a:pPr algn="l"/>
                      <a:r>
                        <a:rPr sz="1150" b="1" i="0">
                          <a:solidFill>
                            <a:srgbClr val="178A73"/>
                          </a:solidFill>
                          <a:latin typeface="Consolas"/>
                        </a:rPr>
                        <a:t>\</a:t>
                      </a:r>
                      <a:r>
                        <a:rPr sz="1200" b="0" i="0">
                          <a:solidFill>
                            <a:srgbClr val="202A38"/>
                          </a:solidFill>
                          <a:latin typeface="Times New Roman"/>
                        </a:rPr>
                        <a:t> (backslash)</a:t>
                      </a:r>
                    </a:p>
                  </a:txBody>
                  <a:tcPr marL="63500" marR="63500" marT="25400" marB="25400" anchor="ctr">
                    <a:solidFill>
                      <a:srgbClr val="F5F8FC"/>
                    </a:solidFill>
                  </a:tcPr>
                </a:tc>
                <a:tc>
                  <a:txBody>
                    <a:bodyPr wrap="square"/>
                    <a:lstStyle/>
                    <a:p>
                      <a:pPr algn="l"/>
                      <a:r>
                        <a:rPr sz="1150" b="1" i="0">
                          <a:solidFill>
                            <a:srgbClr val="178A73"/>
                          </a:solidFill>
                          <a:latin typeface="Consolas"/>
                        </a:rPr>
                        <a:t>/</a:t>
                      </a:r>
                      <a:r>
                        <a:rPr sz="1200" b="0" i="0">
                          <a:solidFill>
                            <a:srgbClr val="202A38"/>
                          </a:solidFill>
                          <a:latin typeface="Times New Roman"/>
                        </a:rPr>
                        <a:t> (forward slash)</a:t>
                      </a:r>
                    </a:p>
                  </a:txBody>
                  <a:tcPr marL="63500" marR="63500" marT="25400" marB="25400" anchor="ctr">
                    <a:solidFill>
                      <a:srgbClr val="F5F8FC"/>
                    </a:solidFill>
                  </a:tcPr>
                </a:tc>
              </a:tr>
              <a:tr h="457200">
                <a:tc>
                  <a:txBody>
                    <a:bodyPr wrap="square"/>
                    <a:lstStyle/>
                    <a:p>
                      <a:pPr algn="l"/>
                      <a:r>
                        <a:rPr sz="1200" b="1" i="0">
                          <a:solidFill>
                            <a:srgbClr val="202A38"/>
                          </a:solidFill>
                          <a:latin typeface="Times New Roman"/>
                        </a:rPr>
                        <a:t>Letter case</a:t>
                      </a:r>
                    </a:p>
                  </a:txBody>
                  <a:tcPr marL="63500" marR="63500" marT="25400" marB="25400" anchor="ctr">
                    <a:solidFill>
                      <a:srgbClr val="FFFFFF"/>
                    </a:solidFill>
                  </a:tcPr>
                </a:tc>
                <a:tc>
                  <a:txBody>
                    <a:bodyPr wrap="square"/>
                    <a:lstStyle/>
                    <a:p>
                      <a:pPr algn="l"/>
                      <a:r>
                        <a:rPr sz="1150" b="1" i="0">
                          <a:solidFill>
                            <a:srgbClr val="178A73"/>
                          </a:solidFill>
                          <a:latin typeface="Consolas"/>
                        </a:rPr>
                        <a:t>File.txt</a:t>
                      </a:r>
                      <a:r>
                        <a:rPr sz="1200" b="0" i="0">
                          <a:solidFill>
                            <a:srgbClr val="202A38"/>
                          </a:solidFill>
                          <a:latin typeface="Times New Roman"/>
                        </a:rPr>
                        <a:t> = </a:t>
                      </a:r>
                      <a:r>
                        <a:rPr sz="1150" b="1" i="0">
                          <a:solidFill>
                            <a:srgbClr val="178A73"/>
                          </a:solidFill>
                          <a:latin typeface="Consolas"/>
                        </a:rPr>
                        <a:t>file.txt</a:t>
                      </a:r>
                    </a:p>
                  </a:txBody>
                  <a:tcPr marL="63500" marR="63500" marT="25400" marB="25400" anchor="ctr">
                    <a:solidFill>
                      <a:srgbClr val="FFFFFF"/>
                    </a:solidFill>
                  </a:tcPr>
                </a:tc>
                <a:tc>
                  <a:txBody>
                    <a:bodyPr wrap="square"/>
                    <a:lstStyle/>
                    <a:p>
                      <a:pPr algn="l"/>
                      <a:r>
                        <a:rPr sz="1150" b="1" i="0">
                          <a:solidFill>
                            <a:srgbClr val="178A73"/>
                          </a:solidFill>
                          <a:latin typeface="Consolas"/>
                        </a:rPr>
                        <a:t>File.txt</a:t>
                      </a:r>
                      <a:r>
                        <a:rPr sz="1200" b="0" i="0">
                          <a:solidFill>
                            <a:srgbClr val="202A38"/>
                          </a:solidFill>
                          <a:latin typeface="Times New Roman"/>
                        </a:rPr>
                        <a:t> ≠ </a:t>
                      </a:r>
                      <a:r>
                        <a:rPr sz="1150" b="1" i="0">
                          <a:solidFill>
                            <a:srgbClr val="178A73"/>
                          </a:solidFill>
                          <a:latin typeface="Consolas"/>
                        </a:rPr>
                        <a:t>file.txt</a:t>
                      </a:r>
                    </a:p>
                  </a:txBody>
                  <a:tcPr marL="63500" marR="63500" marT="25400" marB="25400" anchor="ctr">
                    <a:solidFill>
                      <a:srgbClr val="FFFFFF"/>
                    </a:solidFill>
                  </a:tcPr>
                </a:tc>
              </a:tr>
              <a:tr h="457200">
                <a:tc>
                  <a:txBody>
                    <a:bodyPr wrap="square"/>
                    <a:lstStyle/>
                    <a:p>
                      <a:pPr algn="l"/>
                      <a:r>
                        <a:rPr sz="1200" b="1" i="0">
                          <a:solidFill>
                            <a:srgbClr val="202A38"/>
                          </a:solidFill>
                          <a:latin typeface="Times New Roman"/>
                        </a:rPr>
                        <a:t>Settings</a:t>
                      </a:r>
                    </a:p>
                  </a:txBody>
                  <a:tcPr marL="63500" marR="63500" marT="25400" marB="25400" anchor="ctr">
                    <a:solidFill>
                      <a:srgbClr val="F5F8FC"/>
                    </a:solidFill>
                  </a:tcPr>
                </a:tc>
                <a:tc>
                  <a:txBody>
                    <a:bodyPr wrap="square"/>
                    <a:lstStyle/>
                    <a:p>
                      <a:pPr algn="l"/>
                      <a:r>
                        <a:rPr sz="1200" b="0" i="0">
                          <a:solidFill>
                            <a:srgbClr val="202A38"/>
                          </a:solidFill>
                          <a:latin typeface="Times New Roman"/>
                        </a:rPr>
                        <a:t>Registry</a:t>
                      </a:r>
                    </a:p>
                  </a:txBody>
                  <a:tcPr marL="63500" marR="63500" marT="25400" marB="25400" anchor="ctr">
                    <a:solidFill>
                      <a:srgbClr val="F5F8FC"/>
                    </a:solidFill>
                  </a:tcPr>
                </a:tc>
                <a:tc>
                  <a:txBody>
                    <a:bodyPr wrap="square"/>
                    <a:lstStyle/>
                    <a:p>
                      <a:pPr algn="l"/>
                      <a:r>
                        <a:rPr sz="1200" b="0" i="0">
                          <a:solidFill>
                            <a:srgbClr val="202A38"/>
                          </a:solidFill>
                          <a:latin typeface="Times New Roman"/>
                        </a:rPr>
                        <a:t>Text files, mainly </a:t>
                      </a:r>
                      <a:r>
                        <a:rPr sz="1150" b="1" i="0">
                          <a:solidFill>
                            <a:srgbClr val="178A73"/>
                          </a:solidFill>
                          <a:latin typeface="Consolas"/>
                        </a:rPr>
                        <a:t>/etc</a:t>
                      </a:r>
                    </a:p>
                  </a:txBody>
                  <a:tcPr marL="63500" marR="63500" marT="25400" marB="25400" anchor="ctr">
                    <a:solidFill>
                      <a:srgbClr val="F5F8FC"/>
                    </a:solidFill>
                  </a:tcPr>
                </a:tc>
              </a:tr>
              <a:tr h="457200">
                <a:tc>
                  <a:txBody>
                    <a:bodyPr wrap="square"/>
                    <a:lstStyle/>
                    <a:p>
                      <a:pPr algn="l"/>
                      <a:r>
                        <a:rPr sz="1200" b="1" i="0">
                          <a:solidFill>
                            <a:srgbClr val="202A38"/>
                          </a:solidFill>
                          <a:latin typeface="Times New Roman"/>
                        </a:rPr>
                        <a:t>Executable file</a:t>
                      </a:r>
                    </a:p>
                  </a:txBody>
                  <a:tcPr marL="63500" marR="63500" marT="25400" marB="25400" anchor="ctr">
                    <a:solidFill>
                      <a:srgbClr val="FFFFFF"/>
                    </a:solidFill>
                  </a:tcPr>
                </a:tc>
                <a:tc>
                  <a:txBody>
                    <a:bodyPr wrap="square"/>
                    <a:lstStyle/>
                    <a:p>
                      <a:pPr algn="l"/>
                      <a:r>
                        <a:rPr sz="1150" b="1" i="0">
                          <a:solidFill>
                            <a:srgbClr val="178A73"/>
                          </a:solidFill>
                          <a:latin typeface="Consolas"/>
                        </a:rPr>
                        <a:t>.exe</a:t>
                      </a:r>
                      <a:r>
                        <a:rPr sz="1200" b="0" i="0">
                          <a:solidFill>
                            <a:srgbClr val="202A38"/>
                          </a:solidFill>
                          <a:latin typeface="Times New Roman"/>
                        </a:rPr>
                        <a:t> (PE), by extension</a:t>
                      </a:r>
                    </a:p>
                  </a:txBody>
                  <a:tcPr marL="63500" marR="63500" marT="25400" marB="25400" anchor="ctr">
                    <a:solidFill>
                      <a:srgbClr val="FFFFFF"/>
                    </a:solidFill>
                  </a:tcPr>
                </a:tc>
                <a:tc>
                  <a:txBody>
                    <a:bodyPr wrap="square"/>
                    <a:lstStyle/>
                    <a:p>
                      <a:pPr algn="l"/>
                      <a:r>
                        <a:rPr sz="1200" b="0" i="0">
                          <a:solidFill>
                            <a:srgbClr val="202A38"/>
                          </a:solidFill>
                          <a:latin typeface="Times New Roman"/>
                        </a:rPr>
                        <a:t>ELF; extension irrelevant</a:t>
                      </a:r>
                    </a:p>
                  </a:txBody>
                  <a:tcPr marL="63500" marR="63500" marT="25400" marB="25400" anchor="ctr">
                    <a:solidFill>
                      <a:srgbClr val="FFFFFF"/>
                    </a:solidFill>
                  </a:tcPr>
                </a:tc>
              </a:tr>
              <a:tr h="457200">
                <a:tc>
                  <a:txBody>
                    <a:bodyPr wrap="square"/>
                    <a:lstStyle/>
                    <a:p>
                      <a:pPr algn="l"/>
                      <a:r>
                        <a:rPr sz="1200" b="1" i="0">
                          <a:solidFill>
                            <a:srgbClr val="202A38"/>
                          </a:solidFill>
                          <a:latin typeface="Times New Roman"/>
                        </a:rPr>
                        <a:t>Administrator</a:t>
                      </a:r>
                    </a:p>
                  </a:txBody>
                  <a:tcPr marL="63500" marR="63500" marT="25400" marB="25400" anchor="ctr">
                    <a:solidFill>
                      <a:srgbClr val="F5F8FC"/>
                    </a:solidFill>
                  </a:tcPr>
                </a:tc>
                <a:tc>
                  <a:txBody>
                    <a:bodyPr wrap="square"/>
                    <a:lstStyle/>
                    <a:p>
                      <a:pPr algn="l"/>
                      <a:r>
                        <a:rPr sz="1200" b="0" i="0">
                          <a:solidFill>
                            <a:srgbClr val="202A38"/>
                          </a:solidFill>
                          <a:latin typeface="Times New Roman"/>
                        </a:rPr>
                        <a:t>Administrator</a:t>
                      </a:r>
                    </a:p>
                  </a:txBody>
                  <a:tcPr marL="63500" marR="63500" marT="25400" marB="25400" anchor="ctr">
                    <a:solidFill>
                      <a:srgbClr val="F5F8FC"/>
                    </a:solidFill>
                  </a:tcPr>
                </a:tc>
                <a:tc>
                  <a:txBody>
                    <a:bodyPr wrap="square"/>
                    <a:lstStyle/>
                    <a:p>
                      <a:pPr algn="l"/>
                      <a:r>
                        <a:rPr sz="1150" b="1" i="0">
                          <a:solidFill>
                            <a:srgbClr val="178A73"/>
                          </a:solidFill>
                          <a:latin typeface="Consolas"/>
                        </a:rPr>
                        <a:t>root</a:t>
                      </a:r>
                      <a:r>
                        <a:rPr sz="1200" b="0" i="0">
                          <a:solidFill>
                            <a:srgbClr val="202A38"/>
                          </a:solidFill>
                          <a:latin typeface="Times New Roman"/>
                        </a:rPr>
                        <a:t> (Lesson 4)</a:t>
                      </a:r>
                    </a:p>
                  </a:txBody>
                  <a:tcPr marL="63500" marR="63500" marT="25400" marB="25400" anchor="ctr">
                    <a:solidFill>
                      <a:srgbClr val="F5F8FC"/>
                    </a:solidFill>
                  </a:tcPr>
                </a:tc>
              </a:tr>
              <a:tr h="457200">
                <a:tc>
                  <a:txBody>
                    <a:bodyPr wrap="square"/>
                    <a:lstStyle/>
                    <a:p>
                      <a:pPr algn="l"/>
                      <a:r>
                        <a:rPr sz="1200" b="1" i="0">
                          <a:solidFill>
                            <a:srgbClr val="202A38"/>
                          </a:solidFill>
                          <a:latin typeface="Times New Roman"/>
                        </a:rPr>
                        <a:t>Background services</a:t>
                      </a:r>
                    </a:p>
                  </a:txBody>
                  <a:tcPr marL="63500" marR="63500" marT="25400" marB="25400" anchor="ctr">
                    <a:solidFill>
                      <a:srgbClr val="FFFFFF"/>
                    </a:solidFill>
                  </a:tcPr>
                </a:tc>
                <a:tc>
                  <a:txBody>
                    <a:bodyPr wrap="square"/>
                    <a:lstStyle/>
                    <a:p>
                      <a:pPr algn="l"/>
                      <a:r>
                        <a:rPr sz="1200" b="0" i="0">
                          <a:solidFill>
                            <a:srgbClr val="202A38"/>
                          </a:solidFill>
                          <a:latin typeface="Times New Roman"/>
                        </a:rPr>
                        <a:t>Services (services.msc)</a:t>
                      </a:r>
                    </a:p>
                  </a:txBody>
                  <a:tcPr marL="63500" marR="63500" marT="25400" marB="25400" anchor="ctr">
                    <a:solidFill>
                      <a:srgbClr val="FFFFFF"/>
                    </a:solidFill>
                  </a:tcPr>
                </a:tc>
                <a:tc>
                  <a:txBody>
                    <a:bodyPr wrap="square"/>
                    <a:lstStyle/>
                    <a:p>
                      <a:pPr algn="l"/>
                      <a:r>
                        <a:rPr sz="1200" b="0" i="0">
                          <a:solidFill>
                            <a:srgbClr val="202A38"/>
                          </a:solidFill>
                          <a:latin typeface="Times New Roman"/>
                        </a:rPr>
                        <a:t>Daemons, </a:t>
                      </a:r>
                      <a:r>
                        <a:rPr sz="1150" b="1" i="0">
                          <a:solidFill>
                            <a:srgbClr val="178A73"/>
                          </a:solidFill>
                          <a:latin typeface="Consolas"/>
                        </a:rPr>
                        <a:t>systemd</a:t>
                      </a:r>
                      <a:r>
                        <a:rPr sz="1200" b="0" i="0">
                          <a:solidFill>
                            <a:srgbClr val="202A38"/>
                          </a:solidFill>
                          <a:latin typeface="Times New Roman"/>
                        </a:rPr>
                        <a:t> (Lesson 2)</a:t>
                      </a:r>
                    </a:p>
                  </a:txBody>
                  <a:tcPr marL="63500" marR="63500" marT="25400" marB="25400" anchor="ctr">
                    <a:solidFill>
                      <a:srgbClr val="FFFFFF"/>
                    </a:solidFill>
                  </a:tcPr>
                </a:tc>
              </a:tr>
              <a:tr h="457200">
                <a:tc>
                  <a:txBody>
                    <a:bodyPr wrap="square"/>
                    <a:lstStyle/>
                    <a:p>
                      <a:pPr algn="l"/>
                      <a:r>
                        <a:rPr sz="1200" b="1" i="0">
                          <a:solidFill>
                            <a:srgbClr val="202A38"/>
                          </a:solidFill>
                          <a:latin typeface="Times New Roman"/>
                        </a:rPr>
                        <a:t>Installing software</a:t>
                      </a:r>
                    </a:p>
                  </a:txBody>
                  <a:tcPr marL="63500" marR="63500" marT="25400" marB="25400" anchor="ctr">
                    <a:solidFill>
                      <a:srgbClr val="F5F8FC"/>
                    </a:solidFill>
                  </a:tcPr>
                </a:tc>
                <a:tc>
                  <a:txBody>
                    <a:bodyPr wrap="square"/>
                    <a:lstStyle/>
                    <a:p>
                      <a:pPr algn="l"/>
                      <a:r>
                        <a:rPr sz="1200" b="0" i="0">
                          <a:solidFill>
                            <a:srgbClr val="202A38"/>
                          </a:solidFill>
                          <a:latin typeface="Times New Roman"/>
                        </a:rPr>
                        <a:t>Installer file</a:t>
                      </a:r>
                    </a:p>
                  </a:txBody>
                  <a:tcPr marL="63500" marR="63500" marT="25400" marB="25400" anchor="ctr">
                    <a:solidFill>
                      <a:srgbClr val="F5F8FC"/>
                    </a:solidFill>
                  </a:tcPr>
                </a:tc>
                <a:tc>
                  <a:txBody>
                    <a:bodyPr wrap="square"/>
                    <a:lstStyle/>
                    <a:p>
                      <a:pPr algn="l"/>
                      <a:r>
                        <a:rPr sz="1200" b="0" i="0">
                          <a:solidFill>
                            <a:srgbClr val="202A38"/>
                          </a:solidFill>
                          <a:latin typeface="Times New Roman"/>
                        </a:rPr>
                        <a:t>Package manager: </a:t>
                      </a:r>
                      <a:r>
                        <a:rPr sz="1150" b="1" i="0">
                          <a:solidFill>
                            <a:srgbClr val="178A73"/>
                          </a:solidFill>
                          <a:latin typeface="Consolas"/>
                        </a:rPr>
                        <a:t>apt</a:t>
                      </a:r>
                      <a:r>
                        <a:rPr sz="1200" b="0" i="0">
                          <a:solidFill>
                            <a:srgbClr val="202A38"/>
                          </a:solidFill>
                          <a:latin typeface="Times New Roman"/>
                        </a:rPr>
                        <a:t> (Lesson 2)</a:t>
                      </a:r>
                    </a:p>
                  </a:txBody>
                  <a:tcPr marL="63500" marR="63500" marT="25400" marB="25400" anchor="ctr">
                    <a:solidFill>
                      <a:srgbClr val="F5F8FC"/>
                    </a:solidFill>
                  </a:tcPr>
                </a:tc>
              </a:tr>
            </a:tbl>
          </a:graphicData>
        </a:graphic>
      </p:graphicFrame>
      <p:sp>
        <p:nvSpPr>
          <p:cNvPr id="9" name="Rounded Rectangle 8"/>
          <p:cNvSpPr/>
          <p:nvPr/>
        </p:nvSpPr>
        <p:spPr>
          <a:xfrm>
            <a:off x="8183879" y="1600200"/>
            <a:ext cx="3429000" cy="409651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183879" y="1600200"/>
            <a:ext cx="64008" cy="4096512"/>
          </a:xfrm>
          <a:prstGeom prst="rect">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412480" y="1783080"/>
            <a:ext cx="548640" cy="548640"/>
          </a:xfrm>
          <a:prstGeom prst="ellipse">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warning_FFFFFF.png"/>
          <p:cNvPicPr>
            <a:picLocks noChangeAspect="1"/>
          </p:cNvPicPr>
          <p:nvPr/>
        </p:nvPicPr>
        <p:blipFill>
          <a:blip r:embed="rId3"/>
          <a:stretch>
            <a:fillRect/>
          </a:stretch>
        </p:blipFill>
        <p:spPr>
          <a:xfrm>
            <a:off x="8549640" y="1920240"/>
            <a:ext cx="274320" cy="274320"/>
          </a:xfrm>
          <a:prstGeom prst="rect">
            <a:avLst/>
          </a:prstGeom>
        </p:spPr>
      </p:pic>
      <p:sp>
        <p:nvSpPr>
          <p:cNvPr id="13" name="TextBox 12"/>
          <p:cNvSpPr txBox="1"/>
          <p:nvPr/>
        </p:nvSpPr>
        <p:spPr>
          <a:xfrm>
            <a:off x="9098280" y="1847088"/>
            <a:ext cx="2423160" cy="457200"/>
          </a:xfrm>
          <a:prstGeom prst="rect">
            <a:avLst/>
          </a:prstGeom>
          <a:noFill/>
        </p:spPr>
        <p:txBody>
          <a:bodyPr wrap="square" anchor="t" lIns="0" rIns="0" tIns="0" bIns="0">
            <a:spAutoFit/>
          </a:bodyPr>
          <a:lstStyle/>
          <a:p>
            <a:pPr algn="l">
              <a:lnSpc>
                <a:spcPct val="110000"/>
              </a:lnSpc>
              <a:spcAft>
                <a:spcPts val="300"/>
              </a:spcAft>
            </a:pPr>
            <a:r>
              <a:rPr sz="1300" b="1" i="0">
                <a:solidFill>
                  <a:srgbClr val="E08E1D"/>
                </a:solidFill>
                <a:latin typeface="Times New Roman"/>
              </a:rPr>
              <a:t>Where a Windows user often slips</a:t>
            </a:r>
          </a:p>
        </p:txBody>
      </p:sp>
      <p:sp>
        <p:nvSpPr>
          <p:cNvPr id="14" name="TextBox 13"/>
          <p:cNvSpPr txBox="1"/>
          <p:nvPr/>
        </p:nvSpPr>
        <p:spPr>
          <a:xfrm>
            <a:off x="8412480" y="2514600"/>
            <a:ext cx="3063240" cy="3108960"/>
          </a:xfrm>
          <a:prstGeom prst="rect">
            <a:avLst/>
          </a:prstGeom>
          <a:noFill/>
        </p:spPr>
        <p:txBody>
          <a:bodyPr wrap="square" anchor="t" lIns="0" rIns="0" tIns="0" bIns="0">
            <a:spAutoFit/>
          </a:bodyPr>
          <a:lstStyle/>
          <a:p>
            <a:pPr algn="l">
              <a:lnSpc>
                <a:spcPct val="110000"/>
              </a:lnSpc>
              <a:spcAft>
                <a:spcPts val="700"/>
              </a:spcAft>
            </a:pPr>
            <a:r>
              <a:rPr sz="1250" b="1">
                <a:solidFill>
                  <a:srgbClr val="178A73"/>
                </a:solidFill>
                <a:latin typeface="Times New Roman"/>
              </a:rPr>
              <a:t>▸  </a:t>
            </a:r>
            <a:r>
              <a:rPr sz="1200" b="1" i="0">
                <a:solidFill>
                  <a:srgbClr val="178A73"/>
                </a:solidFill>
                <a:latin typeface="Consolas"/>
              </a:rPr>
              <a:t>Documents</a:t>
            </a:r>
            <a:r>
              <a:rPr sz="1250" b="0" i="0">
                <a:solidFill>
                  <a:srgbClr val="202A38"/>
                </a:solidFill>
                <a:latin typeface="Times New Roman"/>
              </a:rPr>
              <a:t> and </a:t>
            </a:r>
            <a:r>
              <a:rPr sz="1200" b="1" i="0">
                <a:solidFill>
                  <a:srgbClr val="178A73"/>
                </a:solidFill>
                <a:latin typeface="Consolas"/>
              </a:rPr>
              <a:t>documents</a:t>
            </a:r>
            <a:r>
              <a:rPr sz="1250" b="0" i="0">
                <a:solidFill>
                  <a:srgbClr val="202A38"/>
                </a:solidFill>
                <a:latin typeface="Times New Roman"/>
              </a:rPr>
              <a:t> are two different directories.</a:t>
            </a:r>
          </a:p>
          <a:p>
            <a:pPr algn="l">
              <a:lnSpc>
                <a:spcPct val="110000"/>
              </a:lnSpc>
              <a:spcAft>
                <a:spcPts val="700"/>
              </a:spcAft>
            </a:pPr>
            <a:r>
              <a:rPr sz="1250" b="1">
                <a:solidFill>
                  <a:srgbClr val="178A73"/>
                </a:solidFill>
                <a:latin typeface="Times New Roman"/>
              </a:rPr>
              <a:t>▸  </a:t>
            </a:r>
            <a:r>
              <a:rPr sz="1200" b="1" i="0">
                <a:solidFill>
                  <a:srgbClr val="178A73"/>
                </a:solidFill>
                <a:latin typeface="Consolas"/>
              </a:rPr>
              <a:t>image.jpg</a:t>
            </a:r>
            <a:r>
              <a:rPr sz="1250" b="0" i="0">
                <a:solidFill>
                  <a:srgbClr val="202A38"/>
                </a:solidFill>
                <a:latin typeface="Times New Roman"/>
              </a:rPr>
              <a:t> may actually be a program — the type is determined by the bytes inside.</a:t>
            </a:r>
          </a:p>
          <a:p>
            <a:pPr algn="l">
              <a:lnSpc>
                <a:spcPct val="110000"/>
              </a:lnSpc>
              <a:spcAft>
                <a:spcPts val="700"/>
              </a:spcAft>
            </a:pPr>
            <a:r>
              <a:rPr sz="1250" b="1">
                <a:solidFill>
                  <a:srgbClr val="178A73"/>
                </a:solidFill>
                <a:latin typeface="Times New Roman"/>
              </a:rPr>
              <a:t>▸  </a:t>
            </a:r>
            <a:r>
              <a:rPr sz="1250" b="0" i="0">
                <a:solidFill>
                  <a:srgbClr val="202A38"/>
                </a:solidFill>
                <a:latin typeface="Times New Roman"/>
              </a:rPr>
              <a:t>A USB stick is not </a:t>
            </a:r>
            <a:r>
              <a:rPr sz="1200" b="1" i="0">
                <a:solidFill>
                  <a:srgbClr val="178A73"/>
                </a:solidFill>
                <a:latin typeface="Consolas"/>
              </a:rPr>
              <a:t>D:</a:t>
            </a:r>
            <a:r>
              <a:rPr sz="1250" b="0" i="0">
                <a:solidFill>
                  <a:srgbClr val="202A38"/>
                </a:solidFill>
                <a:latin typeface="Times New Roman"/>
              </a:rPr>
              <a:t> but in </a:t>
            </a:r>
            <a:r>
              <a:rPr sz="1200" b="1" i="0">
                <a:solidFill>
                  <a:srgbClr val="178A73"/>
                </a:solidFill>
                <a:latin typeface="Consolas"/>
              </a:rPr>
              <a:t>/media/kali/...</a:t>
            </a:r>
            <a:r>
              <a:rPr sz="1250" b="0" i="0">
                <a:solidFill>
                  <a:srgbClr val="202A38"/>
                </a:solidFill>
                <a:latin typeface="Times New Roman"/>
              </a:rPr>
              <a:t>.</a:t>
            </a:r>
          </a:p>
          <a:p>
            <a:pPr algn="l">
              <a:lnSpc>
                <a:spcPct val="110000"/>
              </a:lnSpc>
              <a:spcAft>
                <a:spcPts val="700"/>
              </a:spcAft>
            </a:pPr>
            <a:r>
              <a:rPr sz="1250" b="1">
                <a:solidFill>
                  <a:srgbClr val="178A73"/>
                </a:solidFill>
                <a:latin typeface="Times New Roman"/>
              </a:rPr>
              <a:t>▸  </a:t>
            </a:r>
            <a:r>
              <a:rPr sz="1250" b="0" i="0">
                <a:solidFill>
                  <a:srgbClr val="202A38"/>
                </a:solidFill>
                <a:latin typeface="Times New Roman"/>
              </a:rPr>
              <a:t>A file removed with </a:t>
            </a:r>
            <a:r>
              <a:rPr sz="1200" b="1" i="0">
                <a:solidFill>
                  <a:srgbClr val="178A73"/>
                </a:solidFill>
                <a:latin typeface="Consolas"/>
              </a:rPr>
              <a:t>rm</a:t>
            </a:r>
            <a:r>
              <a:rPr sz="1250" b="0" i="0">
                <a:solidFill>
                  <a:srgbClr val="202A38"/>
                </a:solidFill>
                <a:latin typeface="Times New Roman"/>
              </a:rPr>
              <a:t> does not go to a Recycle Bin.</a:t>
            </a:r>
          </a:p>
        </p:txBody>
      </p:sp>
      <p:sp>
        <p:nvSpPr>
          <p:cNvPr id="15" name="Rounded Rectangle 14"/>
          <p:cNvSpPr/>
          <p:nvPr/>
        </p:nvSpPr>
        <p:spPr>
          <a:xfrm>
            <a:off x="566928" y="5806440"/>
            <a:ext cx="11045952" cy="502920"/>
          </a:xfrm>
          <a:prstGeom prst="roundRect">
            <a:avLst>
              <a:gd name="adj" fmla="val 8000"/>
            </a:avLst>
          </a:prstGeom>
          <a:solidFill>
            <a:srgbClr val="F5F8FC"/>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earch_1F3864.png"/>
          <p:cNvPicPr>
            <a:picLocks noChangeAspect="1"/>
          </p:cNvPicPr>
          <p:nvPr/>
        </p:nvPicPr>
        <p:blipFill>
          <a:blip r:embed="rId4"/>
          <a:stretch>
            <a:fillRect/>
          </a:stretch>
        </p:blipFill>
        <p:spPr>
          <a:xfrm>
            <a:off x="694944" y="5893308"/>
            <a:ext cx="329184" cy="329184"/>
          </a:xfrm>
          <a:prstGeom prst="rect">
            <a:avLst/>
          </a:prstGeom>
        </p:spPr>
      </p:pic>
      <p:sp>
        <p:nvSpPr>
          <p:cNvPr id="17" name="TextBox 16"/>
          <p:cNvSpPr txBox="1"/>
          <p:nvPr/>
        </p:nvSpPr>
        <p:spPr>
          <a:xfrm>
            <a:off x="1133856" y="5806440"/>
            <a:ext cx="10360152" cy="502920"/>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At the end of the lesson a Windows (cmd) → Linux command dictionary is given.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TOPIC 2 · LINUX OS</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Lesson 1: Working in Linux OS (practical)</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8</a:t>
            </a:r>
          </a:p>
        </p:txBody>
      </p:sp>
      <p:sp>
        <p:nvSpPr>
          <p:cNvPr id="8" name="Rounded Rectangle 7"/>
          <p:cNvSpPr/>
          <p:nvPr/>
        </p:nvSpPr>
        <p:spPr>
          <a:xfrm>
            <a:off x="566928" y="1600200"/>
            <a:ext cx="3566160" cy="82296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04088" y="1737360"/>
            <a:ext cx="548640" cy="54864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yers_FFFFFF.png"/>
          <p:cNvPicPr>
            <a:picLocks noChangeAspect="1"/>
          </p:cNvPicPr>
          <p:nvPr/>
        </p:nvPicPr>
        <p:blipFill>
          <a:blip r:embed="rId3"/>
          <a:stretch>
            <a:fillRect/>
          </a:stretch>
        </p:blipFill>
        <p:spPr>
          <a:xfrm>
            <a:off x="841248" y="1874520"/>
            <a:ext cx="274320" cy="274320"/>
          </a:xfrm>
          <a:prstGeom prst="rect">
            <a:avLst/>
          </a:prstGeom>
        </p:spPr>
      </p:pic>
      <p:sp>
        <p:nvSpPr>
          <p:cNvPr id="11" name="TextBox 10"/>
          <p:cNvSpPr txBox="1"/>
          <p:nvPr/>
        </p:nvSpPr>
        <p:spPr>
          <a:xfrm>
            <a:off x="1435608" y="1691640"/>
            <a:ext cx="2651760" cy="274320"/>
          </a:xfrm>
          <a:prstGeom prst="rect">
            <a:avLst/>
          </a:prstGeom>
          <a:noFill/>
        </p:spPr>
        <p:txBody>
          <a:bodyPr wrap="square" anchor="t" lIns="0" rIns="0" tIns="0" bIns="0">
            <a:spAutoFit/>
          </a:bodyPr>
          <a:lstStyle/>
          <a:p>
            <a:pPr algn="l">
              <a:lnSpc>
                <a:spcPct val="110000"/>
              </a:lnSpc>
              <a:spcAft>
                <a:spcPts val="300"/>
              </a:spcAft>
            </a:pPr>
            <a:r>
              <a:rPr sz="1200" b="0" i="1">
                <a:solidFill>
                  <a:srgbClr val="54647A"/>
                </a:solidFill>
                <a:latin typeface="Times New Roman"/>
              </a:rPr>
              <a:t>Topic</a:t>
            </a:r>
          </a:p>
        </p:txBody>
      </p:sp>
      <p:sp>
        <p:nvSpPr>
          <p:cNvPr id="12" name="TextBox 11"/>
          <p:cNvSpPr txBox="1"/>
          <p:nvPr/>
        </p:nvSpPr>
        <p:spPr>
          <a:xfrm>
            <a:off x="1435608" y="1965960"/>
            <a:ext cx="2651760" cy="365760"/>
          </a:xfrm>
          <a:prstGeom prst="rect">
            <a:avLst/>
          </a:prstGeom>
          <a:noFill/>
        </p:spPr>
        <p:txBody>
          <a:bodyPr wrap="square" anchor="t" lIns="0" rIns="0" tIns="0" bIns="0">
            <a:spAutoFit/>
          </a:bodyPr>
          <a:lstStyle/>
          <a:p>
            <a:pPr algn="l">
              <a:lnSpc>
                <a:spcPct val="110000"/>
              </a:lnSpc>
              <a:spcAft>
                <a:spcPts val="300"/>
              </a:spcAft>
            </a:pPr>
            <a:r>
              <a:rPr sz="1700" b="1" i="0">
                <a:solidFill>
                  <a:srgbClr val="1F3864"/>
                </a:solidFill>
                <a:latin typeface="Times New Roman"/>
              </a:rPr>
              <a:t>Linux OS</a:t>
            </a:r>
          </a:p>
        </p:txBody>
      </p:sp>
      <p:sp>
        <p:nvSpPr>
          <p:cNvPr id="13" name="Rounded Rectangle 12"/>
          <p:cNvSpPr/>
          <p:nvPr/>
        </p:nvSpPr>
        <p:spPr>
          <a:xfrm>
            <a:off x="4315968" y="1600200"/>
            <a:ext cx="3566160" cy="82296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453128" y="1737360"/>
            <a:ext cx="548640" cy="54864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terminal_FFFFFF.png"/>
          <p:cNvPicPr>
            <a:picLocks noChangeAspect="1"/>
          </p:cNvPicPr>
          <p:nvPr/>
        </p:nvPicPr>
        <p:blipFill>
          <a:blip r:embed="rId4"/>
          <a:stretch>
            <a:fillRect/>
          </a:stretch>
        </p:blipFill>
        <p:spPr>
          <a:xfrm>
            <a:off x="4590288" y="1874520"/>
            <a:ext cx="274320" cy="274320"/>
          </a:xfrm>
          <a:prstGeom prst="rect">
            <a:avLst/>
          </a:prstGeom>
        </p:spPr>
      </p:pic>
      <p:sp>
        <p:nvSpPr>
          <p:cNvPr id="16" name="TextBox 15"/>
          <p:cNvSpPr txBox="1"/>
          <p:nvPr/>
        </p:nvSpPr>
        <p:spPr>
          <a:xfrm>
            <a:off x="5184648" y="1691640"/>
            <a:ext cx="2651760" cy="274320"/>
          </a:xfrm>
          <a:prstGeom prst="rect">
            <a:avLst/>
          </a:prstGeom>
          <a:noFill/>
        </p:spPr>
        <p:txBody>
          <a:bodyPr wrap="square" anchor="t" lIns="0" rIns="0" tIns="0" bIns="0">
            <a:spAutoFit/>
          </a:bodyPr>
          <a:lstStyle/>
          <a:p>
            <a:pPr algn="l">
              <a:lnSpc>
                <a:spcPct val="110000"/>
              </a:lnSpc>
              <a:spcAft>
                <a:spcPts val="300"/>
              </a:spcAft>
            </a:pPr>
            <a:r>
              <a:rPr sz="1200" b="0" i="1">
                <a:solidFill>
                  <a:srgbClr val="54647A"/>
                </a:solidFill>
                <a:latin typeface="Times New Roman"/>
              </a:rPr>
              <a:t>Lesson type</a:t>
            </a:r>
          </a:p>
        </p:txBody>
      </p:sp>
      <p:sp>
        <p:nvSpPr>
          <p:cNvPr id="17" name="TextBox 16"/>
          <p:cNvSpPr txBox="1"/>
          <p:nvPr/>
        </p:nvSpPr>
        <p:spPr>
          <a:xfrm>
            <a:off x="5184648" y="1965960"/>
            <a:ext cx="2651760" cy="365760"/>
          </a:xfrm>
          <a:prstGeom prst="rect">
            <a:avLst/>
          </a:prstGeom>
          <a:noFill/>
        </p:spPr>
        <p:txBody>
          <a:bodyPr wrap="square" anchor="t" lIns="0" rIns="0" tIns="0" bIns="0">
            <a:spAutoFit/>
          </a:bodyPr>
          <a:lstStyle/>
          <a:p>
            <a:pPr algn="l">
              <a:lnSpc>
                <a:spcPct val="110000"/>
              </a:lnSpc>
              <a:spcAft>
                <a:spcPts val="300"/>
              </a:spcAft>
            </a:pPr>
            <a:r>
              <a:rPr sz="1700" b="1" i="0">
                <a:solidFill>
                  <a:srgbClr val="1F3864"/>
                </a:solidFill>
                <a:latin typeface="Times New Roman"/>
              </a:rPr>
              <a:t>Practical</a:t>
            </a:r>
          </a:p>
        </p:txBody>
      </p:sp>
      <p:sp>
        <p:nvSpPr>
          <p:cNvPr id="18" name="Rounded Rectangle 17"/>
          <p:cNvSpPr/>
          <p:nvPr/>
        </p:nvSpPr>
        <p:spPr>
          <a:xfrm>
            <a:off x="8065007" y="1600200"/>
            <a:ext cx="3566160" cy="82296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02167" y="1737360"/>
            <a:ext cx="548640" cy="54864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lock_FFFFFF.png"/>
          <p:cNvPicPr>
            <a:picLocks noChangeAspect="1"/>
          </p:cNvPicPr>
          <p:nvPr/>
        </p:nvPicPr>
        <p:blipFill>
          <a:blip r:embed="rId5"/>
          <a:stretch>
            <a:fillRect/>
          </a:stretch>
        </p:blipFill>
        <p:spPr>
          <a:xfrm>
            <a:off x="8339327" y="1874520"/>
            <a:ext cx="274320" cy="274320"/>
          </a:xfrm>
          <a:prstGeom prst="rect">
            <a:avLst/>
          </a:prstGeom>
        </p:spPr>
      </p:pic>
      <p:sp>
        <p:nvSpPr>
          <p:cNvPr id="21" name="TextBox 20"/>
          <p:cNvSpPr txBox="1"/>
          <p:nvPr/>
        </p:nvSpPr>
        <p:spPr>
          <a:xfrm>
            <a:off x="8933687" y="1691640"/>
            <a:ext cx="2651760" cy="274320"/>
          </a:xfrm>
          <a:prstGeom prst="rect">
            <a:avLst/>
          </a:prstGeom>
          <a:noFill/>
        </p:spPr>
        <p:txBody>
          <a:bodyPr wrap="square" anchor="t" lIns="0" rIns="0" tIns="0" bIns="0">
            <a:spAutoFit/>
          </a:bodyPr>
          <a:lstStyle/>
          <a:p>
            <a:pPr algn="l">
              <a:lnSpc>
                <a:spcPct val="110000"/>
              </a:lnSpc>
              <a:spcAft>
                <a:spcPts val="300"/>
              </a:spcAft>
            </a:pPr>
            <a:r>
              <a:rPr sz="1200" b="0" i="1">
                <a:solidFill>
                  <a:srgbClr val="54647A"/>
                </a:solidFill>
                <a:latin typeface="Times New Roman"/>
              </a:rPr>
              <a:t>Duration</a:t>
            </a:r>
          </a:p>
        </p:txBody>
      </p:sp>
      <p:sp>
        <p:nvSpPr>
          <p:cNvPr id="22" name="TextBox 21"/>
          <p:cNvSpPr txBox="1"/>
          <p:nvPr/>
        </p:nvSpPr>
        <p:spPr>
          <a:xfrm>
            <a:off x="8933687" y="1965960"/>
            <a:ext cx="2651760" cy="365760"/>
          </a:xfrm>
          <a:prstGeom prst="rect">
            <a:avLst/>
          </a:prstGeom>
          <a:noFill/>
        </p:spPr>
        <p:txBody>
          <a:bodyPr wrap="square" anchor="t" lIns="0" rIns="0" tIns="0" bIns="0">
            <a:spAutoFit/>
          </a:bodyPr>
          <a:lstStyle/>
          <a:p>
            <a:pPr algn="l">
              <a:lnSpc>
                <a:spcPct val="110000"/>
              </a:lnSpc>
              <a:spcAft>
                <a:spcPts val="300"/>
              </a:spcAft>
            </a:pPr>
            <a:r>
              <a:rPr sz="1700" b="1" i="0">
                <a:solidFill>
                  <a:srgbClr val="1F3864"/>
                </a:solidFill>
                <a:latin typeface="Times New Roman"/>
              </a:rPr>
              <a:t>4 hours</a:t>
            </a:r>
          </a:p>
        </p:txBody>
      </p:sp>
      <p:sp>
        <p:nvSpPr>
          <p:cNvPr id="23" name="Rounded Rectangle 22"/>
          <p:cNvSpPr/>
          <p:nvPr/>
        </p:nvSpPr>
        <p:spPr>
          <a:xfrm>
            <a:off x="566928" y="2651760"/>
            <a:ext cx="5486400" cy="251460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2651760"/>
            <a:ext cx="64008" cy="2514600"/>
          </a:xfrm>
          <a:prstGeom prst="rect">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2734056"/>
            <a:ext cx="5212080" cy="274320"/>
          </a:xfrm>
          <a:prstGeom prst="rect">
            <a:avLst/>
          </a:prstGeom>
          <a:noFill/>
        </p:spPr>
        <p:txBody>
          <a:bodyPr wrap="square" anchor="t" lIns="0" rIns="0" tIns="0" bIns="0">
            <a:spAutoFit/>
          </a:bodyPr>
          <a:lstStyle/>
          <a:p>
            <a:pPr algn="l">
              <a:lnSpc>
                <a:spcPct val="110000"/>
              </a:lnSpc>
              <a:spcAft>
                <a:spcPts val="300"/>
              </a:spcAft>
            </a:pPr>
            <a:r>
              <a:rPr sz="1350" b="1" i="0">
                <a:solidFill>
                  <a:srgbClr val="178A73"/>
                </a:solidFill>
                <a:latin typeface="Times New Roman"/>
              </a:rPr>
              <a:t>Learning questions</a:t>
            </a:r>
          </a:p>
        </p:txBody>
      </p:sp>
      <p:sp>
        <p:nvSpPr>
          <p:cNvPr id="26" name="Oval 25"/>
          <p:cNvSpPr/>
          <p:nvPr/>
        </p:nvSpPr>
        <p:spPr>
          <a:xfrm>
            <a:off x="777240" y="3154680"/>
            <a:ext cx="384048" cy="384048"/>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Times New Roman"/>
              </a:rPr>
              <a:t>1</a:t>
            </a:r>
          </a:p>
        </p:txBody>
      </p:sp>
      <p:sp>
        <p:nvSpPr>
          <p:cNvPr id="27" name="TextBox 26"/>
          <p:cNvSpPr txBox="1"/>
          <p:nvPr/>
        </p:nvSpPr>
        <p:spPr>
          <a:xfrm>
            <a:off x="1325880" y="3108960"/>
            <a:ext cx="4572000" cy="274320"/>
          </a:xfrm>
          <a:prstGeom prst="rect">
            <a:avLst/>
          </a:prstGeom>
          <a:noFill/>
        </p:spPr>
        <p:txBody>
          <a:bodyPr wrap="square" anchor="t" lIns="0" rIns="0" tIns="0" bIns="0">
            <a:spAutoFit/>
          </a:bodyPr>
          <a:lstStyle/>
          <a:p>
            <a:pPr algn="l">
              <a:lnSpc>
                <a:spcPct val="110000"/>
              </a:lnSpc>
              <a:spcAft>
                <a:spcPts val="300"/>
              </a:spcAft>
            </a:pPr>
            <a:r>
              <a:rPr sz="1500" b="1" i="0">
                <a:solidFill>
                  <a:srgbClr val="1F3864"/>
                </a:solidFill>
                <a:latin typeface="Times New Roman"/>
              </a:rPr>
              <a:t>Getting to know the Linux family</a:t>
            </a:r>
          </a:p>
        </p:txBody>
      </p:sp>
      <p:sp>
        <p:nvSpPr>
          <p:cNvPr id="28" name="TextBox 27"/>
          <p:cNvSpPr txBox="1"/>
          <p:nvPr/>
        </p:nvSpPr>
        <p:spPr>
          <a:xfrm>
            <a:off x="1325880" y="3401568"/>
            <a:ext cx="4572000" cy="731520"/>
          </a:xfrm>
          <a:prstGeom prst="rect">
            <a:avLst/>
          </a:prstGeom>
          <a:noFill/>
        </p:spPr>
        <p:txBody>
          <a:bodyPr wrap="square" anchor="t" lIns="0" rIns="0" tIns="0" bIns="0">
            <a:spAutoFit/>
          </a:bodyPr>
          <a:lstStyle/>
          <a:p>
            <a:pPr algn="l">
              <a:lnSpc>
                <a:spcPct val="110000"/>
              </a:lnSpc>
              <a:spcAft>
                <a:spcPts val="300"/>
              </a:spcAft>
            </a:pPr>
            <a:r>
              <a:rPr sz="1250" b="0" i="0">
                <a:solidFill>
                  <a:srgbClr val="54647A"/>
                </a:solidFill>
                <a:latin typeface="Times New Roman"/>
              </a:rPr>
              <a:t>Kernel and distribution, families, Kali environment, system and resource info (1.1–1.3)</a:t>
            </a:r>
          </a:p>
        </p:txBody>
      </p:sp>
      <p:sp>
        <p:nvSpPr>
          <p:cNvPr id="29" name="Oval 28"/>
          <p:cNvSpPr/>
          <p:nvPr/>
        </p:nvSpPr>
        <p:spPr>
          <a:xfrm>
            <a:off x="777240" y="4160520"/>
            <a:ext cx="384048" cy="384048"/>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Times New Roman"/>
              </a:rPr>
              <a:t>2</a:t>
            </a:r>
          </a:p>
        </p:txBody>
      </p:sp>
      <p:sp>
        <p:nvSpPr>
          <p:cNvPr id="30" name="TextBox 29"/>
          <p:cNvSpPr txBox="1"/>
          <p:nvPr/>
        </p:nvSpPr>
        <p:spPr>
          <a:xfrm>
            <a:off x="1325880" y="4114800"/>
            <a:ext cx="4572000" cy="274320"/>
          </a:xfrm>
          <a:prstGeom prst="rect">
            <a:avLst/>
          </a:prstGeom>
          <a:noFill/>
        </p:spPr>
        <p:txBody>
          <a:bodyPr wrap="square" anchor="t" lIns="0" rIns="0" tIns="0" bIns="0">
            <a:spAutoFit/>
          </a:bodyPr>
          <a:lstStyle/>
          <a:p>
            <a:pPr algn="l">
              <a:lnSpc>
                <a:spcPct val="110000"/>
              </a:lnSpc>
              <a:spcAft>
                <a:spcPts val="300"/>
              </a:spcAft>
            </a:pPr>
            <a:r>
              <a:rPr sz="1500" b="1" i="0">
                <a:solidFill>
                  <a:srgbClr val="1F3864"/>
                </a:solidFill>
                <a:latin typeface="Times New Roman"/>
              </a:rPr>
              <a:t>Working with files</a:t>
            </a:r>
          </a:p>
        </p:txBody>
      </p:sp>
      <p:sp>
        <p:nvSpPr>
          <p:cNvPr id="31" name="TextBox 30"/>
          <p:cNvSpPr txBox="1"/>
          <p:nvPr/>
        </p:nvSpPr>
        <p:spPr>
          <a:xfrm>
            <a:off x="1325880" y="4407408"/>
            <a:ext cx="4572000" cy="731520"/>
          </a:xfrm>
          <a:prstGeom prst="rect">
            <a:avLst/>
          </a:prstGeom>
          <a:noFill/>
        </p:spPr>
        <p:txBody>
          <a:bodyPr wrap="square" anchor="t" lIns="0" rIns="0" tIns="0" bIns="0">
            <a:spAutoFit/>
          </a:bodyPr>
          <a:lstStyle/>
          <a:p>
            <a:pPr algn="l">
              <a:lnSpc>
                <a:spcPct val="110000"/>
              </a:lnSpc>
              <a:spcAft>
                <a:spcPts val="300"/>
              </a:spcAft>
            </a:pPr>
            <a:r>
              <a:rPr sz="1250" b="0" i="0">
                <a:solidFill>
                  <a:srgbClr val="54647A"/>
                </a:solidFill>
                <a:latin typeface="Times New Roman"/>
              </a:rPr>
              <a:t>FHS, paths, create/copy/delete, viewing, type and time, searching, links, archives, size (2.1–2.9)</a:t>
            </a:r>
          </a:p>
        </p:txBody>
      </p:sp>
      <p:sp>
        <p:nvSpPr>
          <p:cNvPr id="32" name="Rounded Rectangle 31"/>
          <p:cNvSpPr/>
          <p:nvPr/>
        </p:nvSpPr>
        <p:spPr>
          <a:xfrm>
            <a:off x="6263640" y="2651760"/>
            <a:ext cx="5349240" cy="251460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63640" y="2651760"/>
            <a:ext cx="64008" cy="2514600"/>
          </a:xfrm>
          <a:prstGeom prst="rect">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2734056"/>
            <a:ext cx="5074920" cy="274320"/>
          </a:xfrm>
          <a:prstGeom prst="rect">
            <a:avLst/>
          </a:prstGeom>
          <a:noFill/>
        </p:spPr>
        <p:txBody>
          <a:bodyPr wrap="square" anchor="t" lIns="0" rIns="0" tIns="0" bIns="0">
            <a:spAutoFit/>
          </a:bodyPr>
          <a:lstStyle/>
          <a:p>
            <a:pPr algn="l">
              <a:lnSpc>
                <a:spcPct val="110000"/>
              </a:lnSpc>
              <a:spcAft>
                <a:spcPts val="300"/>
              </a:spcAft>
            </a:pPr>
            <a:r>
              <a:rPr sz="1350" b="1" i="0">
                <a:solidFill>
                  <a:srgbClr val="E08E1D"/>
                </a:solidFill>
                <a:latin typeface="Times New Roman"/>
              </a:rPr>
              <a:t>Safety rules</a:t>
            </a:r>
          </a:p>
        </p:txBody>
      </p:sp>
      <p:sp>
        <p:nvSpPr>
          <p:cNvPr id="35" name="TextBox 34"/>
          <p:cNvSpPr txBox="1"/>
          <p:nvPr/>
        </p:nvSpPr>
        <p:spPr>
          <a:xfrm>
            <a:off x="6492240" y="3063240"/>
            <a:ext cx="4983480" cy="2103120"/>
          </a:xfrm>
          <a:prstGeom prst="rect">
            <a:avLst/>
          </a:prstGeom>
          <a:noFill/>
        </p:spPr>
        <p:txBody>
          <a:bodyPr wrap="square" anchor="t" lIns="0" rIns="0" tIns="0" bIns="0">
            <a:spAutoFit/>
          </a:bodyPr>
          <a:lstStyle/>
          <a:p>
            <a:pPr algn="l">
              <a:lnSpc>
                <a:spcPct val="110000"/>
              </a:lnSpc>
              <a:spcAft>
                <a:spcPts val="500"/>
              </a:spcAft>
            </a:pPr>
            <a:r>
              <a:rPr sz="1300" b="1">
                <a:solidFill>
                  <a:srgbClr val="178A73"/>
                </a:solidFill>
                <a:latin typeface="Times New Roman"/>
              </a:rPr>
              <a:t>▸  </a:t>
            </a:r>
            <a:r>
              <a:rPr sz="1300" b="0" i="0">
                <a:solidFill>
                  <a:srgbClr val="202A38"/>
                </a:solidFill>
                <a:latin typeface="Times New Roman"/>
              </a:rPr>
              <a:t>All actions are performed only in the Kali Linux virtual machine.</a:t>
            </a:r>
          </a:p>
          <a:p>
            <a:pPr algn="l">
              <a:lnSpc>
                <a:spcPct val="110000"/>
              </a:lnSpc>
              <a:spcAft>
                <a:spcPts val="500"/>
              </a:spcAft>
            </a:pPr>
            <a:r>
              <a:rPr sz="1300" b="1">
                <a:solidFill>
                  <a:srgbClr val="178A73"/>
                </a:solidFill>
                <a:latin typeface="Times New Roman"/>
              </a:rPr>
              <a:t>▸  </a:t>
            </a:r>
            <a:r>
              <a:rPr sz="1300" b="0" i="0">
                <a:solidFill>
                  <a:srgbClr val="202A38"/>
                </a:solidFill>
                <a:latin typeface="Times New Roman"/>
              </a:rPr>
              <a:t>Take a snapshot at the start of the lesson.</a:t>
            </a:r>
          </a:p>
          <a:p>
            <a:pPr algn="l">
              <a:lnSpc>
                <a:spcPct val="110000"/>
              </a:lnSpc>
              <a:spcAft>
                <a:spcPts val="500"/>
              </a:spcAft>
            </a:pPr>
            <a:r>
              <a:rPr sz="1300" b="1">
                <a:solidFill>
                  <a:srgbClr val="178A73"/>
                </a:solidFill>
                <a:latin typeface="Times New Roman"/>
              </a:rPr>
              <a:t>▸  </a:t>
            </a:r>
            <a:r>
              <a:rPr sz="1300" b="0" i="0">
                <a:solidFill>
                  <a:srgbClr val="202A38"/>
                </a:solidFill>
                <a:latin typeface="Times New Roman"/>
              </a:rPr>
              <a:t>All commands run as the ordinary user </a:t>
            </a:r>
            <a:r>
              <a:rPr sz="1250" b="1" i="0">
                <a:solidFill>
                  <a:srgbClr val="178A73"/>
                </a:solidFill>
                <a:latin typeface="Consolas"/>
              </a:rPr>
              <a:t>kali</a:t>
            </a:r>
            <a:r>
              <a:rPr sz="1300" b="0" i="0">
                <a:solidFill>
                  <a:srgbClr val="202A38"/>
                </a:solidFill>
                <a:latin typeface="Times New Roman"/>
              </a:rPr>
              <a:t> — no </a:t>
            </a:r>
            <a:r>
              <a:rPr sz="1250" b="1" i="0">
                <a:solidFill>
                  <a:srgbClr val="178A73"/>
                </a:solidFill>
                <a:latin typeface="Consolas"/>
              </a:rPr>
              <a:t>sudo</a:t>
            </a:r>
            <a:r>
              <a:rPr sz="1300" b="0" i="0">
                <a:solidFill>
                  <a:srgbClr val="202A38"/>
                </a:solidFill>
                <a:latin typeface="Times New Roman"/>
              </a:rPr>
              <a:t> needed.</a:t>
            </a:r>
          </a:p>
          <a:p>
            <a:pPr algn="l">
              <a:lnSpc>
                <a:spcPct val="110000"/>
              </a:lnSpc>
              <a:spcAft>
                <a:spcPts val="500"/>
              </a:spcAft>
            </a:pPr>
            <a:r>
              <a:rPr sz="1300" b="1">
                <a:solidFill>
                  <a:srgbClr val="178A73"/>
                </a:solidFill>
                <a:latin typeface="Times New Roman"/>
              </a:rPr>
              <a:t>▸  </a:t>
            </a:r>
            <a:r>
              <a:rPr sz="1300" b="0" i="0">
                <a:solidFill>
                  <a:srgbClr val="202A38"/>
                </a:solidFill>
                <a:latin typeface="Times New Roman"/>
              </a:rPr>
              <a:t>Linux has no “Recycle Bin”: a file removed with </a:t>
            </a:r>
            <a:r>
              <a:rPr sz="1250" b="1" i="0">
                <a:solidFill>
                  <a:srgbClr val="178A73"/>
                </a:solidFill>
                <a:latin typeface="Consolas"/>
              </a:rPr>
              <a:t>rm</a:t>
            </a:r>
            <a:r>
              <a:rPr sz="1300" b="0" i="0">
                <a:solidFill>
                  <a:srgbClr val="202A38"/>
                </a:solidFill>
                <a:latin typeface="Times New Roman"/>
              </a:rPr>
              <a:t> does not come back.</a:t>
            </a:r>
          </a:p>
        </p:txBody>
      </p:sp>
      <p:sp>
        <p:nvSpPr>
          <p:cNvPr id="36" name="Rounded Rectangle 35"/>
          <p:cNvSpPr/>
          <p:nvPr/>
        </p:nvSpPr>
        <p:spPr>
          <a:xfrm>
            <a:off x="566928" y="5349240"/>
            <a:ext cx="11045952" cy="777240"/>
          </a:xfrm>
          <a:prstGeom prst="roundRect">
            <a:avLst>
              <a:gd name="adj" fmla="val 8000"/>
            </a:avLst>
          </a:prstGeom>
          <a:solidFill>
            <a:srgbClr val="F5F8FC"/>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search_1F3864.png"/>
          <p:cNvPicPr>
            <a:picLocks noChangeAspect="1"/>
          </p:cNvPicPr>
          <p:nvPr/>
        </p:nvPicPr>
        <p:blipFill>
          <a:blip r:embed="rId6"/>
          <a:stretch>
            <a:fillRect/>
          </a:stretch>
        </p:blipFill>
        <p:spPr>
          <a:xfrm>
            <a:off x="694944" y="5573268"/>
            <a:ext cx="329184" cy="329184"/>
          </a:xfrm>
          <a:prstGeom prst="rect">
            <a:avLst/>
          </a:prstGeom>
        </p:spPr>
      </p:pic>
      <p:sp>
        <p:nvSpPr>
          <p:cNvPr id="38" name="TextBox 37"/>
          <p:cNvSpPr txBox="1"/>
          <p:nvPr/>
        </p:nvSpPr>
        <p:spPr>
          <a:xfrm>
            <a:off x="1133856" y="5349240"/>
            <a:ext cx="10360152" cy="777240"/>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Each task has space reserved for a screenshot: paste your result into the workbook (handout). Each task ends with a “Summary”.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PRACTICAL LESSON · ORGANIZATION</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Lab plan: 12 steps, ~170 minutes</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9</a:t>
            </a:r>
          </a:p>
        </p:txBody>
      </p:sp>
      <p:sp>
        <p:nvSpPr>
          <p:cNvPr id="8" name="TextBox 7"/>
          <p:cNvSpPr txBox="1"/>
          <p:nvPr/>
        </p:nvSpPr>
        <p:spPr>
          <a:xfrm>
            <a:off x="566928" y="1508760"/>
            <a:ext cx="530352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Question 1 · Getting to know the Linux family</a:t>
            </a:r>
          </a:p>
        </p:txBody>
      </p:sp>
      <p:sp>
        <p:nvSpPr>
          <p:cNvPr id="9" name="TextBox 8"/>
          <p:cNvSpPr txBox="1"/>
          <p:nvPr/>
        </p:nvSpPr>
        <p:spPr>
          <a:xfrm>
            <a:off x="6172200" y="1508760"/>
            <a:ext cx="539496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E08E1D"/>
                </a:solidFill>
                <a:latin typeface="Times New Roman"/>
              </a:rPr>
              <a:t>Question 2 · Working with files</a:t>
            </a:r>
          </a:p>
        </p:txBody>
      </p:sp>
      <p:sp>
        <p:nvSpPr>
          <p:cNvPr id="10" name="Rounded Rectangle 9"/>
          <p:cNvSpPr/>
          <p:nvPr/>
        </p:nvSpPr>
        <p:spPr>
          <a:xfrm>
            <a:off x="566928" y="1828800"/>
            <a:ext cx="5394960" cy="42062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 y="1883664"/>
            <a:ext cx="548640" cy="310896"/>
          </a:xfrm>
          <a:prstGeom prst="roundRect">
            <a:avLst>
              <a:gd name="adj" fmla="val 15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i="0">
                <a:solidFill>
                  <a:srgbClr val="FFFFFF"/>
                </a:solidFill>
                <a:latin typeface="Times New Roman"/>
              </a:rPr>
              <a:t>0</a:t>
            </a:r>
          </a:p>
        </p:txBody>
      </p:sp>
      <p:sp>
        <p:nvSpPr>
          <p:cNvPr id="12" name="TextBox 11"/>
          <p:cNvSpPr txBox="1"/>
          <p:nvPr/>
        </p:nvSpPr>
        <p:spPr>
          <a:xfrm>
            <a:off x="1298448" y="1828800"/>
            <a:ext cx="3931920" cy="420624"/>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Preparation: Kali, snapshot, terminal</a:t>
            </a:r>
          </a:p>
        </p:txBody>
      </p:sp>
      <p:sp>
        <p:nvSpPr>
          <p:cNvPr id="13" name="TextBox 12"/>
          <p:cNvSpPr txBox="1"/>
          <p:nvPr/>
        </p:nvSpPr>
        <p:spPr>
          <a:xfrm>
            <a:off x="5138928" y="1828800"/>
            <a:ext cx="731520" cy="420624"/>
          </a:xfrm>
          <a:prstGeom prst="rect">
            <a:avLst/>
          </a:prstGeom>
          <a:noFill/>
        </p:spPr>
        <p:txBody>
          <a:bodyPr wrap="square" anchor="ctr" lIns="0" rIns="0" tIns="0" bIns="0">
            <a:spAutoFit/>
          </a:bodyPr>
          <a:lstStyle/>
          <a:p>
            <a:pPr algn="r">
              <a:lnSpc>
                <a:spcPct val="110000"/>
              </a:lnSpc>
              <a:spcAft>
                <a:spcPts val="300"/>
              </a:spcAft>
            </a:pPr>
            <a:r>
              <a:rPr sz="1100" b="1" i="0">
                <a:solidFill>
                  <a:srgbClr val="1F3864"/>
                </a:solidFill>
                <a:latin typeface="Times New Roman"/>
              </a:rPr>
              <a:t>10 min</a:t>
            </a:r>
          </a:p>
        </p:txBody>
      </p:sp>
      <p:sp>
        <p:nvSpPr>
          <p:cNvPr id="14" name="Rounded Rectangle 13"/>
          <p:cNvSpPr/>
          <p:nvPr/>
        </p:nvSpPr>
        <p:spPr>
          <a:xfrm>
            <a:off x="566928" y="2340864"/>
            <a:ext cx="5394960" cy="42062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 y="2395728"/>
            <a:ext cx="548640" cy="310896"/>
          </a:xfrm>
          <a:prstGeom prst="roundRect">
            <a:avLst>
              <a:gd name="adj" fmla="val 15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i="0">
                <a:solidFill>
                  <a:srgbClr val="FFFFFF"/>
                </a:solidFill>
                <a:latin typeface="Times New Roman"/>
              </a:rPr>
              <a:t>1.1</a:t>
            </a:r>
          </a:p>
        </p:txBody>
      </p:sp>
      <p:sp>
        <p:nvSpPr>
          <p:cNvPr id="16" name="TextBox 15"/>
          <p:cNvSpPr txBox="1"/>
          <p:nvPr/>
        </p:nvSpPr>
        <p:spPr>
          <a:xfrm>
            <a:off x="1298448" y="2340864"/>
            <a:ext cx="3931920" cy="420624"/>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Getting to know the Kali GUI</a:t>
            </a:r>
          </a:p>
        </p:txBody>
      </p:sp>
      <p:sp>
        <p:nvSpPr>
          <p:cNvPr id="17" name="TextBox 16"/>
          <p:cNvSpPr txBox="1"/>
          <p:nvPr/>
        </p:nvSpPr>
        <p:spPr>
          <a:xfrm>
            <a:off x="5138928" y="2340864"/>
            <a:ext cx="731520" cy="420624"/>
          </a:xfrm>
          <a:prstGeom prst="rect">
            <a:avLst/>
          </a:prstGeom>
          <a:noFill/>
        </p:spPr>
        <p:txBody>
          <a:bodyPr wrap="square" anchor="ctr" lIns="0" rIns="0" tIns="0" bIns="0">
            <a:spAutoFit/>
          </a:bodyPr>
          <a:lstStyle/>
          <a:p>
            <a:pPr algn="r">
              <a:lnSpc>
                <a:spcPct val="110000"/>
              </a:lnSpc>
              <a:spcAft>
                <a:spcPts val="300"/>
              </a:spcAft>
            </a:pPr>
            <a:r>
              <a:rPr sz="1100" b="1" i="0">
                <a:solidFill>
                  <a:srgbClr val="1F3864"/>
                </a:solidFill>
                <a:latin typeface="Times New Roman"/>
              </a:rPr>
              <a:t>15 min</a:t>
            </a:r>
          </a:p>
        </p:txBody>
      </p:sp>
      <p:sp>
        <p:nvSpPr>
          <p:cNvPr id="18" name="Rounded Rectangle 17"/>
          <p:cNvSpPr/>
          <p:nvPr/>
        </p:nvSpPr>
        <p:spPr>
          <a:xfrm>
            <a:off x="566928" y="2852928"/>
            <a:ext cx="5394960" cy="42062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1792" y="2907792"/>
            <a:ext cx="548640" cy="310896"/>
          </a:xfrm>
          <a:prstGeom prst="roundRect">
            <a:avLst>
              <a:gd name="adj" fmla="val 15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i="0">
                <a:solidFill>
                  <a:srgbClr val="FFFFFF"/>
                </a:solidFill>
                <a:latin typeface="Times New Roman"/>
              </a:rPr>
              <a:t>1.2</a:t>
            </a:r>
          </a:p>
        </p:txBody>
      </p:sp>
      <p:sp>
        <p:nvSpPr>
          <p:cNvPr id="20" name="TextBox 19"/>
          <p:cNvSpPr txBox="1"/>
          <p:nvPr/>
        </p:nvSpPr>
        <p:spPr>
          <a:xfrm>
            <a:off x="1298448" y="2852928"/>
            <a:ext cx="3931920" cy="420624"/>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Determining distribution and kernel version</a:t>
            </a:r>
          </a:p>
        </p:txBody>
      </p:sp>
      <p:sp>
        <p:nvSpPr>
          <p:cNvPr id="21" name="TextBox 20"/>
          <p:cNvSpPr txBox="1"/>
          <p:nvPr/>
        </p:nvSpPr>
        <p:spPr>
          <a:xfrm>
            <a:off x="5138928" y="2852928"/>
            <a:ext cx="731520" cy="420624"/>
          </a:xfrm>
          <a:prstGeom prst="rect">
            <a:avLst/>
          </a:prstGeom>
          <a:noFill/>
        </p:spPr>
        <p:txBody>
          <a:bodyPr wrap="square" anchor="ctr" lIns="0" rIns="0" tIns="0" bIns="0">
            <a:spAutoFit/>
          </a:bodyPr>
          <a:lstStyle/>
          <a:p>
            <a:pPr algn="r">
              <a:lnSpc>
                <a:spcPct val="110000"/>
              </a:lnSpc>
              <a:spcAft>
                <a:spcPts val="300"/>
              </a:spcAft>
            </a:pPr>
            <a:r>
              <a:rPr sz="1100" b="1" i="0">
                <a:solidFill>
                  <a:srgbClr val="1F3864"/>
                </a:solidFill>
                <a:latin typeface="Times New Roman"/>
              </a:rPr>
              <a:t>15 min</a:t>
            </a:r>
          </a:p>
        </p:txBody>
      </p:sp>
      <p:sp>
        <p:nvSpPr>
          <p:cNvPr id="22" name="Rounded Rectangle 21"/>
          <p:cNvSpPr/>
          <p:nvPr/>
        </p:nvSpPr>
        <p:spPr>
          <a:xfrm>
            <a:off x="566928" y="3364992"/>
            <a:ext cx="5394960" cy="42062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1792" y="3419856"/>
            <a:ext cx="548640" cy="310896"/>
          </a:xfrm>
          <a:prstGeom prst="roundRect">
            <a:avLst>
              <a:gd name="adj" fmla="val 15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i="0">
                <a:solidFill>
                  <a:srgbClr val="FFFFFF"/>
                </a:solidFill>
                <a:latin typeface="Times New Roman"/>
              </a:rPr>
              <a:t>1.3</a:t>
            </a:r>
          </a:p>
        </p:txBody>
      </p:sp>
      <p:sp>
        <p:nvSpPr>
          <p:cNvPr id="24" name="TextBox 23"/>
          <p:cNvSpPr txBox="1"/>
          <p:nvPr/>
        </p:nvSpPr>
        <p:spPr>
          <a:xfrm>
            <a:off x="1298448" y="3364992"/>
            <a:ext cx="3931920" cy="420624"/>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Resources and “everything is a file”</a:t>
            </a:r>
          </a:p>
        </p:txBody>
      </p:sp>
      <p:sp>
        <p:nvSpPr>
          <p:cNvPr id="25" name="TextBox 24"/>
          <p:cNvSpPr txBox="1"/>
          <p:nvPr/>
        </p:nvSpPr>
        <p:spPr>
          <a:xfrm>
            <a:off x="5138928" y="3364992"/>
            <a:ext cx="731520" cy="420624"/>
          </a:xfrm>
          <a:prstGeom prst="rect">
            <a:avLst/>
          </a:prstGeom>
          <a:noFill/>
        </p:spPr>
        <p:txBody>
          <a:bodyPr wrap="square" anchor="ctr" lIns="0" rIns="0" tIns="0" bIns="0">
            <a:spAutoFit/>
          </a:bodyPr>
          <a:lstStyle/>
          <a:p>
            <a:pPr algn="r">
              <a:lnSpc>
                <a:spcPct val="110000"/>
              </a:lnSpc>
              <a:spcAft>
                <a:spcPts val="300"/>
              </a:spcAft>
            </a:pPr>
            <a:r>
              <a:rPr sz="1100" b="1" i="0">
                <a:solidFill>
                  <a:srgbClr val="1F3864"/>
                </a:solidFill>
                <a:latin typeface="Times New Roman"/>
              </a:rPr>
              <a:t>10 min</a:t>
            </a:r>
          </a:p>
        </p:txBody>
      </p:sp>
      <p:sp>
        <p:nvSpPr>
          <p:cNvPr id="26" name="Rounded Rectangle 25"/>
          <p:cNvSpPr/>
          <p:nvPr/>
        </p:nvSpPr>
        <p:spPr>
          <a:xfrm>
            <a:off x="6172200" y="1810512"/>
            <a:ext cx="5440680" cy="42062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27064" y="1865376"/>
            <a:ext cx="548640" cy="310896"/>
          </a:xfrm>
          <a:prstGeom prst="roundRect">
            <a:avLst>
              <a:gd name="adj" fmla="val 15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i="0">
                <a:solidFill>
                  <a:srgbClr val="FFFFFF"/>
                </a:solidFill>
                <a:latin typeface="Times New Roman"/>
              </a:rPr>
              <a:t>2.1</a:t>
            </a:r>
          </a:p>
        </p:txBody>
      </p:sp>
      <p:sp>
        <p:nvSpPr>
          <p:cNvPr id="28" name="TextBox 27"/>
          <p:cNvSpPr txBox="1"/>
          <p:nvPr/>
        </p:nvSpPr>
        <p:spPr>
          <a:xfrm>
            <a:off x="6903720" y="1810512"/>
            <a:ext cx="3977640" cy="420624"/>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Navigation: pwd, cd, ls</a:t>
            </a:r>
          </a:p>
        </p:txBody>
      </p:sp>
      <p:sp>
        <p:nvSpPr>
          <p:cNvPr id="29" name="TextBox 28"/>
          <p:cNvSpPr txBox="1"/>
          <p:nvPr/>
        </p:nvSpPr>
        <p:spPr>
          <a:xfrm>
            <a:off x="10789920" y="1810512"/>
            <a:ext cx="731520" cy="420624"/>
          </a:xfrm>
          <a:prstGeom prst="rect">
            <a:avLst/>
          </a:prstGeom>
          <a:noFill/>
        </p:spPr>
        <p:txBody>
          <a:bodyPr wrap="square" anchor="ctr" lIns="0" rIns="0" tIns="0" bIns="0">
            <a:spAutoFit/>
          </a:bodyPr>
          <a:lstStyle/>
          <a:p>
            <a:pPr algn="r">
              <a:lnSpc>
                <a:spcPct val="110000"/>
              </a:lnSpc>
              <a:spcAft>
                <a:spcPts val="300"/>
              </a:spcAft>
            </a:pPr>
            <a:r>
              <a:rPr sz="1100" b="1" i="0">
                <a:solidFill>
                  <a:srgbClr val="1F3864"/>
                </a:solidFill>
                <a:latin typeface="Times New Roman"/>
              </a:rPr>
              <a:t>15 min</a:t>
            </a:r>
          </a:p>
        </p:txBody>
      </p:sp>
      <p:sp>
        <p:nvSpPr>
          <p:cNvPr id="30" name="Rounded Rectangle 29"/>
          <p:cNvSpPr/>
          <p:nvPr/>
        </p:nvSpPr>
        <p:spPr>
          <a:xfrm>
            <a:off x="6172200" y="2267712"/>
            <a:ext cx="5440680" cy="42062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27064" y="2322576"/>
            <a:ext cx="548640" cy="310896"/>
          </a:xfrm>
          <a:prstGeom prst="roundRect">
            <a:avLst>
              <a:gd name="adj" fmla="val 15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i="0">
                <a:solidFill>
                  <a:srgbClr val="FFFFFF"/>
                </a:solidFill>
                <a:latin typeface="Times New Roman"/>
              </a:rPr>
              <a:t>2.2</a:t>
            </a:r>
          </a:p>
        </p:txBody>
      </p:sp>
      <p:sp>
        <p:nvSpPr>
          <p:cNvPr id="32" name="TextBox 31"/>
          <p:cNvSpPr txBox="1"/>
          <p:nvPr/>
        </p:nvSpPr>
        <p:spPr>
          <a:xfrm>
            <a:off x="6903720" y="2267712"/>
            <a:ext cx="3977640" cy="420624"/>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Creating: mkdir, touch, nano</a:t>
            </a:r>
          </a:p>
        </p:txBody>
      </p:sp>
      <p:sp>
        <p:nvSpPr>
          <p:cNvPr id="33" name="TextBox 32"/>
          <p:cNvSpPr txBox="1"/>
          <p:nvPr/>
        </p:nvSpPr>
        <p:spPr>
          <a:xfrm>
            <a:off x="10789920" y="2267712"/>
            <a:ext cx="731520" cy="420624"/>
          </a:xfrm>
          <a:prstGeom prst="rect">
            <a:avLst/>
          </a:prstGeom>
          <a:noFill/>
        </p:spPr>
        <p:txBody>
          <a:bodyPr wrap="square" anchor="ctr" lIns="0" rIns="0" tIns="0" bIns="0">
            <a:spAutoFit/>
          </a:bodyPr>
          <a:lstStyle/>
          <a:p>
            <a:pPr algn="r">
              <a:lnSpc>
                <a:spcPct val="110000"/>
              </a:lnSpc>
              <a:spcAft>
                <a:spcPts val="300"/>
              </a:spcAft>
            </a:pPr>
            <a:r>
              <a:rPr sz="1100" b="1" i="0">
                <a:solidFill>
                  <a:srgbClr val="1F3864"/>
                </a:solidFill>
                <a:latin typeface="Times New Roman"/>
              </a:rPr>
              <a:t>10 min</a:t>
            </a:r>
          </a:p>
        </p:txBody>
      </p:sp>
      <p:sp>
        <p:nvSpPr>
          <p:cNvPr id="34" name="Rounded Rectangle 33"/>
          <p:cNvSpPr/>
          <p:nvPr/>
        </p:nvSpPr>
        <p:spPr>
          <a:xfrm>
            <a:off x="6172200" y="2724912"/>
            <a:ext cx="5440680" cy="42062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227064" y="2779776"/>
            <a:ext cx="548640" cy="310896"/>
          </a:xfrm>
          <a:prstGeom prst="roundRect">
            <a:avLst>
              <a:gd name="adj" fmla="val 15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i="0">
                <a:solidFill>
                  <a:srgbClr val="FFFFFF"/>
                </a:solidFill>
                <a:latin typeface="Times New Roman"/>
              </a:rPr>
              <a:t>2.3</a:t>
            </a:r>
          </a:p>
        </p:txBody>
      </p:sp>
      <p:sp>
        <p:nvSpPr>
          <p:cNvPr id="36" name="TextBox 35"/>
          <p:cNvSpPr txBox="1"/>
          <p:nvPr/>
        </p:nvSpPr>
        <p:spPr>
          <a:xfrm>
            <a:off x="6903720" y="2724912"/>
            <a:ext cx="3977640" cy="420624"/>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cp, mv, rm and wildcards</a:t>
            </a:r>
          </a:p>
        </p:txBody>
      </p:sp>
      <p:sp>
        <p:nvSpPr>
          <p:cNvPr id="37" name="TextBox 36"/>
          <p:cNvSpPr txBox="1"/>
          <p:nvPr/>
        </p:nvSpPr>
        <p:spPr>
          <a:xfrm>
            <a:off x="10789920" y="2724912"/>
            <a:ext cx="731520" cy="420624"/>
          </a:xfrm>
          <a:prstGeom prst="rect">
            <a:avLst/>
          </a:prstGeom>
          <a:noFill/>
        </p:spPr>
        <p:txBody>
          <a:bodyPr wrap="square" anchor="ctr" lIns="0" rIns="0" tIns="0" bIns="0">
            <a:spAutoFit/>
          </a:bodyPr>
          <a:lstStyle/>
          <a:p>
            <a:pPr algn="r">
              <a:lnSpc>
                <a:spcPct val="110000"/>
              </a:lnSpc>
              <a:spcAft>
                <a:spcPts val="300"/>
              </a:spcAft>
            </a:pPr>
            <a:r>
              <a:rPr sz="1100" b="1" i="0">
                <a:solidFill>
                  <a:srgbClr val="1F3864"/>
                </a:solidFill>
                <a:latin typeface="Times New Roman"/>
              </a:rPr>
              <a:t>20 min</a:t>
            </a:r>
          </a:p>
        </p:txBody>
      </p:sp>
      <p:sp>
        <p:nvSpPr>
          <p:cNvPr id="38" name="Rounded Rectangle 37"/>
          <p:cNvSpPr/>
          <p:nvPr/>
        </p:nvSpPr>
        <p:spPr>
          <a:xfrm>
            <a:off x="6172200" y="3182112"/>
            <a:ext cx="5440680" cy="42062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227064" y="3236976"/>
            <a:ext cx="548640" cy="310896"/>
          </a:xfrm>
          <a:prstGeom prst="roundRect">
            <a:avLst>
              <a:gd name="adj" fmla="val 15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i="0">
                <a:solidFill>
                  <a:srgbClr val="FFFFFF"/>
                </a:solidFill>
                <a:latin typeface="Times New Roman"/>
              </a:rPr>
              <a:t>2.4</a:t>
            </a:r>
          </a:p>
        </p:txBody>
      </p:sp>
      <p:sp>
        <p:nvSpPr>
          <p:cNvPr id="40" name="TextBox 39"/>
          <p:cNvSpPr txBox="1"/>
          <p:nvPr/>
        </p:nvSpPr>
        <p:spPr>
          <a:xfrm>
            <a:off x="6903720" y="3182112"/>
            <a:ext cx="3977640" cy="420624"/>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Viewing: cat, less, head, tail</a:t>
            </a:r>
          </a:p>
        </p:txBody>
      </p:sp>
      <p:sp>
        <p:nvSpPr>
          <p:cNvPr id="41" name="TextBox 40"/>
          <p:cNvSpPr txBox="1"/>
          <p:nvPr/>
        </p:nvSpPr>
        <p:spPr>
          <a:xfrm>
            <a:off x="10789920" y="3182112"/>
            <a:ext cx="731520" cy="420624"/>
          </a:xfrm>
          <a:prstGeom prst="rect">
            <a:avLst/>
          </a:prstGeom>
          <a:noFill/>
        </p:spPr>
        <p:txBody>
          <a:bodyPr wrap="square" anchor="ctr" lIns="0" rIns="0" tIns="0" bIns="0">
            <a:spAutoFit/>
          </a:bodyPr>
          <a:lstStyle/>
          <a:p>
            <a:pPr algn="r">
              <a:lnSpc>
                <a:spcPct val="110000"/>
              </a:lnSpc>
              <a:spcAft>
                <a:spcPts val="300"/>
              </a:spcAft>
            </a:pPr>
            <a:r>
              <a:rPr sz="1100" b="1" i="0">
                <a:solidFill>
                  <a:srgbClr val="1F3864"/>
                </a:solidFill>
                <a:latin typeface="Times New Roman"/>
              </a:rPr>
              <a:t>10 min</a:t>
            </a:r>
          </a:p>
        </p:txBody>
      </p:sp>
      <p:sp>
        <p:nvSpPr>
          <p:cNvPr id="42" name="Rounded Rectangle 41"/>
          <p:cNvSpPr/>
          <p:nvPr/>
        </p:nvSpPr>
        <p:spPr>
          <a:xfrm>
            <a:off x="6172200" y="3639312"/>
            <a:ext cx="5440680" cy="42062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227064" y="3694176"/>
            <a:ext cx="548640" cy="310896"/>
          </a:xfrm>
          <a:prstGeom prst="roundRect">
            <a:avLst>
              <a:gd name="adj" fmla="val 15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i="0">
                <a:solidFill>
                  <a:srgbClr val="FFFFFF"/>
                </a:solidFill>
                <a:latin typeface="Times New Roman"/>
              </a:rPr>
              <a:t>2.5</a:t>
            </a:r>
          </a:p>
        </p:txBody>
      </p:sp>
      <p:sp>
        <p:nvSpPr>
          <p:cNvPr id="44" name="TextBox 43"/>
          <p:cNvSpPr txBox="1"/>
          <p:nvPr/>
        </p:nvSpPr>
        <p:spPr>
          <a:xfrm>
            <a:off x="6903720" y="3639312"/>
            <a:ext cx="3977640" cy="420624"/>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Type and time: file, stat</a:t>
            </a:r>
          </a:p>
        </p:txBody>
      </p:sp>
      <p:sp>
        <p:nvSpPr>
          <p:cNvPr id="45" name="TextBox 44"/>
          <p:cNvSpPr txBox="1"/>
          <p:nvPr/>
        </p:nvSpPr>
        <p:spPr>
          <a:xfrm>
            <a:off x="10789920" y="3639312"/>
            <a:ext cx="731520" cy="420624"/>
          </a:xfrm>
          <a:prstGeom prst="rect">
            <a:avLst/>
          </a:prstGeom>
          <a:noFill/>
        </p:spPr>
        <p:txBody>
          <a:bodyPr wrap="square" anchor="ctr" lIns="0" rIns="0" tIns="0" bIns="0">
            <a:spAutoFit/>
          </a:bodyPr>
          <a:lstStyle/>
          <a:p>
            <a:pPr algn="r">
              <a:lnSpc>
                <a:spcPct val="110000"/>
              </a:lnSpc>
              <a:spcAft>
                <a:spcPts val="300"/>
              </a:spcAft>
            </a:pPr>
            <a:r>
              <a:rPr sz="1100" b="1" i="0">
                <a:solidFill>
                  <a:srgbClr val="1F3864"/>
                </a:solidFill>
                <a:latin typeface="Times New Roman"/>
              </a:rPr>
              <a:t>15 min</a:t>
            </a:r>
          </a:p>
        </p:txBody>
      </p:sp>
      <p:sp>
        <p:nvSpPr>
          <p:cNvPr id="46" name="Rounded Rectangle 45"/>
          <p:cNvSpPr/>
          <p:nvPr/>
        </p:nvSpPr>
        <p:spPr>
          <a:xfrm>
            <a:off x="6172200" y="4096512"/>
            <a:ext cx="5440680" cy="42062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6227064" y="4151376"/>
            <a:ext cx="548640" cy="310896"/>
          </a:xfrm>
          <a:prstGeom prst="roundRect">
            <a:avLst>
              <a:gd name="adj" fmla="val 15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i="0">
                <a:solidFill>
                  <a:srgbClr val="FFFFFF"/>
                </a:solidFill>
                <a:latin typeface="Times New Roman"/>
              </a:rPr>
              <a:t>2.6</a:t>
            </a:r>
          </a:p>
        </p:txBody>
      </p:sp>
      <p:sp>
        <p:nvSpPr>
          <p:cNvPr id="48" name="TextBox 47"/>
          <p:cNvSpPr txBox="1"/>
          <p:nvPr/>
        </p:nvSpPr>
        <p:spPr>
          <a:xfrm>
            <a:off x="6903720" y="4096512"/>
            <a:ext cx="3977640" cy="420624"/>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Searching: find, which</a:t>
            </a:r>
          </a:p>
        </p:txBody>
      </p:sp>
      <p:sp>
        <p:nvSpPr>
          <p:cNvPr id="49" name="TextBox 48"/>
          <p:cNvSpPr txBox="1"/>
          <p:nvPr/>
        </p:nvSpPr>
        <p:spPr>
          <a:xfrm>
            <a:off x="10789920" y="4096512"/>
            <a:ext cx="731520" cy="420624"/>
          </a:xfrm>
          <a:prstGeom prst="rect">
            <a:avLst/>
          </a:prstGeom>
          <a:noFill/>
        </p:spPr>
        <p:txBody>
          <a:bodyPr wrap="square" anchor="ctr" lIns="0" rIns="0" tIns="0" bIns="0">
            <a:spAutoFit/>
          </a:bodyPr>
          <a:lstStyle/>
          <a:p>
            <a:pPr algn="r">
              <a:lnSpc>
                <a:spcPct val="110000"/>
              </a:lnSpc>
              <a:spcAft>
                <a:spcPts val="300"/>
              </a:spcAft>
            </a:pPr>
            <a:r>
              <a:rPr sz="1100" b="1" i="0">
                <a:solidFill>
                  <a:srgbClr val="1F3864"/>
                </a:solidFill>
                <a:latin typeface="Times New Roman"/>
              </a:rPr>
              <a:t>15 min</a:t>
            </a:r>
          </a:p>
        </p:txBody>
      </p:sp>
      <p:sp>
        <p:nvSpPr>
          <p:cNvPr id="50" name="Rounded Rectangle 49"/>
          <p:cNvSpPr/>
          <p:nvPr/>
        </p:nvSpPr>
        <p:spPr>
          <a:xfrm>
            <a:off x="6172200" y="4553712"/>
            <a:ext cx="5440680" cy="42062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6227064" y="4608576"/>
            <a:ext cx="548640" cy="310896"/>
          </a:xfrm>
          <a:prstGeom prst="roundRect">
            <a:avLst>
              <a:gd name="adj" fmla="val 15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i="0">
                <a:solidFill>
                  <a:srgbClr val="FFFFFF"/>
                </a:solidFill>
                <a:latin typeface="Times New Roman"/>
              </a:rPr>
              <a:t>2.7</a:t>
            </a:r>
          </a:p>
        </p:txBody>
      </p:sp>
      <p:sp>
        <p:nvSpPr>
          <p:cNvPr id="52" name="TextBox 51"/>
          <p:cNvSpPr txBox="1"/>
          <p:nvPr/>
        </p:nvSpPr>
        <p:spPr>
          <a:xfrm>
            <a:off x="6903720" y="4553712"/>
            <a:ext cx="3977640" cy="420624"/>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Links: ln -s, ln</a:t>
            </a:r>
          </a:p>
        </p:txBody>
      </p:sp>
      <p:sp>
        <p:nvSpPr>
          <p:cNvPr id="53" name="TextBox 52"/>
          <p:cNvSpPr txBox="1"/>
          <p:nvPr/>
        </p:nvSpPr>
        <p:spPr>
          <a:xfrm>
            <a:off x="10789920" y="4553712"/>
            <a:ext cx="731520" cy="420624"/>
          </a:xfrm>
          <a:prstGeom prst="rect">
            <a:avLst/>
          </a:prstGeom>
          <a:noFill/>
        </p:spPr>
        <p:txBody>
          <a:bodyPr wrap="square" anchor="ctr" lIns="0" rIns="0" tIns="0" bIns="0">
            <a:spAutoFit/>
          </a:bodyPr>
          <a:lstStyle/>
          <a:p>
            <a:pPr algn="r">
              <a:lnSpc>
                <a:spcPct val="110000"/>
              </a:lnSpc>
              <a:spcAft>
                <a:spcPts val="300"/>
              </a:spcAft>
            </a:pPr>
            <a:r>
              <a:rPr sz="1100" b="1" i="0">
                <a:solidFill>
                  <a:srgbClr val="1F3864"/>
                </a:solidFill>
                <a:latin typeface="Times New Roman"/>
              </a:rPr>
              <a:t>10 min</a:t>
            </a:r>
          </a:p>
        </p:txBody>
      </p:sp>
      <p:sp>
        <p:nvSpPr>
          <p:cNvPr id="54" name="Rounded Rectangle 53"/>
          <p:cNvSpPr/>
          <p:nvPr/>
        </p:nvSpPr>
        <p:spPr>
          <a:xfrm>
            <a:off x="6172200" y="5010912"/>
            <a:ext cx="5440680" cy="42062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6227064" y="5065776"/>
            <a:ext cx="548640" cy="310896"/>
          </a:xfrm>
          <a:prstGeom prst="roundRect">
            <a:avLst>
              <a:gd name="adj" fmla="val 15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i="0">
                <a:solidFill>
                  <a:srgbClr val="FFFFFF"/>
                </a:solidFill>
                <a:latin typeface="Times New Roman"/>
              </a:rPr>
              <a:t>2.8</a:t>
            </a:r>
          </a:p>
        </p:txBody>
      </p:sp>
      <p:sp>
        <p:nvSpPr>
          <p:cNvPr id="56" name="TextBox 55"/>
          <p:cNvSpPr txBox="1"/>
          <p:nvPr/>
        </p:nvSpPr>
        <p:spPr>
          <a:xfrm>
            <a:off x="6903720" y="5010912"/>
            <a:ext cx="3977640" cy="420624"/>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Archives: tar, gzip, zip</a:t>
            </a:r>
          </a:p>
        </p:txBody>
      </p:sp>
      <p:sp>
        <p:nvSpPr>
          <p:cNvPr id="57" name="TextBox 56"/>
          <p:cNvSpPr txBox="1"/>
          <p:nvPr/>
        </p:nvSpPr>
        <p:spPr>
          <a:xfrm>
            <a:off x="10789920" y="5010912"/>
            <a:ext cx="731520" cy="420624"/>
          </a:xfrm>
          <a:prstGeom prst="rect">
            <a:avLst/>
          </a:prstGeom>
          <a:noFill/>
        </p:spPr>
        <p:txBody>
          <a:bodyPr wrap="square" anchor="ctr" lIns="0" rIns="0" tIns="0" bIns="0">
            <a:spAutoFit/>
          </a:bodyPr>
          <a:lstStyle/>
          <a:p>
            <a:pPr algn="r">
              <a:lnSpc>
                <a:spcPct val="110000"/>
              </a:lnSpc>
              <a:spcAft>
                <a:spcPts val="300"/>
              </a:spcAft>
            </a:pPr>
            <a:r>
              <a:rPr sz="1100" b="1" i="0">
                <a:solidFill>
                  <a:srgbClr val="1F3864"/>
                </a:solidFill>
                <a:latin typeface="Times New Roman"/>
              </a:rPr>
              <a:t>15 min</a:t>
            </a:r>
          </a:p>
        </p:txBody>
      </p:sp>
      <p:sp>
        <p:nvSpPr>
          <p:cNvPr id="58" name="Rounded Rectangle 57"/>
          <p:cNvSpPr/>
          <p:nvPr/>
        </p:nvSpPr>
        <p:spPr>
          <a:xfrm>
            <a:off x="6172200" y="5468112"/>
            <a:ext cx="5440680" cy="42062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6227064" y="5522976"/>
            <a:ext cx="548640" cy="310896"/>
          </a:xfrm>
          <a:prstGeom prst="roundRect">
            <a:avLst>
              <a:gd name="adj" fmla="val 15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i="0">
                <a:solidFill>
                  <a:srgbClr val="FFFFFF"/>
                </a:solidFill>
                <a:latin typeface="Times New Roman"/>
              </a:rPr>
              <a:t>2.9</a:t>
            </a:r>
          </a:p>
        </p:txBody>
      </p:sp>
      <p:sp>
        <p:nvSpPr>
          <p:cNvPr id="60" name="TextBox 59"/>
          <p:cNvSpPr txBox="1"/>
          <p:nvPr/>
        </p:nvSpPr>
        <p:spPr>
          <a:xfrm>
            <a:off x="6903720" y="5468112"/>
            <a:ext cx="3977640" cy="420624"/>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Directory size: du, tree</a:t>
            </a:r>
          </a:p>
        </p:txBody>
      </p:sp>
      <p:sp>
        <p:nvSpPr>
          <p:cNvPr id="61" name="TextBox 60"/>
          <p:cNvSpPr txBox="1"/>
          <p:nvPr/>
        </p:nvSpPr>
        <p:spPr>
          <a:xfrm>
            <a:off x="10789920" y="5468112"/>
            <a:ext cx="731520" cy="420624"/>
          </a:xfrm>
          <a:prstGeom prst="rect">
            <a:avLst/>
          </a:prstGeom>
          <a:noFill/>
        </p:spPr>
        <p:txBody>
          <a:bodyPr wrap="square" anchor="ctr" lIns="0" rIns="0" tIns="0" bIns="0">
            <a:spAutoFit/>
          </a:bodyPr>
          <a:lstStyle/>
          <a:p>
            <a:pPr algn="r">
              <a:lnSpc>
                <a:spcPct val="110000"/>
              </a:lnSpc>
              <a:spcAft>
                <a:spcPts val="300"/>
              </a:spcAft>
            </a:pPr>
            <a:r>
              <a:rPr sz="1100" b="1" i="0">
                <a:solidFill>
                  <a:srgbClr val="1F3864"/>
                </a:solidFill>
                <a:latin typeface="Times New Roman"/>
              </a:rPr>
              <a:t>10 min</a:t>
            </a:r>
          </a:p>
        </p:txBody>
      </p:sp>
      <p:sp>
        <p:nvSpPr>
          <p:cNvPr id="62" name="Rounded Rectangle 61"/>
          <p:cNvSpPr/>
          <p:nvPr/>
        </p:nvSpPr>
        <p:spPr>
          <a:xfrm>
            <a:off x="566928" y="3977639"/>
            <a:ext cx="5394960" cy="2240280"/>
          </a:xfrm>
          <a:prstGeom prst="roundRect">
            <a:avLst>
              <a:gd name="adj" fmla="val 6000"/>
            </a:avLst>
          </a:prstGeom>
          <a:solidFill>
            <a:srgbClr val="14223D"/>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49808" y="4069080"/>
            <a:ext cx="50292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7FD1B9"/>
                </a:solidFill>
                <a:latin typeface="Times New Roman"/>
              </a:rPr>
              <a:t>Today’s main commands</a:t>
            </a:r>
          </a:p>
        </p:txBody>
      </p:sp>
      <p:sp>
        <p:nvSpPr>
          <p:cNvPr id="64" name="TextBox 63"/>
          <p:cNvSpPr txBox="1"/>
          <p:nvPr/>
        </p:nvSpPr>
        <p:spPr>
          <a:xfrm>
            <a:off x="749808" y="4389120"/>
            <a:ext cx="5029200" cy="1783080"/>
          </a:xfrm>
          <a:prstGeom prst="rect">
            <a:avLst/>
          </a:prstGeom>
          <a:noFill/>
        </p:spPr>
        <p:txBody>
          <a:bodyPr wrap="square" anchor="t" lIns="0" rIns="0" tIns="0" bIns="0">
            <a:spAutoFit/>
          </a:bodyPr>
          <a:lstStyle/>
          <a:p>
            <a:pPr algn="l">
              <a:lnSpc>
                <a:spcPct val="110000"/>
              </a:lnSpc>
              <a:spcAft>
                <a:spcPts val="500"/>
              </a:spcAft>
            </a:pPr>
            <a:r>
              <a:rPr sz="1250" b="0" i="0">
                <a:solidFill>
                  <a:srgbClr val="E6EDF5"/>
                </a:solidFill>
                <a:latin typeface="Consolas"/>
              </a:rPr>
              <a:t>uname  hostnamectl  lscpu  free  df  lsblk</a:t>
            </a:r>
          </a:p>
          <a:p>
            <a:pPr algn="l">
              <a:lnSpc>
                <a:spcPct val="110000"/>
              </a:lnSpc>
              <a:spcAft>
                <a:spcPts val="500"/>
              </a:spcAft>
            </a:pPr>
            <a:r>
              <a:rPr sz="1250" b="0" i="0">
                <a:solidFill>
                  <a:srgbClr val="E6EDF5"/>
                </a:solidFill>
                <a:latin typeface="Consolas"/>
              </a:rPr>
              <a:t>pwd  cd  ls  mkdir  touch  nano</a:t>
            </a:r>
          </a:p>
          <a:p>
            <a:pPr algn="l">
              <a:lnSpc>
                <a:spcPct val="110000"/>
              </a:lnSpc>
              <a:spcAft>
                <a:spcPts val="500"/>
              </a:spcAft>
            </a:pPr>
            <a:r>
              <a:rPr sz="1250" b="0" i="0">
                <a:solidFill>
                  <a:srgbClr val="E6EDF5"/>
                </a:solidFill>
                <a:latin typeface="Consolas"/>
              </a:rPr>
              <a:t>cp  mv  rm  rmdir  cat  less  head  tail</a:t>
            </a:r>
          </a:p>
          <a:p>
            <a:pPr algn="l">
              <a:lnSpc>
                <a:spcPct val="110000"/>
              </a:lnSpc>
              <a:spcAft>
                <a:spcPts val="500"/>
              </a:spcAft>
            </a:pPr>
            <a:r>
              <a:rPr sz="1250" b="0" i="0">
                <a:solidFill>
                  <a:srgbClr val="E6EDF5"/>
                </a:solidFill>
                <a:latin typeface="Consolas"/>
              </a:rPr>
              <a:t>file  stat  xxd  find  which  ln</a:t>
            </a:r>
          </a:p>
          <a:p>
            <a:pPr algn="l">
              <a:lnSpc>
                <a:spcPct val="110000"/>
              </a:lnSpc>
              <a:spcAft>
                <a:spcPts val="500"/>
              </a:spcAft>
            </a:pPr>
            <a:r>
              <a:rPr sz="1250" b="0" i="0">
                <a:solidFill>
                  <a:srgbClr val="E6EDF5"/>
                </a:solidFill>
                <a:latin typeface="Consolas"/>
              </a:rPr>
              <a:t>tar  gzip  zip  du  tree</a:t>
            </a:r>
          </a:p>
        </p:txBody>
      </p:sp>
      <p:sp>
        <p:nvSpPr>
          <p:cNvPr id="65" name="Rounded Rectangle 64"/>
          <p:cNvSpPr/>
          <p:nvPr/>
        </p:nvSpPr>
        <p:spPr>
          <a:xfrm>
            <a:off x="6172200" y="5989320"/>
            <a:ext cx="5440680" cy="384048"/>
          </a:xfrm>
          <a:prstGeom prst="roundRect">
            <a:avLst>
              <a:gd name="adj" fmla="val 8000"/>
            </a:avLst>
          </a:prstGeom>
          <a:solidFill>
            <a:srgbClr val="E3F3EE"/>
          </a:solidFill>
          <a:ln w="15875">
            <a:solidFill>
              <a:srgbClr val="178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check_178A73.png"/>
          <p:cNvPicPr>
            <a:picLocks noChangeAspect="1"/>
          </p:cNvPicPr>
          <p:nvPr/>
        </p:nvPicPr>
        <p:blipFill>
          <a:blip r:embed="rId3"/>
          <a:stretch>
            <a:fillRect/>
          </a:stretch>
        </p:blipFill>
        <p:spPr>
          <a:xfrm>
            <a:off x="6300216" y="6016752"/>
            <a:ext cx="329184" cy="329184"/>
          </a:xfrm>
          <a:prstGeom prst="rect">
            <a:avLst/>
          </a:prstGeom>
        </p:spPr>
      </p:pic>
      <p:sp>
        <p:nvSpPr>
          <p:cNvPr id="67" name="TextBox 66"/>
          <p:cNvSpPr txBox="1"/>
          <p:nvPr/>
        </p:nvSpPr>
        <p:spPr>
          <a:xfrm>
            <a:off x="6739128" y="5989320"/>
            <a:ext cx="4754880" cy="384048"/>
          </a:xfrm>
          <a:prstGeom prst="rect">
            <a:avLst/>
          </a:prstGeom>
          <a:noFill/>
        </p:spPr>
        <p:txBody>
          <a:bodyPr wrap="square" anchor="ctr" lIns="0" rIns="0" tIns="0" bIns="0">
            <a:spAutoFit/>
          </a:bodyPr>
          <a:lstStyle/>
          <a:p>
            <a:pPr algn="l">
              <a:lnSpc>
                <a:spcPct val="110000"/>
              </a:lnSpc>
              <a:spcAft>
                <a:spcPts val="300"/>
              </a:spcAft>
            </a:pPr>
            <a:r>
              <a:rPr sz="1150" b="0" i="0">
                <a:solidFill>
                  <a:srgbClr val="202A38"/>
                </a:solidFill>
                <a:latin typeface="Times New Roman"/>
              </a:rPr>
              <a:t>End: lab cleanup · final assignment · review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PREPARATION</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Checking the lab environment</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10</a:t>
            </a:r>
          </a:p>
        </p:txBody>
      </p:sp>
      <p:sp>
        <p:nvSpPr>
          <p:cNvPr id="8" name="Rounded Rectangle 7"/>
          <p:cNvSpPr/>
          <p:nvPr/>
        </p:nvSpPr>
        <p:spPr>
          <a:xfrm>
            <a:off x="566928" y="1600200"/>
            <a:ext cx="5760720" cy="60350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746504"/>
            <a:ext cx="310896" cy="310896"/>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FFFFFF"/>
                </a:solidFill>
                <a:latin typeface="Times New Roman"/>
              </a:rPr>
              <a:t>1</a:t>
            </a:r>
          </a:p>
        </p:txBody>
      </p:sp>
      <p:sp>
        <p:nvSpPr>
          <p:cNvPr id="10" name="TextBox 9"/>
          <p:cNvSpPr txBox="1"/>
          <p:nvPr/>
        </p:nvSpPr>
        <p:spPr>
          <a:xfrm>
            <a:off x="1069848" y="1600200"/>
            <a:ext cx="5166360" cy="603504"/>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Start the Kali VM. Login: </a:t>
            </a:r>
            <a:r>
              <a:rPr sz="1200" b="1" i="0">
                <a:solidFill>
                  <a:srgbClr val="178A73"/>
                </a:solidFill>
                <a:latin typeface="Consolas"/>
              </a:rPr>
              <a:t>kali</a:t>
            </a:r>
            <a:r>
              <a:rPr sz="1250" b="0" i="0">
                <a:solidFill>
                  <a:srgbClr val="202A38"/>
                </a:solidFill>
                <a:latin typeface="Times New Roman"/>
              </a:rPr>
              <a:t>, password: </a:t>
            </a:r>
            <a:r>
              <a:rPr sz="1200" b="1" i="0">
                <a:solidFill>
                  <a:srgbClr val="178A73"/>
                </a:solidFill>
                <a:latin typeface="Consolas"/>
              </a:rPr>
              <a:t>kali</a:t>
            </a:r>
            <a:r>
              <a:rPr sz="1250" b="0" i="0">
                <a:solidFill>
                  <a:srgbClr val="202A38"/>
                </a:solidFill>
                <a:latin typeface="Times New Roman"/>
              </a:rPr>
              <a:t> (ready-made VirtualBox image).</a:t>
            </a:r>
          </a:p>
        </p:txBody>
      </p:sp>
      <p:sp>
        <p:nvSpPr>
          <p:cNvPr id="11" name="Rounded Rectangle 10"/>
          <p:cNvSpPr/>
          <p:nvPr/>
        </p:nvSpPr>
        <p:spPr>
          <a:xfrm>
            <a:off x="566928" y="2295144"/>
            <a:ext cx="5760720" cy="60350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2441448"/>
            <a:ext cx="310896" cy="310896"/>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FFFFFF"/>
                </a:solidFill>
                <a:latin typeface="Times New Roman"/>
              </a:rPr>
              <a:t>2</a:t>
            </a:r>
          </a:p>
        </p:txBody>
      </p:sp>
      <p:sp>
        <p:nvSpPr>
          <p:cNvPr id="13" name="TextBox 12"/>
          <p:cNvSpPr txBox="1"/>
          <p:nvPr/>
        </p:nvSpPr>
        <p:spPr>
          <a:xfrm>
            <a:off x="1069848" y="2295144"/>
            <a:ext cx="5166360" cy="603504"/>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Take the snapshot “Lesson-2.1 start” in VirtualBox.</a:t>
            </a:r>
          </a:p>
        </p:txBody>
      </p:sp>
      <p:sp>
        <p:nvSpPr>
          <p:cNvPr id="14" name="Rounded Rectangle 13"/>
          <p:cNvSpPr/>
          <p:nvPr/>
        </p:nvSpPr>
        <p:spPr>
          <a:xfrm>
            <a:off x="566928" y="2990088"/>
            <a:ext cx="5760720" cy="60350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3136392"/>
            <a:ext cx="310896" cy="310896"/>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FFFFFF"/>
                </a:solidFill>
                <a:latin typeface="Times New Roman"/>
              </a:rPr>
              <a:t>3</a:t>
            </a:r>
          </a:p>
        </p:txBody>
      </p:sp>
      <p:sp>
        <p:nvSpPr>
          <p:cNvPr id="16" name="TextBox 15"/>
          <p:cNvSpPr txBox="1"/>
          <p:nvPr/>
        </p:nvSpPr>
        <p:spPr>
          <a:xfrm>
            <a:off x="1069848" y="2990088"/>
            <a:ext cx="5166360" cy="603504"/>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Open a terminal (keys on the right) or click the terminal icon in the panel.</a:t>
            </a:r>
          </a:p>
        </p:txBody>
      </p:sp>
      <p:sp>
        <p:nvSpPr>
          <p:cNvPr id="17" name="Rounded Rectangle 16"/>
          <p:cNvSpPr/>
          <p:nvPr/>
        </p:nvSpPr>
        <p:spPr>
          <a:xfrm>
            <a:off x="566928" y="3685032"/>
            <a:ext cx="5760720" cy="60350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3831336"/>
            <a:ext cx="310896" cy="310896"/>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FFFFFF"/>
                </a:solidFill>
                <a:latin typeface="Times New Roman"/>
              </a:rPr>
              <a:t>4</a:t>
            </a:r>
          </a:p>
        </p:txBody>
      </p:sp>
      <p:sp>
        <p:nvSpPr>
          <p:cNvPr id="19" name="TextBox 18"/>
          <p:cNvSpPr txBox="1"/>
          <p:nvPr/>
        </p:nvSpPr>
        <p:spPr>
          <a:xfrm>
            <a:off x="1069848" y="3685032"/>
            <a:ext cx="5166360" cy="603504"/>
          </a:xfrm>
          <a:prstGeom prst="rect">
            <a:avLst/>
          </a:prstGeom>
          <a:noFill/>
        </p:spPr>
        <p:txBody>
          <a:bodyPr wrap="square" anchor="ctr" lIns="0" rIns="0" tIns="0" bIns="0">
            <a:spAutoFit/>
          </a:bodyPr>
          <a:lstStyle/>
          <a:p>
            <a:pPr algn="l">
              <a:lnSpc>
                <a:spcPct val="110000"/>
              </a:lnSpc>
              <a:spcAft>
                <a:spcPts val="300"/>
              </a:spcAft>
            </a:pPr>
            <a:r>
              <a:rPr sz="1200" b="1" i="0">
                <a:solidFill>
                  <a:srgbClr val="178A73"/>
                </a:solidFill>
                <a:latin typeface="Consolas"/>
              </a:rPr>
              <a:t>whoami</a:t>
            </a:r>
            <a:r>
              <a:rPr sz="1250" b="0" i="0">
                <a:solidFill>
                  <a:srgbClr val="202A38"/>
                </a:solidFill>
                <a:latin typeface="Times New Roman"/>
              </a:rPr>
              <a:t> → result </a:t>
            </a:r>
            <a:r>
              <a:rPr sz="1200" b="1" i="0">
                <a:solidFill>
                  <a:srgbClr val="178A73"/>
                </a:solidFill>
                <a:latin typeface="Consolas"/>
              </a:rPr>
              <a:t>kali</a:t>
            </a:r>
            <a:r>
              <a:rPr sz="1250" b="0" i="0">
                <a:solidFill>
                  <a:srgbClr val="202A38"/>
                </a:solidFill>
                <a:latin typeface="Times New Roman"/>
              </a:rPr>
              <a:t> (ordinary user).</a:t>
            </a:r>
          </a:p>
        </p:txBody>
      </p:sp>
      <p:sp>
        <p:nvSpPr>
          <p:cNvPr id="20" name="Rounded Rectangle 19"/>
          <p:cNvSpPr/>
          <p:nvPr/>
        </p:nvSpPr>
        <p:spPr>
          <a:xfrm>
            <a:off x="6537960" y="1600200"/>
            <a:ext cx="5074920" cy="1234440"/>
          </a:xfrm>
          <a:prstGeom prst="roundRect">
            <a:avLst>
              <a:gd name="adj" fmla="val 4000"/>
            </a:avLst>
          </a:prstGeom>
          <a:solidFill>
            <a:srgbClr val="142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0" y="1664208"/>
            <a:ext cx="4800600" cy="228600"/>
          </a:xfrm>
          <a:prstGeom prst="rect">
            <a:avLst/>
          </a:prstGeom>
          <a:noFill/>
        </p:spPr>
        <p:txBody>
          <a:bodyPr wrap="square" anchor="t" lIns="0" rIns="0" tIns="0" bIns="0">
            <a:spAutoFit/>
          </a:bodyPr>
          <a:lstStyle/>
          <a:p>
            <a:pPr algn="l">
              <a:lnSpc>
                <a:spcPct val="110000"/>
              </a:lnSpc>
              <a:spcAft>
                <a:spcPts val="300"/>
              </a:spcAft>
            </a:pPr>
            <a:r>
              <a:rPr sz="1000" b="1" i="0">
                <a:solidFill>
                  <a:srgbClr val="7FD1B9"/>
                </a:solidFill>
                <a:latin typeface="Consolas"/>
              </a:rPr>
              <a:t>Kali terminal</a:t>
            </a:r>
          </a:p>
        </p:txBody>
      </p:sp>
      <p:sp>
        <p:nvSpPr>
          <p:cNvPr id="22" name="TextBox 21"/>
          <p:cNvSpPr txBox="1"/>
          <p:nvPr/>
        </p:nvSpPr>
        <p:spPr>
          <a:xfrm>
            <a:off x="6675120" y="1929384"/>
            <a:ext cx="4800600" cy="850392"/>
          </a:xfrm>
          <a:prstGeom prst="rect">
            <a:avLst/>
          </a:prstGeom>
          <a:noFill/>
        </p:spPr>
        <p:txBody>
          <a:bodyPr wrap="square" lIns="0" rIns="0" tIns="0" bIns="0">
            <a:spAutoFit/>
          </a:bodyPr>
          <a:lstStyle/>
          <a:p>
            <a:pPr>
              <a:lnSpc>
                <a:spcPct val="100000"/>
              </a:lnSpc>
              <a:spcAft>
                <a:spcPts val="100"/>
              </a:spcAft>
            </a:pPr>
            <a:r>
              <a:rPr sz="1250" b="0">
                <a:solidFill>
                  <a:srgbClr val="E6EDF5"/>
                </a:solidFill>
                <a:latin typeface="Consolas"/>
              </a:rPr>
              <a:t>┌──(kali㉿kali)-[~]</a:t>
            </a:r>
          </a:p>
          <a:p>
            <a:pPr>
              <a:lnSpc>
                <a:spcPct val="100000"/>
              </a:lnSpc>
              <a:spcAft>
                <a:spcPts val="100"/>
              </a:spcAft>
            </a:pPr>
            <a:r>
              <a:rPr sz="1250" b="0">
                <a:solidFill>
                  <a:srgbClr val="E6EDF5"/>
                </a:solidFill>
                <a:latin typeface="Consolas"/>
              </a:rPr>
              <a:t>└─$ whoami</a:t>
            </a:r>
          </a:p>
          <a:p>
            <a:pPr>
              <a:lnSpc>
                <a:spcPct val="100000"/>
              </a:lnSpc>
              <a:spcAft>
                <a:spcPts val="100"/>
              </a:spcAft>
            </a:pPr>
            <a:r>
              <a:rPr sz="1250" b="0">
                <a:solidFill>
                  <a:srgbClr val="E6EDF5"/>
                </a:solidFill>
                <a:latin typeface="Consolas"/>
              </a:rPr>
              <a:t>kali</a:t>
            </a:r>
          </a:p>
        </p:txBody>
      </p:sp>
      <p:sp>
        <p:nvSpPr>
          <p:cNvPr id="23" name="TextBox 22"/>
          <p:cNvSpPr txBox="1"/>
          <p:nvPr/>
        </p:nvSpPr>
        <p:spPr>
          <a:xfrm>
            <a:off x="6537960" y="2971800"/>
            <a:ext cx="502920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1F3864"/>
                </a:solidFill>
                <a:latin typeface="Times New Roman"/>
              </a:rPr>
              <a:t>Reading the prompt</a:t>
            </a:r>
          </a:p>
        </p:txBody>
      </p:sp>
      <p:sp>
        <p:nvSpPr>
          <p:cNvPr id="24" name="Rounded Rectangle 23"/>
          <p:cNvSpPr/>
          <p:nvPr/>
        </p:nvSpPr>
        <p:spPr>
          <a:xfrm>
            <a:off x="6537960" y="3310128"/>
            <a:ext cx="1463040" cy="384048"/>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kali㉿kali</a:t>
            </a:r>
          </a:p>
        </p:txBody>
      </p:sp>
      <p:sp>
        <p:nvSpPr>
          <p:cNvPr id="25" name="TextBox 24"/>
          <p:cNvSpPr txBox="1"/>
          <p:nvPr/>
        </p:nvSpPr>
        <p:spPr>
          <a:xfrm>
            <a:off x="8138160" y="3310128"/>
            <a:ext cx="3474720" cy="384048"/>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user ㉿ computer name</a:t>
            </a:r>
          </a:p>
        </p:txBody>
      </p:sp>
      <p:sp>
        <p:nvSpPr>
          <p:cNvPr id="26" name="Rounded Rectangle 25"/>
          <p:cNvSpPr/>
          <p:nvPr/>
        </p:nvSpPr>
        <p:spPr>
          <a:xfrm>
            <a:off x="6537960" y="3785616"/>
            <a:ext cx="1463040" cy="384048"/>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a:t>
            </a:r>
          </a:p>
        </p:txBody>
      </p:sp>
      <p:sp>
        <p:nvSpPr>
          <p:cNvPr id="27" name="TextBox 26"/>
          <p:cNvSpPr txBox="1"/>
          <p:nvPr/>
        </p:nvSpPr>
        <p:spPr>
          <a:xfrm>
            <a:off x="8138160" y="3785616"/>
            <a:ext cx="3474720" cy="384048"/>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current directory (~ = /home/kali)</a:t>
            </a:r>
          </a:p>
        </p:txBody>
      </p:sp>
      <p:sp>
        <p:nvSpPr>
          <p:cNvPr id="28" name="Rounded Rectangle 27"/>
          <p:cNvSpPr/>
          <p:nvPr/>
        </p:nvSpPr>
        <p:spPr>
          <a:xfrm>
            <a:off x="6537960" y="4261104"/>
            <a:ext cx="1463040" cy="384048"/>
          </a:xfrm>
          <a:prstGeom prst="roundRect">
            <a:avLst>
              <a:gd name="adj" fmla="val 12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  /  #</a:t>
            </a:r>
          </a:p>
        </p:txBody>
      </p:sp>
      <p:sp>
        <p:nvSpPr>
          <p:cNvPr id="29" name="TextBox 28"/>
          <p:cNvSpPr txBox="1"/>
          <p:nvPr/>
        </p:nvSpPr>
        <p:spPr>
          <a:xfrm>
            <a:off x="8138160" y="4261104"/>
            <a:ext cx="3474720" cy="384048"/>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ordinary user / root</a:t>
            </a:r>
          </a:p>
        </p:txBody>
      </p:sp>
      <p:sp>
        <p:nvSpPr>
          <p:cNvPr id="30" name="Rounded Rectangle 29"/>
          <p:cNvSpPr/>
          <p:nvPr/>
        </p:nvSpPr>
        <p:spPr>
          <a:xfrm>
            <a:off x="566928" y="4480560"/>
            <a:ext cx="5760720" cy="178308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80560"/>
            <a:ext cx="64008" cy="1783080"/>
          </a:xfrm>
          <a:prstGeom prst="rect">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553712"/>
            <a:ext cx="548640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178A73"/>
                </a:solidFill>
                <a:latin typeface="Times New Roman"/>
              </a:rPr>
              <a:t>Shortcuts</a:t>
            </a:r>
          </a:p>
        </p:txBody>
      </p:sp>
      <p:sp>
        <p:nvSpPr>
          <p:cNvPr id="33" name="Rounded Rectangle 32"/>
          <p:cNvSpPr/>
          <p:nvPr/>
        </p:nvSpPr>
        <p:spPr>
          <a:xfrm>
            <a:off x="777240" y="4937760"/>
            <a:ext cx="566928" cy="365760"/>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1F3864"/>
                </a:solidFill>
                <a:latin typeface="Cambria Math"/>
              </a:rPr>
              <a:t>Ctrl</a:t>
            </a:r>
          </a:p>
        </p:txBody>
      </p:sp>
      <p:sp>
        <p:nvSpPr>
          <p:cNvPr id="34" name="TextBox 33"/>
          <p:cNvSpPr txBox="1"/>
          <p:nvPr/>
        </p:nvSpPr>
        <p:spPr>
          <a:xfrm>
            <a:off x="1344168" y="4937760"/>
            <a:ext cx="219456" cy="365760"/>
          </a:xfrm>
          <a:prstGeom prst="rect">
            <a:avLst/>
          </a:prstGeom>
          <a:noFill/>
        </p:spPr>
        <p:txBody>
          <a:bodyPr wrap="square" anchor="ctr" lIns="0" rIns="0" tIns="0" bIns="0">
            <a:spAutoFit/>
          </a:bodyPr>
          <a:lstStyle/>
          <a:p>
            <a:pPr algn="ctr">
              <a:lnSpc>
                <a:spcPct val="110000"/>
              </a:lnSpc>
              <a:spcAft>
                <a:spcPts val="300"/>
              </a:spcAft>
            </a:pPr>
            <a:r>
              <a:rPr sz="1300" b="1" i="0">
                <a:solidFill>
                  <a:srgbClr val="54647A"/>
                </a:solidFill>
                <a:latin typeface="Times New Roman"/>
              </a:rPr>
              <a:t>+</a:t>
            </a:r>
          </a:p>
        </p:txBody>
      </p:sp>
      <p:sp>
        <p:nvSpPr>
          <p:cNvPr id="35" name="Rounded Rectangle 34"/>
          <p:cNvSpPr/>
          <p:nvPr/>
        </p:nvSpPr>
        <p:spPr>
          <a:xfrm>
            <a:off x="1563624" y="4937760"/>
            <a:ext cx="466344" cy="365760"/>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1F3864"/>
                </a:solidFill>
                <a:latin typeface="Cambria Math"/>
              </a:rPr>
              <a:t>Alt</a:t>
            </a:r>
          </a:p>
        </p:txBody>
      </p:sp>
      <p:sp>
        <p:nvSpPr>
          <p:cNvPr id="36" name="TextBox 35"/>
          <p:cNvSpPr txBox="1"/>
          <p:nvPr/>
        </p:nvSpPr>
        <p:spPr>
          <a:xfrm>
            <a:off x="2029968" y="4937760"/>
            <a:ext cx="219456" cy="365760"/>
          </a:xfrm>
          <a:prstGeom prst="rect">
            <a:avLst/>
          </a:prstGeom>
          <a:noFill/>
        </p:spPr>
        <p:txBody>
          <a:bodyPr wrap="square" anchor="ctr" lIns="0" rIns="0" tIns="0" bIns="0">
            <a:spAutoFit/>
          </a:bodyPr>
          <a:lstStyle/>
          <a:p>
            <a:pPr algn="ctr">
              <a:lnSpc>
                <a:spcPct val="110000"/>
              </a:lnSpc>
              <a:spcAft>
                <a:spcPts val="300"/>
              </a:spcAft>
            </a:pPr>
            <a:r>
              <a:rPr sz="1300" b="1" i="0">
                <a:solidFill>
                  <a:srgbClr val="54647A"/>
                </a:solidFill>
                <a:latin typeface="Times New Roman"/>
              </a:rPr>
              <a:t>+</a:t>
            </a:r>
          </a:p>
        </p:txBody>
      </p:sp>
      <p:sp>
        <p:nvSpPr>
          <p:cNvPr id="37" name="Rounded Rectangle 36"/>
          <p:cNvSpPr/>
          <p:nvPr/>
        </p:nvSpPr>
        <p:spPr>
          <a:xfrm>
            <a:off x="2249424" y="4937760"/>
            <a:ext cx="325526" cy="365760"/>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1F3864"/>
                </a:solidFill>
                <a:latin typeface="Cambria Math"/>
              </a:rPr>
              <a:t>T</a:t>
            </a:r>
          </a:p>
        </p:txBody>
      </p:sp>
      <p:sp>
        <p:nvSpPr>
          <p:cNvPr id="38" name="TextBox 37"/>
          <p:cNvSpPr txBox="1"/>
          <p:nvPr/>
        </p:nvSpPr>
        <p:spPr>
          <a:xfrm>
            <a:off x="3246120" y="4937760"/>
            <a:ext cx="3017520" cy="365760"/>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open a terminal</a:t>
            </a:r>
          </a:p>
        </p:txBody>
      </p:sp>
      <p:sp>
        <p:nvSpPr>
          <p:cNvPr id="39" name="Rounded Rectangle 38"/>
          <p:cNvSpPr/>
          <p:nvPr/>
        </p:nvSpPr>
        <p:spPr>
          <a:xfrm>
            <a:off x="777240" y="5376672"/>
            <a:ext cx="566928" cy="365760"/>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1F3864"/>
                </a:solidFill>
                <a:latin typeface="Cambria Math"/>
              </a:rPr>
              <a:t>Ctrl</a:t>
            </a:r>
          </a:p>
        </p:txBody>
      </p:sp>
      <p:sp>
        <p:nvSpPr>
          <p:cNvPr id="40" name="TextBox 39"/>
          <p:cNvSpPr txBox="1"/>
          <p:nvPr/>
        </p:nvSpPr>
        <p:spPr>
          <a:xfrm>
            <a:off x="1344168" y="5376672"/>
            <a:ext cx="219456" cy="365760"/>
          </a:xfrm>
          <a:prstGeom prst="rect">
            <a:avLst/>
          </a:prstGeom>
          <a:noFill/>
        </p:spPr>
        <p:txBody>
          <a:bodyPr wrap="square" anchor="ctr" lIns="0" rIns="0" tIns="0" bIns="0">
            <a:spAutoFit/>
          </a:bodyPr>
          <a:lstStyle/>
          <a:p>
            <a:pPr algn="ctr">
              <a:lnSpc>
                <a:spcPct val="110000"/>
              </a:lnSpc>
              <a:spcAft>
                <a:spcPts val="300"/>
              </a:spcAft>
            </a:pPr>
            <a:r>
              <a:rPr sz="1300" b="1" i="0">
                <a:solidFill>
                  <a:srgbClr val="54647A"/>
                </a:solidFill>
                <a:latin typeface="Times New Roman"/>
              </a:rPr>
              <a:t>+</a:t>
            </a:r>
          </a:p>
        </p:txBody>
      </p:sp>
      <p:sp>
        <p:nvSpPr>
          <p:cNvPr id="41" name="Rounded Rectangle 40"/>
          <p:cNvSpPr/>
          <p:nvPr/>
        </p:nvSpPr>
        <p:spPr>
          <a:xfrm>
            <a:off x="1563624" y="5376672"/>
            <a:ext cx="667512" cy="365760"/>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1F3864"/>
                </a:solidFill>
                <a:latin typeface="Cambria Math"/>
              </a:rPr>
              <a:t>Shift</a:t>
            </a:r>
          </a:p>
        </p:txBody>
      </p:sp>
      <p:sp>
        <p:nvSpPr>
          <p:cNvPr id="42" name="TextBox 41"/>
          <p:cNvSpPr txBox="1"/>
          <p:nvPr/>
        </p:nvSpPr>
        <p:spPr>
          <a:xfrm>
            <a:off x="2231136" y="5376672"/>
            <a:ext cx="219456" cy="365760"/>
          </a:xfrm>
          <a:prstGeom prst="rect">
            <a:avLst/>
          </a:prstGeom>
          <a:noFill/>
        </p:spPr>
        <p:txBody>
          <a:bodyPr wrap="square" anchor="ctr" lIns="0" rIns="0" tIns="0" bIns="0">
            <a:spAutoFit/>
          </a:bodyPr>
          <a:lstStyle/>
          <a:p>
            <a:pPr algn="ctr">
              <a:lnSpc>
                <a:spcPct val="110000"/>
              </a:lnSpc>
              <a:spcAft>
                <a:spcPts val="300"/>
              </a:spcAft>
            </a:pPr>
            <a:r>
              <a:rPr sz="1300" b="1" i="0">
                <a:solidFill>
                  <a:srgbClr val="54647A"/>
                </a:solidFill>
                <a:latin typeface="Times New Roman"/>
              </a:rPr>
              <a:t>+</a:t>
            </a:r>
          </a:p>
        </p:txBody>
      </p:sp>
      <p:sp>
        <p:nvSpPr>
          <p:cNvPr id="43" name="Rounded Rectangle 42"/>
          <p:cNvSpPr/>
          <p:nvPr/>
        </p:nvSpPr>
        <p:spPr>
          <a:xfrm>
            <a:off x="2450592" y="5376672"/>
            <a:ext cx="325526" cy="365760"/>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1F3864"/>
                </a:solidFill>
                <a:latin typeface="Cambria Math"/>
              </a:rPr>
              <a:t>T</a:t>
            </a:r>
          </a:p>
        </p:txBody>
      </p:sp>
      <p:sp>
        <p:nvSpPr>
          <p:cNvPr id="44" name="TextBox 43"/>
          <p:cNvSpPr txBox="1"/>
          <p:nvPr/>
        </p:nvSpPr>
        <p:spPr>
          <a:xfrm>
            <a:off x="3246120" y="5376672"/>
            <a:ext cx="3017520" cy="365760"/>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new terminal tab</a:t>
            </a:r>
          </a:p>
        </p:txBody>
      </p:sp>
      <p:sp>
        <p:nvSpPr>
          <p:cNvPr id="45" name="Rounded Rectangle 44"/>
          <p:cNvSpPr/>
          <p:nvPr/>
        </p:nvSpPr>
        <p:spPr>
          <a:xfrm>
            <a:off x="777240" y="5815584"/>
            <a:ext cx="566928" cy="365760"/>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1F3864"/>
                </a:solidFill>
                <a:latin typeface="Cambria Math"/>
              </a:rPr>
              <a:t>Ctrl</a:t>
            </a:r>
          </a:p>
        </p:txBody>
      </p:sp>
      <p:sp>
        <p:nvSpPr>
          <p:cNvPr id="46" name="TextBox 45"/>
          <p:cNvSpPr txBox="1"/>
          <p:nvPr/>
        </p:nvSpPr>
        <p:spPr>
          <a:xfrm>
            <a:off x="1344168" y="5815584"/>
            <a:ext cx="219456" cy="365760"/>
          </a:xfrm>
          <a:prstGeom prst="rect">
            <a:avLst/>
          </a:prstGeom>
          <a:noFill/>
        </p:spPr>
        <p:txBody>
          <a:bodyPr wrap="square" anchor="ctr" lIns="0" rIns="0" tIns="0" bIns="0">
            <a:spAutoFit/>
          </a:bodyPr>
          <a:lstStyle/>
          <a:p>
            <a:pPr algn="ctr">
              <a:lnSpc>
                <a:spcPct val="110000"/>
              </a:lnSpc>
              <a:spcAft>
                <a:spcPts val="300"/>
              </a:spcAft>
            </a:pPr>
            <a:r>
              <a:rPr sz="1300" b="1" i="0">
                <a:solidFill>
                  <a:srgbClr val="54647A"/>
                </a:solidFill>
                <a:latin typeface="Times New Roman"/>
              </a:rPr>
              <a:t>+</a:t>
            </a:r>
          </a:p>
        </p:txBody>
      </p:sp>
      <p:sp>
        <p:nvSpPr>
          <p:cNvPr id="47" name="Rounded Rectangle 46"/>
          <p:cNvSpPr/>
          <p:nvPr/>
        </p:nvSpPr>
        <p:spPr>
          <a:xfrm>
            <a:off x="1563624" y="5815584"/>
            <a:ext cx="325526" cy="365760"/>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1F3864"/>
                </a:solidFill>
                <a:latin typeface="Cambria Math"/>
              </a:rPr>
              <a:t>C</a:t>
            </a:r>
          </a:p>
        </p:txBody>
      </p:sp>
      <p:sp>
        <p:nvSpPr>
          <p:cNvPr id="48" name="TextBox 47"/>
          <p:cNvSpPr txBox="1"/>
          <p:nvPr/>
        </p:nvSpPr>
        <p:spPr>
          <a:xfrm>
            <a:off x="3246120" y="5815584"/>
            <a:ext cx="3017520" cy="365760"/>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stop a command</a:t>
            </a:r>
          </a:p>
        </p:txBody>
      </p:sp>
      <p:sp>
        <p:nvSpPr>
          <p:cNvPr id="49" name="Rounded Rectangle 48"/>
          <p:cNvSpPr/>
          <p:nvPr/>
        </p:nvSpPr>
        <p:spPr>
          <a:xfrm>
            <a:off x="6537960" y="4846320"/>
            <a:ext cx="5074920" cy="914400"/>
          </a:xfrm>
          <a:prstGeom prst="roundRect">
            <a:avLst>
              <a:gd name="adj" fmla="val 8000"/>
            </a:avLst>
          </a:prstGeom>
          <a:solidFill>
            <a:srgbClr val="F5F8FC"/>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search_1F3864.png"/>
          <p:cNvPicPr>
            <a:picLocks noChangeAspect="1"/>
          </p:cNvPicPr>
          <p:nvPr/>
        </p:nvPicPr>
        <p:blipFill>
          <a:blip r:embed="rId3"/>
          <a:stretch>
            <a:fillRect/>
          </a:stretch>
        </p:blipFill>
        <p:spPr>
          <a:xfrm>
            <a:off x="6665976" y="5138928"/>
            <a:ext cx="329184" cy="329184"/>
          </a:xfrm>
          <a:prstGeom prst="rect">
            <a:avLst/>
          </a:prstGeom>
        </p:spPr>
      </p:pic>
      <p:sp>
        <p:nvSpPr>
          <p:cNvPr id="51" name="TextBox 50"/>
          <p:cNvSpPr txBox="1"/>
          <p:nvPr/>
        </p:nvSpPr>
        <p:spPr>
          <a:xfrm>
            <a:off x="7104888" y="4846320"/>
            <a:ext cx="4389120" cy="914400"/>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More about the terminal (shell, syntax, history, all shortcuts) — </a:t>
            </a:r>
            <a:r>
              <a:rPr sz="1200" b="1" i="0">
                <a:solidFill>
                  <a:srgbClr val="1F3864"/>
                </a:solidFill>
                <a:latin typeface="Times New Roman"/>
              </a:rPr>
              <a:t>in Lesson 2</a:t>
            </a:r>
            <a:r>
              <a:rPr sz="1200" b="0" i="0">
                <a:solidFill>
                  <a:srgbClr val="202A38"/>
                </a:solidFill>
                <a:latin typeface="Times New Roman"/>
              </a:rPr>
              <a:t>.</a:t>
            </a:r>
          </a:p>
        </p:txBody>
      </p:sp>
      <p:sp>
        <p:nvSpPr>
          <p:cNvPr id="52" name="TextBox 51"/>
          <p:cNvSpPr txBox="1"/>
          <p:nvPr/>
        </p:nvSpPr>
        <p:spPr>
          <a:xfrm>
            <a:off x="6537960" y="5897880"/>
            <a:ext cx="5074920" cy="365760"/>
          </a:xfrm>
          <a:prstGeom prst="rect">
            <a:avLst/>
          </a:prstGeom>
          <a:noFill/>
        </p:spPr>
        <p:txBody>
          <a:bodyPr wrap="square" anchor="t" lIns="0" rIns="0" tIns="0" bIns="0">
            <a:spAutoFit/>
          </a:bodyPr>
          <a:lstStyle/>
          <a:p>
            <a:pPr algn="l">
              <a:lnSpc>
                <a:spcPct val="110000"/>
              </a:lnSpc>
              <a:spcAft>
                <a:spcPts val="300"/>
              </a:spcAft>
            </a:pPr>
            <a:r>
              <a:rPr sz="1150" b="0" i="1">
                <a:solidFill>
                  <a:srgbClr val="54647A"/>
                </a:solidFill>
                <a:latin typeface="Times New Roman"/>
              </a:rPr>
              <a:t>Screenshot 0: Kali desktop and the </a:t>
            </a:r>
            <a:r>
              <a:rPr sz="1100" b="1" i="0">
                <a:solidFill>
                  <a:srgbClr val="178A73"/>
                </a:solidFill>
                <a:latin typeface="Consolas"/>
              </a:rPr>
              <a:t>whoami</a:t>
            </a:r>
            <a:r>
              <a:rPr sz="1150" b="0" i="1">
                <a:solidFill>
                  <a:srgbClr val="54647A"/>
                </a:solidFill>
                <a:latin typeface="Times New Roman"/>
              </a:rPr>
              <a:t> result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14400" y="2194560"/>
            <a:ext cx="10058400" cy="457200"/>
          </a:xfrm>
          <a:prstGeom prst="rect">
            <a:avLst/>
          </a:prstGeom>
          <a:noFill/>
        </p:spPr>
        <p:txBody>
          <a:bodyPr wrap="square" anchor="t" lIns="0" rIns="0" tIns="0" bIns="0">
            <a:spAutoFit/>
          </a:bodyPr>
          <a:lstStyle/>
          <a:p>
            <a:pPr algn="l">
              <a:lnSpc>
                <a:spcPct val="110000"/>
              </a:lnSpc>
              <a:spcAft>
                <a:spcPts val="300"/>
              </a:spcAft>
            </a:pPr>
            <a:r>
              <a:rPr sz="2200" b="1" i="0">
                <a:solidFill>
                  <a:srgbClr val="7FD1BD"/>
                </a:solidFill>
                <a:latin typeface="Times New Roman"/>
              </a:rPr>
              <a:t>QUESTION 1</a:t>
            </a:r>
          </a:p>
        </p:txBody>
      </p:sp>
      <p:sp>
        <p:nvSpPr>
          <p:cNvPr id="4" name="Rectangle 3"/>
          <p:cNvSpPr/>
          <p:nvPr/>
        </p:nvSpPr>
        <p:spPr>
          <a:xfrm>
            <a:off x="932688" y="2697480"/>
            <a:ext cx="1280160" cy="4572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32720" cy="1280160"/>
          </a:xfrm>
          <a:prstGeom prst="rect">
            <a:avLst/>
          </a:prstGeom>
          <a:noFill/>
        </p:spPr>
        <p:txBody>
          <a:bodyPr wrap="square" anchor="t" lIns="0" rIns="0" tIns="0" bIns="0">
            <a:spAutoFit/>
          </a:bodyPr>
          <a:lstStyle/>
          <a:p>
            <a:pPr algn="l">
              <a:lnSpc>
                <a:spcPct val="110000"/>
              </a:lnSpc>
              <a:spcAft>
                <a:spcPts val="300"/>
              </a:spcAft>
            </a:pPr>
            <a:r>
              <a:rPr sz="4000" b="1" i="0">
                <a:solidFill>
                  <a:srgbClr val="FFFFFF"/>
                </a:solidFill>
                <a:latin typeface="Times New Roman"/>
              </a:rPr>
              <a:t>Getting to know the Linux family</a:t>
            </a:r>
          </a:p>
        </p:txBody>
      </p:sp>
      <p:sp>
        <p:nvSpPr>
          <p:cNvPr id="6" name="TextBox 5"/>
          <p:cNvSpPr txBox="1"/>
          <p:nvPr/>
        </p:nvSpPr>
        <p:spPr>
          <a:xfrm>
            <a:off x="914400" y="4114800"/>
            <a:ext cx="10332720" cy="1097280"/>
          </a:xfrm>
          <a:prstGeom prst="rect">
            <a:avLst/>
          </a:prstGeom>
          <a:noFill/>
        </p:spPr>
        <p:txBody>
          <a:bodyPr wrap="square" anchor="t" lIns="0" rIns="0" tIns="0" bIns="0">
            <a:spAutoFit/>
          </a:bodyPr>
          <a:lstStyle/>
          <a:p>
            <a:pPr algn="l">
              <a:lnSpc>
                <a:spcPct val="120000"/>
              </a:lnSpc>
              <a:spcAft>
                <a:spcPts val="300"/>
              </a:spcAft>
            </a:pPr>
            <a:r>
              <a:rPr sz="1700" b="0" i="0">
                <a:solidFill>
                  <a:srgbClr val="DDE6F2"/>
                </a:solidFill>
                <a:latin typeface="Times New Roman"/>
              </a:rPr>
              <a:t>Distributions, families, the Kali environment and system information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QUESTION 1 · DISTRIBUTION FAMILIES</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One kernel — many distributions: the main families</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12</a:t>
            </a:r>
          </a:p>
        </p:txBody>
      </p:sp>
      <p:sp>
        <p:nvSpPr>
          <p:cNvPr id="8" name="Rounded Rectangle 7"/>
          <p:cNvSpPr/>
          <p:nvPr/>
        </p:nvSpPr>
        <p:spPr>
          <a:xfrm>
            <a:off x="4937760" y="1554480"/>
            <a:ext cx="2286000" cy="548640"/>
          </a:xfrm>
          <a:prstGeom prst="roundRect">
            <a:avLst>
              <a:gd name="adj" fmla="val 12000"/>
            </a:avLst>
          </a:prstGeom>
          <a:solidFill>
            <a:srgbClr val="122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i="0">
                <a:solidFill>
                  <a:srgbClr val="FFFFFF"/>
                </a:solidFill>
                <a:latin typeface="Times New Roman"/>
              </a:rPr>
              <a:t>Linux kernel</a:t>
            </a:r>
          </a:p>
        </p:txBody>
      </p:sp>
      <p:sp>
        <p:nvSpPr>
          <p:cNvPr id="9" name="Rectangle 8"/>
          <p:cNvSpPr/>
          <p:nvPr/>
        </p:nvSpPr>
        <p:spPr>
          <a:xfrm>
            <a:off x="1600200" y="2331720"/>
            <a:ext cx="9006840" cy="36576"/>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62472" y="2103120"/>
            <a:ext cx="36576" cy="246888"/>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581912" y="2350008"/>
            <a:ext cx="36576" cy="228600"/>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6928" y="2578608"/>
            <a:ext cx="2057400" cy="749808"/>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i="0">
                <a:solidFill>
                  <a:srgbClr val="FFFFFF"/>
                </a:solidFill>
                <a:latin typeface="Times New Roman"/>
              </a:rPr>
              <a:t>Debian</a:t>
            </a:r>
          </a:p>
          <a:p>
            <a:pPr algn="ctr"/>
            <a:r>
              <a:rPr sz="1050" b="1" i="0">
                <a:solidFill>
                  <a:srgbClr val="FFFFFF"/>
                </a:solidFill>
                <a:latin typeface="Consolas"/>
              </a:rPr>
              <a:t>.deb</a:t>
            </a:r>
            <a:r>
              <a:rPr sz="1100" b="0" i="0">
                <a:solidFill>
                  <a:srgbClr val="FFFFFF"/>
                </a:solidFill>
                <a:latin typeface="Times New Roman"/>
              </a:rPr>
              <a:t> · </a:t>
            </a:r>
            <a:r>
              <a:rPr sz="1050" b="1" i="0">
                <a:solidFill>
                  <a:srgbClr val="FFFFFF"/>
                </a:solidFill>
                <a:latin typeface="Consolas"/>
              </a:rPr>
              <a:t>apt</a:t>
            </a:r>
          </a:p>
        </p:txBody>
      </p:sp>
      <p:sp>
        <p:nvSpPr>
          <p:cNvPr id="13" name="Rounded Rectangle 12"/>
          <p:cNvSpPr/>
          <p:nvPr/>
        </p:nvSpPr>
        <p:spPr>
          <a:xfrm>
            <a:off x="749808" y="3456432"/>
            <a:ext cx="1691640" cy="34747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i="0">
                <a:solidFill>
                  <a:srgbClr val="178A73"/>
                </a:solidFill>
                <a:latin typeface="Times New Roman"/>
              </a:rPr>
              <a:t>Debian</a:t>
            </a:r>
          </a:p>
        </p:txBody>
      </p:sp>
      <p:sp>
        <p:nvSpPr>
          <p:cNvPr id="14" name="Rounded Rectangle 13"/>
          <p:cNvSpPr/>
          <p:nvPr/>
        </p:nvSpPr>
        <p:spPr>
          <a:xfrm>
            <a:off x="749808" y="3867911"/>
            <a:ext cx="1691640" cy="34747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i="0">
                <a:solidFill>
                  <a:srgbClr val="178A73"/>
                </a:solidFill>
                <a:latin typeface="Times New Roman"/>
              </a:rPr>
              <a:t>Ubuntu</a:t>
            </a:r>
          </a:p>
        </p:txBody>
      </p:sp>
      <p:sp>
        <p:nvSpPr>
          <p:cNvPr id="15" name="Rounded Rectangle 14"/>
          <p:cNvSpPr/>
          <p:nvPr/>
        </p:nvSpPr>
        <p:spPr>
          <a:xfrm>
            <a:off x="749808" y="4279392"/>
            <a:ext cx="1691640" cy="347472"/>
          </a:xfrm>
          <a:prstGeom prst="roundRect">
            <a:avLst>
              <a:gd name="adj" fmla="val 12000"/>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Kali</a:t>
            </a:r>
          </a:p>
        </p:txBody>
      </p:sp>
      <p:sp>
        <p:nvSpPr>
          <p:cNvPr id="16" name="Rounded Rectangle 15"/>
          <p:cNvSpPr/>
          <p:nvPr/>
        </p:nvSpPr>
        <p:spPr>
          <a:xfrm>
            <a:off x="749808" y="4690872"/>
            <a:ext cx="1691640" cy="34747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i="0">
                <a:solidFill>
                  <a:srgbClr val="178A73"/>
                </a:solidFill>
                <a:latin typeface="Times New Roman"/>
              </a:rPr>
              <a:t>Parrot</a:t>
            </a:r>
          </a:p>
        </p:txBody>
      </p:sp>
      <p:sp>
        <p:nvSpPr>
          <p:cNvPr id="17" name="Rectangle 16"/>
          <p:cNvSpPr/>
          <p:nvPr/>
        </p:nvSpPr>
        <p:spPr>
          <a:xfrm>
            <a:off x="3822192" y="2350008"/>
            <a:ext cx="36576" cy="228600"/>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807208" y="2578608"/>
            <a:ext cx="2057400" cy="749808"/>
          </a:xfrm>
          <a:prstGeom prst="roundRect">
            <a:avLst>
              <a:gd name="adj" fmla="val 1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i="0">
                <a:solidFill>
                  <a:srgbClr val="FFFFFF"/>
                </a:solidFill>
                <a:latin typeface="Times New Roman"/>
              </a:rPr>
              <a:t>Red Hat</a:t>
            </a:r>
          </a:p>
          <a:p>
            <a:pPr algn="ctr"/>
            <a:r>
              <a:rPr sz="1050" b="1" i="0">
                <a:solidFill>
                  <a:srgbClr val="FFFFFF"/>
                </a:solidFill>
                <a:latin typeface="Consolas"/>
              </a:rPr>
              <a:t>.rpm</a:t>
            </a:r>
            <a:r>
              <a:rPr sz="1100" b="0" i="0">
                <a:solidFill>
                  <a:srgbClr val="FFFFFF"/>
                </a:solidFill>
                <a:latin typeface="Times New Roman"/>
              </a:rPr>
              <a:t> · </a:t>
            </a:r>
            <a:r>
              <a:rPr sz="1050" b="1" i="0">
                <a:solidFill>
                  <a:srgbClr val="FFFFFF"/>
                </a:solidFill>
                <a:latin typeface="Consolas"/>
              </a:rPr>
              <a:t>dnf</a:t>
            </a:r>
          </a:p>
        </p:txBody>
      </p:sp>
      <p:sp>
        <p:nvSpPr>
          <p:cNvPr id="19" name="Rounded Rectangle 18"/>
          <p:cNvSpPr/>
          <p:nvPr/>
        </p:nvSpPr>
        <p:spPr>
          <a:xfrm>
            <a:off x="2990088" y="3456432"/>
            <a:ext cx="1691640" cy="34747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i="0">
                <a:solidFill>
                  <a:srgbClr val="C0392B"/>
                </a:solidFill>
                <a:latin typeface="Times New Roman"/>
              </a:rPr>
              <a:t>RHEL</a:t>
            </a:r>
          </a:p>
        </p:txBody>
      </p:sp>
      <p:sp>
        <p:nvSpPr>
          <p:cNvPr id="20" name="Rounded Rectangle 19"/>
          <p:cNvSpPr/>
          <p:nvPr/>
        </p:nvSpPr>
        <p:spPr>
          <a:xfrm>
            <a:off x="2990088" y="3867911"/>
            <a:ext cx="1691640" cy="34747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i="0">
                <a:solidFill>
                  <a:srgbClr val="C0392B"/>
                </a:solidFill>
                <a:latin typeface="Times New Roman"/>
              </a:rPr>
              <a:t>Fedora</a:t>
            </a:r>
          </a:p>
        </p:txBody>
      </p:sp>
      <p:sp>
        <p:nvSpPr>
          <p:cNvPr id="21" name="Rounded Rectangle 20"/>
          <p:cNvSpPr/>
          <p:nvPr/>
        </p:nvSpPr>
        <p:spPr>
          <a:xfrm>
            <a:off x="2990088" y="4279392"/>
            <a:ext cx="1691640" cy="34747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i="0">
                <a:solidFill>
                  <a:srgbClr val="C0392B"/>
                </a:solidFill>
                <a:latin typeface="Times New Roman"/>
              </a:rPr>
              <a:t>Rocky</a:t>
            </a:r>
          </a:p>
        </p:txBody>
      </p:sp>
      <p:sp>
        <p:nvSpPr>
          <p:cNvPr id="22" name="Rounded Rectangle 21"/>
          <p:cNvSpPr/>
          <p:nvPr/>
        </p:nvSpPr>
        <p:spPr>
          <a:xfrm>
            <a:off x="2990088" y="4690872"/>
            <a:ext cx="1691640" cy="34747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i="0">
                <a:solidFill>
                  <a:srgbClr val="C0392B"/>
                </a:solidFill>
                <a:latin typeface="Times New Roman"/>
              </a:rPr>
              <a:t>AlmaLinux</a:t>
            </a:r>
          </a:p>
        </p:txBody>
      </p:sp>
      <p:sp>
        <p:nvSpPr>
          <p:cNvPr id="23" name="Rectangle 22"/>
          <p:cNvSpPr/>
          <p:nvPr/>
        </p:nvSpPr>
        <p:spPr>
          <a:xfrm>
            <a:off x="6062472" y="2350008"/>
            <a:ext cx="36576" cy="228600"/>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47488" y="2578608"/>
            <a:ext cx="2057400" cy="749808"/>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i="0">
                <a:solidFill>
                  <a:srgbClr val="FFFFFF"/>
                </a:solidFill>
                <a:latin typeface="Times New Roman"/>
              </a:rPr>
              <a:t>Arch</a:t>
            </a:r>
          </a:p>
          <a:p>
            <a:pPr algn="ctr"/>
            <a:r>
              <a:rPr sz="1050" b="1" i="0">
                <a:solidFill>
                  <a:srgbClr val="FFFFFF"/>
                </a:solidFill>
                <a:latin typeface="Consolas"/>
              </a:rPr>
              <a:t>pacman</a:t>
            </a:r>
          </a:p>
        </p:txBody>
      </p:sp>
      <p:sp>
        <p:nvSpPr>
          <p:cNvPr id="25" name="Rounded Rectangle 24"/>
          <p:cNvSpPr/>
          <p:nvPr/>
        </p:nvSpPr>
        <p:spPr>
          <a:xfrm>
            <a:off x="5230368" y="3456432"/>
            <a:ext cx="1691640" cy="34747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i="0">
                <a:solidFill>
                  <a:srgbClr val="1F3864"/>
                </a:solidFill>
                <a:latin typeface="Times New Roman"/>
              </a:rPr>
              <a:t>Arch</a:t>
            </a:r>
          </a:p>
        </p:txBody>
      </p:sp>
      <p:sp>
        <p:nvSpPr>
          <p:cNvPr id="26" name="Rounded Rectangle 25"/>
          <p:cNvSpPr/>
          <p:nvPr/>
        </p:nvSpPr>
        <p:spPr>
          <a:xfrm>
            <a:off x="5230368" y="3867911"/>
            <a:ext cx="1691640" cy="34747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i="0">
                <a:solidFill>
                  <a:srgbClr val="1F3864"/>
                </a:solidFill>
                <a:latin typeface="Times New Roman"/>
              </a:rPr>
              <a:t>Manjaro</a:t>
            </a:r>
          </a:p>
        </p:txBody>
      </p:sp>
      <p:sp>
        <p:nvSpPr>
          <p:cNvPr id="27" name="Rounded Rectangle 26"/>
          <p:cNvSpPr/>
          <p:nvPr/>
        </p:nvSpPr>
        <p:spPr>
          <a:xfrm>
            <a:off x="5230368" y="4279392"/>
            <a:ext cx="1691640" cy="34747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i="0">
                <a:solidFill>
                  <a:srgbClr val="1F3864"/>
                </a:solidFill>
                <a:latin typeface="Times New Roman"/>
              </a:rPr>
              <a:t>BlackArch</a:t>
            </a:r>
          </a:p>
        </p:txBody>
      </p:sp>
      <p:sp>
        <p:nvSpPr>
          <p:cNvPr id="28" name="Rectangle 27"/>
          <p:cNvSpPr/>
          <p:nvPr/>
        </p:nvSpPr>
        <p:spPr>
          <a:xfrm>
            <a:off x="8302752" y="2350008"/>
            <a:ext cx="36576" cy="228600"/>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287768" y="2578608"/>
            <a:ext cx="2057400" cy="749808"/>
          </a:xfrm>
          <a:prstGeom prst="roundRect">
            <a:avLst>
              <a:gd name="adj" fmla="val 12000"/>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i="0">
                <a:solidFill>
                  <a:srgbClr val="FFFFFF"/>
                </a:solidFill>
                <a:latin typeface="Times New Roman"/>
              </a:rPr>
              <a:t>SUSE</a:t>
            </a:r>
          </a:p>
          <a:p>
            <a:pPr algn="ctr"/>
            <a:r>
              <a:rPr sz="1050" b="1" i="0">
                <a:solidFill>
                  <a:srgbClr val="FFFFFF"/>
                </a:solidFill>
                <a:latin typeface="Consolas"/>
              </a:rPr>
              <a:t>.rpm</a:t>
            </a:r>
            <a:r>
              <a:rPr sz="1100" b="0" i="0">
                <a:solidFill>
                  <a:srgbClr val="FFFFFF"/>
                </a:solidFill>
                <a:latin typeface="Times New Roman"/>
              </a:rPr>
              <a:t> · </a:t>
            </a:r>
            <a:r>
              <a:rPr sz="1050" b="1" i="0">
                <a:solidFill>
                  <a:srgbClr val="FFFFFF"/>
                </a:solidFill>
                <a:latin typeface="Consolas"/>
              </a:rPr>
              <a:t>zypper</a:t>
            </a:r>
          </a:p>
        </p:txBody>
      </p:sp>
      <p:sp>
        <p:nvSpPr>
          <p:cNvPr id="30" name="Rounded Rectangle 29"/>
          <p:cNvSpPr/>
          <p:nvPr/>
        </p:nvSpPr>
        <p:spPr>
          <a:xfrm>
            <a:off x="7470648" y="3456432"/>
            <a:ext cx="1691640" cy="34747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i="0">
                <a:solidFill>
                  <a:srgbClr val="43B02A"/>
                </a:solidFill>
                <a:latin typeface="Times New Roman"/>
              </a:rPr>
              <a:t>openSUSE</a:t>
            </a:r>
          </a:p>
        </p:txBody>
      </p:sp>
      <p:sp>
        <p:nvSpPr>
          <p:cNvPr id="31" name="Rounded Rectangle 30"/>
          <p:cNvSpPr/>
          <p:nvPr/>
        </p:nvSpPr>
        <p:spPr>
          <a:xfrm>
            <a:off x="7470648" y="3867911"/>
            <a:ext cx="1691640" cy="34747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i="0">
                <a:solidFill>
                  <a:srgbClr val="43B02A"/>
                </a:solidFill>
                <a:latin typeface="Times New Roman"/>
              </a:rPr>
              <a:t>SLES</a:t>
            </a:r>
          </a:p>
        </p:txBody>
      </p:sp>
      <p:sp>
        <p:nvSpPr>
          <p:cNvPr id="32" name="Rectangle 31"/>
          <p:cNvSpPr/>
          <p:nvPr/>
        </p:nvSpPr>
        <p:spPr>
          <a:xfrm>
            <a:off x="10543032" y="2350008"/>
            <a:ext cx="36576" cy="228600"/>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528048" y="2578608"/>
            <a:ext cx="2057400" cy="749808"/>
          </a:xfrm>
          <a:prstGeom prst="roundRect">
            <a:avLst>
              <a:gd name="adj" fmla="val 12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i="0">
                <a:solidFill>
                  <a:srgbClr val="FFFFFF"/>
                </a:solidFill>
                <a:latin typeface="Times New Roman"/>
              </a:rPr>
              <a:t>Alpine</a:t>
            </a:r>
          </a:p>
          <a:p>
            <a:pPr algn="ctr"/>
            <a:r>
              <a:rPr sz="1050" b="1" i="0">
                <a:solidFill>
                  <a:srgbClr val="FFFFFF"/>
                </a:solidFill>
                <a:latin typeface="Consolas"/>
              </a:rPr>
              <a:t>apk</a:t>
            </a:r>
          </a:p>
        </p:txBody>
      </p:sp>
      <p:sp>
        <p:nvSpPr>
          <p:cNvPr id="34" name="Rounded Rectangle 33"/>
          <p:cNvSpPr/>
          <p:nvPr/>
        </p:nvSpPr>
        <p:spPr>
          <a:xfrm>
            <a:off x="9710928" y="3456432"/>
            <a:ext cx="1691640" cy="34747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i="0">
                <a:solidFill>
                  <a:srgbClr val="E08E1D"/>
                </a:solidFill>
                <a:latin typeface="Times New Roman"/>
              </a:rPr>
              <a:t>Alpine</a:t>
            </a:r>
          </a:p>
        </p:txBody>
      </p:sp>
      <p:sp>
        <p:nvSpPr>
          <p:cNvPr id="35" name="Rounded Rectangle 34"/>
          <p:cNvSpPr/>
          <p:nvPr/>
        </p:nvSpPr>
        <p:spPr>
          <a:xfrm>
            <a:off x="9710928" y="3867911"/>
            <a:ext cx="1691640" cy="34747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i="0">
                <a:solidFill>
                  <a:srgbClr val="E08E1D"/>
                </a:solidFill>
                <a:latin typeface="Times New Roman"/>
              </a:rPr>
              <a:t>(Docker)</a:t>
            </a:r>
          </a:p>
        </p:txBody>
      </p:sp>
      <p:graphicFrame>
        <p:nvGraphicFramePr>
          <p:cNvPr id="36" name="Table 35"/>
          <p:cNvGraphicFramePr>
            <a:graphicFrameLocks noGrp="1"/>
          </p:cNvGraphicFramePr>
          <p:nvPr/>
        </p:nvGraphicFramePr>
        <p:xfrm>
          <a:off x="566928" y="5212080"/>
          <a:ext cx="7589518" cy="1060704"/>
        </p:xfrm>
        <a:graphic>
          <a:graphicData uri="http://schemas.openxmlformats.org/drawingml/2006/table">
            <a:tbl>
              <a:tblPr firstRow="1" bandRow="1">
                <a:tableStyleId>{5940675A-B579-460E-94D1-54222C63F5DA}</a:tableStyleId>
              </a:tblPr>
              <a:tblGrid>
                <a:gridCol w="1463039"/>
                <a:gridCol w="6126479"/>
              </a:tblGrid>
              <a:tr h="265176">
                <a:tc>
                  <a:txBody>
                    <a:bodyPr wrap="square"/>
                    <a:lstStyle/>
                    <a:p>
                      <a:pPr algn="l"/>
                      <a:r>
                        <a:rPr sz="1150" b="1" i="0">
                          <a:solidFill>
                            <a:srgbClr val="FFFFFF"/>
                          </a:solidFill>
                          <a:latin typeface="Times New Roman"/>
                        </a:rPr>
                        <a:t>Family</a:t>
                      </a:r>
                    </a:p>
                  </a:txBody>
                  <a:tcPr marL="63500" marR="63500" marT="25400" marB="25400" anchor="ctr">
                    <a:solidFill>
                      <a:srgbClr val="1F3864"/>
                    </a:solidFill>
                  </a:tcPr>
                </a:tc>
                <a:tc>
                  <a:txBody>
                    <a:bodyPr wrap="square"/>
                    <a:lstStyle/>
                    <a:p>
                      <a:pPr algn="l"/>
                      <a:r>
                        <a:rPr sz="1150" b="1" i="0">
                          <a:solidFill>
                            <a:srgbClr val="FFFFFF"/>
                          </a:solidFill>
                          <a:latin typeface="Times New Roman"/>
                        </a:rPr>
                        <a:t>Where common</a:t>
                      </a:r>
                    </a:p>
                  </a:txBody>
                  <a:tcPr marL="63500" marR="63500" marT="25400" marB="25400" anchor="ctr">
                    <a:solidFill>
                      <a:srgbClr val="1F3864"/>
                    </a:solidFill>
                  </a:tcPr>
                </a:tc>
              </a:tr>
              <a:tr h="265176">
                <a:tc>
                  <a:txBody>
                    <a:bodyPr wrap="square"/>
                    <a:lstStyle/>
                    <a:p>
                      <a:pPr algn="l"/>
                      <a:r>
                        <a:rPr sz="1150" b="1" i="0">
                          <a:solidFill>
                            <a:srgbClr val="202A38"/>
                          </a:solidFill>
                          <a:latin typeface="Times New Roman"/>
                        </a:rPr>
                        <a:t>Debian</a:t>
                      </a:r>
                    </a:p>
                  </a:txBody>
                  <a:tcPr marL="63500" marR="63500" marT="25400" marB="25400" anchor="ctr">
                    <a:solidFill>
                      <a:srgbClr val="FFFFFF"/>
                    </a:solidFill>
                  </a:tcPr>
                </a:tc>
                <a:tc>
                  <a:txBody>
                    <a:bodyPr wrap="square"/>
                    <a:lstStyle/>
                    <a:p>
                      <a:pPr algn="l"/>
                      <a:r>
                        <a:rPr sz="1150" b="0" i="0">
                          <a:solidFill>
                            <a:srgbClr val="202A38"/>
                          </a:solidFill>
                          <a:latin typeface="Times New Roman"/>
                        </a:rPr>
                        <a:t>Servers, desktop, cybersecurity</a:t>
                      </a:r>
                    </a:p>
                  </a:txBody>
                  <a:tcPr marL="63500" marR="63500" marT="25400" marB="25400" anchor="ctr">
                    <a:solidFill>
                      <a:srgbClr val="FFFFFF"/>
                    </a:solidFill>
                  </a:tcPr>
                </a:tc>
              </a:tr>
              <a:tr h="265176">
                <a:tc>
                  <a:txBody>
                    <a:bodyPr wrap="square"/>
                    <a:lstStyle/>
                    <a:p>
                      <a:pPr algn="l"/>
                      <a:r>
                        <a:rPr sz="1150" b="1" i="0">
                          <a:solidFill>
                            <a:srgbClr val="202A38"/>
                          </a:solidFill>
                          <a:latin typeface="Times New Roman"/>
                        </a:rPr>
                        <a:t>Red Hat</a:t>
                      </a:r>
                    </a:p>
                  </a:txBody>
                  <a:tcPr marL="63500" marR="63500" marT="25400" marB="25400" anchor="ctr">
                    <a:solidFill>
                      <a:srgbClr val="F5F8FC"/>
                    </a:solidFill>
                  </a:tcPr>
                </a:tc>
                <a:tc>
                  <a:txBody>
                    <a:bodyPr wrap="square"/>
                    <a:lstStyle/>
                    <a:p>
                      <a:pPr algn="l"/>
                      <a:r>
                        <a:rPr sz="1150" b="0" i="0">
                          <a:solidFill>
                            <a:srgbClr val="202A38"/>
                          </a:solidFill>
                          <a:latin typeface="Times New Roman"/>
                        </a:rPr>
                        <a:t>Enterprise servers, banking and government systems</a:t>
                      </a:r>
                    </a:p>
                  </a:txBody>
                  <a:tcPr marL="63500" marR="63500" marT="25400" marB="25400" anchor="ctr">
                    <a:solidFill>
                      <a:srgbClr val="F5F8FC"/>
                    </a:solidFill>
                  </a:tcPr>
                </a:tc>
              </a:tr>
              <a:tr h="265176">
                <a:tc>
                  <a:txBody>
                    <a:bodyPr wrap="square"/>
                    <a:lstStyle/>
                    <a:p>
                      <a:pPr algn="l"/>
                      <a:r>
                        <a:rPr sz="1150" b="1" i="0">
                          <a:solidFill>
                            <a:srgbClr val="202A38"/>
                          </a:solidFill>
                          <a:latin typeface="Times New Roman"/>
                        </a:rPr>
                        <a:t>Alpine</a:t>
                      </a:r>
                    </a:p>
                  </a:txBody>
                  <a:tcPr marL="63500" marR="63500" marT="25400" marB="25400" anchor="ctr">
                    <a:solidFill>
                      <a:srgbClr val="FFFFFF"/>
                    </a:solidFill>
                  </a:tcPr>
                </a:tc>
                <a:tc>
                  <a:txBody>
                    <a:bodyPr wrap="square"/>
                    <a:lstStyle/>
                    <a:p>
                      <a:pPr algn="l"/>
                      <a:r>
                        <a:rPr sz="1150" b="0" i="0">
                          <a:solidFill>
                            <a:srgbClr val="202A38"/>
                          </a:solidFill>
                          <a:latin typeface="Times New Roman"/>
                        </a:rPr>
                        <a:t>Docker containers (very small)</a:t>
                      </a:r>
                    </a:p>
                  </a:txBody>
                  <a:tcPr marL="63500" marR="63500" marT="25400" marB="25400" anchor="ctr">
                    <a:solidFill>
                      <a:srgbClr val="FFFFFF"/>
                    </a:solidFill>
                  </a:tcPr>
                </a:tc>
              </a:tr>
            </a:tbl>
          </a:graphicData>
        </a:graphic>
      </p:graphicFrame>
      <p:sp>
        <p:nvSpPr>
          <p:cNvPr id="37" name="Rounded Rectangle 36"/>
          <p:cNvSpPr/>
          <p:nvPr/>
        </p:nvSpPr>
        <p:spPr>
          <a:xfrm>
            <a:off x="8321040" y="5212080"/>
            <a:ext cx="3291840" cy="1060704"/>
          </a:xfrm>
          <a:prstGeom prst="roundRect">
            <a:avLst>
              <a:gd name="adj" fmla="val 8000"/>
            </a:avLst>
          </a:prstGeom>
          <a:solidFill>
            <a:srgbClr val="E3F3EE"/>
          </a:solidFill>
          <a:ln w="15875">
            <a:solidFill>
              <a:srgbClr val="178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check_178A73.png"/>
          <p:cNvPicPr>
            <a:picLocks noChangeAspect="1"/>
          </p:cNvPicPr>
          <p:nvPr/>
        </p:nvPicPr>
        <p:blipFill>
          <a:blip r:embed="rId3"/>
          <a:stretch>
            <a:fillRect/>
          </a:stretch>
        </p:blipFill>
        <p:spPr>
          <a:xfrm>
            <a:off x="8449056" y="5577840"/>
            <a:ext cx="329184" cy="329184"/>
          </a:xfrm>
          <a:prstGeom prst="rect">
            <a:avLst/>
          </a:prstGeom>
        </p:spPr>
      </p:pic>
      <p:sp>
        <p:nvSpPr>
          <p:cNvPr id="39" name="TextBox 38"/>
          <p:cNvSpPr txBox="1"/>
          <p:nvPr/>
        </p:nvSpPr>
        <p:spPr>
          <a:xfrm>
            <a:off x="8887968" y="5212080"/>
            <a:ext cx="2606040" cy="1060704"/>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Kali is from the </a:t>
            </a:r>
            <a:r>
              <a:rPr sz="1200" b="1" i="0">
                <a:solidFill>
                  <a:srgbClr val="1F3864"/>
                </a:solidFill>
                <a:latin typeface="Times New Roman"/>
              </a:rPr>
              <a:t>Debian</a:t>
            </a:r>
            <a:r>
              <a:rPr sz="1200" b="0" i="0">
                <a:solidFill>
                  <a:srgbClr val="202A38"/>
                </a:solidFill>
                <a:latin typeface="Times New Roman"/>
              </a:rPr>
              <a:t> family: Debian/Ubuntu instructions work on Kali too.</a:t>
            </a:r>
          </a:p>
        </p:txBody>
      </p:sp>
      <p:sp>
        <p:nvSpPr>
          <p:cNvPr id="40" name="Rounded Rectangle 39">
            <a:hlinkClick action="ppaction://hlinksldjump" r:id="rId4"/>
          </p:cNvPr>
          <p:cNvSpPr/>
          <p:nvPr/>
        </p:nvSpPr>
        <p:spPr>
          <a:xfrm>
            <a:off x="9738360" y="1627632"/>
            <a:ext cx="1792224" cy="310896"/>
          </a:xfrm>
          <a:prstGeom prst="roundRect">
            <a:avLst>
              <a:gd name="adj" fmla="val 50000"/>
            </a:avLst>
          </a:prstGeom>
          <a:solidFill>
            <a:srgbClr val="FFFFFF"/>
          </a:solidFill>
          <a:ln w="19050">
            <a:solidFill>
              <a:srgbClr val="178A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78A73"/>
                </a:solidFill>
                <a:latin typeface="Consolas"/>
              </a:rPr>
              <a:t>?  Distribution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QUESTION 1 · SPECIAL DISTRIBUTIONS</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Special cybersecurity distributions and their place in the course</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13</a:t>
            </a:r>
          </a:p>
        </p:txBody>
      </p:sp>
      <p:sp>
        <p:nvSpPr>
          <p:cNvPr id="8" name="Rounded Rectangle 7"/>
          <p:cNvSpPr/>
          <p:nvPr/>
        </p:nvSpPr>
        <p:spPr>
          <a:xfrm>
            <a:off x="566928" y="1600200"/>
            <a:ext cx="3566160" cy="171907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00200"/>
            <a:ext cx="64008" cy="1719072"/>
          </a:xfrm>
          <a:prstGeom prst="rect">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68096" y="1783080"/>
            <a:ext cx="594360" cy="59436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target_FFFFFF.png"/>
          <p:cNvPicPr>
            <a:picLocks noChangeAspect="1"/>
          </p:cNvPicPr>
          <p:nvPr/>
        </p:nvPicPr>
        <p:blipFill>
          <a:blip r:embed="rId3"/>
          <a:stretch>
            <a:fillRect/>
          </a:stretch>
        </p:blipFill>
        <p:spPr>
          <a:xfrm>
            <a:off x="916686" y="1931670"/>
            <a:ext cx="297180" cy="297180"/>
          </a:xfrm>
          <a:prstGeom prst="rect">
            <a:avLst/>
          </a:prstGeom>
        </p:spPr>
      </p:pic>
      <p:sp>
        <p:nvSpPr>
          <p:cNvPr id="12" name="TextBox 11"/>
          <p:cNvSpPr txBox="1"/>
          <p:nvPr/>
        </p:nvSpPr>
        <p:spPr>
          <a:xfrm>
            <a:off x="1481328" y="1874520"/>
            <a:ext cx="2560320" cy="365760"/>
          </a:xfrm>
          <a:prstGeom prst="rect">
            <a:avLst/>
          </a:prstGeom>
          <a:noFill/>
        </p:spPr>
        <p:txBody>
          <a:bodyPr wrap="square" anchor="t" lIns="0" rIns="0" tIns="0" bIns="0">
            <a:spAutoFit/>
          </a:bodyPr>
          <a:lstStyle/>
          <a:p>
            <a:pPr algn="l">
              <a:lnSpc>
                <a:spcPct val="110000"/>
              </a:lnSpc>
              <a:spcAft>
                <a:spcPts val="300"/>
              </a:spcAft>
            </a:pPr>
            <a:r>
              <a:rPr sz="1600" b="1" i="0">
                <a:solidFill>
                  <a:srgbClr val="178A73"/>
                </a:solidFill>
                <a:latin typeface="Times New Roman"/>
              </a:rPr>
              <a:t>Kali Linux</a:t>
            </a:r>
          </a:p>
        </p:txBody>
      </p:sp>
      <p:sp>
        <p:nvSpPr>
          <p:cNvPr id="13" name="TextBox 12"/>
          <p:cNvSpPr txBox="1"/>
          <p:nvPr/>
        </p:nvSpPr>
        <p:spPr>
          <a:xfrm>
            <a:off x="795528" y="2496312"/>
            <a:ext cx="3200400" cy="457200"/>
          </a:xfrm>
          <a:prstGeom prst="rect">
            <a:avLst/>
          </a:prstGeom>
          <a:noFill/>
        </p:spPr>
        <p:txBody>
          <a:bodyPr wrap="square" anchor="t" lIns="0" rIns="0" tIns="0" bIns="0">
            <a:spAutoFit/>
          </a:bodyPr>
          <a:lstStyle/>
          <a:p>
            <a:pPr algn="l">
              <a:lnSpc>
                <a:spcPct val="110000"/>
              </a:lnSpc>
              <a:spcAft>
                <a:spcPts val="300"/>
              </a:spcAft>
            </a:pPr>
            <a:r>
              <a:rPr sz="1250" b="0" i="0">
                <a:solidFill>
                  <a:srgbClr val="202A38"/>
                </a:solidFill>
                <a:latin typeface="Times New Roman"/>
              </a:rPr>
              <a:t>Penetration testing, 600+ ready tools (Debian-based)</a:t>
            </a:r>
          </a:p>
        </p:txBody>
      </p:sp>
      <p:sp>
        <p:nvSpPr>
          <p:cNvPr id="14" name="TextBox 13"/>
          <p:cNvSpPr txBox="1"/>
          <p:nvPr/>
        </p:nvSpPr>
        <p:spPr>
          <a:xfrm>
            <a:off x="795528" y="2926080"/>
            <a:ext cx="3200400" cy="320040"/>
          </a:xfrm>
          <a:prstGeom prst="rect">
            <a:avLst/>
          </a:prstGeom>
          <a:noFill/>
        </p:spPr>
        <p:txBody>
          <a:bodyPr wrap="square" anchor="t" lIns="0" rIns="0" tIns="0" bIns="0">
            <a:spAutoFit/>
          </a:bodyPr>
          <a:lstStyle/>
          <a:p>
            <a:pPr algn="l">
              <a:lnSpc>
                <a:spcPct val="110000"/>
              </a:lnSpc>
              <a:spcAft>
                <a:spcPts val="300"/>
              </a:spcAft>
            </a:pPr>
            <a:r>
              <a:rPr sz="1150" b="0" i="1">
                <a:solidFill>
                  <a:srgbClr val="54647A"/>
                </a:solidFill>
                <a:latin typeface="Times New Roman"/>
              </a:rPr>
              <a:t>▸ Throughout the course — the main lab OS</a:t>
            </a:r>
          </a:p>
        </p:txBody>
      </p:sp>
      <p:sp>
        <p:nvSpPr>
          <p:cNvPr id="15" name="Rounded Rectangle 14"/>
          <p:cNvSpPr/>
          <p:nvPr/>
        </p:nvSpPr>
        <p:spPr>
          <a:xfrm>
            <a:off x="4297680" y="1600200"/>
            <a:ext cx="3566160" cy="171907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1600200"/>
            <a:ext cx="64008" cy="171907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98848" y="1783080"/>
            <a:ext cx="594360" cy="5943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hield_FFFFFF.png"/>
          <p:cNvPicPr>
            <a:picLocks noChangeAspect="1"/>
          </p:cNvPicPr>
          <p:nvPr/>
        </p:nvPicPr>
        <p:blipFill>
          <a:blip r:embed="rId4"/>
          <a:stretch>
            <a:fillRect/>
          </a:stretch>
        </p:blipFill>
        <p:spPr>
          <a:xfrm>
            <a:off x="4647438" y="1931670"/>
            <a:ext cx="297180" cy="297180"/>
          </a:xfrm>
          <a:prstGeom prst="rect">
            <a:avLst/>
          </a:prstGeom>
        </p:spPr>
      </p:pic>
      <p:sp>
        <p:nvSpPr>
          <p:cNvPr id="19" name="TextBox 18"/>
          <p:cNvSpPr txBox="1"/>
          <p:nvPr/>
        </p:nvSpPr>
        <p:spPr>
          <a:xfrm>
            <a:off x="5212080" y="1874520"/>
            <a:ext cx="2560320" cy="365760"/>
          </a:xfrm>
          <a:prstGeom prst="rect">
            <a:avLst/>
          </a:prstGeom>
          <a:noFill/>
        </p:spPr>
        <p:txBody>
          <a:bodyPr wrap="square" anchor="t" lIns="0" rIns="0" tIns="0" bIns="0">
            <a:spAutoFit/>
          </a:bodyPr>
          <a:lstStyle/>
          <a:p>
            <a:pPr algn="l">
              <a:lnSpc>
                <a:spcPct val="110000"/>
              </a:lnSpc>
              <a:spcAft>
                <a:spcPts val="300"/>
              </a:spcAft>
            </a:pPr>
            <a:r>
              <a:rPr sz="1600" b="1" i="0">
                <a:solidFill>
                  <a:srgbClr val="1F3864"/>
                </a:solidFill>
                <a:latin typeface="Times New Roman"/>
              </a:rPr>
              <a:t>Parrot Security</a:t>
            </a:r>
          </a:p>
        </p:txBody>
      </p:sp>
      <p:sp>
        <p:nvSpPr>
          <p:cNvPr id="20" name="TextBox 19"/>
          <p:cNvSpPr txBox="1"/>
          <p:nvPr/>
        </p:nvSpPr>
        <p:spPr>
          <a:xfrm>
            <a:off x="4526280" y="2496312"/>
            <a:ext cx="3200400" cy="457200"/>
          </a:xfrm>
          <a:prstGeom prst="rect">
            <a:avLst/>
          </a:prstGeom>
          <a:noFill/>
        </p:spPr>
        <p:txBody>
          <a:bodyPr wrap="square" anchor="t" lIns="0" rIns="0" tIns="0" bIns="0">
            <a:spAutoFit/>
          </a:bodyPr>
          <a:lstStyle/>
          <a:p>
            <a:pPr algn="l">
              <a:lnSpc>
                <a:spcPct val="110000"/>
              </a:lnSpc>
              <a:spcAft>
                <a:spcPts val="300"/>
              </a:spcAft>
            </a:pPr>
            <a:r>
              <a:rPr sz="1250" b="0" i="0">
                <a:solidFill>
                  <a:srgbClr val="202A38"/>
                </a:solidFill>
                <a:latin typeface="Times New Roman"/>
              </a:rPr>
              <a:t>Penetration testing and anonymity (Debian-based)</a:t>
            </a:r>
          </a:p>
        </p:txBody>
      </p:sp>
      <p:sp>
        <p:nvSpPr>
          <p:cNvPr id="21" name="TextBox 20"/>
          <p:cNvSpPr txBox="1"/>
          <p:nvPr/>
        </p:nvSpPr>
        <p:spPr>
          <a:xfrm>
            <a:off x="4526280" y="2926080"/>
            <a:ext cx="3200400" cy="320040"/>
          </a:xfrm>
          <a:prstGeom prst="rect">
            <a:avLst/>
          </a:prstGeom>
          <a:noFill/>
        </p:spPr>
        <p:txBody>
          <a:bodyPr wrap="square" anchor="t" lIns="0" rIns="0" tIns="0" bIns="0">
            <a:spAutoFit/>
          </a:bodyPr>
          <a:lstStyle/>
          <a:p>
            <a:pPr algn="l">
              <a:lnSpc>
                <a:spcPct val="110000"/>
              </a:lnSpc>
              <a:spcAft>
                <a:spcPts val="300"/>
              </a:spcAft>
            </a:pPr>
            <a:r>
              <a:rPr sz="1150" b="0" i="1">
                <a:solidFill>
                  <a:srgbClr val="54647A"/>
                </a:solidFill>
                <a:latin typeface="Times New Roman"/>
              </a:rPr>
              <a:t>▸ Alternative to Kali</a:t>
            </a:r>
          </a:p>
        </p:txBody>
      </p:sp>
      <p:sp>
        <p:nvSpPr>
          <p:cNvPr id="22" name="Rounded Rectangle 21"/>
          <p:cNvSpPr/>
          <p:nvPr/>
        </p:nvSpPr>
        <p:spPr>
          <a:xfrm>
            <a:off x="8028431" y="1600200"/>
            <a:ext cx="3566160" cy="171907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28431" y="1600200"/>
            <a:ext cx="64008" cy="171907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229599" y="1783080"/>
            <a:ext cx="594360" cy="5943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layers_FFFFFF.png"/>
          <p:cNvPicPr>
            <a:picLocks noChangeAspect="1"/>
          </p:cNvPicPr>
          <p:nvPr/>
        </p:nvPicPr>
        <p:blipFill>
          <a:blip r:embed="rId5"/>
          <a:stretch>
            <a:fillRect/>
          </a:stretch>
        </p:blipFill>
        <p:spPr>
          <a:xfrm>
            <a:off x="8378189" y="1931670"/>
            <a:ext cx="297180" cy="297180"/>
          </a:xfrm>
          <a:prstGeom prst="rect">
            <a:avLst/>
          </a:prstGeom>
        </p:spPr>
      </p:pic>
      <p:sp>
        <p:nvSpPr>
          <p:cNvPr id="26" name="TextBox 25"/>
          <p:cNvSpPr txBox="1"/>
          <p:nvPr/>
        </p:nvSpPr>
        <p:spPr>
          <a:xfrm>
            <a:off x="8942831" y="1874520"/>
            <a:ext cx="2560320" cy="365760"/>
          </a:xfrm>
          <a:prstGeom prst="rect">
            <a:avLst/>
          </a:prstGeom>
          <a:noFill/>
        </p:spPr>
        <p:txBody>
          <a:bodyPr wrap="square" anchor="t" lIns="0" rIns="0" tIns="0" bIns="0">
            <a:spAutoFit/>
          </a:bodyPr>
          <a:lstStyle/>
          <a:p>
            <a:pPr algn="l">
              <a:lnSpc>
                <a:spcPct val="110000"/>
              </a:lnSpc>
              <a:spcAft>
                <a:spcPts val="300"/>
              </a:spcAft>
            </a:pPr>
            <a:r>
              <a:rPr sz="1600" b="1" i="0">
                <a:solidFill>
                  <a:srgbClr val="1F3864"/>
                </a:solidFill>
                <a:latin typeface="Times New Roman"/>
              </a:rPr>
              <a:t>BlackArch</a:t>
            </a:r>
          </a:p>
        </p:txBody>
      </p:sp>
      <p:sp>
        <p:nvSpPr>
          <p:cNvPr id="27" name="TextBox 26"/>
          <p:cNvSpPr txBox="1"/>
          <p:nvPr/>
        </p:nvSpPr>
        <p:spPr>
          <a:xfrm>
            <a:off x="8257031" y="2496312"/>
            <a:ext cx="3200400" cy="457200"/>
          </a:xfrm>
          <a:prstGeom prst="rect">
            <a:avLst/>
          </a:prstGeom>
          <a:noFill/>
        </p:spPr>
        <p:txBody>
          <a:bodyPr wrap="square" anchor="t" lIns="0" rIns="0" tIns="0" bIns="0">
            <a:spAutoFit/>
          </a:bodyPr>
          <a:lstStyle/>
          <a:p>
            <a:pPr algn="l">
              <a:lnSpc>
                <a:spcPct val="110000"/>
              </a:lnSpc>
              <a:spcAft>
                <a:spcPts val="300"/>
              </a:spcAft>
            </a:pPr>
            <a:r>
              <a:rPr sz="1250" b="0" i="0">
                <a:solidFill>
                  <a:srgbClr val="202A38"/>
                </a:solidFill>
                <a:latin typeface="Times New Roman"/>
              </a:rPr>
              <a:t>Arch-based, 2800+ tools</a:t>
            </a:r>
          </a:p>
        </p:txBody>
      </p:sp>
      <p:sp>
        <p:nvSpPr>
          <p:cNvPr id="28" name="TextBox 27"/>
          <p:cNvSpPr txBox="1"/>
          <p:nvPr/>
        </p:nvSpPr>
        <p:spPr>
          <a:xfrm>
            <a:off x="8257031" y="2926080"/>
            <a:ext cx="3200400" cy="320040"/>
          </a:xfrm>
          <a:prstGeom prst="rect">
            <a:avLst/>
          </a:prstGeom>
          <a:noFill/>
        </p:spPr>
        <p:txBody>
          <a:bodyPr wrap="square" anchor="t" lIns="0" rIns="0" tIns="0" bIns="0">
            <a:spAutoFit/>
          </a:bodyPr>
          <a:lstStyle/>
          <a:p>
            <a:pPr algn="l">
              <a:lnSpc>
                <a:spcPct val="110000"/>
              </a:lnSpc>
              <a:spcAft>
                <a:spcPts val="300"/>
              </a:spcAft>
            </a:pPr>
            <a:r>
              <a:rPr sz="1150" b="0" i="1">
                <a:solidFill>
                  <a:srgbClr val="54647A"/>
                </a:solidFill>
                <a:latin typeface="Times New Roman"/>
              </a:rPr>
              <a:t>▸ For familiarization</a:t>
            </a:r>
          </a:p>
        </p:txBody>
      </p:sp>
      <p:sp>
        <p:nvSpPr>
          <p:cNvPr id="29" name="Rounded Rectangle 28"/>
          <p:cNvSpPr/>
          <p:nvPr/>
        </p:nvSpPr>
        <p:spPr>
          <a:xfrm>
            <a:off x="566928" y="3474720"/>
            <a:ext cx="3566160" cy="171907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474720"/>
            <a:ext cx="64008" cy="17190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8096" y="3657600"/>
            <a:ext cx="594360" cy="59436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bug_FFFFFF.png"/>
          <p:cNvPicPr>
            <a:picLocks noChangeAspect="1"/>
          </p:cNvPicPr>
          <p:nvPr/>
        </p:nvPicPr>
        <p:blipFill>
          <a:blip r:embed="rId6"/>
          <a:stretch>
            <a:fillRect/>
          </a:stretch>
        </p:blipFill>
        <p:spPr>
          <a:xfrm>
            <a:off x="916686" y="3806190"/>
            <a:ext cx="297180" cy="297180"/>
          </a:xfrm>
          <a:prstGeom prst="rect">
            <a:avLst/>
          </a:prstGeom>
        </p:spPr>
      </p:pic>
      <p:sp>
        <p:nvSpPr>
          <p:cNvPr id="33" name="TextBox 32"/>
          <p:cNvSpPr txBox="1"/>
          <p:nvPr/>
        </p:nvSpPr>
        <p:spPr>
          <a:xfrm>
            <a:off x="1481328" y="3749040"/>
            <a:ext cx="2560320" cy="365760"/>
          </a:xfrm>
          <a:prstGeom prst="rect">
            <a:avLst/>
          </a:prstGeom>
          <a:noFill/>
        </p:spPr>
        <p:txBody>
          <a:bodyPr wrap="square" anchor="t" lIns="0" rIns="0" tIns="0" bIns="0">
            <a:spAutoFit/>
          </a:bodyPr>
          <a:lstStyle/>
          <a:p>
            <a:pPr algn="l">
              <a:lnSpc>
                <a:spcPct val="110000"/>
              </a:lnSpc>
              <a:spcAft>
                <a:spcPts val="300"/>
              </a:spcAft>
            </a:pPr>
            <a:r>
              <a:rPr sz="1600" b="1" i="0">
                <a:solidFill>
                  <a:srgbClr val="C0392B"/>
                </a:solidFill>
                <a:latin typeface="Times New Roman"/>
              </a:rPr>
              <a:t>REMnux</a:t>
            </a:r>
          </a:p>
        </p:txBody>
      </p:sp>
      <p:sp>
        <p:nvSpPr>
          <p:cNvPr id="34" name="TextBox 33"/>
          <p:cNvSpPr txBox="1"/>
          <p:nvPr/>
        </p:nvSpPr>
        <p:spPr>
          <a:xfrm>
            <a:off x="795528" y="4370832"/>
            <a:ext cx="3200400" cy="457200"/>
          </a:xfrm>
          <a:prstGeom prst="rect">
            <a:avLst/>
          </a:prstGeom>
          <a:noFill/>
        </p:spPr>
        <p:txBody>
          <a:bodyPr wrap="square" anchor="t" lIns="0" rIns="0" tIns="0" bIns="0">
            <a:spAutoFit/>
          </a:bodyPr>
          <a:lstStyle/>
          <a:p>
            <a:pPr algn="l">
              <a:lnSpc>
                <a:spcPct val="110000"/>
              </a:lnSpc>
              <a:spcAft>
                <a:spcPts val="300"/>
              </a:spcAft>
            </a:pPr>
            <a:r>
              <a:rPr sz="1250" b="0" i="0">
                <a:solidFill>
                  <a:srgbClr val="202A38"/>
                </a:solidFill>
                <a:latin typeface="Times New Roman"/>
              </a:rPr>
              <a:t>Malware analysis</a:t>
            </a:r>
          </a:p>
        </p:txBody>
      </p:sp>
      <p:sp>
        <p:nvSpPr>
          <p:cNvPr id="35" name="TextBox 34"/>
          <p:cNvSpPr txBox="1"/>
          <p:nvPr/>
        </p:nvSpPr>
        <p:spPr>
          <a:xfrm>
            <a:off x="795528" y="4800600"/>
            <a:ext cx="3200400" cy="320040"/>
          </a:xfrm>
          <a:prstGeom prst="rect">
            <a:avLst/>
          </a:prstGeom>
          <a:noFill/>
        </p:spPr>
        <p:txBody>
          <a:bodyPr wrap="square" anchor="t" lIns="0" rIns="0" tIns="0" bIns="0">
            <a:spAutoFit/>
          </a:bodyPr>
          <a:lstStyle/>
          <a:p>
            <a:pPr algn="l">
              <a:lnSpc>
                <a:spcPct val="110000"/>
              </a:lnSpc>
              <a:spcAft>
                <a:spcPts val="300"/>
              </a:spcAft>
            </a:pPr>
            <a:r>
              <a:rPr sz="1150" b="0" i="1">
                <a:solidFill>
                  <a:srgbClr val="54647A"/>
                </a:solidFill>
                <a:latin typeface="Times New Roman"/>
              </a:rPr>
              <a:t>▸ Topic 3 “Virology”</a:t>
            </a:r>
          </a:p>
        </p:txBody>
      </p:sp>
      <p:sp>
        <p:nvSpPr>
          <p:cNvPr id="36" name="Rounded Rectangle 35"/>
          <p:cNvSpPr/>
          <p:nvPr/>
        </p:nvSpPr>
        <p:spPr>
          <a:xfrm>
            <a:off x="4297680" y="3474720"/>
            <a:ext cx="3566160" cy="171907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297680" y="3474720"/>
            <a:ext cx="64008" cy="1719072"/>
          </a:xfrm>
          <a:prstGeom prst="rect">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498848" y="3657600"/>
            <a:ext cx="594360" cy="594360"/>
          </a:xfrm>
          <a:prstGeom prst="ellipse">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eye_FFFFFF.png"/>
          <p:cNvPicPr>
            <a:picLocks noChangeAspect="1"/>
          </p:cNvPicPr>
          <p:nvPr/>
        </p:nvPicPr>
        <p:blipFill>
          <a:blip r:embed="rId7"/>
          <a:stretch>
            <a:fillRect/>
          </a:stretch>
        </p:blipFill>
        <p:spPr>
          <a:xfrm>
            <a:off x="4647438" y="3806190"/>
            <a:ext cx="297180" cy="297180"/>
          </a:xfrm>
          <a:prstGeom prst="rect">
            <a:avLst/>
          </a:prstGeom>
        </p:spPr>
      </p:pic>
      <p:sp>
        <p:nvSpPr>
          <p:cNvPr id="40" name="TextBox 39"/>
          <p:cNvSpPr txBox="1"/>
          <p:nvPr/>
        </p:nvSpPr>
        <p:spPr>
          <a:xfrm>
            <a:off x="5212080" y="3749040"/>
            <a:ext cx="2560320" cy="365760"/>
          </a:xfrm>
          <a:prstGeom prst="rect">
            <a:avLst/>
          </a:prstGeom>
          <a:noFill/>
        </p:spPr>
        <p:txBody>
          <a:bodyPr wrap="square" anchor="t" lIns="0" rIns="0" tIns="0" bIns="0">
            <a:spAutoFit/>
          </a:bodyPr>
          <a:lstStyle/>
          <a:p>
            <a:pPr algn="l">
              <a:lnSpc>
                <a:spcPct val="110000"/>
              </a:lnSpc>
              <a:spcAft>
                <a:spcPts val="300"/>
              </a:spcAft>
            </a:pPr>
            <a:r>
              <a:rPr sz="1600" b="1" i="0">
                <a:solidFill>
                  <a:srgbClr val="E08E1D"/>
                </a:solidFill>
                <a:latin typeface="Times New Roman"/>
              </a:rPr>
              <a:t>Tails</a:t>
            </a:r>
          </a:p>
        </p:txBody>
      </p:sp>
      <p:sp>
        <p:nvSpPr>
          <p:cNvPr id="41" name="TextBox 40"/>
          <p:cNvSpPr txBox="1"/>
          <p:nvPr/>
        </p:nvSpPr>
        <p:spPr>
          <a:xfrm>
            <a:off x="4526280" y="4370832"/>
            <a:ext cx="3200400" cy="457200"/>
          </a:xfrm>
          <a:prstGeom prst="rect">
            <a:avLst/>
          </a:prstGeom>
          <a:noFill/>
        </p:spPr>
        <p:txBody>
          <a:bodyPr wrap="square" anchor="t" lIns="0" rIns="0" tIns="0" bIns="0">
            <a:spAutoFit/>
          </a:bodyPr>
          <a:lstStyle/>
          <a:p>
            <a:pPr algn="l">
              <a:lnSpc>
                <a:spcPct val="110000"/>
              </a:lnSpc>
              <a:spcAft>
                <a:spcPts val="300"/>
              </a:spcAft>
            </a:pPr>
            <a:r>
              <a:rPr sz="1250" b="0" i="0">
                <a:solidFill>
                  <a:srgbClr val="202A38"/>
                </a:solidFill>
                <a:latin typeface="Times New Roman"/>
              </a:rPr>
              <a:t>Anonymous, traceless OS, boots from USB</a:t>
            </a:r>
          </a:p>
        </p:txBody>
      </p:sp>
      <p:sp>
        <p:nvSpPr>
          <p:cNvPr id="42" name="TextBox 41"/>
          <p:cNvSpPr txBox="1"/>
          <p:nvPr/>
        </p:nvSpPr>
        <p:spPr>
          <a:xfrm>
            <a:off x="4526280" y="4800600"/>
            <a:ext cx="3200400" cy="320040"/>
          </a:xfrm>
          <a:prstGeom prst="rect">
            <a:avLst/>
          </a:prstGeom>
          <a:noFill/>
        </p:spPr>
        <p:txBody>
          <a:bodyPr wrap="square" anchor="t" lIns="0" rIns="0" tIns="0" bIns="0">
            <a:spAutoFit/>
          </a:bodyPr>
          <a:lstStyle/>
          <a:p>
            <a:pPr algn="l">
              <a:lnSpc>
                <a:spcPct val="110000"/>
              </a:lnSpc>
              <a:spcAft>
                <a:spcPts val="300"/>
              </a:spcAft>
            </a:pPr>
            <a:r>
              <a:rPr sz="1150" b="0" i="1">
                <a:solidFill>
                  <a:srgbClr val="54647A"/>
                </a:solidFill>
                <a:latin typeface="Times New Roman"/>
              </a:rPr>
              <a:t>▸ Semester 6, Lesson 9</a:t>
            </a:r>
          </a:p>
        </p:txBody>
      </p:sp>
      <p:sp>
        <p:nvSpPr>
          <p:cNvPr id="43" name="Rounded Rectangle 42"/>
          <p:cNvSpPr/>
          <p:nvPr/>
        </p:nvSpPr>
        <p:spPr>
          <a:xfrm>
            <a:off x="8028431" y="3474720"/>
            <a:ext cx="3566160" cy="171907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028431" y="3474720"/>
            <a:ext cx="64008" cy="1719072"/>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229599" y="3657600"/>
            <a:ext cx="594360" cy="594360"/>
          </a:xfrm>
          <a:prstGeom prst="ellipse">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search_FFFFFF.png"/>
          <p:cNvPicPr>
            <a:picLocks noChangeAspect="1"/>
          </p:cNvPicPr>
          <p:nvPr/>
        </p:nvPicPr>
        <p:blipFill>
          <a:blip r:embed="rId8"/>
          <a:stretch>
            <a:fillRect/>
          </a:stretch>
        </p:blipFill>
        <p:spPr>
          <a:xfrm>
            <a:off x="8378189" y="3806190"/>
            <a:ext cx="297180" cy="297180"/>
          </a:xfrm>
          <a:prstGeom prst="rect">
            <a:avLst/>
          </a:prstGeom>
        </p:spPr>
      </p:pic>
      <p:sp>
        <p:nvSpPr>
          <p:cNvPr id="47" name="TextBox 46"/>
          <p:cNvSpPr txBox="1"/>
          <p:nvPr/>
        </p:nvSpPr>
        <p:spPr>
          <a:xfrm>
            <a:off x="8942831" y="3749040"/>
            <a:ext cx="2560320" cy="365760"/>
          </a:xfrm>
          <a:prstGeom prst="rect">
            <a:avLst/>
          </a:prstGeom>
          <a:noFill/>
        </p:spPr>
        <p:txBody>
          <a:bodyPr wrap="square" anchor="t" lIns="0" rIns="0" tIns="0" bIns="0">
            <a:spAutoFit/>
          </a:bodyPr>
          <a:lstStyle/>
          <a:p>
            <a:pPr algn="l">
              <a:lnSpc>
                <a:spcPct val="110000"/>
              </a:lnSpc>
              <a:spcAft>
                <a:spcPts val="300"/>
              </a:spcAft>
            </a:pPr>
            <a:r>
              <a:rPr sz="1600" b="1" i="0">
                <a:solidFill>
                  <a:srgbClr val="43B02A"/>
                </a:solidFill>
                <a:latin typeface="Times New Roman"/>
              </a:rPr>
              <a:t>CSI Linux</a:t>
            </a:r>
          </a:p>
        </p:txBody>
      </p:sp>
      <p:sp>
        <p:nvSpPr>
          <p:cNvPr id="48" name="TextBox 47"/>
          <p:cNvSpPr txBox="1"/>
          <p:nvPr/>
        </p:nvSpPr>
        <p:spPr>
          <a:xfrm>
            <a:off x="8257031" y="4370832"/>
            <a:ext cx="3200400" cy="457200"/>
          </a:xfrm>
          <a:prstGeom prst="rect">
            <a:avLst/>
          </a:prstGeom>
          <a:noFill/>
        </p:spPr>
        <p:txBody>
          <a:bodyPr wrap="square" anchor="t" lIns="0" rIns="0" tIns="0" bIns="0">
            <a:spAutoFit/>
          </a:bodyPr>
          <a:lstStyle/>
          <a:p>
            <a:pPr algn="l">
              <a:lnSpc>
                <a:spcPct val="110000"/>
              </a:lnSpc>
              <a:spcAft>
                <a:spcPts val="300"/>
              </a:spcAft>
            </a:pPr>
            <a:r>
              <a:rPr sz="1250" b="0" i="0">
                <a:solidFill>
                  <a:srgbClr val="202A38"/>
                </a:solidFill>
                <a:latin typeface="Times New Roman"/>
              </a:rPr>
              <a:t>Cyber forensic investigation and OSINT</a:t>
            </a:r>
          </a:p>
        </p:txBody>
      </p:sp>
      <p:sp>
        <p:nvSpPr>
          <p:cNvPr id="49" name="TextBox 48"/>
          <p:cNvSpPr txBox="1"/>
          <p:nvPr/>
        </p:nvSpPr>
        <p:spPr>
          <a:xfrm>
            <a:off x="8257031" y="4800600"/>
            <a:ext cx="3200400" cy="320040"/>
          </a:xfrm>
          <a:prstGeom prst="rect">
            <a:avLst/>
          </a:prstGeom>
          <a:noFill/>
        </p:spPr>
        <p:txBody>
          <a:bodyPr wrap="square" anchor="t" lIns="0" rIns="0" tIns="0" bIns="0">
            <a:spAutoFit/>
          </a:bodyPr>
          <a:lstStyle/>
          <a:p>
            <a:pPr algn="l">
              <a:lnSpc>
                <a:spcPct val="110000"/>
              </a:lnSpc>
              <a:spcAft>
                <a:spcPts val="300"/>
              </a:spcAft>
            </a:pPr>
            <a:r>
              <a:rPr sz="1150" b="0" i="1">
                <a:solidFill>
                  <a:srgbClr val="54647A"/>
                </a:solidFill>
                <a:latin typeface="Times New Roman"/>
              </a:rPr>
              <a:t>▸ Semester 7, Lesson 13</a:t>
            </a:r>
          </a:p>
        </p:txBody>
      </p:sp>
      <p:sp>
        <p:nvSpPr>
          <p:cNvPr id="50" name="Rounded Rectangle 49"/>
          <p:cNvSpPr/>
          <p:nvPr/>
        </p:nvSpPr>
        <p:spPr>
          <a:xfrm>
            <a:off x="566928" y="5440680"/>
            <a:ext cx="11045952" cy="777240"/>
          </a:xfrm>
          <a:prstGeom prst="roundRect">
            <a:avLst>
              <a:gd name="adj" fmla="val 8000"/>
            </a:avLst>
          </a:prstGeom>
          <a:solidFill>
            <a:srgbClr val="F5F8FC"/>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search_1F3864.png"/>
          <p:cNvPicPr>
            <a:picLocks noChangeAspect="1"/>
          </p:cNvPicPr>
          <p:nvPr/>
        </p:nvPicPr>
        <p:blipFill>
          <a:blip r:embed="rId9"/>
          <a:stretch>
            <a:fillRect/>
          </a:stretch>
        </p:blipFill>
        <p:spPr>
          <a:xfrm>
            <a:off x="694944" y="5664708"/>
            <a:ext cx="329184" cy="329184"/>
          </a:xfrm>
          <a:prstGeom prst="rect">
            <a:avLst/>
          </a:prstGeom>
        </p:spPr>
      </p:pic>
      <p:sp>
        <p:nvSpPr>
          <p:cNvPr id="52" name="TextBox 51"/>
          <p:cNvSpPr txBox="1"/>
          <p:nvPr/>
        </p:nvSpPr>
        <p:spPr>
          <a:xfrm>
            <a:off x="1133856" y="5440680"/>
            <a:ext cx="10360152" cy="777240"/>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All are Linux: the kernel is the same, the difference is in the pre-installed tools and settings. The commands you learn today work on all of them.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QUESTION 1 · TASK 1.1</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1.1 — Getting to know the Kali graphical environment</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14</a:t>
            </a:r>
          </a:p>
        </p:txBody>
      </p:sp>
      <p:sp>
        <p:nvSpPr>
          <p:cNvPr id="8" name="Rounded Rectangle 7"/>
          <p:cNvSpPr/>
          <p:nvPr/>
        </p:nvSpPr>
        <p:spPr>
          <a:xfrm>
            <a:off x="566928" y="1600200"/>
            <a:ext cx="5760720" cy="54864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719072"/>
            <a:ext cx="310896" cy="310896"/>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FFFFFF"/>
                </a:solidFill>
                <a:latin typeface="Times New Roman"/>
              </a:rPr>
              <a:t>1</a:t>
            </a:r>
          </a:p>
        </p:txBody>
      </p:sp>
      <p:sp>
        <p:nvSpPr>
          <p:cNvPr id="10" name="TextBox 9"/>
          <p:cNvSpPr txBox="1"/>
          <p:nvPr/>
        </p:nvSpPr>
        <p:spPr>
          <a:xfrm>
            <a:off x="1069848" y="1600200"/>
            <a:ext cx="5166360" cy="548640"/>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Blue Kali icon in the panel → </a:t>
            </a:r>
            <a:r>
              <a:rPr sz="1250" b="1" i="0">
                <a:solidFill>
                  <a:srgbClr val="1F3864"/>
                </a:solidFill>
                <a:latin typeface="Times New Roman"/>
              </a:rPr>
              <a:t>Applications</a:t>
            </a:r>
            <a:r>
              <a:rPr sz="1250" b="0" i="0">
                <a:solidFill>
                  <a:srgbClr val="202A38"/>
                </a:solidFill>
                <a:latin typeface="Times New Roman"/>
              </a:rPr>
              <a:t> menu: grouped by </a:t>
            </a:r>
            <a:r>
              <a:rPr sz="1250" b="1" i="0">
                <a:solidFill>
                  <a:srgbClr val="1F3864"/>
                </a:solidFill>
                <a:latin typeface="Times New Roman"/>
              </a:rPr>
              <a:t>MITRE ATT&amp;CK</a:t>
            </a:r>
            <a:r>
              <a:rPr sz="1250" b="0" i="0">
                <a:solidFill>
                  <a:srgbClr val="202A38"/>
                </a:solidFill>
                <a:latin typeface="Times New Roman"/>
              </a:rPr>
              <a:t> attack stages (since 2025.2).</a:t>
            </a:r>
          </a:p>
        </p:txBody>
      </p:sp>
      <p:sp>
        <p:nvSpPr>
          <p:cNvPr id="11" name="Rounded Rectangle 10"/>
          <p:cNvSpPr/>
          <p:nvPr/>
        </p:nvSpPr>
        <p:spPr>
          <a:xfrm>
            <a:off x="566928" y="2240280"/>
            <a:ext cx="5760720" cy="54864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2359152"/>
            <a:ext cx="310896" cy="310896"/>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FFFFFF"/>
                </a:solidFill>
                <a:latin typeface="Times New Roman"/>
              </a:rPr>
              <a:t>2</a:t>
            </a:r>
          </a:p>
        </p:txBody>
      </p:sp>
      <p:sp>
        <p:nvSpPr>
          <p:cNvPr id="13" name="TextBox 12"/>
          <p:cNvSpPr txBox="1"/>
          <p:nvPr/>
        </p:nvSpPr>
        <p:spPr>
          <a:xfrm>
            <a:off x="1069848" y="2240280"/>
            <a:ext cx="5166360" cy="548640"/>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Open </a:t>
            </a:r>
            <a:r>
              <a:rPr sz="1250" b="1" i="0">
                <a:solidFill>
                  <a:srgbClr val="1F3864"/>
                </a:solidFill>
                <a:latin typeface="Times New Roman"/>
              </a:rPr>
              <a:t>Reconnaissance</a:t>
            </a:r>
            <a:r>
              <a:rPr sz="1250" b="0" i="0">
                <a:solidFill>
                  <a:srgbClr val="202A38"/>
                </a:solidFill>
                <a:latin typeface="Times New Roman"/>
              </a:rPr>
              <a:t>: </a:t>
            </a:r>
            <a:r>
              <a:rPr sz="1200" b="1" i="0">
                <a:solidFill>
                  <a:srgbClr val="178A73"/>
                </a:solidFill>
                <a:latin typeface="Consolas"/>
              </a:rPr>
              <a:t>nmap</a:t>
            </a:r>
            <a:r>
              <a:rPr sz="1250" b="0" i="0">
                <a:solidFill>
                  <a:srgbClr val="202A38"/>
                </a:solidFill>
                <a:latin typeface="Times New Roman"/>
              </a:rPr>
              <a:t>, </a:t>
            </a:r>
            <a:r>
              <a:rPr sz="1200" b="1" i="0">
                <a:solidFill>
                  <a:srgbClr val="178A73"/>
                </a:solidFill>
                <a:latin typeface="Consolas"/>
              </a:rPr>
              <a:t>dmitry</a:t>
            </a:r>
            <a:r>
              <a:rPr sz="1250" b="0" i="0">
                <a:solidFill>
                  <a:srgbClr val="202A38"/>
                </a:solidFill>
                <a:latin typeface="Times New Roman"/>
              </a:rPr>
              <a:t>, </a:t>
            </a:r>
            <a:r>
              <a:rPr sz="1200" b="1" i="0">
                <a:solidFill>
                  <a:srgbClr val="178A73"/>
                </a:solidFill>
                <a:latin typeface="Consolas"/>
              </a:rPr>
              <a:t>theHarvester</a:t>
            </a:r>
            <a:r>
              <a:rPr sz="1250" b="0" i="0">
                <a:solidFill>
                  <a:srgbClr val="202A38"/>
                </a:solidFill>
                <a:latin typeface="Times New Roman"/>
              </a:rPr>
              <a:t> (used in Lesson 3).</a:t>
            </a:r>
          </a:p>
        </p:txBody>
      </p:sp>
      <p:sp>
        <p:nvSpPr>
          <p:cNvPr id="14" name="Rounded Rectangle 13"/>
          <p:cNvSpPr/>
          <p:nvPr/>
        </p:nvSpPr>
        <p:spPr>
          <a:xfrm>
            <a:off x="566928" y="2880360"/>
            <a:ext cx="5760720" cy="54864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999232"/>
            <a:ext cx="310896" cy="310896"/>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FFFFFF"/>
                </a:solidFill>
                <a:latin typeface="Times New Roman"/>
              </a:rPr>
              <a:t>3</a:t>
            </a:r>
          </a:p>
        </p:txBody>
      </p:sp>
      <p:sp>
        <p:nvSpPr>
          <p:cNvPr id="16" name="TextBox 15"/>
          <p:cNvSpPr txBox="1"/>
          <p:nvPr/>
        </p:nvSpPr>
        <p:spPr>
          <a:xfrm>
            <a:off x="1069848" y="2880360"/>
            <a:ext cx="5166360" cy="548640"/>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File manager </a:t>
            </a:r>
            <a:r>
              <a:rPr sz="1250" b="1" i="0">
                <a:solidFill>
                  <a:srgbClr val="1F3864"/>
                </a:solidFill>
                <a:latin typeface="Times New Roman"/>
              </a:rPr>
              <a:t>Thunar</a:t>
            </a:r>
            <a:r>
              <a:rPr sz="1250" b="0" i="0">
                <a:solidFill>
                  <a:srgbClr val="202A38"/>
                </a:solidFill>
                <a:latin typeface="Times New Roman"/>
              </a:rPr>
              <a:t>: hidden files and address bar — keys below.</a:t>
            </a:r>
          </a:p>
        </p:txBody>
      </p:sp>
      <p:sp>
        <p:nvSpPr>
          <p:cNvPr id="17" name="Rounded Rectangle 16"/>
          <p:cNvSpPr/>
          <p:nvPr/>
        </p:nvSpPr>
        <p:spPr>
          <a:xfrm>
            <a:off x="566928" y="3520440"/>
            <a:ext cx="5760720" cy="54864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3639312"/>
            <a:ext cx="310896" cy="310896"/>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FFFFFF"/>
                </a:solidFill>
                <a:latin typeface="Times New Roman"/>
              </a:rPr>
              <a:t>4</a:t>
            </a:r>
          </a:p>
        </p:txBody>
      </p:sp>
      <p:sp>
        <p:nvSpPr>
          <p:cNvPr id="19" name="TextBox 18"/>
          <p:cNvSpPr txBox="1"/>
          <p:nvPr/>
        </p:nvSpPr>
        <p:spPr>
          <a:xfrm>
            <a:off x="1069848" y="3520440"/>
            <a:ext cx="5166360" cy="548640"/>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Type </a:t>
            </a:r>
            <a:r>
              <a:rPr sz="1200" b="1" i="0">
                <a:solidFill>
                  <a:srgbClr val="178A73"/>
                </a:solidFill>
                <a:latin typeface="Consolas"/>
              </a:rPr>
              <a:t>/</a:t>
            </a:r>
            <a:r>
              <a:rPr sz="1250" b="0" i="0">
                <a:solidFill>
                  <a:srgbClr val="202A38"/>
                </a:solidFill>
                <a:latin typeface="Times New Roman"/>
              </a:rPr>
              <a:t> into the Thunar address bar — the root directory opens (Question 2).</a:t>
            </a:r>
          </a:p>
        </p:txBody>
      </p:sp>
      <p:sp>
        <p:nvSpPr>
          <p:cNvPr id="20" name="Rounded Rectangle 19"/>
          <p:cNvSpPr/>
          <p:nvPr/>
        </p:nvSpPr>
        <p:spPr>
          <a:xfrm>
            <a:off x="566928" y="4160520"/>
            <a:ext cx="5760720" cy="54864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4279392"/>
            <a:ext cx="310896" cy="310896"/>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FFFFFF"/>
                </a:solidFill>
                <a:latin typeface="Times New Roman"/>
              </a:rPr>
              <a:t>5</a:t>
            </a:r>
          </a:p>
        </p:txBody>
      </p:sp>
      <p:sp>
        <p:nvSpPr>
          <p:cNvPr id="22" name="TextBox 21"/>
          <p:cNvSpPr txBox="1"/>
          <p:nvPr/>
        </p:nvSpPr>
        <p:spPr>
          <a:xfrm>
            <a:off x="1069848" y="4160520"/>
            <a:ext cx="5166360" cy="548640"/>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Settings → </a:t>
            </a:r>
            <a:r>
              <a:rPr sz="1250" b="1" i="0">
                <a:solidFill>
                  <a:srgbClr val="1F3864"/>
                </a:solidFill>
                <a:latin typeface="Times New Roman"/>
              </a:rPr>
              <a:t>Settings Manager</a:t>
            </a:r>
            <a:r>
              <a:rPr sz="1250" b="0" i="0">
                <a:solidFill>
                  <a:srgbClr val="202A38"/>
                </a:solidFill>
                <a:latin typeface="Times New Roman"/>
              </a:rPr>
              <a:t>: Appearance, Display, Keyboard.</a:t>
            </a:r>
          </a:p>
        </p:txBody>
      </p:sp>
      <p:sp>
        <p:nvSpPr>
          <p:cNvPr id="23" name="Rounded Rectangle 22"/>
          <p:cNvSpPr/>
          <p:nvPr/>
        </p:nvSpPr>
        <p:spPr>
          <a:xfrm>
            <a:off x="566928" y="4892040"/>
            <a:ext cx="5760720" cy="86868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892040"/>
            <a:ext cx="64008" cy="868680"/>
          </a:xfrm>
          <a:prstGeom prst="rect">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77240" y="5138928"/>
            <a:ext cx="566928" cy="365760"/>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1F3864"/>
                </a:solidFill>
                <a:latin typeface="Cambria Math"/>
              </a:rPr>
              <a:t>Ctrl</a:t>
            </a:r>
          </a:p>
        </p:txBody>
      </p:sp>
      <p:sp>
        <p:nvSpPr>
          <p:cNvPr id="26" name="TextBox 25"/>
          <p:cNvSpPr txBox="1"/>
          <p:nvPr/>
        </p:nvSpPr>
        <p:spPr>
          <a:xfrm>
            <a:off x="1344168" y="5138928"/>
            <a:ext cx="219456" cy="365760"/>
          </a:xfrm>
          <a:prstGeom prst="rect">
            <a:avLst/>
          </a:prstGeom>
          <a:noFill/>
        </p:spPr>
        <p:txBody>
          <a:bodyPr wrap="square" anchor="ctr" lIns="0" rIns="0" tIns="0" bIns="0">
            <a:spAutoFit/>
          </a:bodyPr>
          <a:lstStyle/>
          <a:p>
            <a:pPr algn="ctr">
              <a:lnSpc>
                <a:spcPct val="110000"/>
              </a:lnSpc>
              <a:spcAft>
                <a:spcPts val="300"/>
              </a:spcAft>
            </a:pPr>
            <a:r>
              <a:rPr sz="1300" b="1" i="0">
                <a:solidFill>
                  <a:srgbClr val="54647A"/>
                </a:solidFill>
                <a:latin typeface="Times New Roman"/>
              </a:rPr>
              <a:t>+</a:t>
            </a:r>
          </a:p>
        </p:txBody>
      </p:sp>
      <p:sp>
        <p:nvSpPr>
          <p:cNvPr id="27" name="Rounded Rectangle 26"/>
          <p:cNvSpPr/>
          <p:nvPr/>
        </p:nvSpPr>
        <p:spPr>
          <a:xfrm>
            <a:off x="1563624" y="5138928"/>
            <a:ext cx="325526" cy="365760"/>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1F3864"/>
                </a:solidFill>
                <a:latin typeface="Cambria Math"/>
              </a:rPr>
              <a:t>H</a:t>
            </a:r>
          </a:p>
        </p:txBody>
      </p:sp>
      <p:sp>
        <p:nvSpPr>
          <p:cNvPr id="28" name="TextBox 27"/>
          <p:cNvSpPr txBox="1"/>
          <p:nvPr/>
        </p:nvSpPr>
        <p:spPr>
          <a:xfrm>
            <a:off x="1998878" y="5138928"/>
            <a:ext cx="1463040" cy="365760"/>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hidden files</a:t>
            </a:r>
          </a:p>
        </p:txBody>
      </p:sp>
      <p:sp>
        <p:nvSpPr>
          <p:cNvPr id="29" name="Rounded Rectangle 28"/>
          <p:cNvSpPr/>
          <p:nvPr/>
        </p:nvSpPr>
        <p:spPr>
          <a:xfrm>
            <a:off x="3566160" y="5138928"/>
            <a:ext cx="566928" cy="365760"/>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1F3864"/>
                </a:solidFill>
                <a:latin typeface="Cambria Math"/>
              </a:rPr>
              <a:t>Ctrl</a:t>
            </a:r>
          </a:p>
        </p:txBody>
      </p:sp>
      <p:sp>
        <p:nvSpPr>
          <p:cNvPr id="30" name="TextBox 29"/>
          <p:cNvSpPr txBox="1"/>
          <p:nvPr/>
        </p:nvSpPr>
        <p:spPr>
          <a:xfrm>
            <a:off x="4133088" y="5138928"/>
            <a:ext cx="219456" cy="365760"/>
          </a:xfrm>
          <a:prstGeom prst="rect">
            <a:avLst/>
          </a:prstGeom>
          <a:noFill/>
        </p:spPr>
        <p:txBody>
          <a:bodyPr wrap="square" anchor="ctr" lIns="0" rIns="0" tIns="0" bIns="0">
            <a:spAutoFit/>
          </a:bodyPr>
          <a:lstStyle/>
          <a:p>
            <a:pPr algn="ctr">
              <a:lnSpc>
                <a:spcPct val="110000"/>
              </a:lnSpc>
              <a:spcAft>
                <a:spcPts val="300"/>
              </a:spcAft>
            </a:pPr>
            <a:r>
              <a:rPr sz="1300" b="1" i="0">
                <a:solidFill>
                  <a:srgbClr val="54647A"/>
                </a:solidFill>
                <a:latin typeface="Times New Roman"/>
              </a:rPr>
              <a:t>+</a:t>
            </a:r>
          </a:p>
        </p:txBody>
      </p:sp>
      <p:sp>
        <p:nvSpPr>
          <p:cNvPr id="31" name="Rounded Rectangle 30"/>
          <p:cNvSpPr/>
          <p:nvPr/>
        </p:nvSpPr>
        <p:spPr>
          <a:xfrm>
            <a:off x="4352544" y="5138928"/>
            <a:ext cx="325526" cy="365760"/>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1F3864"/>
                </a:solidFill>
                <a:latin typeface="Cambria Math"/>
              </a:rPr>
              <a:t>L</a:t>
            </a:r>
          </a:p>
        </p:txBody>
      </p:sp>
      <p:sp>
        <p:nvSpPr>
          <p:cNvPr id="32" name="TextBox 31"/>
          <p:cNvSpPr txBox="1"/>
          <p:nvPr/>
        </p:nvSpPr>
        <p:spPr>
          <a:xfrm>
            <a:off x="4787798" y="5138928"/>
            <a:ext cx="1463040" cy="365760"/>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address bar</a:t>
            </a:r>
          </a:p>
        </p:txBody>
      </p:sp>
      <p:sp>
        <p:nvSpPr>
          <p:cNvPr id="33" name="TextBox 32"/>
          <p:cNvSpPr txBox="1"/>
          <p:nvPr/>
        </p:nvSpPr>
        <p:spPr>
          <a:xfrm>
            <a:off x="566928" y="5897880"/>
            <a:ext cx="5760720" cy="365760"/>
          </a:xfrm>
          <a:prstGeom prst="rect">
            <a:avLst/>
          </a:prstGeom>
          <a:noFill/>
        </p:spPr>
        <p:txBody>
          <a:bodyPr wrap="square" anchor="t" lIns="0" rIns="0" tIns="0" bIns="0">
            <a:spAutoFit/>
          </a:bodyPr>
          <a:lstStyle/>
          <a:p>
            <a:pPr algn="l">
              <a:lnSpc>
                <a:spcPct val="110000"/>
              </a:lnSpc>
              <a:spcAft>
                <a:spcPts val="300"/>
              </a:spcAft>
            </a:pPr>
            <a:r>
              <a:rPr sz="1150" b="0" i="1">
                <a:solidFill>
                  <a:srgbClr val="54647A"/>
                </a:solidFill>
                <a:latin typeface="Times New Roman"/>
              </a:rPr>
              <a:t>Screenshot 1.1: Applications menu (Reconnaissance) and </a:t>
            </a:r>
            <a:r>
              <a:rPr sz="1100" b="1" i="0">
                <a:solidFill>
                  <a:srgbClr val="178A73"/>
                </a:solidFill>
                <a:latin typeface="Consolas"/>
              </a:rPr>
              <a:t>/</a:t>
            </a:r>
            <a:r>
              <a:rPr sz="1150" b="0" i="1">
                <a:solidFill>
                  <a:srgbClr val="54647A"/>
                </a:solidFill>
                <a:latin typeface="Times New Roman"/>
              </a:rPr>
              <a:t> in Thunar</a:t>
            </a:r>
          </a:p>
        </p:txBody>
      </p:sp>
      <p:sp>
        <p:nvSpPr>
          <p:cNvPr id="34" name="TextBox 33"/>
          <p:cNvSpPr txBox="1"/>
          <p:nvPr/>
        </p:nvSpPr>
        <p:spPr>
          <a:xfrm>
            <a:off x="6537960" y="1554480"/>
            <a:ext cx="502920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1F3864"/>
                </a:solidFill>
                <a:latin typeface="Times New Roman"/>
              </a:rPr>
              <a:t>Menu = MITRE ATT&amp;CK attack stages</a:t>
            </a:r>
          </a:p>
        </p:txBody>
      </p:sp>
      <p:sp>
        <p:nvSpPr>
          <p:cNvPr id="35" name="Rounded Rectangle 34"/>
          <p:cNvSpPr/>
          <p:nvPr/>
        </p:nvSpPr>
        <p:spPr>
          <a:xfrm>
            <a:off x="6537960" y="1901952"/>
            <a:ext cx="5074920" cy="475488"/>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601968" y="1965960"/>
            <a:ext cx="566928" cy="347472"/>
          </a:xfrm>
          <a:prstGeom prst="roundRect">
            <a:avLst>
              <a:gd name="adj" fmla="val 15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i="0">
                <a:solidFill>
                  <a:srgbClr val="FFFFFF"/>
                </a:solidFill>
                <a:latin typeface="Times New Roman"/>
              </a:rPr>
              <a:t>Rec</a:t>
            </a:r>
          </a:p>
        </p:txBody>
      </p:sp>
      <p:sp>
        <p:nvSpPr>
          <p:cNvPr id="37" name="TextBox 36"/>
          <p:cNvSpPr txBox="1"/>
          <p:nvPr/>
        </p:nvSpPr>
        <p:spPr>
          <a:xfrm>
            <a:off x="7269480" y="1901952"/>
            <a:ext cx="2514600" cy="475488"/>
          </a:xfrm>
          <a:prstGeom prst="rect">
            <a:avLst/>
          </a:prstGeom>
          <a:noFill/>
        </p:spPr>
        <p:txBody>
          <a:bodyPr wrap="square" anchor="ctr" lIns="0" rIns="0" tIns="0" bIns="0">
            <a:spAutoFit/>
          </a:bodyPr>
          <a:lstStyle/>
          <a:p>
            <a:pPr algn="l">
              <a:lnSpc>
                <a:spcPct val="110000"/>
              </a:lnSpc>
              <a:spcAft>
                <a:spcPts val="300"/>
              </a:spcAft>
            </a:pPr>
            <a:r>
              <a:rPr sz="1150" b="1" i="0">
                <a:solidFill>
                  <a:srgbClr val="1F3864"/>
                </a:solidFill>
                <a:latin typeface="Times New Roman"/>
              </a:rPr>
              <a:t>Reconnaissance</a:t>
            </a:r>
          </a:p>
        </p:txBody>
      </p:sp>
      <p:sp>
        <p:nvSpPr>
          <p:cNvPr id="38" name="TextBox 37"/>
          <p:cNvSpPr txBox="1"/>
          <p:nvPr/>
        </p:nvSpPr>
        <p:spPr>
          <a:xfrm>
            <a:off x="9692640" y="1901952"/>
            <a:ext cx="1874519" cy="475488"/>
          </a:xfrm>
          <a:prstGeom prst="rect">
            <a:avLst/>
          </a:prstGeom>
          <a:noFill/>
        </p:spPr>
        <p:txBody>
          <a:bodyPr wrap="square" anchor="ctr" lIns="0" rIns="0" tIns="0" bIns="0">
            <a:spAutoFit/>
          </a:bodyPr>
          <a:lstStyle/>
          <a:p>
            <a:pPr algn="l">
              <a:lnSpc>
                <a:spcPct val="110000"/>
              </a:lnSpc>
              <a:spcAft>
                <a:spcPts val="300"/>
              </a:spcAft>
            </a:pPr>
            <a:r>
              <a:rPr sz="1000" b="0" i="1">
                <a:solidFill>
                  <a:srgbClr val="54647A"/>
                </a:solidFill>
                <a:latin typeface="Times New Roman"/>
              </a:rPr>
              <a:t>Topic 2 L.3, Topic 5</a:t>
            </a:r>
          </a:p>
        </p:txBody>
      </p:sp>
      <p:sp>
        <p:nvSpPr>
          <p:cNvPr id="39" name="Rounded Rectangle 38"/>
          <p:cNvSpPr/>
          <p:nvPr/>
        </p:nvSpPr>
        <p:spPr>
          <a:xfrm>
            <a:off x="6537960" y="2450592"/>
            <a:ext cx="5074920" cy="475488"/>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601968" y="2514600"/>
            <a:ext cx="566928" cy="347472"/>
          </a:xfrm>
          <a:prstGeom prst="roundRect">
            <a:avLst>
              <a:gd name="adj" fmla="val 15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i="0">
                <a:solidFill>
                  <a:srgbClr val="FFFFFF"/>
                </a:solidFill>
                <a:latin typeface="Times New Roman"/>
              </a:rPr>
              <a:t>IA</a:t>
            </a:r>
          </a:p>
        </p:txBody>
      </p:sp>
      <p:sp>
        <p:nvSpPr>
          <p:cNvPr id="41" name="TextBox 40"/>
          <p:cNvSpPr txBox="1"/>
          <p:nvPr/>
        </p:nvSpPr>
        <p:spPr>
          <a:xfrm>
            <a:off x="7269480" y="2450592"/>
            <a:ext cx="2514600" cy="475488"/>
          </a:xfrm>
          <a:prstGeom prst="rect">
            <a:avLst/>
          </a:prstGeom>
          <a:noFill/>
        </p:spPr>
        <p:txBody>
          <a:bodyPr wrap="square" anchor="ctr" lIns="0" rIns="0" tIns="0" bIns="0">
            <a:spAutoFit/>
          </a:bodyPr>
          <a:lstStyle/>
          <a:p>
            <a:pPr algn="l">
              <a:lnSpc>
                <a:spcPct val="110000"/>
              </a:lnSpc>
              <a:spcAft>
                <a:spcPts val="300"/>
              </a:spcAft>
            </a:pPr>
            <a:r>
              <a:rPr sz="1150" b="1" i="0">
                <a:solidFill>
                  <a:srgbClr val="1F3864"/>
                </a:solidFill>
                <a:latin typeface="Times New Roman"/>
              </a:rPr>
              <a:t>Initial Access</a:t>
            </a:r>
          </a:p>
        </p:txBody>
      </p:sp>
      <p:sp>
        <p:nvSpPr>
          <p:cNvPr id="42" name="TextBox 41"/>
          <p:cNvSpPr txBox="1"/>
          <p:nvPr/>
        </p:nvSpPr>
        <p:spPr>
          <a:xfrm>
            <a:off x="9692640" y="2450592"/>
            <a:ext cx="1874519" cy="475488"/>
          </a:xfrm>
          <a:prstGeom prst="rect">
            <a:avLst/>
          </a:prstGeom>
          <a:noFill/>
        </p:spPr>
        <p:txBody>
          <a:bodyPr wrap="square" anchor="ctr" lIns="0" rIns="0" tIns="0" bIns="0">
            <a:spAutoFit/>
          </a:bodyPr>
          <a:lstStyle/>
          <a:p>
            <a:pPr algn="l">
              <a:lnSpc>
                <a:spcPct val="110000"/>
              </a:lnSpc>
              <a:spcAft>
                <a:spcPts val="300"/>
              </a:spcAft>
            </a:pPr>
            <a:r>
              <a:rPr sz="1000" b="0" i="1">
                <a:solidFill>
                  <a:srgbClr val="54647A"/>
                </a:solidFill>
                <a:latin typeface="Times New Roman"/>
              </a:rPr>
              <a:t>Topic 4</a:t>
            </a:r>
          </a:p>
        </p:txBody>
      </p:sp>
      <p:sp>
        <p:nvSpPr>
          <p:cNvPr id="43" name="Rounded Rectangle 42"/>
          <p:cNvSpPr/>
          <p:nvPr/>
        </p:nvSpPr>
        <p:spPr>
          <a:xfrm>
            <a:off x="6537960" y="2999232"/>
            <a:ext cx="5074920" cy="475488"/>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601968" y="3063240"/>
            <a:ext cx="566928" cy="347472"/>
          </a:xfrm>
          <a:prstGeom prst="roundRect">
            <a:avLst>
              <a:gd name="adj" fmla="val 15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i="0">
                <a:solidFill>
                  <a:srgbClr val="FFFFFF"/>
                </a:solidFill>
                <a:latin typeface="Times New Roman"/>
              </a:rPr>
              <a:t>CA</a:t>
            </a:r>
          </a:p>
        </p:txBody>
      </p:sp>
      <p:sp>
        <p:nvSpPr>
          <p:cNvPr id="45" name="TextBox 44"/>
          <p:cNvSpPr txBox="1"/>
          <p:nvPr/>
        </p:nvSpPr>
        <p:spPr>
          <a:xfrm>
            <a:off x="7269480" y="2999232"/>
            <a:ext cx="2514600" cy="475488"/>
          </a:xfrm>
          <a:prstGeom prst="rect">
            <a:avLst/>
          </a:prstGeom>
          <a:noFill/>
        </p:spPr>
        <p:txBody>
          <a:bodyPr wrap="square" anchor="ctr" lIns="0" rIns="0" tIns="0" bIns="0">
            <a:spAutoFit/>
          </a:bodyPr>
          <a:lstStyle/>
          <a:p>
            <a:pPr algn="l">
              <a:lnSpc>
                <a:spcPct val="110000"/>
              </a:lnSpc>
              <a:spcAft>
                <a:spcPts val="300"/>
              </a:spcAft>
            </a:pPr>
            <a:r>
              <a:rPr sz="1150" b="1" i="0">
                <a:solidFill>
                  <a:srgbClr val="1F3864"/>
                </a:solidFill>
                <a:latin typeface="Times New Roman"/>
              </a:rPr>
              <a:t>Credential Access</a:t>
            </a:r>
          </a:p>
        </p:txBody>
      </p:sp>
      <p:sp>
        <p:nvSpPr>
          <p:cNvPr id="46" name="TextBox 45"/>
          <p:cNvSpPr txBox="1"/>
          <p:nvPr/>
        </p:nvSpPr>
        <p:spPr>
          <a:xfrm>
            <a:off x="9692640" y="2999232"/>
            <a:ext cx="1874519" cy="475488"/>
          </a:xfrm>
          <a:prstGeom prst="rect">
            <a:avLst/>
          </a:prstGeom>
          <a:noFill/>
        </p:spPr>
        <p:txBody>
          <a:bodyPr wrap="square" anchor="ctr" lIns="0" rIns="0" tIns="0" bIns="0">
            <a:spAutoFit/>
          </a:bodyPr>
          <a:lstStyle/>
          <a:p>
            <a:pPr algn="l">
              <a:lnSpc>
                <a:spcPct val="110000"/>
              </a:lnSpc>
              <a:spcAft>
                <a:spcPts val="300"/>
              </a:spcAft>
            </a:pPr>
            <a:r>
              <a:rPr sz="1000" b="0" i="1">
                <a:solidFill>
                  <a:srgbClr val="54647A"/>
                </a:solidFill>
                <a:latin typeface="Times New Roman"/>
              </a:rPr>
              <a:t>Topic 4 (Hydra, John)</a:t>
            </a:r>
          </a:p>
        </p:txBody>
      </p:sp>
      <p:sp>
        <p:nvSpPr>
          <p:cNvPr id="47" name="Rounded Rectangle 46"/>
          <p:cNvSpPr/>
          <p:nvPr/>
        </p:nvSpPr>
        <p:spPr>
          <a:xfrm>
            <a:off x="6537960" y="3547872"/>
            <a:ext cx="5074920" cy="475488"/>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601968" y="3611880"/>
            <a:ext cx="566928" cy="347472"/>
          </a:xfrm>
          <a:prstGeom prst="roundRect">
            <a:avLst>
              <a:gd name="adj" fmla="val 15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i="0">
                <a:solidFill>
                  <a:srgbClr val="FFFFFF"/>
                </a:solidFill>
                <a:latin typeface="Times New Roman"/>
              </a:rPr>
              <a:t>PE</a:t>
            </a:r>
          </a:p>
        </p:txBody>
      </p:sp>
      <p:sp>
        <p:nvSpPr>
          <p:cNvPr id="49" name="TextBox 48"/>
          <p:cNvSpPr txBox="1"/>
          <p:nvPr/>
        </p:nvSpPr>
        <p:spPr>
          <a:xfrm>
            <a:off x="7269480" y="3547872"/>
            <a:ext cx="2514600" cy="475488"/>
          </a:xfrm>
          <a:prstGeom prst="rect">
            <a:avLst/>
          </a:prstGeom>
          <a:noFill/>
        </p:spPr>
        <p:txBody>
          <a:bodyPr wrap="square" anchor="ctr" lIns="0" rIns="0" tIns="0" bIns="0">
            <a:spAutoFit/>
          </a:bodyPr>
          <a:lstStyle/>
          <a:p>
            <a:pPr algn="l">
              <a:lnSpc>
                <a:spcPct val="110000"/>
              </a:lnSpc>
              <a:spcAft>
                <a:spcPts val="300"/>
              </a:spcAft>
            </a:pPr>
            <a:r>
              <a:rPr sz="1150" b="1" i="0">
                <a:solidFill>
                  <a:srgbClr val="1F3864"/>
                </a:solidFill>
                <a:latin typeface="Times New Roman"/>
              </a:rPr>
              <a:t>Privilege Escalation</a:t>
            </a:r>
          </a:p>
        </p:txBody>
      </p:sp>
      <p:sp>
        <p:nvSpPr>
          <p:cNvPr id="50" name="TextBox 49"/>
          <p:cNvSpPr txBox="1"/>
          <p:nvPr/>
        </p:nvSpPr>
        <p:spPr>
          <a:xfrm>
            <a:off x="9692640" y="3547872"/>
            <a:ext cx="1874519" cy="475488"/>
          </a:xfrm>
          <a:prstGeom prst="rect">
            <a:avLst/>
          </a:prstGeom>
          <a:noFill/>
        </p:spPr>
        <p:txBody>
          <a:bodyPr wrap="square" anchor="ctr" lIns="0" rIns="0" tIns="0" bIns="0">
            <a:spAutoFit/>
          </a:bodyPr>
          <a:lstStyle/>
          <a:p>
            <a:pPr algn="l">
              <a:lnSpc>
                <a:spcPct val="110000"/>
              </a:lnSpc>
              <a:spcAft>
                <a:spcPts val="300"/>
              </a:spcAft>
            </a:pPr>
            <a:r>
              <a:rPr sz="1000" b="0" i="1">
                <a:solidFill>
                  <a:srgbClr val="54647A"/>
                </a:solidFill>
                <a:latin typeface="Times New Roman"/>
              </a:rPr>
              <a:t>Topic 2 Lesson 4</a:t>
            </a:r>
          </a:p>
        </p:txBody>
      </p:sp>
      <p:sp>
        <p:nvSpPr>
          <p:cNvPr id="51" name="Rounded Rectangle 50"/>
          <p:cNvSpPr/>
          <p:nvPr/>
        </p:nvSpPr>
        <p:spPr>
          <a:xfrm>
            <a:off x="6537960" y="4096512"/>
            <a:ext cx="5074920" cy="475488"/>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6601968" y="4160520"/>
            <a:ext cx="566928" cy="347472"/>
          </a:xfrm>
          <a:prstGeom prst="roundRect">
            <a:avLst>
              <a:gd name="adj" fmla="val 15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i="0">
                <a:solidFill>
                  <a:srgbClr val="FFFFFF"/>
                </a:solidFill>
                <a:latin typeface="Times New Roman"/>
              </a:rPr>
              <a:t>C2</a:t>
            </a:r>
          </a:p>
        </p:txBody>
      </p:sp>
      <p:sp>
        <p:nvSpPr>
          <p:cNvPr id="53" name="TextBox 52"/>
          <p:cNvSpPr txBox="1"/>
          <p:nvPr/>
        </p:nvSpPr>
        <p:spPr>
          <a:xfrm>
            <a:off x="7269480" y="4096512"/>
            <a:ext cx="2514600" cy="475488"/>
          </a:xfrm>
          <a:prstGeom prst="rect">
            <a:avLst/>
          </a:prstGeom>
          <a:noFill/>
        </p:spPr>
        <p:txBody>
          <a:bodyPr wrap="square" anchor="ctr" lIns="0" rIns="0" tIns="0" bIns="0">
            <a:spAutoFit/>
          </a:bodyPr>
          <a:lstStyle/>
          <a:p>
            <a:pPr algn="l">
              <a:lnSpc>
                <a:spcPct val="110000"/>
              </a:lnSpc>
              <a:spcAft>
                <a:spcPts val="300"/>
              </a:spcAft>
            </a:pPr>
            <a:r>
              <a:rPr sz="1150" b="1" i="0">
                <a:solidFill>
                  <a:srgbClr val="1F3864"/>
                </a:solidFill>
                <a:latin typeface="Times New Roman"/>
              </a:rPr>
              <a:t>Command &amp; Control</a:t>
            </a:r>
          </a:p>
        </p:txBody>
      </p:sp>
      <p:sp>
        <p:nvSpPr>
          <p:cNvPr id="54" name="TextBox 53"/>
          <p:cNvSpPr txBox="1"/>
          <p:nvPr/>
        </p:nvSpPr>
        <p:spPr>
          <a:xfrm>
            <a:off x="9692640" y="4096512"/>
            <a:ext cx="1874519" cy="475488"/>
          </a:xfrm>
          <a:prstGeom prst="rect">
            <a:avLst/>
          </a:prstGeom>
          <a:noFill/>
        </p:spPr>
        <p:txBody>
          <a:bodyPr wrap="square" anchor="ctr" lIns="0" rIns="0" tIns="0" bIns="0">
            <a:spAutoFit/>
          </a:bodyPr>
          <a:lstStyle/>
          <a:p>
            <a:pPr algn="l">
              <a:lnSpc>
                <a:spcPct val="110000"/>
              </a:lnSpc>
              <a:spcAft>
                <a:spcPts val="300"/>
              </a:spcAft>
            </a:pPr>
            <a:r>
              <a:rPr sz="1000" b="0" i="1">
                <a:solidFill>
                  <a:srgbClr val="54647A"/>
                </a:solidFill>
                <a:latin typeface="Times New Roman"/>
              </a:rPr>
              <a:t>Topic 4 (Metasploit)</a:t>
            </a:r>
          </a:p>
        </p:txBody>
      </p:sp>
      <p:sp>
        <p:nvSpPr>
          <p:cNvPr id="55" name="Rounded Rectangle 54"/>
          <p:cNvSpPr/>
          <p:nvPr/>
        </p:nvSpPr>
        <p:spPr>
          <a:xfrm>
            <a:off x="6537960" y="4645152"/>
            <a:ext cx="5074920" cy="475488"/>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6601968" y="4709160"/>
            <a:ext cx="566928" cy="347472"/>
          </a:xfrm>
          <a:prstGeom prst="roundRect">
            <a:avLst>
              <a:gd name="adj" fmla="val 15000"/>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i="0">
                <a:solidFill>
                  <a:srgbClr val="FFFFFF"/>
                </a:solidFill>
                <a:latin typeface="Times New Roman"/>
              </a:rPr>
              <a:t>For</a:t>
            </a:r>
          </a:p>
        </p:txBody>
      </p:sp>
      <p:sp>
        <p:nvSpPr>
          <p:cNvPr id="57" name="TextBox 56"/>
          <p:cNvSpPr txBox="1"/>
          <p:nvPr/>
        </p:nvSpPr>
        <p:spPr>
          <a:xfrm>
            <a:off x="7269480" y="4645152"/>
            <a:ext cx="2514600" cy="475488"/>
          </a:xfrm>
          <a:prstGeom prst="rect">
            <a:avLst/>
          </a:prstGeom>
          <a:noFill/>
        </p:spPr>
        <p:txBody>
          <a:bodyPr wrap="square" anchor="ctr" lIns="0" rIns="0" tIns="0" bIns="0">
            <a:spAutoFit/>
          </a:bodyPr>
          <a:lstStyle/>
          <a:p>
            <a:pPr algn="l">
              <a:lnSpc>
                <a:spcPct val="110000"/>
              </a:lnSpc>
              <a:spcAft>
                <a:spcPts val="300"/>
              </a:spcAft>
            </a:pPr>
            <a:r>
              <a:rPr sz="1150" b="1" i="0">
                <a:solidFill>
                  <a:srgbClr val="1F3864"/>
                </a:solidFill>
                <a:latin typeface="Times New Roman"/>
              </a:rPr>
              <a:t>Forensics</a:t>
            </a:r>
          </a:p>
        </p:txBody>
      </p:sp>
      <p:sp>
        <p:nvSpPr>
          <p:cNvPr id="58" name="TextBox 57"/>
          <p:cNvSpPr txBox="1"/>
          <p:nvPr/>
        </p:nvSpPr>
        <p:spPr>
          <a:xfrm>
            <a:off x="9692640" y="4645152"/>
            <a:ext cx="1874519" cy="475488"/>
          </a:xfrm>
          <a:prstGeom prst="rect">
            <a:avLst/>
          </a:prstGeom>
          <a:noFill/>
        </p:spPr>
        <p:txBody>
          <a:bodyPr wrap="square" anchor="ctr" lIns="0" rIns="0" tIns="0" bIns="0">
            <a:spAutoFit/>
          </a:bodyPr>
          <a:lstStyle/>
          <a:p>
            <a:pPr algn="l">
              <a:lnSpc>
                <a:spcPct val="110000"/>
              </a:lnSpc>
              <a:spcAft>
                <a:spcPts val="300"/>
              </a:spcAft>
            </a:pPr>
            <a:r>
              <a:rPr sz="1000" b="0" i="1">
                <a:solidFill>
                  <a:srgbClr val="54647A"/>
                </a:solidFill>
                <a:latin typeface="Times New Roman"/>
              </a:rPr>
              <a:t>Topic 5</a:t>
            </a:r>
          </a:p>
        </p:txBody>
      </p:sp>
      <p:sp>
        <p:nvSpPr>
          <p:cNvPr id="59" name="Rounded Rectangle 58"/>
          <p:cNvSpPr/>
          <p:nvPr/>
        </p:nvSpPr>
        <p:spPr>
          <a:xfrm>
            <a:off x="6537960" y="5193792"/>
            <a:ext cx="5074920" cy="475488"/>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6601968" y="5257800"/>
            <a:ext cx="566928" cy="347472"/>
          </a:xfrm>
          <a:prstGeom prst="roundRect">
            <a:avLst>
              <a:gd name="adj" fmla="val 15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i="0">
                <a:solidFill>
                  <a:srgbClr val="FFFFFF"/>
                </a:solidFill>
                <a:latin typeface="Times New Roman"/>
              </a:rPr>
              <a:t>Rep</a:t>
            </a:r>
          </a:p>
        </p:txBody>
      </p:sp>
      <p:sp>
        <p:nvSpPr>
          <p:cNvPr id="61" name="TextBox 60"/>
          <p:cNvSpPr txBox="1"/>
          <p:nvPr/>
        </p:nvSpPr>
        <p:spPr>
          <a:xfrm>
            <a:off x="7269480" y="5193792"/>
            <a:ext cx="2514600" cy="475488"/>
          </a:xfrm>
          <a:prstGeom prst="rect">
            <a:avLst/>
          </a:prstGeom>
          <a:noFill/>
        </p:spPr>
        <p:txBody>
          <a:bodyPr wrap="square" anchor="ctr" lIns="0" rIns="0" tIns="0" bIns="0">
            <a:spAutoFit/>
          </a:bodyPr>
          <a:lstStyle/>
          <a:p>
            <a:pPr algn="l">
              <a:lnSpc>
                <a:spcPct val="110000"/>
              </a:lnSpc>
              <a:spcAft>
                <a:spcPts val="300"/>
              </a:spcAft>
            </a:pPr>
            <a:r>
              <a:rPr sz="1150" b="1" i="0">
                <a:solidFill>
                  <a:srgbClr val="1F3864"/>
                </a:solidFill>
                <a:latin typeface="Times New Roman"/>
              </a:rPr>
              <a:t>Reporting Tools</a:t>
            </a:r>
          </a:p>
        </p:txBody>
      </p:sp>
      <p:sp>
        <p:nvSpPr>
          <p:cNvPr id="62" name="TextBox 61"/>
          <p:cNvSpPr txBox="1"/>
          <p:nvPr/>
        </p:nvSpPr>
        <p:spPr>
          <a:xfrm>
            <a:off x="9692640" y="5193792"/>
            <a:ext cx="1874519" cy="475488"/>
          </a:xfrm>
          <a:prstGeom prst="rect">
            <a:avLst/>
          </a:prstGeom>
          <a:noFill/>
        </p:spPr>
        <p:txBody>
          <a:bodyPr wrap="square" anchor="ctr" lIns="0" rIns="0" tIns="0" bIns="0">
            <a:spAutoFit/>
          </a:bodyPr>
          <a:lstStyle/>
          <a:p>
            <a:pPr algn="l">
              <a:lnSpc>
                <a:spcPct val="110000"/>
              </a:lnSpc>
              <a:spcAft>
                <a:spcPts val="300"/>
              </a:spcAft>
            </a:pPr>
            <a:r>
              <a:rPr sz="1000" b="0" i="1">
                <a:solidFill>
                  <a:srgbClr val="54647A"/>
                </a:solidFill>
                <a:latin typeface="Times New Roman"/>
              </a:rPr>
              <a:t>Throughout the course</a:t>
            </a:r>
          </a:p>
        </p:txBody>
      </p:sp>
      <p:sp>
        <p:nvSpPr>
          <p:cNvPr id="63" name="Rounded Rectangle 62"/>
          <p:cNvSpPr/>
          <p:nvPr/>
        </p:nvSpPr>
        <p:spPr>
          <a:xfrm>
            <a:off x="6537960" y="5806440"/>
            <a:ext cx="5074920" cy="502920"/>
          </a:xfrm>
          <a:prstGeom prst="roundRect">
            <a:avLst>
              <a:gd name="adj" fmla="val 8000"/>
            </a:avLst>
          </a:prstGeom>
          <a:solidFill>
            <a:srgbClr val="E3F3EE"/>
          </a:solidFill>
          <a:ln w="15875">
            <a:solidFill>
              <a:srgbClr val="178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check_178A73.png"/>
          <p:cNvPicPr>
            <a:picLocks noChangeAspect="1"/>
          </p:cNvPicPr>
          <p:nvPr/>
        </p:nvPicPr>
        <p:blipFill>
          <a:blip r:embed="rId3"/>
          <a:stretch>
            <a:fillRect/>
          </a:stretch>
        </p:blipFill>
        <p:spPr>
          <a:xfrm>
            <a:off x="6665976" y="5893308"/>
            <a:ext cx="329184" cy="329184"/>
          </a:xfrm>
          <a:prstGeom prst="rect">
            <a:avLst/>
          </a:prstGeom>
        </p:spPr>
      </p:pic>
      <p:sp>
        <p:nvSpPr>
          <p:cNvPr id="65" name="TextBox 64"/>
          <p:cNvSpPr txBox="1"/>
          <p:nvPr/>
        </p:nvSpPr>
        <p:spPr>
          <a:xfrm>
            <a:off x="7104888" y="5806440"/>
            <a:ext cx="4389120" cy="502920"/>
          </a:xfrm>
          <a:prstGeom prst="rect">
            <a:avLst/>
          </a:prstGeom>
          <a:noFill/>
        </p:spPr>
        <p:txBody>
          <a:bodyPr wrap="square" anchor="ctr" lIns="0" rIns="0" tIns="0" bIns="0">
            <a:spAutoFit/>
          </a:bodyPr>
          <a:lstStyle/>
          <a:p>
            <a:pPr algn="l">
              <a:lnSpc>
                <a:spcPct val="110000"/>
              </a:lnSpc>
              <a:spcAft>
                <a:spcPts val="300"/>
              </a:spcAft>
            </a:pPr>
            <a:r>
              <a:rPr sz="1100" b="0" i="0">
                <a:solidFill>
                  <a:srgbClr val="202A38"/>
                </a:solidFill>
                <a:latin typeface="Times New Roman"/>
              </a:rPr>
              <a:t>Tools are grouped by function (ATT&amp;CK stage); in practice launched from the terminal.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QUESTION 1 · TASK 1.2</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1.2 — Determining the distribution and kernel version</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15</a:t>
            </a:r>
          </a:p>
        </p:txBody>
      </p:sp>
      <p:sp>
        <p:nvSpPr>
          <p:cNvPr id="8" name="Rounded Rectangle 7"/>
          <p:cNvSpPr/>
          <p:nvPr/>
        </p:nvSpPr>
        <p:spPr>
          <a:xfrm>
            <a:off x="566928" y="1600200"/>
            <a:ext cx="5120640" cy="43891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664208"/>
            <a:ext cx="310896" cy="310896"/>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FFFFFF"/>
                </a:solidFill>
                <a:latin typeface="Times New Roman"/>
              </a:rPr>
              <a:t>1</a:t>
            </a:r>
          </a:p>
        </p:txBody>
      </p:sp>
      <p:sp>
        <p:nvSpPr>
          <p:cNvPr id="10" name="TextBox 9"/>
          <p:cNvSpPr txBox="1"/>
          <p:nvPr/>
        </p:nvSpPr>
        <p:spPr>
          <a:xfrm>
            <a:off x="1069848" y="1600200"/>
            <a:ext cx="4526280" cy="438912"/>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Distribution: </a:t>
            </a:r>
            <a:r>
              <a:rPr sz="1200" b="1" i="0">
                <a:solidFill>
                  <a:srgbClr val="178A73"/>
                </a:solidFill>
                <a:latin typeface="Consolas"/>
              </a:rPr>
              <a:t>cat /etc/os-release</a:t>
            </a:r>
          </a:p>
        </p:txBody>
      </p:sp>
      <p:sp>
        <p:nvSpPr>
          <p:cNvPr id="11" name="Rounded Rectangle 10"/>
          <p:cNvSpPr/>
          <p:nvPr/>
        </p:nvSpPr>
        <p:spPr>
          <a:xfrm>
            <a:off x="566928" y="2093976"/>
            <a:ext cx="5120640" cy="43891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2157984"/>
            <a:ext cx="310896" cy="310896"/>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FFFFFF"/>
                </a:solidFill>
                <a:latin typeface="Times New Roman"/>
              </a:rPr>
              <a:t>2</a:t>
            </a:r>
          </a:p>
        </p:txBody>
      </p:sp>
      <p:sp>
        <p:nvSpPr>
          <p:cNvPr id="13" name="TextBox 12"/>
          <p:cNvSpPr txBox="1"/>
          <p:nvPr/>
        </p:nvSpPr>
        <p:spPr>
          <a:xfrm>
            <a:off x="1069848" y="2093976"/>
            <a:ext cx="4526280" cy="438912"/>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Kernel: </a:t>
            </a:r>
            <a:r>
              <a:rPr sz="1200" b="1" i="0">
                <a:solidFill>
                  <a:srgbClr val="178A73"/>
                </a:solidFill>
                <a:latin typeface="Consolas"/>
              </a:rPr>
              <a:t>uname -r</a:t>
            </a:r>
            <a:r>
              <a:rPr sz="1250" b="0" i="0">
                <a:solidFill>
                  <a:srgbClr val="202A38"/>
                </a:solidFill>
                <a:latin typeface="Times New Roman"/>
              </a:rPr>
              <a:t>, </a:t>
            </a:r>
            <a:r>
              <a:rPr sz="1200" b="1" i="0">
                <a:solidFill>
                  <a:srgbClr val="178A73"/>
                </a:solidFill>
                <a:latin typeface="Consolas"/>
              </a:rPr>
              <a:t>uname -a</a:t>
            </a:r>
            <a:r>
              <a:rPr sz="1250" b="0" i="0">
                <a:solidFill>
                  <a:srgbClr val="202A38"/>
                </a:solidFill>
                <a:latin typeface="Times New Roman"/>
              </a:rPr>
              <a:t>, </a:t>
            </a:r>
            <a:r>
              <a:rPr sz="1200" b="1" i="0">
                <a:solidFill>
                  <a:srgbClr val="178A73"/>
                </a:solidFill>
                <a:latin typeface="Consolas"/>
              </a:rPr>
              <a:t>uname -m</a:t>
            </a:r>
          </a:p>
        </p:txBody>
      </p:sp>
      <p:sp>
        <p:nvSpPr>
          <p:cNvPr id="14" name="Rounded Rectangle 13"/>
          <p:cNvSpPr/>
          <p:nvPr/>
        </p:nvSpPr>
        <p:spPr>
          <a:xfrm>
            <a:off x="566928" y="2587752"/>
            <a:ext cx="5120640" cy="43891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651760"/>
            <a:ext cx="310896" cy="310896"/>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FFFFFF"/>
                </a:solidFill>
                <a:latin typeface="Times New Roman"/>
              </a:rPr>
              <a:t>3</a:t>
            </a:r>
          </a:p>
        </p:txBody>
      </p:sp>
      <p:sp>
        <p:nvSpPr>
          <p:cNvPr id="16" name="TextBox 15"/>
          <p:cNvSpPr txBox="1"/>
          <p:nvPr/>
        </p:nvSpPr>
        <p:spPr>
          <a:xfrm>
            <a:off x="1069848" y="2587752"/>
            <a:ext cx="4526280" cy="438912"/>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All together: </a:t>
            </a:r>
            <a:r>
              <a:rPr sz="1200" b="1" i="0">
                <a:solidFill>
                  <a:srgbClr val="178A73"/>
                </a:solidFill>
                <a:latin typeface="Consolas"/>
              </a:rPr>
              <a:t>hostnamectl</a:t>
            </a:r>
            <a:r>
              <a:rPr sz="1250" b="0" i="0">
                <a:solidFill>
                  <a:srgbClr val="202A38"/>
                </a:solidFill>
                <a:latin typeface="Times New Roman"/>
              </a:rPr>
              <a:t> — Operating System, Kernel, Virtualization</a:t>
            </a:r>
          </a:p>
        </p:txBody>
      </p:sp>
      <p:sp>
        <p:nvSpPr>
          <p:cNvPr id="17" name="Rounded Rectangle 16"/>
          <p:cNvSpPr/>
          <p:nvPr/>
        </p:nvSpPr>
        <p:spPr>
          <a:xfrm>
            <a:off x="566928" y="3081528"/>
            <a:ext cx="5120640" cy="43891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3145536"/>
            <a:ext cx="310896" cy="310896"/>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FFFFFF"/>
                </a:solidFill>
                <a:latin typeface="Times New Roman"/>
              </a:rPr>
              <a:t>4</a:t>
            </a:r>
          </a:p>
        </p:txBody>
      </p:sp>
      <p:sp>
        <p:nvSpPr>
          <p:cNvPr id="19" name="TextBox 18"/>
          <p:cNvSpPr txBox="1"/>
          <p:nvPr/>
        </p:nvSpPr>
        <p:spPr>
          <a:xfrm>
            <a:off x="1069848" y="3081528"/>
            <a:ext cx="4526280" cy="438912"/>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Straight from the kernel: </a:t>
            </a:r>
            <a:r>
              <a:rPr sz="1200" b="1" i="0">
                <a:solidFill>
                  <a:srgbClr val="178A73"/>
                </a:solidFill>
                <a:latin typeface="Consolas"/>
              </a:rPr>
              <a:t>cat /proc/version</a:t>
            </a:r>
          </a:p>
        </p:txBody>
      </p:sp>
      <p:sp>
        <p:nvSpPr>
          <p:cNvPr id="20" name="Rounded Rectangle 19"/>
          <p:cNvSpPr/>
          <p:nvPr/>
        </p:nvSpPr>
        <p:spPr>
          <a:xfrm>
            <a:off x="566928" y="3575304"/>
            <a:ext cx="5120640" cy="43891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3639312"/>
            <a:ext cx="310896" cy="310896"/>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FFFFFF"/>
                </a:solidFill>
                <a:latin typeface="Times New Roman"/>
              </a:rPr>
              <a:t>5</a:t>
            </a:r>
          </a:p>
        </p:txBody>
      </p:sp>
      <p:sp>
        <p:nvSpPr>
          <p:cNvPr id="22" name="TextBox 21"/>
          <p:cNvSpPr txBox="1"/>
          <p:nvPr/>
        </p:nvSpPr>
        <p:spPr>
          <a:xfrm>
            <a:off x="1069848" y="3575304"/>
            <a:ext cx="4526280" cy="438912"/>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Computer name and time: </a:t>
            </a:r>
            <a:r>
              <a:rPr sz="1200" b="1" i="0">
                <a:solidFill>
                  <a:srgbClr val="178A73"/>
                </a:solidFill>
                <a:latin typeface="Consolas"/>
              </a:rPr>
              <a:t>hostname</a:t>
            </a:r>
            <a:r>
              <a:rPr sz="1250" b="0" i="0">
                <a:solidFill>
                  <a:srgbClr val="202A38"/>
                </a:solidFill>
                <a:latin typeface="Times New Roman"/>
              </a:rPr>
              <a:t>, </a:t>
            </a:r>
            <a:r>
              <a:rPr sz="1200" b="1" i="0">
                <a:solidFill>
                  <a:srgbClr val="178A73"/>
                </a:solidFill>
                <a:latin typeface="Consolas"/>
              </a:rPr>
              <a:t>uptime</a:t>
            </a:r>
            <a:r>
              <a:rPr sz="1250" b="0" i="0">
                <a:solidFill>
                  <a:srgbClr val="202A38"/>
                </a:solidFill>
                <a:latin typeface="Times New Roman"/>
              </a:rPr>
              <a:t>, </a:t>
            </a:r>
            <a:r>
              <a:rPr sz="1200" b="1" i="0">
                <a:solidFill>
                  <a:srgbClr val="178A73"/>
                </a:solidFill>
                <a:latin typeface="Consolas"/>
              </a:rPr>
              <a:t>date</a:t>
            </a:r>
          </a:p>
        </p:txBody>
      </p:sp>
      <p:sp>
        <p:nvSpPr>
          <p:cNvPr id="23" name="Rounded Rectangle 22"/>
          <p:cNvSpPr/>
          <p:nvPr/>
        </p:nvSpPr>
        <p:spPr>
          <a:xfrm>
            <a:off x="5897880" y="1600200"/>
            <a:ext cx="5715000" cy="2606040"/>
          </a:xfrm>
          <a:prstGeom prst="roundRect">
            <a:avLst>
              <a:gd name="adj" fmla="val 4000"/>
            </a:avLst>
          </a:prstGeom>
          <a:solidFill>
            <a:srgbClr val="142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35040" y="1664208"/>
            <a:ext cx="5440680" cy="228600"/>
          </a:xfrm>
          <a:prstGeom prst="rect">
            <a:avLst/>
          </a:prstGeom>
          <a:noFill/>
        </p:spPr>
        <p:txBody>
          <a:bodyPr wrap="square" anchor="t" lIns="0" rIns="0" tIns="0" bIns="0">
            <a:spAutoFit/>
          </a:bodyPr>
          <a:lstStyle/>
          <a:p>
            <a:pPr algn="l">
              <a:lnSpc>
                <a:spcPct val="110000"/>
              </a:lnSpc>
              <a:spcAft>
                <a:spcPts val="300"/>
              </a:spcAft>
            </a:pPr>
            <a:r>
              <a:rPr sz="1000" b="1" i="0">
                <a:solidFill>
                  <a:srgbClr val="7FD1B9"/>
                </a:solidFill>
                <a:latin typeface="Consolas"/>
              </a:rPr>
              <a:t>Terminal (sample output)</a:t>
            </a:r>
          </a:p>
        </p:txBody>
      </p:sp>
      <p:sp>
        <p:nvSpPr>
          <p:cNvPr id="25" name="TextBox 24"/>
          <p:cNvSpPr txBox="1"/>
          <p:nvPr/>
        </p:nvSpPr>
        <p:spPr>
          <a:xfrm>
            <a:off x="6035040" y="1929384"/>
            <a:ext cx="5440680" cy="2221992"/>
          </a:xfrm>
          <a:prstGeom prst="rect">
            <a:avLst/>
          </a:prstGeom>
          <a:noFill/>
        </p:spPr>
        <p:txBody>
          <a:bodyPr wrap="square" lIns="0" rIns="0" tIns="0" bIns="0">
            <a:spAutoFit/>
          </a:bodyPr>
          <a:lstStyle/>
          <a:p>
            <a:pPr>
              <a:lnSpc>
                <a:spcPct val="100000"/>
              </a:lnSpc>
              <a:spcAft>
                <a:spcPts val="100"/>
              </a:spcAft>
            </a:pPr>
            <a:r>
              <a:rPr sz="1100" b="1">
                <a:solidFill>
                  <a:srgbClr val="E6EDF5"/>
                </a:solidFill>
                <a:latin typeface="Consolas"/>
              </a:rPr>
              <a:t>$ cat /etc/os-release</a:t>
            </a:r>
          </a:p>
          <a:p>
            <a:pPr>
              <a:lnSpc>
                <a:spcPct val="100000"/>
              </a:lnSpc>
              <a:spcAft>
                <a:spcPts val="100"/>
              </a:spcAft>
            </a:pPr>
            <a:r>
              <a:rPr sz="1100" b="0">
                <a:solidFill>
                  <a:srgbClr val="E6EDF5"/>
                </a:solidFill>
                <a:latin typeface="Consolas"/>
              </a:rPr>
              <a:t>PRETTY_NAME="Kali GNU/Linux Rolling"</a:t>
            </a:r>
          </a:p>
          <a:p>
            <a:pPr>
              <a:lnSpc>
                <a:spcPct val="100000"/>
              </a:lnSpc>
              <a:spcAft>
                <a:spcPts val="100"/>
              </a:spcAft>
            </a:pPr>
            <a:r>
              <a:rPr sz="1100" b="0">
                <a:solidFill>
                  <a:srgbClr val="E6EDF5"/>
                </a:solidFill>
                <a:latin typeface="Consolas"/>
              </a:rPr>
              <a:t>VERSION="2026.2"</a:t>
            </a:r>
          </a:p>
          <a:p>
            <a:pPr>
              <a:lnSpc>
                <a:spcPct val="100000"/>
              </a:lnSpc>
              <a:spcAft>
                <a:spcPts val="100"/>
              </a:spcAft>
            </a:pPr>
            <a:r>
              <a:rPr sz="1100" b="0">
                <a:solidFill>
                  <a:srgbClr val="E6EDF5"/>
                </a:solidFill>
                <a:latin typeface="Consolas"/>
              </a:rPr>
              <a:t>ID=kali</a:t>
            </a:r>
          </a:p>
          <a:p>
            <a:pPr>
              <a:lnSpc>
                <a:spcPct val="100000"/>
              </a:lnSpc>
              <a:spcAft>
                <a:spcPts val="100"/>
              </a:spcAft>
            </a:pPr>
            <a:r>
              <a:rPr sz="1100" b="0">
                <a:solidFill>
                  <a:srgbClr val="E6EDF5"/>
                </a:solidFill>
                <a:latin typeface="Consolas"/>
              </a:rPr>
              <a:t>ID_LIKE=debian</a:t>
            </a:r>
          </a:p>
          <a:p>
            <a:pPr>
              <a:lnSpc>
                <a:spcPct val="100000"/>
              </a:lnSpc>
              <a:spcAft>
                <a:spcPts val="100"/>
              </a:spcAft>
            </a:pPr>
            <a:r>
              <a:rPr sz="1100" b="0">
                <a:solidFill>
                  <a:srgbClr val="E6EDF5"/>
                </a:solidFill>
                <a:latin typeface="Consolas"/>
              </a:rPr>
              <a:t>VERSION_CODENAME=kali-rolling</a:t>
            </a:r>
          </a:p>
          <a:p>
            <a:pPr>
              <a:lnSpc>
                <a:spcPct val="100000"/>
              </a:lnSpc>
              <a:spcAft>
                <a:spcPts val="100"/>
              </a:spcAft>
            </a:pPr>
            <a:r>
              <a:rPr sz="1100" b="1">
                <a:solidFill>
                  <a:srgbClr val="E6EDF5"/>
                </a:solidFill>
                <a:latin typeface="Consolas"/>
              </a:rPr>
              <a:t>$ uname -r</a:t>
            </a:r>
          </a:p>
          <a:p>
            <a:pPr>
              <a:lnSpc>
                <a:spcPct val="100000"/>
              </a:lnSpc>
              <a:spcAft>
                <a:spcPts val="100"/>
              </a:spcAft>
            </a:pPr>
            <a:r>
              <a:rPr sz="1100" b="0">
                <a:solidFill>
                  <a:srgbClr val="E6EDF5"/>
                </a:solidFill>
                <a:latin typeface="Consolas"/>
              </a:rPr>
              <a:t>6.19.0-amd64</a:t>
            </a:r>
          </a:p>
          <a:p>
            <a:pPr>
              <a:lnSpc>
                <a:spcPct val="100000"/>
              </a:lnSpc>
              <a:spcAft>
                <a:spcPts val="100"/>
              </a:spcAft>
            </a:pPr>
            <a:r>
              <a:rPr sz="1100" b="1">
                <a:solidFill>
                  <a:srgbClr val="E6EDF5"/>
                </a:solidFill>
                <a:latin typeface="Consolas"/>
              </a:rPr>
              <a:t>$ hostnamectl  </a:t>
            </a:r>
            <a:r>
              <a:rPr sz="1000">
                <a:solidFill>
                  <a:srgbClr val="7FD1B9"/>
                </a:solidFill>
                <a:latin typeface="Consolas"/>
              </a:rPr>
              <a:t> # ... Virtualization: oracle</a:t>
            </a:r>
          </a:p>
        </p:txBody>
      </p:sp>
      <p:sp>
        <p:nvSpPr>
          <p:cNvPr id="26" name="TextBox 25"/>
          <p:cNvSpPr txBox="1"/>
          <p:nvPr/>
        </p:nvSpPr>
        <p:spPr>
          <a:xfrm>
            <a:off x="566928" y="4160520"/>
            <a:ext cx="548640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1F3864"/>
                </a:solidFill>
                <a:latin typeface="Times New Roman"/>
              </a:rPr>
              <a:t>Reading the kernel version</a:t>
            </a:r>
          </a:p>
        </p:txBody>
      </p:sp>
      <p:sp>
        <p:nvSpPr>
          <p:cNvPr id="27" name="Rounded Rectangle 26"/>
          <p:cNvSpPr/>
          <p:nvPr/>
        </p:nvSpPr>
        <p:spPr>
          <a:xfrm>
            <a:off x="566928" y="4480560"/>
            <a:ext cx="1188720" cy="457200"/>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i="0">
                <a:solidFill>
                  <a:srgbClr val="FFFFFF"/>
                </a:solidFill>
                <a:latin typeface="Times New Roman"/>
              </a:rPr>
              <a:t>6</a:t>
            </a:r>
          </a:p>
        </p:txBody>
      </p:sp>
      <p:sp>
        <p:nvSpPr>
          <p:cNvPr id="28" name="TextBox 27"/>
          <p:cNvSpPr txBox="1"/>
          <p:nvPr/>
        </p:nvSpPr>
        <p:spPr>
          <a:xfrm>
            <a:off x="566928" y="4983480"/>
            <a:ext cx="1188720" cy="274320"/>
          </a:xfrm>
          <a:prstGeom prst="rect">
            <a:avLst/>
          </a:prstGeom>
          <a:noFill/>
        </p:spPr>
        <p:txBody>
          <a:bodyPr wrap="square" anchor="t" lIns="0" rIns="0" tIns="0" bIns="0">
            <a:spAutoFit/>
          </a:bodyPr>
          <a:lstStyle/>
          <a:p>
            <a:pPr algn="ctr">
              <a:lnSpc>
                <a:spcPct val="110000"/>
              </a:lnSpc>
              <a:spcAft>
                <a:spcPts val="300"/>
              </a:spcAft>
            </a:pPr>
            <a:r>
              <a:rPr sz="1100" b="0" i="1">
                <a:solidFill>
                  <a:srgbClr val="54647A"/>
                </a:solidFill>
                <a:latin typeface="Times New Roman"/>
              </a:rPr>
              <a:t>major version</a:t>
            </a:r>
          </a:p>
        </p:txBody>
      </p:sp>
      <p:sp>
        <p:nvSpPr>
          <p:cNvPr id="29" name="Rounded Rectangle 28"/>
          <p:cNvSpPr/>
          <p:nvPr/>
        </p:nvSpPr>
        <p:spPr>
          <a:xfrm>
            <a:off x="1892807" y="4480560"/>
            <a:ext cx="1188720" cy="457200"/>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i="0">
                <a:solidFill>
                  <a:srgbClr val="FFFFFF"/>
                </a:solidFill>
                <a:latin typeface="Times New Roman"/>
              </a:rPr>
              <a:t>19</a:t>
            </a:r>
          </a:p>
        </p:txBody>
      </p:sp>
      <p:sp>
        <p:nvSpPr>
          <p:cNvPr id="30" name="TextBox 29"/>
          <p:cNvSpPr txBox="1"/>
          <p:nvPr/>
        </p:nvSpPr>
        <p:spPr>
          <a:xfrm>
            <a:off x="1892807" y="4983480"/>
            <a:ext cx="1188720" cy="274320"/>
          </a:xfrm>
          <a:prstGeom prst="rect">
            <a:avLst/>
          </a:prstGeom>
          <a:noFill/>
        </p:spPr>
        <p:txBody>
          <a:bodyPr wrap="square" anchor="t" lIns="0" rIns="0" tIns="0" bIns="0">
            <a:spAutoFit/>
          </a:bodyPr>
          <a:lstStyle/>
          <a:p>
            <a:pPr algn="ctr">
              <a:lnSpc>
                <a:spcPct val="110000"/>
              </a:lnSpc>
              <a:spcAft>
                <a:spcPts val="300"/>
              </a:spcAft>
            </a:pPr>
            <a:r>
              <a:rPr sz="1100" b="0" i="1">
                <a:solidFill>
                  <a:srgbClr val="54647A"/>
                </a:solidFill>
                <a:latin typeface="Times New Roman"/>
              </a:rPr>
              <a:t>minor version</a:t>
            </a:r>
          </a:p>
        </p:txBody>
      </p:sp>
      <p:sp>
        <p:nvSpPr>
          <p:cNvPr id="31" name="Rounded Rectangle 30"/>
          <p:cNvSpPr/>
          <p:nvPr/>
        </p:nvSpPr>
        <p:spPr>
          <a:xfrm>
            <a:off x="3218688" y="4480560"/>
            <a:ext cx="1188720" cy="457200"/>
          </a:xfrm>
          <a:prstGeom prst="roundRect">
            <a:avLst>
              <a:gd name="adj" fmla="val 12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i="0">
                <a:solidFill>
                  <a:srgbClr val="FFFFFF"/>
                </a:solidFill>
                <a:latin typeface="Times New Roman"/>
              </a:rPr>
              <a:t>x</a:t>
            </a:r>
          </a:p>
        </p:txBody>
      </p:sp>
      <p:sp>
        <p:nvSpPr>
          <p:cNvPr id="32" name="TextBox 31"/>
          <p:cNvSpPr txBox="1"/>
          <p:nvPr/>
        </p:nvSpPr>
        <p:spPr>
          <a:xfrm>
            <a:off x="3218688" y="4983480"/>
            <a:ext cx="1188720" cy="274320"/>
          </a:xfrm>
          <a:prstGeom prst="rect">
            <a:avLst/>
          </a:prstGeom>
          <a:noFill/>
        </p:spPr>
        <p:txBody>
          <a:bodyPr wrap="square" anchor="t" lIns="0" rIns="0" tIns="0" bIns="0">
            <a:spAutoFit/>
          </a:bodyPr>
          <a:lstStyle/>
          <a:p>
            <a:pPr algn="ctr">
              <a:lnSpc>
                <a:spcPct val="110000"/>
              </a:lnSpc>
              <a:spcAft>
                <a:spcPts val="300"/>
              </a:spcAft>
            </a:pPr>
            <a:r>
              <a:rPr sz="1100" b="0" i="1">
                <a:solidFill>
                  <a:srgbClr val="54647A"/>
                </a:solidFill>
                <a:latin typeface="Times New Roman"/>
              </a:rPr>
              <a:t>patch</a:t>
            </a:r>
          </a:p>
        </p:txBody>
      </p:sp>
      <p:sp>
        <p:nvSpPr>
          <p:cNvPr id="33" name="Rounded Rectangle 32"/>
          <p:cNvSpPr/>
          <p:nvPr/>
        </p:nvSpPr>
        <p:spPr>
          <a:xfrm>
            <a:off x="4544568" y="4480560"/>
            <a:ext cx="1188720" cy="457200"/>
          </a:xfrm>
          <a:prstGeom prst="roundRect">
            <a:avLst>
              <a:gd name="adj" fmla="val 12000"/>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i="0">
                <a:solidFill>
                  <a:srgbClr val="FFFFFF"/>
                </a:solidFill>
                <a:latin typeface="Times New Roman"/>
              </a:rPr>
              <a:t>amd64</a:t>
            </a:r>
          </a:p>
        </p:txBody>
      </p:sp>
      <p:sp>
        <p:nvSpPr>
          <p:cNvPr id="34" name="TextBox 33"/>
          <p:cNvSpPr txBox="1"/>
          <p:nvPr/>
        </p:nvSpPr>
        <p:spPr>
          <a:xfrm>
            <a:off x="4544568" y="4983480"/>
            <a:ext cx="1188720" cy="274320"/>
          </a:xfrm>
          <a:prstGeom prst="rect">
            <a:avLst/>
          </a:prstGeom>
          <a:noFill/>
        </p:spPr>
        <p:txBody>
          <a:bodyPr wrap="square" anchor="t" lIns="0" rIns="0" tIns="0" bIns="0">
            <a:spAutoFit/>
          </a:bodyPr>
          <a:lstStyle/>
          <a:p>
            <a:pPr algn="ctr">
              <a:lnSpc>
                <a:spcPct val="110000"/>
              </a:lnSpc>
              <a:spcAft>
                <a:spcPts val="300"/>
              </a:spcAft>
            </a:pPr>
            <a:r>
              <a:rPr sz="1100" b="0" i="1">
                <a:solidFill>
                  <a:srgbClr val="54647A"/>
                </a:solidFill>
                <a:latin typeface="Times New Roman"/>
              </a:rPr>
              <a:t>64-bit</a:t>
            </a:r>
          </a:p>
        </p:txBody>
      </p:sp>
      <p:sp>
        <p:nvSpPr>
          <p:cNvPr id="35" name="TextBox 34"/>
          <p:cNvSpPr txBox="1"/>
          <p:nvPr/>
        </p:nvSpPr>
        <p:spPr>
          <a:xfrm>
            <a:off x="566928" y="5394960"/>
            <a:ext cx="5212080" cy="731520"/>
          </a:xfrm>
          <a:prstGeom prst="rect">
            <a:avLst/>
          </a:prstGeom>
          <a:noFill/>
        </p:spPr>
        <p:txBody>
          <a:bodyPr wrap="square" anchor="t" lIns="0" rIns="0" tIns="0" bIns="0">
            <a:spAutoFit/>
          </a:bodyPr>
          <a:lstStyle/>
          <a:p>
            <a:pPr algn="l">
              <a:lnSpc>
                <a:spcPct val="110000"/>
              </a:lnSpc>
              <a:spcAft>
                <a:spcPts val="300"/>
              </a:spcAft>
            </a:pPr>
            <a:r>
              <a:rPr sz="1200" b="0" i="1">
                <a:solidFill>
                  <a:srgbClr val="54647A"/>
                </a:solidFill>
                <a:latin typeface="Times New Roman"/>
              </a:rPr>
              <a:t>An old kernel — possible known vulnerabilities. In Lesson 4, LinPEAS checks this automatically.</a:t>
            </a:r>
          </a:p>
        </p:txBody>
      </p:sp>
      <p:graphicFrame>
        <p:nvGraphicFramePr>
          <p:cNvPr id="36" name="Table 35"/>
          <p:cNvGraphicFramePr>
            <a:graphicFrameLocks noGrp="1"/>
          </p:cNvGraphicFramePr>
          <p:nvPr/>
        </p:nvGraphicFramePr>
        <p:xfrm>
          <a:off x="5897880" y="4343400"/>
          <a:ext cx="5715000" cy="1737360"/>
        </p:xfrm>
        <a:graphic>
          <a:graphicData uri="http://schemas.openxmlformats.org/drawingml/2006/table">
            <a:tbl>
              <a:tblPr firstRow="1" bandRow="1">
                <a:tableStyleId>{5940675A-B579-460E-94D1-54222C63F5DA}</a:tableStyleId>
              </a:tblPr>
              <a:tblGrid>
                <a:gridCol w="2857500"/>
                <a:gridCol w="2857500"/>
              </a:tblGrid>
              <a:tr h="347472">
                <a:tc>
                  <a:txBody>
                    <a:bodyPr wrap="square"/>
                    <a:lstStyle/>
                    <a:p>
                      <a:pPr algn="l"/>
                      <a:r>
                        <a:rPr sz="1150" b="1" i="0">
                          <a:solidFill>
                            <a:srgbClr val="FFFFFF"/>
                          </a:solidFill>
                          <a:latin typeface="Times New Roman"/>
                        </a:rPr>
                        <a:t>ID / ID_LIKE</a:t>
                      </a:r>
                    </a:p>
                  </a:txBody>
                  <a:tcPr marL="63500" marR="63500" marT="25400" marB="25400" anchor="ctr">
                    <a:solidFill>
                      <a:srgbClr val="1F3864"/>
                    </a:solidFill>
                  </a:tcPr>
                </a:tc>
                <a:tc>
                  <a:txBody>
                    <a:bodyPr wrap="square"/>
                    <a:lstStyle/>
                    <a:p>
                      <a:pPr algn="l"/>
                      <a:r>
                        <a:rPr sz="1150" b="1" i="0">
                          <a:solidFill>
                            <a:srgbClr val="FFFFFF"/>
                          </a:solidFill>
                          <a:latin typeface="Times New Roman"/>
                        </a:rPr>
                        <a:t>Family and package manager</a:t>
                      </a:r>
                    </a:p>
                  </a:txBody>
                  <a:tcPr marL="63500" marR="63500" marT="25400" marB="25400" anchor="ctr">
                    <a:solidFill>
                      <a:srgbClr val="1F3864"/>
                    </a:solidFill>
                  </a:tcPr>
                </a:tc>
              </a:tr>
              <a:tr h="347472">
                <a:tc>
                  <a:txBody>
                    <a:bodyPr wrap="square"/>
                    <a:lstStyle/>
                    <a:p>
                      <a:pPr algn="l"/>
                      <a:r>
                        <a:rPr sz="1100" b="1" i="0">
                          <a:solidFill>
                            <a:srgbClr val="178A73"/>
                          </a:solidFill>
                          <a:latin typeface="Consolas"/>
                        </a:rPr>
                        <a:t>kali</a:t>
                      </a:r>
                      <a:r>
                        <a:rPr sz="1150" b="1" i="0">
                          <a:solidFill>
                            <a:srgbClr val="202A38"/>
                          </a:solidFill>
                          <a:latin typeface="Times New Roman"/>
                        </a:rPr>
                        <a:t> / </a:t>
                      </a:r>
                      <a:r>
                        <a:rPr sz="1100" b="1" i="0">
                          <a:solidFill>
                            <a:srgbClr val="178A73"/>
                          </a:solidFill>
                          <a:latin typeface="Consolas"/>
                        </a:rPr>
                        <a:t>debian</a:t>
                      </a:r>
                    </a:p>
                  </a:txBody>
                  <a:tcPr marL="63500" marR="63500" marT="25400" marB="25400" anchor="ctr">
                    <a:solidFill>
                      <a:srgbClr val="FFFFFF"/>
                    </a:solidFill>
                  </a:tcPr>
                </a:tc>
                <a:tc>
                  <a:txBody>
                    <a:bodyPr wrap="square"/>
                    <a:lstStyle/>
                    <a:p>
                      <a:pPr algn="l"/>
                      <a:r>
                        <a:rPr sz="1150" b="0" i="0">
                          <a:solidFill>
                            <a:srgbClr val="202A38"/>
                          </a:solidFill>
                          <a:latin typeface="Times New Roman"/>
                        </a:rPr>
                        <a:t>Debian · </a:t>
                      </a:r>
                      <a:r>
                        <a:rPr sz="1100" b="1" i="0">
                          <a:solidFill>
                            <a:srgbClr val="178A73"/>
                          </a:solidFill>
                          <a:latin typeface="Consolas"/>
                        </a:rPr>
                        <a:t>apt</a:t>
                      </a:r>
                    </a:p>
                  </a:txBody>
                  <a:tcPr marL="63500" marR="63500" marT="25400" marB="25400" anchor="ctr">
                    <a:solidFill>
                      <a:srgbClr val="FFFFFF"/>
                    </a:solidFill>
                  </a:tcPr>
                </a:tc>
              </a:tr>
              <a:tr h="347472">
                <a:tc>
                  <a:txBody>
                    <a:bodyPr wrap="square"/>
                    <a:lstStyle/>
                    <a:p>
                      <a:pPr algn="l"/>
                      <a:r>
                        <a:rPr sz="1100" b="1" i="0">
                          <a:solidFill>
                            <a:srgbClr val="178A73"/>
                          </a:solidFill>
                          <a:latin typeface="Consolas"/>
                        </a:rPr>
                        <a:t>ubuntu</a:t>
                      </a:r>
                      <a:r>
                        <a:rPr sz="1150" b="1" i="0">
                          <a:solidFill>
                            <a:srgbClr val="202A38"/>
                          </a:solidFill>
                          <a:latin typeface="Times New Roman"/>
                        </a:rPr>
                        <a:t> / </a:t>
                      </a:r>
                      <a:r>
                        <a:rPr sz="1100" b="1" i="0">
                          <a:solidFill>
                            <a:srgbClr val="178A73"/>
                          </a:solidFill>
                          <a:latin typeface="Consolas"/>
                        </a:rPr>
                        <a:t>debian</a:t>
                      </a:r>
                    </a:p>
                  </a:txBody>
                  <a:tcPr marL="63500" marR="63500" marT="25400" marB="25400" anchor="ctr">
                    <a:solidFill>
                      <a:srgbClr val="F5F8FC"/>
                    </a:solidFill>
                  </a:tcPr>
                </a:tc>
                <a:tc>
                  <a:txBody>
                    <a:bodyPr wrap="square"/>
                    <a:lstStyle/>
                    <a:p>
                      <a:pPr algn="l"/>
                      <a:r>
                        <a:rPr sz="1150" b="0" i="0">
                          <a:solidFill>
                            <a:srgbClr val="202A38"/>
                          </a:solidFill>
                          <a:latin typeface="Times New Roman"/>
                        </a:rPr>
                        <a:t>Debian · </a:t>
                      </a:r>
                      <a:r>
                        <a:rPr sz="1100" b="1" i="0">
                          <a:solidFill>
                            <a:srgbClr val="178A73"/>
                          </a:solidFill>
                          <a:latin typeface="Consolas"/>
                        </a:rPr>
                        <a:t>apt</a:t>
                      </a:r>
                    </a:p>
                  </a:txBody>
                  <a:tcPr marL="63500" marR="63500" marT="25400" marB="25400" anchor="ctr">
                    <a:solidFill>
                      <a:srgbClr val="F5F8FC"/>
                    </a:solidFill>
                  </a:tcPr>
                </a:tc>
              </a:tr>
              <a:tr h="347472">
                <a:tc>
                  <a:txBody>
                    <a:bodyPr wrap="square"/>
                    <a:lstStyle/>
                    <a:p>
                      <a:pPr algn="l"/>
                      <a:r>
                        <a:rPr sz="1100" b="1" i="0">
                          <a:solidFill>
                            <a:srgbClr val="178A73"/>
                          </a:solidFill>
                          <a:latin typeface="Consolas"/>
                        </a:rPr>
                        <a:t>rocky</a:t>
                      </a:r>
                      <a:r>
                        <a:rPr sz="1150" b="1" i="0">
                          <a:solidFill>
                            <a:srgbClr val="202A38"/>
                          </a:solidFill>
                          <a:latin typeface="Times New Roman"/>
                        </a:rPr>
                        <a:t> / </a:t>
                      </a:r>
                      <a:r>
                        <a:rPr sz="1100" b="1" i="0">
                          <a:solidFill>
                            <a:srgbClr val="178A73"/>
                          </a:solidFill>
                          <a:latin typeface="Consolas"/>
                        </a:rPr>
                        <a:t>rhel centos fedora</a:t>
                      </a:r>
                    </a:p>
                  </a:txBody>
                  <a:tcPr marL="63500" marR="63500" marT="25400" marB="25400" anchor="ctr">
                    <a:solidFill>
                      <a:srgbClr val="FFFFFF"/>
                    </a:solidFill>
                  </a:tcPr>
                </a:tc>
                <a:tc>
                  <a:txBody>
                    <a:bodyPr wrap="square"/>
                    <a:lstStyle/>
                    <a:p>
                      <a:pPr algn="l"/>
                      <a:r>
                        <a:rPr sz="1150" b="0" i="0">
                          <a:solidFill>
                            <a:srgbClr val="202A38"/>
                          </a:solidFill>
                          <a:latin typeface="Times New Roman"/>
                        </a:rPr>
                        <a:t>Red Hat · </a:t>
                      </a:r>
                      <a:r>
                        <a:rPr sz="1100" b="1" i="0">
                          <a:solidFill>
                            <a:srgbClr val="178A73"/>
                          </a:solidFill>
                          <a:latin typeface="Consolas"/>
                        </a:rPr>
                        <a:t>dnf</a:t>
                      </a:r>
                    </a:p>
                  </a:txBody>
                  <a:tcPr marL="63500" marR="63500" marT="25400" marB="25400" anchor="ctr">
                    <a:solidFill>
                      <a:srgbClr val="FFFFFF"/>
                    </a:solidFill>
                  </a:tcPr>
                </a:tc>
              </a:tr>
              <a:tr h="347472">
                <a:tc>
                  <a:txBody>
                    <a:bodyPr wrap="square"/>
                    <a:lstStyle/>
                    <a:p>
                      <a:pPr algn="l"/>
                      <a:r>
                        <a:rPr sz="1100" b="1" i="0">
                          <a:solidFill>
                            <a:srgbClr val="178A73"/>
                          </a:solidFill>
                          <a:latin typeface="Consolas"/>
                        </a:rPr>
                        <a:t>alpine</a:t>
                      </a:r>
                      <a:r>
                        <a:rPr sz="1150" b="1" i="0">
                          <a:solidFill>
                            <a:srgbClr val="202A38"/>
                          </a:solidFill>
                          <a:latin typeface="Times New Roman"/>
                        </a:rPr>
                        <a:t> / —</a:t>
                      </a:r>
                    </a:p>
                  </a:txBody>
                  <a:tcPr marL="63500" marR="63500" marT="25400" marB="25400" anchor="ctr">
                    <a:solidFill>
                      <a:srgbClr val="F5F8FC"/>
                    </a:solidFill>
                  </a:tcPr>
                </a:tc>
                <a:tc>
                  <a:txBody>
                    <a:bodyPr wrap="square"/>
                    <a:lstStyle/>
                    <a:p>
                      <a:pPr algn="l"/>
                      <a:r>
                        <a:rPr sz="1150" b="0" i="0">
                          <a:solidFill>
                            <a:srgbClr val="202A38"/>
                          </a:solidFill>
                          <a:latin typeface="Times New Roman"/>
                        </a:rPr>
                        <a:t>Alpine · </a:t>
                      </a:r>
                      <a:r>
                        <a:rPr sz="1100" b="1" i="0">
                          <a:solidFill>
                            <a:srgbClr val="178A73"/>
                          </a:solidFill>
                          <a:latin typeface="Consolas"/>
                        </a:rPr>
                        <a:t>apk</a:t>
                      </a:r>
                      <a:r>
                        <a:rPr sz="1150" b="0" i="0">
                          <a:solidFill>
                            <a:srgbClr val="202A38"/>
                          </a:solidFill>
                          <a:latin typeface="Times New Roman"/>
                        </a:rPr>
                        <a:t> (often Docker)</a:t>
                      </a:r>
                    </a:p>
                  </a:txBody>
                  <a:tcPr marL="63500" marR="63500" marT="25400" marB="25400" anchor="ctr">
                    <a:solidFill>
                      <a:srgbClr val="F5F8FC"/>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QUESTION 1 · TASK 1.3</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1.3 — Resources and the “everything is a file” principle</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16</a:t>
            </a:r>
          </a:p>
        </p:txBody>
      </p:sp>
      <p:graphicFrame>
        <p:nvGraphicFramePr>
          <p:cNvPr id="8" name="Table 7"/>
          <p:cNvGraphicFramePr>
            <a:graphicFrameLocks noGrp="1"/>
          </p:cNvGraphicFramePr>
          <p:nvPr/>
        </p:nvGraphicFramePr>
        <p:xfrm>
          <a:off x="566928" y="1600200"/>
          <a:ext cx="5852160" cy="2523744"/>
        </p:xfrm>
        <a:graphic>
          <a:graphicData uri="http://schemas.openxmlformats.org/drawingml/2006/table">
            <a:tbl>
              <a:tblPr firstRow="1" bandRow="1">
                <a:tableStyleId>{5940675A-B579-460E-94D1-54222C63F5DA}</a:tableStyleId>
              </a:tblPr>
              <a:tblGrid>
                <a:gridCol w="1188720"/>
                <a:gridCol w="2651760"/>
                <a:gridCol w="2011680"/>
              </a:tblGrid>
              <a:tr h="420624">
                <a:tc>
                  <a:txBody>
                    <a:bodyPr wrap="square"/>
                    <a:lstStyle/>
                    <a:p>
                      <a:pPr algn="l"/>
                      <a:r>
                        <a:rPr sz="1200" b="1" i="0">
                          <a:solidFill>
                            <a:srgbClr val="FFFFFF"/>
                          </a:solidFill>
                          <a:latin typeface="Times New Roman"/>
                        </a:rPr>
                        <a:t>Command</a:t>
                      </a:r>
                    </a:p>
                  </a:txBody>
                  <a:tcPr marL="63500" marR="63500" marT="25400" marB="25400" anchor="ctr">
                    <a:solidFill>
                      <a:srgbClr val="1F3864"/>
                    </a:solidFill>
                  </a:tcPr>
                </a:tc>
                <a:tc>
                  <a:txBody>
                    <a:bodyPr wrap="square"/>
                    <a:lstStyle/>
                    <a:p>
                      <a:pPr algn="l"/>
                      <a:r>
                        <a:rPr sz="1200" b="1" i="0">
                          <a:solidFill>
                            <a:srgbClr val="FFFFFF"/>
                          </a:solidFill>
                          <a:latin typeface="Times New Roman"/>
                        </a:rPr>
                        <a:t>Shows</a:t>
                      </a:r>
                    </a:p>
                  </a:txBody>
                  <a:tcPr marL="63500" marR="63500" marT="25400" marB="25400" anchor="ctr">
                    <a:solidFill>
                      <a:srgbClr val="1F3864"/>
                    </a:solidFill>
                  </a:tcPr>
                </a:tc>
                <a:tc>
                  <a:txBody>
                    <a:bodyPr wrap="square"/>
                    <a:lstStyle/>
                    <a:p>
                      <a:pPr algn="l"/>
                      <a:r>
                        <a:rPr sz="1200" b="1" i="0">
                          <a:solidFill>
                            <a:srgbClr val="FFFFFF"/>
                          </a:solidFill>
                          <a:latin typeface="Times New Roman"/>
                        </a:rPr>
                        <a:t>Source (file)</a:t>
                      </a:r>
                    </a:p>
                  </a:txBody>
                  <a:tcPr marL="63500" marR="63500" marT="25400" marB="25400" anchor="ctr">
                    <a:solidFill>
                      <a:srgbClr val="1F3864"/>
                    </a:solidFill>
                  </a:tcPr>
                </a:tc>
              </a:tr>
              <a:tr h="420624">
                <a:tc>
                  <a:txBody>
                    <a:bodyPr wrap="square"/>
                    <a:lstStyle/>
                    <a:p>
                      <a:pPr algn="l"/>
                      <a:r>
                        <a:rPr sz="1150" b="1" i="0">
                          <a:solidFill>
                            <a:srgbClr val="178A73"/>
                          </a:solidFill>
                          <a:latin typeface="Consolas"/>
                        </a:rPr>
                        <a:t>lscpu</a:t>
                      </a:r>
                    </a:p>
                  </a:txBody>
                  <a:tcPr marL="63500" marR="63500" marT="25400" marB="25400" anchor="ctr">
                    <a:solidFill>
                      <a:srgbClr val="FFFFFF"/>
                    </a:solidFill>
                  </a:tcPr>
                </a:tc>
                <a:tc>
                  <a:txBody>
                    <a:bodyPr wrap="square"/>
                    <a:lstStyle/>
                    <a:p>
                      <a:pPr algn="l"/>
                      <a:r>
                        <a:rPr sz="1200" b="0" i="0">
                          <a:solidFill>
                            <a:srgbClr val="202A38"/>
                          </a:solidFill>
                          <a:latin typeface="Times New Roman"/>
                        </a:rPr>
                        <a:t>Processor, number of cores</a:t>
                      </a:r>
                    </a:p>
                  </a:txBody>
                  <a:tcPr marL="63500" marR="63500" marT="25400" marB="25400" anchor="ctr">
                    <a:solidFill>
                      <a:srgbClr val="FFFFFF"/>
                    </a:solidFill>
                  </a:tcPr>
                </a:tc>
                <a:tc>
                  <a:txBody>
                    <a:bodyPr wrap="square"/>
                    <a:lstStyle/>
                    <a:p>
                      <a:pPr algn="l"/>
                      <a:r>
                        <a:rPr sz="1150" b="1" i="0">
                          <a:solidFill>
                            <a:srgbClr val="178A73"/>
                          </a:solidFill>
                          <a:latin typeface="Consolas"/>
                        </a:rPr>
                        <a:t>/proc/cpuinfo</a:t>
                      </a:r>
                    </a:p>
                  </a:txBody>
                  <a:tcPr marL="63500" marR="63500" marT="25400" marB="25400" anchor="ctr">
                    <a:solidFill>
                      <a:srgbClr val="FFFFFF"/>
                    </a:solidFill>
                  </a:tcPr>
                </a:tc>
              </a:tr>
              <a:tr h="420624">
                <a:tc>
                  <a:txBody>
                    <a:bodyPr wrap="square"/>
                    <a:lstStyle/>
                    <a:p>
                      <a:pPr algn="l"/>
                      <a:r>
                        <a:rPr sz="1150" b="1" i="0">
                          <a:solidFill>
                            <a:srgbClr val="178A73"/>
                          </a:solidFill>
                          <a:latin typeface="Consolas"/>
                        </a:rPr>
                        <a:t>free -h</a:t>
                      </a:r>
                    </a:p>
                  </a:txBody>
                  <a:tcPr marL="63500" marR="63500" marT="25400" marB="25400" anchor="ctr">
                    <a:solidFill>
                      <a:srgbClr val="F5F8FC"/>
                    </a:solidFill>
                  </a:tcPr>
                </a:tc>
                <a:tc>
                  <a:txBody>
                    <a:bodyPr wrap="square"/>
                    <a:lstStyle/>
                    <a:p>
                      <a:pPr algn="l"/>
                      <a:r>
                        <a:rPr sz="1200" b="0" i="0">
                          <a:solidFill>
                            <a:srgbClr val="202A38"/>
                          </a:solidFill>
                          <a:latin typeface="Times New Roman"/>
                        </a:rPr>
                        <a:t>RAM, swap</a:t>
                      </a:r>
                    </a:p>
                  </a:txBody>
                  <a:tcPr marL="63500" marR="63500" marT="25400" marB="25400" anchor="ctr">
                    <a:solidFill>
                      <a:srgbClr val="F5F8FC"/>
                    </a:solidFill>
                  </a:tcPr>
                </a:tc>
                <a:tc>
                  <a:txBody>
                    <a:bodyPr wrap="square"/>
                    <a:lstStyle/>
                    <a:p>
                      <a:pPr algn="l"/>
                      <a:r>
                        <a:rPr sz="1150" b="1" i="0">
                          <a:solidFill>
                            <a:srgbClr val="178A73"/>
                          </a:solidFill>
                          <a:latin typeface="Consolas"/>
                        </a:rPr>
                        <a:t>/proc/meminfo</a:t>
                      </a:r>
                    </a:p>
                  </a:txBody>
                  <a:tcPr marL="63500" marR="63500" marT="25400" marB="25400" anchor="ctr">
                    <a:solidFill>
                      <a:srgbClr val="F5F8FC"/>
                    </a:solidFill>
                  </a:tcPr>
                </a:tc>
              </a:tr>
              <a:tr h="420624">
                <a:tc>
                  <a:txBody>
                    <a:bodyPr wrap="square"/>
                    <a:lstStyle/>
                    <a:p>
                      <a:pPr algn="l"/>
                      <a:r>
                        <a:rPr sz="1150" b="1" i="0">
                          <a:solidFill>
                            <a:srgbClr val="178A73"/>
                          </a:solidFill>
                          <a:latin typeface="Consolas"/>
                        </a:rPr>
                        <a:t>uptime</a:t>
                      </a:r>
                    </a:p>
                  </a:txBody>
                  <a:tcPr marL="63500" marR="63500" marT="25400" marB="25400" anchor="ctr">
                    <a:solidFill>
                      <a:srgbClr val="FFFFFF"/>
                    </a:solidFill>
                  </a:tcPr>
                </a:tc>
                <a:tc>
                  <a:txBody>
                    <a:bodyPr wrap="square"/>
                    <a:lstStyle/>
                    <a:p>
                      <a:pPr algn="l"/>
                      <a:r>
                        <a:rPr sz="1200" b="0" i="0">
                          <a:solidFill>
                            <a:srgbClr val="202A38"/>
                          </a:solidFill>
                          <a:latin typeface="Times New Roman"/>
                        </a:rPr>
                        <a:t>How long it has been running</a:t>
                      </a:r>
                    </a:p>
                  </a:txBody>
                  <a:tcPr marL="63500" marR="63500" marT="25400" marB="25400" anchor="ctr">
                    <a:solidFill>
                      <a:srgbClr val="FFFFFF"/>
                    </a:solidFill>
                  </a:tcPr>
                </a:tc>
                <a:tc>
                  <a:txBody>
                    <a:bodyPr wrap="square"/>
                    <a:lstStyle/>
                    <a:p>
                      <a:pPr algn="l"/>
                      <a:r>
                        <a:rPr sz="1150" b="1" i="0">
                          <a:solidFill>
                            <a:srgbClr val="178A73"/>
                          </a:solidFill>
                          <a:latin typeface="Consolas"/>
                        </a:rPr>
                        <a:t>/proc/uptime</a:t>
                      </a:r>
                    </a:p>
                  </a:txBody>
                  <a:tcPr marL="63500" marR="63500" marT="25400" marB="25400" anchor="ctr">
                    <a:solidFill>
                      <a:srgbClr val="FFFFFF"/>
                    </a:solidFill>
                  </a:tcPr>
                </a:tc>
              </a:tr>
              <a:tr h="420624">
                <a:tc>
                  <a:txBody>
                    <a:bodyPr wrap="square"/>
                    <a:lstStyle/>
                    <a:p>
                      <a:pPr algn="l"/>
                      <a:r>
                        <a:rPr sz="1150" b="1" i="0">
                          <a:solidFill>
                            <a:srgbClr val="178A73"/>
                          </a:solidFill>
                          <a:latin typeface="Consolas"/>
                        </a:rPr>
                        <a:t>lsblk</a:t>
                      </a:r>
                    </a:p>
                  </a:txBody>
                  <a:tcPr marL="63500" marR="63500" marT="25400" marB="25400" anchor="ctr">
                    <a:solidFill>
                      <a:srgbClr val="F5F8FC"/>
                    </a:solidFill>
                  </a:tcPr>
                </a:tc>
                <a:tc>
                  <a:txBody>
                    <a:bodyPr wrap="square"/>
                    <a:lstStyle/>
                    <a:p>
                      <a:pPr algn="l"/>
                      <a:r>
                        <a:rPr sz="1200" b="0" i="0">
                          <a:solidFill>
                            <a:srgbClr val="202A38"/>
                          </a:solidFill>
                          <a:latin typeface="Times New Roman"/>
                        </a:rPr>
                        <a:t>Disks and partitions</a:t>
                      </a:r>
                    </a:p>
                  </a:txBody>
                  <a:tcPr marL="63500" marR="63500" marT="25400" marB="25400" anchor="ctr">
                    <a:solidFill>
                      <a:srgbClr val="F5F8FC"/>
                    </a:solidFill>
                  </a:tcPr>
                </a:tc>
                <a:tc>
                  <a:txBody>
                    <a:bodyPr wrap="square"/>
                    <a:lstStyle/>
                    <a:p>
                      <a:pPr algn="l"/>
                      <a:r>
                        <a:rPr sz="1150" b="1" i="0">
                          <a:solidFill>
                            <a:srgbClr val="178A73"/>
                          </a:solidFill>
                          <a:latin typeface="Consolas"/>
                        </a:rPr>
                        <a:t>/dev/sd*</a:t>
                      </a:r>
                    </a:p>
                  </a:txBody>
                  <a:tcPr marL="63500" marR="63500" marT="25400" marB="25400" anchor="ctr">
                    <a:solidFill>
                      <a:srgbClr val="F5F8FC"/>
                    </a:solidFill>
                  </a:tcPr>
                </a:tc>
              </a:tr>
              <a:tr h="420624">
                <a:tc>
                  <a:txBody>
                    <a:bodyPr wrap="square"/>
                    <a:lstStyle/>
                    <a:p>
                      <a:pPr algn="l"/>
                      <a:r>
                        <a:rPr sz="1150" b="1" i="0">
                          <a:solidFill>
                            <a:srgbClr val="178A73"/>
                          </a:solidFill>
                          <a:latin typeface="Consolas"/>
                        </a:rPr>
                        <a:t>df -h</a:t>
                      </a:r>
                    </a:p>
                  </a:txBody>
                  <a:tcPr marL="63500" marR="63500" marT="25400" marB="25400" anchor="ctr">
                    <a:solidFill>
                      <a:srgbClr val="FFFFFF"/>
                    </a:solidFill>
                  </a:tcPr>
                </a:tc>
                <a:tc>
                  <a:txBody>
                    <a:bodyPr wrap="square"/>
                    <a:lstStyle/>
                    <a:p>
                      <a:pPr algn="l"/>
                      <a:r>
                        <a:rPr sz="1200" b="0" i="0">
                          <a:solidFill>
                            <a:srgbClr val="202A38"/>
                          </a:solidFill>
                          <a:latin typeface="Times New Roman"/>
                        </a:rPr>
                        <a:t>Free space on partitions</a:t>
                      </a:r>
                    </a:p>
                  </a:txBody>
                  <a:tcPr marL="63500" marR="63500" marT="25400" marB="25400" anchor="ctr">
                    <a:solidFill>
                      <a:srgbClr val="FFFFFF"/>
                    </a:solidFill>
                  </a:tcPr>
                </a:tc>
                <a:tc>
                  <a:txBody>
                    <a:bodyPr wrap="square"/>
                    <a:lstStyle/>
                    <a:p>
                      <a:pPr algn="l"/>
                      <a:r>
                        <a:rPr sz="1200" b="0" i="0">
                          <a:solidFill>
                            <a:srgbClr val="202A38"/>
                          </a:solidFill>
                          <a:latin typeface="Times New Roman"/>
                        </a:rPr>
                        <a:t>mounted file systems</a:t>
                      </a:r>
                    </a:p>
                  </a:txBody>
                  <a:tcPr marL="63500" marR="63500" marT="25400" marB="25400" anchor="ctr">
                    <a:solidFill>
                      <a:srgbClr val="FFFFFF"/>
                    </a:solidFill>
                  </a:tcPr>
                </a:tc>
              </a:tr>
            </a:tbl>
          </a:graphicData>
        </a:graphic>
      </p:graphicFrame>
      <p:sp>
        <p:nvSpPr>
          <p:cNvPr id="9" name="TextBox 8"/>
          <p:cNvSpPr txBox="1"/>
          <p:nvPr/>
        </p:nvSpPr>
        <p:spPr>
          <a:xfrm>
            <a:off x="566928" y="4297680"/>
            <a:ext cx="585216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1F3864"/>
                </a:solidFill>
                <a:latin typeface="Times New Roman"/>
              </a:rPr>
              <a:t>Do it:</a:t>
            </a:r>
          </a:p>
        </p:txBody>
      </p:sp>
      <p:sp>
        <p:nvSpPr>
          <p:cNvPr id="10" name="TextBox 9"/>
          <p:cNvSpPr txBox="1"/>
          <p:nvPr/>
        </p:nvSpPr>
        <p:spPr>
          <a:xfrm>
            <a:off x="566928" y="4572000"/>
            <a:ext cx="5852160" cy="1280160"/>
          </a:xfrm>
          <a:prstGeom prst="rect">
            <a:avLst/>
          </a:prstGeom>
          <a:noFill/>
        </p:spPr>
        <p:txBody>
          <a:bodyPr wrap="square" anchor="t" lIns="0" rIns="0" tIns="0" bIns="0">
            <a:spAutoFit/>
          </a:bodyPr>
          <a:lstStyle/>
          <a:p>
            <a:pPr algn="l">
              <a:lnSpc>
                <a:spcPct val="110000"/>
              </a:lnSpc>
              <a:spcAft>
                <a:spcPts val="600"/>
              </a:spcAft>
            </a:pPr>
            <a:r>
              <a:rPr sz="1250" b="1">
                <a:solidFill>
                  <a:srgbClr val="178A73"/>
                </a:solidFill>
                <a:latin typeface="Times New Roman"/>
              </a:rPr>
              <a:t>▸  </a:t>
            </a:r>
            <a:r>
              <a:rPr sz="1200" b="1" i="0">
                <a:solidFill>
                  <a:srgbClr val="178A73"/>
                </a:solidFill>
                <a:latin typeface="Consolas"/>
              </a:rPr>
              <a:t>free -h</a:t>
            </a:r>
            <a:r>
              <a:rPr sz="1250" b="0" i="0">
                <a:solidFill>
                  <a:srgbClr val="202A38"/>
                </a:solidFill>
                <a:latin typeface="Times New Roman"/>
              </a:rPr>
              <a:t>, </a:t>
            </a:r>
            <a:r>
              <a:rPr sz="1200" b="1" i="0">
                <a:solidFill>
                  <a:srgbClr val="178A73"/>
                </a:solidFill>
                <a:latin typeface="Consolas"/>
              </a:rPr>
              <a:t>lsblk</a:t>
            </a:r>
            <a:r>
              <a:rPr sz="1250" b="0" i="0">
                <a:solidFill>
                  <a:srgbClr val="202A38"/>
                </a:solidFill>
                <a:latin typeface="Times New Roman"/>
              </a:rPr>
              <a:t>, </a:t>
            </a:r>
            <a:r>
              <a:rPr sz="1200" b="1" i="0">
                <a:solidFill>
                  <a:srgbClr val="178A73"/>
                </a:solidFill>
                <a:latin typeface="Consolas"/>
              </a:rPr>
              <a:t>df -h</a:t>
            </a:r>
            <a:r>
              <a:rPr sz="1250" b="0" i="0">
                <a:solidFill>
                  <a:srgbClr val="202A38"/>
                </a:solidFill>
                <a:latin typeface="Times New Roman"/>
              </a:rPr>
              <a:t> — write down the results</a:t>
            </a:r>
          </a:p>
          <a:p>
            <a:pPr algn="l">
              <a:lnSpc>
                <a:spcPct val="110000"/>
              </a:lnSpc>
              <a:spcAft>
                <a:spcPts val="600"/>
              </a:spcAft>
            </a:pPr>
            <a:r>
              <a:rPr sz="1250" b="1">
                <a:solidFill>
                  <a:srgbClr val="178A73"/>
                </a:solidFill>
                <a:latin typeface="Times New Roman"/>
              </a:rPr>
              <a:t>▸  </a:t>
            </a:r>
            <a:r>
              <a:rPr sz="1200" b="1" i="0">
                <a:solidFill>
                  <a:srgbClr val="178A73"/>
                </a:solidFill>
                <a:latin typeface="Consolas"/>
              </a:rPr>
              <a:t>cat /proc/meminfo</a:t>
            </a:r>
            <a:r>
              <a:rPr sz="1250" b="0" i="0">
                <a:solidFill>
                  <a:srgbClr val="202A38"/>
                </a:solidFill>
                <a:latin typeface="Times New Roman"/>
              </a:rPr>
              <a:t> — the same info, but from a file</a:t>
            </a:r>
          </a:p>
          <a:p>
            <a:pPr algn="l">
              <a:lnSpc>
                <a:spcPct val="110000"/>
              </a:lnSpc>
              <a:spcAft>
                <a:spcPts val="600"/>
              </a:spcAft>
            </a:pPr>
            <a:r>
              <a:rPr sz="1250" b="1">
                <a:solidFill>
                  <a:srgbClr val="178A73"/>
                </a:solidFill>
                <a:latin typeface="Times New Roman"/>
              </a:rPr>
              <a:t>▸  </a:t>
            </a:r>
            <a:r>
              <a:rPr sz="1200" b="1" i="0">
                <a:solidFill>
                  <a:srgbClr val="178A73"/>
                </a:solidFill>
                <a:latin typeface="Consolas"/>
              </a:rPr>
              <a:t>ls /dev</a:t>
            </a:r>
            <a:r>
              <a:rPr sz="1250" b="0" i="0">
                <a:solidFill>
                  <a:srgbClr val="202A38"/>
                </a:solidFill>
                <a:latin typeface="Times New Roman"/>
              </a:rPr>
              <a:t> — find </a:t>
            </a:r>
            <a:r>
              <a:rPr sz="1200" b="1" i="0">
                <a:solidFill>
                  <a:srgbClr val="178A73"/>
                </a:solidFill>
                <a:latin typeface="Consolas"/>
              </a:rPr>
              <a:t>sda</a:t>
            </a:r>
            <a:r>
              <a:rPr sz="1250" b="0" i="0">
                <a:solidFill>
                  <a:srgbClr val="202A38"/>
                </a:solidFill>
                <a:latin typeface="Times New Roman"/>
              </a:rPr>
              <a:t>, </a:t>
            </a:r>
            <a:r>
              <a:rPr sz="1200" b="1" i="0">
                <a:solidFill>
                  <a:srgbClr val="178A73"/>
                </a:solidFill>
                <a:latin typeface="Consolas"/>
              </a:rPr>
              <a:t>sda1</a:t>
            </a:r>
            <a:r>
              <a:rPr sz="1250" b="0" i="0">
                <a:solidFill>
                  <a:srgbClr val="202A38"/>
                </a:solidFill>
                <a:latin typeface="Times New Roman"/>
              </a:rPr>
              <a:t>, </a:t>
            </a:r>
            <a:r>
              <a:rPr sz="1200" b="1" i="0">
                <a:solidFill>
                  <a:srgbClr val="178A73"/>
                </a:solidFill>
                <a:latin typeface="Consolas"/>
              </a:rPr>
              <a:t>null</a:t>
            </a:r>
            <a:r>
              <a:rPr sz="1250" b="0" i="0">
                <a:solidFill>
                  <a:srgbClr val="202A38"/>
                </a:solidFill>
                <a:latin typeface="Times New Roman"/>
              </a:rPr>
              <a:t>, </a:t>
            </a:r>
            <a:r>
              <a:rPr sz="1200" b="1" i="0">
                <a:solidFill>
                  <a:srgbClr val="178A73"/>
                </a:solidFill>
                <a:latin typeface="Consolas"/>
              </a:rPr>
              <a:t>random</a:t>
            </a:r>
            <a:r>
              <a:rPr sz="1250" b="0" i="0">
                <a:solidFill>
                  <a:srgbClr val="202A38"/>
                </a:solidFill>
                <a:latin typeface="Times New Roman"/>
              </a:rPr>
              <a:t>, </a:t>
            </a:r>
            <a:r>
              <a:rPr sz="1200" b="1" i="0">
                <a:solidFill>
                  <a:srgbClr val="178A73"/>
                </a:solidFill>
                <a:latin typeface="Consolas"/>
              </a:rPr>
              <a:t>tty</a:t>
            </a:r>
          </a:p>
        </p:txBody>
      </p:sp>
      <p:sp>
        <p:nvSpPr>
          <p:cNvPr id="11" name="TextBox 10"/>
          <p:cNvSpPr txBox="1"/>
          <p:nvPr/>
        </p:nvSpPr>
        <p:spPr>
          <a:xfrm>
            <a:off x="566928" y="5897880"/>
            <a:ext cx="5852160" cy="365760"/>
          </a:xfrm>
          <a:prstGeom prst="rect">
            <a:avLst/>
          </a:prstGeom>
          <a:noFill/>
        </p:spPr>
        <p:txBody>
          <a:bodyPr wrap="square" anchor="t" lIns="0" rIns="0" tIns="0" bIns="0">
            <a:spAutoFit/>
          </a:bodyPr>
          <a:lstStyle/>
          <a:p>
            <a:pPr algn="l">
              <a:lnSpc>
                <a:spcPct val="110000"/>
              </a:lnSpc>
              <a:spcAft>
                <a:spcPts val="300"/>
              </a:spcAft>
            </a:pPr>
            <a:r>
              <a:rPr sz="1150" b="0" i="1">
                <a:solidFill>
                  <a:srgbClr val="54647A"/>
                </a:solidFill>
                <a:latin typeface="Times New Roman"/>
              </a:rPr>
              <a:t>Screenshot 1.3: </a:t>
            </a:r>
            <a:r>
              <a:rPr sz="1100" b="1" i="0">
                <a:solidFill>
                  <a:srgbClr val="178A73"/>
                </a:solidFill>
                <a:latin typeface="Consolas"/>
              </a:rPr>
              <a:t>free -h</a:t>
            </a:r>
            <a:r>
              <a:rPr sz="1150" b="0" i="1">
                <a:solidFill>
                  <a:srgbClr val="54647A"/>
                </a:solidFill>
                <a:latin typeface="Times New Roman"/>
              </a:rPr>
              <a:t>, </a:t>
            </a:r>
            <a:r>
              <a:rPr sz="1100" b="1" i="0">
                <a:solidFill>
                  <a:srgbClr val="178A73"/>
                </a:solidFill>
                <a:latin typeface="Consolas"/>
              </a:rPr>
              <a:t>lsblk</a:t>
            </a:r>
            <a:r>
              <a:rPr sz="1150" b="0" i="1">
                <a:solidFill>
                  <a:srgbClr val="54647A"/>
                </a:solidFill>
                <a:latin typeface="Times New Roman"/>
              </a:rPr>
              <a:t> and </a:t>
            </a:r>
            <a:r>
              <a:rPr sz="1100" b="1" i="0">
                <a:solidFill>
                  <a:srgbClr val="178A73"/>
                </a:solidFill>
                <a:latin typeface="Consolas"/>
              </a:rPr>
              <a:t>ls /dev</a:t>
            </a:r>
          </a:p>
        </p:txBody>
      </p:sp>
      <p:sp>
        <p:nvSpPr>
          <p:cNvPr id="12" name="TextBox 11"/>
          <p:cNvSpPr txBox="1"/>
          <p:nvPr/>
        </p:nvSpPr>
        <p:spPr>
          <a:xfrm>
            <a:off x="6675120" y="1554480"/>
            <a:ext cx="4937760" cy="274320"/>
          </a:xfrm>
          <a:prstGeom prst="rect">
            <a:avLst/>
          </a:prstGeom>
          <a:noFill/>
        </p:spPr>
        <p:txBody>
          <a:bodyPr wrap="square" anchor="t" lIns="0" rIns="0" tIns="0" bIns="0">
            <a:spAutoFit/>
          </a:bodyPr>
          <a:lstStyle/>
          <a:p>
            <a:pPr algn="l">
              <a:lnSpc>
                <a:spcPct val="110000"/>
              </a:lnSpc>
              <a:spcAft>
                <a:spcPts val="300"/>
              </a:spcAft>
            </a:pPr>
            <a:r>
              <a:rPr sz="1350" b="1" i="0">
                <a:solidFill>
                  <a:srgbClr val="1F3864"/>
                </a:solidFill>
                <a:latin typeface="Times New Roman"/>
              </a:rPr>
              <a:t>In Linux everything is a file</a:t>
            </a:r>
          </a:p>
        </p:txBody>
      </p:sp>
      <p:sp>
        <p:nvSpPr>
          <p:cNvPr id="13" name="Rounded Rectangle 12"/>
          <p:cNvSpPr/>
          <p:nvPr/>
        </p:nvSpPr>
        <p:spPr>
          <a:xfrm>
            <a:off x="8229600" y="1920240"/>
            <a:ext cx="1828800" cy="548640"/>
          </a:xfrm>
          <a:prstGeom prst="roundRect">
            <a:avLst>
              <a:gd name="adj" fmla="val 12000"/>
            </a:avLst>
          </a:prstGeom>
          <a:solidFill>
            <a:srgbClr val="122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2000" b="1" i="0">
                <a:solidFill>
                  <a:srgbClr val="FFFFFF"/>
                </a:solidFill>
                <a:latin typeface="Times New Roman"/>
              </a:rPr>
              <a:t>/</a:t>
            </a:r>
          </a:p>
        </p:txBody>
      </p:sp>
      <p:sp>
        <p:nvSpPr>
          <p:cNvPr id="14" name="Rounded Rectangle 13"/>
          <p:cNvSpPr/>
          <p:nvPr/>
        </p:nvSpPr>
        <p:spPr>
          <a:xfrm>
            <a:off x="6675120" y="2743200"/>
            <a:ext cx="4937760" cy="60350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766560" y="2816352"/>
            <a:ext cx="457200" cy="45720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ile_FFFFFF.png"/>
          <p:cNvPicPr>
            <a:picLocks noChangeAspect="1"/>
          </p:cNvPicPr>
          <p:nvPr/>
        </p:nvPicPr>
        <p:blipFill>
          <a:blip r:embed="rId3"/>
          <a:stretch>
            <a:fillRect/>
          </a:stretch>
        </p:blipFill>
        <p:spPr>
          <a:xfrm>
            <a:off x="6880860" y="2930652"/>
            <a:ext cx="228600" cy="228600"/>
          </a:xfrm>
          <a:prstGeom prst="rect">
            <a:avLst/>
          </a:prstGeom>
        </p:spPr>
      </p:pic>
      <p:sp>
        <p:nvSpPr>
          <p:cNvPr id="17" name="TextBox 16"/>
          <p:cNvSpPr txBox="1"/>
          <p:nvPr/>
        </p:nvSpPr>
        <p:spPr>
          <a:xfrm>
            <a:off x="7360920" y="2743200"/>
            <a:ext cx="2651760" cy="603504"/>
          </a:xfrm>
          <a:prstGeom prst="rect">
            <a:avLst/>
          </a:prstGeom>
          <a:noFill/>
        </p:spPr>
        <p:txBody>
          <a:bodyPr wrap="square" anchor="ctr" lIns="0" rIns="0" tIns="0" bIns="0">
            <a:spAutoFit/>
          </a:bodyPr>
          <a:lstStyle/>
          <a:p>
            <a:pPr algn="l">
              <a:lnSpc>
                <a:spcPct val="110000"/>
              </a:lnSpc>
              <a:spcAft>
                <a:spcPts val="300"/>
              </a:spcAft>
            </a:pPr>
            <a:r>
              <a:rPr sz="1200" b="1" i="0">
                <a:solidFill>
                  <a:srgbClr val="178A73"/>
                </a:solidFill>
                <a:latin typeface="Consolas"/>
              </a:rPr>
              <a:t>/home/kali/report.txt</a:t>
            </a:r>
          </a:p>
        </p:txBody>
      </p:sp>
      <p:sp>
        <p:nvSpPr>
          <p:cNvPr id="18" name="TextBox 17"/>
          <p:cNvSpPr txBox="1"/>
          <p:nvPr/>
        </p:nvSpPr>
        <p:spPr>
          <a:xfrm>
            <a:off x="9829800" y="2743200"/>
            <a:ext cx="1737360" cy="603504"/>
          </a:xfrm>
          <a:prstGeom prst="rect">
            <a:avLst/>
          </a:prstGeom>
          <a:noFill/>
        </p:spPr>
        <p:txBody>
          <a:bodyPr wrap="square" anchor="ctr" lIns="0" rIns="0" tIns="0" bIns="0">
            <a:spAutoFit/>
          </a:bodyPr>
          <a:lstStyle/>
          <a:p>
            <a:pPr algn="l">
              <a:lnSpc>
                <a:spcPct val="110000"/>
              </a:lnSpc>
              <a:spcAft>
                <a:spcPts val="300"/>
              </a:spcAft>
            </a:pPr>
            <a:r>
              <a:rPr sz="1150" b="0" i="1">
                <a:solidFill>
                  <a:srgbClr val="54647A"/>
                </a:solidFill>
                <a:latin typeface="Times New Roman"/>
              </a:rPr>
              <a:t>ordinary document</a:t>
            </a:r>
          </a:p>
        </p:txBody>
      </p:sp>
      <p:sp>
        <p:nvSpPr>
          <p:cNvPr id="19" name="Rounded Rectangle 18"/>
          <p:cNvSpPr/>
          <p:nvPr/>
        </p:nvSpPr>
        <p:spPr>
          <a:xfrm>
            <a:off x="6675120" y="3456432"/>
            <a:ext cx="4937760" cy="60350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766560" y="3529584"/>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hdd_FFFFFF.png"/>
          <p:cNvPicPr>
            <a:picLocks noChangeAspect="1"/>
          </p:cNvPicPr>
          <p:nvPr/>
        </p:nvPicPr>
        <p:blipFill>
          <a:blip r:embed="rId4"/>
          <a:stretch>
            <a:fillRect/>
          </a:stretch>
        </p:blipFill>
        <p:spPr>
          <a:xfrm>
            <a:off x="6880860" y="3643884"/>
            <a:ext cx="228600" cy="228600"/>
          </a:xfrm>
          <a:prstGeom prst="rect">
            <a:avLst/>
          </a:prstGeom>
        </p:spPr>
      </p:pic>
      <p:sp>
        <p:nvSpPr>
          <p:cNvPr id="22" name="TextBox 21"/>
          <p:cNvSpPr txBox="1"/>
          <p:nvPr/>
        </p:nvSpPr>
        <p:spPr>
          <a:xfrm>
            <a:off x="7360920" y="3456432"/>
            <a:ext cx="2651760" cy="603504"/>
          </a:xfrm>
          <a:prstGeom prst="rect">
            <a:avLst/>
          </a:prstGeom>
          <a:noFill/>
        </p:spPr>
        <p:txBody>
          <a:bodyPr wrap="square" anchor="ctr" lIns="0" rIns="0" tIns="0" bIns="0">
            <a:spAutoFit/>
          </a:bodyPr>
          <a:lstStyle/>
          <a:p>
            <a:pPr algn="l">
              <a:lnSpc>
                <a:spcPct val="110000"/>
              </a:lnSpc>
              <a:spcAft>
                <a:spcPts val="300"/>
              </a:spcAft>
            </a:pPr>
            <a:r>
              <a:rPr sz="1200" b="1" i="0">
                <a:solidFill>
                  <a:srgbClr val="1F3864"/>
                </a:solidFill>
                <a:latin typeface="Consolas"/>
              </a:rPr>
              <a:t>/dev/sda</a:t>
            </a:r>
          </a:p>
        </p:txBody>
      </p:sp>
      <p:sp>
        <p:nvSpPr>
          <p:cNvPr id="23" name="TextBox 22"/>
          <p:cNvSpPr txBox="1"/>
          <p:nvPr/>
        </p:nvSpPr>
        <p:spPr>
          <a:xfrm>
            <a:off x="9829800" y="3456432"/>
            <a:ext cx="1737360" cy="603504"/>
          </a:xfrm>
          <a:prstGeom prst="rect">
            <a:avLst/>
          </a:prstGeom>
          <a:noFill/>
        </p:spPr>
        <p:txBody>
          <a:bodyPr wrap="square" anchor="ctr" lIns="0" rIns="0" tIns="0" bIns="0">
            <a:spAutoFit/>
          </a:bodyPr>
          <a:lstStyle/>
          <a:p>
            <a:pPr algn="l">
              <a:lnSpc>
                <a:spcPct val="110000"/>
              </a:lnSpc>
              <a:spcAft>
                <a:spcPts val="300"/>
              </a:spcAft>
            </a:pPr>
            <a:r>
              <a:rPr sz="1150" b="0" i="1">
                <a:solidFill>
                  <a:srgbClr val="54647A"/>
                </a:solidFill>
                <a:latin typeface="Times New Roman"/>
              </a:rPr>
              <a:t>the whole disk</a:t>
            </a:r>
          </a:p>
        </p:txBody>
      </p:sp>
      <p:sp>
        <p:nvSpPr>
          <p:cNvPr id="24" name="Rounded Rectangle 23"/>
          <p:cNvSpPr/>
          <p:nvPr/>
        </p:nvSpPr>
        <p:spPr>
          <a:xfrm>
            <a:off x="6675120" y="4169664"/>
            <a:ext cx="4937760" cy="60350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766560" y="4242816"/>
            <a:ext cx="457200" cy="457200"/>
          </a:xfrm>
          <a:prstGeom prst="ellipse">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cpu_FFFFFF.png"/>
          <p:cNvPicPr>
            <a:picLocks noChangeAspect="1"/>
          </p:cNvPicPr>
          <p:nvPr/>
        </p:nvPicPr>
        <p:blipFill>
          <a:blip r:embed="rId5"/>
          <a:stretch>
            <a:fillRect/>
          </a:stretch>
        </p:blipFill>
        <p:spPr>
          <a:xfrm>
            <a:off x="6880860" y="4357116"/>
            <a:ext cx="228600" cy="228600"/>
          </a:xfrm>
          <a:prstGeom prst="rect">
            <a:avLst/>
          </a:prstGeom>
        </p:spPr>
      </p:pic>
      <p:sp>
        <p:nvSpPr>
          <p:cNvPr id="27" name="TextBox 26"/>
          <p:cNvSpPr txBox="1"/>
          <p:nvPr/>
        </p:nvSpPr>
        <p:spPr>
          <a:xfrm>
            <a:off x="7360920" y="4169664"/>
            <a:ext cx="2651760" cy="603504"/>
          </a:xfrm>
          <a:prstGeom prst="rect">
            <a:avLst/>
          </a:prstGeom>
          <a:noFill/>
        </p:spPr>
        <p:txBody>
          <a:bodyPr wrap="square" anchor="ctr" lIns="0" rIns="0" tIns="0" bIns="0">
            <a:spAutoFit/>
          </a:bodyPr>
          <a:lstStyle/>
          <a:p>
            <a:pPr algn="l">
              <a:lnSpc>
                <a:spcPct val="110000"/>
              </a:lnSpc>
              <a:spcAft>
                <a:spcPts val="300"/>
              </a:spcAft>
            </a:pPr>
            <a:r>
              <a:rPr sz="1200" b="1" i="0">
                <a:solidFill>
                  <a:srgbClr val="E08E1D"/>
                </a:solidFill>
                <a:latin typeface="Consolas"/>
              </a:rPr>
              <a:t>/proc/meminfo</a:t>
            </a:r>
          </a:p>
        </p:txBody>
      </p:sp>
      <p:sp>
        <p:nvSpPr>
          <p:cNvPr id="28" name="TextBox 27"/>
          <p:cNvSpPr txBox="1"/>
          <p:nvPr/>
        </p:nvSpPr>
        <p:spPr>
          <a:xfrm>
            <a:off x="9829800" y="4169664"/>
            <a:ext cx="1737360" cy="603504"/>
          </a:xfrm>
          <a:prstGeom prst="rect">
            <a:avLst/>
          </a:prstGeom>
          <a:noFill/>
        </p:spPr>
        <p:txBody>
          <a:bodyPr wrap="square" anchor="ctr" lIns="0" rIns="0" tIns="0" bIns="0">
            <a:spAutoFit/>
          </a:bodyPr>
          <a:lstStyle/>
          <a:p>
            <a:pPr algn="l">
              <a:lnSpc>
                <a:spcPct val="110000"/>
              </a:lnSpc>
              <a:spcAft>
                <a:spcPts val="300"/>
              </a:spcAft>
            </a:pPr>
            <a:r>
              <a:rPr sz="1150" b="0" i="1">
                <a:solidFill>
                  <a:srgbClr val="54647A"/>
                </a:solidFill>
                <a:latin typeface="Times New Roman"/>
              </a:rPr>
              <a:t>memory state (virtual)</a:t>
            </a:r>
          </a:p>
        </p:txBody>
      </p:sp>
      <p:sp>
        <p:nvSpPr>
          <p:cNvPr id="29" name="Rounded Rectangle 28"/>
          <p:cNvSpPr/>
          <p:nvPr/>
        </p:nvSpPr>
        <p:spPr>
          <a:xfrm>
            <a:off x="6675120" y="4882896"/>
            <a:ext cx="4937760" cy="60350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66560" y="4956048"/>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trash_FFFFFF.png"/>
          <p:cNvPicPr>
            <a:picLocks noChangeAspect="1"/>
          </p:cNvPicPr>
          <p:nvPr/>
        </p:nvPicPr>
        <p:blipFill>
          <a:blip r:embed="rId6"/>
          <a:stretch>
            <a:fillRect/>
          </a:stretch>
        </p:blipFill>
        <p:spPr>
          <a:xfrm>
            <a:off x="6880860" y="5070348"/>
            <a:ext cx="228600" cy="228600"/>
          </a:xfrm>
          <a:prstGeom prst="rect">
            <a:avLst/>
          </a:prstGeom>
        </p:spPr>
      </p:pic>
      <p:sp>
        <p:nvSpPr>
          <p:cNvPr id="32" name="TextBox 31"/>
          <p:cNvSpPr txBox="1"/>
          <p:nvPr/>
        </p:nvSpPr>
        <p:spPr>
          <a:xfrm>
            <a:off x="7360920" y="4882896"/>
            <a:ext cx="2651760" cy="603504"/>
          </a:xfrm>
          <a:prstGeom prst="rect">
            <a:avLst/>
          </a:prstGeom>
          <a:noFill/>
        </p:spPr>
        <p:txBody>
          <a:bodyPr wrap="square" anchor="ctr" lIns="0" rIns="0" tIns="0" bIns="0">
            <a:spAutoFit/>
          </a:bodyPr>
          <a:lstStyle/>
          <a:p>
            <a:pPr algn="l">
              <a:lnSpc>
                <a:spcPct val="110000"/>
              </a:lnSpc>
              <a:spcAft>
                <a:spcPts val="300"/>
              </a:spcAft>
            </a:pPr>
            <a:r>
              <a:rPr sz="1200" b="1" i="0">
                <a:solidFill>
                  <a:srgbClr val="C0392B"/>
                </a:solidFill>
                <a:latin typeface="Consolas"/>
              </a:rPr>
              <a:t>/dev/null</a:t>
            </a:r>
          </a:p>
        </p:txBody>
      </p:sp>
      <p:sp>
        <p:nvSpPr>
          <p:cNvPr id="33" name="TextBox 32"/>
          <p:cNvSpPr txBox="1"/>
          <p:nvPr/>
        </p:nvSpPr>
        <p:spPr>
          <a:xfrm>
            <a:off x="9829800" y="4882896"/>
            <a:ext cx="1737360" cy="603504"/>
          </a:xfrm>
          <a:prstGeom prst="rect">
            <a:avLst/>
          </a:prstGeom>
          <a:noFill/>
        </p:spPr>
        <p:txBody>
          <a:bodyPr wrap="square" anchor="ctr" lIns="0" rIns="0" tIns="0" bIns="0">
            <a:spAutoFit/>
          </a:bodyPr>
          <a:lstStyle/>
          <a:p>
            <a:pPr algn="l">
              <a:lnSpc>
                <a:spcPct val="110000"/>
              </a:lnSpc>
              <a:spcAft>
                <a:spcPts val="300"/>
              </a:spcAft>
            </a:pPr>
            <a:r>
              <a:rPr sz="1150" b="0" i="1">
                <a:solidFill>
                  <a:srgbClr val="54647A"/>
                </a:solidFill>
                <a:latin typeface="Times New Roman"/>
              </a:rPr>
              <a:t>the “black hole”</a:t>
            </a:r>
          </a:p>
        </p:txBody>
      </p:sp>
      <p:sp>
        <p:nvSpPr>
          <p:cNvPr id="34" name="Rounded Rectangle 33"/>
          <p:cNvSpPr/>
          <p:nvPr/>
        </p:nvSpPr>
        <p:spPr>
          <a:xfrm>
            <a:off x="6675120" y="5669280"/>
            <a:ext cx="4937760" cy="621792"/>
          </a:xfrm>
          <a:prstGeom prst="roundRect">
            <a:avLst>
              <a:gd name="adj" fmla="val 8000"/>
            </a:avLst>
          </a:prstGeom>
          <a:solidFill>
            <a:srgbClr val="FFF6E5"/>
          </a:solidFill>
          <a:ln w="15875">
            <a:solidFill>
              <a:srgbClr val="E08E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warning_E08E1D.png"/>
          <p:cNvPicPr>
            <a:picLocks noChangeAspect="1"/>
          </p:cNvPicPr>
          <p:nvPr/>
        </p:nvPicPr>
        <p:blipFill>
          <a:blip r:embed="rId7"/>
          <a:stretch>
            <a:fillRect/>
          </a:stretch>
        </p:blipFill>
        <p:spPr>
          <a:xfrm>
            <a:off x="6803136" y="5815584"/>
            <a:ext cx="329184" cy="329184"/>
          </a:xfrm>
          <a:prstGeom prst="rect">
            <a:avLst/>
          </a:prstGeom>
        </p:spPr>
      </p:pic>
      <p:sp>
        <p:nvSpPr>
          <p:cNvPr id="36" name="TextBox 35"/>
          <p:cNvSpPr txBox="1"/>
          <p:nvPr/>
        </p:nvSpPr>
        <p:spPr>
          <a:xfrm>
            <a:off x="7242048" y="5669280"/>
            <a:ext cx="4251960" cy="621792"/>
          </a:xfrm>
          <a:prstGeom prst="rect">
            <a:avLst/>
          </a:prstGeom>
          <a:noFill/>
        </p:spPr>
        <p:txBody>
          <a:bodyPr wrap="square" anchor="ctr" lIns="0" rIns="0" tIns="0" bIns="0">
            <a:spAutoFit/>
          </a:bodyPr>
          <a:lstStyle/>
          <a:p>
            <a:pPr algn="l">
              <a:lnSpc>
                <a:spcPct val="110000"/>
              </a:lnSpc>
              <a:spcAft>
                <a:spcPts val="300"/>
              </a:spcAft>
            </a:pPr>
            <a:r>
              <a:rPr sz="1100" b="1" i="0">
                <a:solidFill>
                  <a:srgbClr val="178A73"/>
                </a:solidFill>
                <a:latin typeface="Consolas"/>
              </a:rPr>
              <a:t>/proc</a:t>
            </a:r>
            <a:r>
              <a:rPr sz="1150" b="0" i="0">
                <a:solidFill>
                  <a:srgbClr val="202A38"/>
                </a:solidFill>
                <a:latin typeface="Times New Roman"/>
              </a:rPr>
              <a:t> and </a:t>
            </a:r>
            <a:r>
              <a:rPr sz="1100" b="1" i="0">
                <a:solidFill>
                  <a:srgbClr val="178A73"/>
                </a:solidFill>
                <a:latin typeface="Consolas"/>
              </a:rPr>
              <a:t>/sys</a:t>
            </a:r>
            <a:r>
              <a:rPr sz="1150" b="0" i="0">
                <a:solidFill>
                  <a:srgbClr val="202A38"/>
                </a:solidFill>
                <a:latin typeface="Times New Roman"/>
              </a:rPr>
              <a:t> are not on disk — the kernel creates them when read.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14400" y="2194560"/>
            <a:ext cx="10058400" cy="457200"/>
          </a:xfrm>
          <a:prstGeom prst="rect">
            <a:avLst/>
          </a:prstGeom>
          <a:noFill/>
        </p:spPr>
        <p:txBody>
          <a:bodyPr wrap="square" anchor="t" lIns="0" rIns="0" tIns="0" bIns="0">
            <a:spAutoFit/>
          </a:bodyPr>
          <a:lstStyle/>
          <a:p>
            <a:pPr algn="l">
              <a:lnSpc>
                <a:spcPct val="110000"/>
              </a:lnSpc>
              <a:spcAft>
                <a:spcPts val="300"/>
              </a:spcAft>
            </a:pPr>
            <a:r>
              <a:rPr sz="2200" b="1" i="0">
                <a:solidFill>
                  <a:srgbClr val="7FD1BD"/>
                </a:solidFill>
                <a:latin typeface="Times New Roman"/>
              </a:rPr>
              <a:t>QUESTION 2</a:t>
            </a:r>
          </a:p>
        </p:txBody>
      </p:sp>
      <p:sp>
        <p:nvSpPr>
          <p:cNvPr id="4" name="Rectangle 3"/>
          <p:cNvSpPr/>
          <p:nvPr/>
        </p:nvSpPr>
        <p:spPr>
          <a:xfrm>
            <a:off x="932688" y="2697480"/>
            <a:ext cx="1280160" cy="4572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32720" cy="1280160"/>
          </a:xfrm>
          <a:prstGeom prst="rect">
            <a:avLst/>
          </a:prstGeom>
          <a:noFill/>
        </p:spPr>
        <p:txBody>
          <a:bodyPr wrap="square" anchor="t" lIns="0" rIns="0" tIns="0" bIns="0">
            <a:spAutoFit/>
          </a:bodyPr>
          <a:lstStyle/>
          <a:p>
            <a:pPr algn="l">
              <a:lnSpc>
                <a:spcPct val="110000"/>
              </a:lnSpc>
              <a:spcAft>
                <a:spcPts val="300"/>
              </a:spcAft>
            </a:pPr>
            <a:r>
              <a:rPr sz="4000" b="1" i="0">
                <a:solidFill>
                  <a:srgbClr val="FFFFFF"/>
                </a:solidFill>
                <a:latin typeface="Times New Roman"/>
              </a:rPr>
              <a:t>Working with files</a:t>
            </a:r>
          </a:p>
        </p:txBody>
      </p:sp>
      <p:sp>
        <p:nvSpPr>
          <p:cNvPr id="6" name="TextBox 5"/>
          <p:cNvSpPr txBox="1"/>
          <p:nvPr/>
        </p:nvSpPr>
        <p:spPr>
          <a:xfrm>
            <a:off x="914400" y="4114800"/>
            <a:ext cx="10332720" cy="1097280"/>
          </a:xfrm>
          <a:prstGeom prst="rect">
            <a:avLst/>
          </a:prstGeom>
          <a:noFill/>
        </p:spPr>
        <p:txBody>
          <a:bodyPr wrap="square" anchor="t" lIns="0" rIns="0" tIns="0" bIns="0">
            <a:spAutoFit/>
          </a:bodyPr>
          <a:lstStyle/>
          <a:p>
            <a:pPr algn="l">
              <a:lnSpc>
                <a:spcPct val="120000"/>
              </a:lnSpc>
              <a:spcAft>
                <a:spcPts val="300"/>
              </a:spcAft>
            </a:pPr>
            <a:r>
              <a:rPr sz="1700" b="0" i="0">
                <a:solidFill>
                  <a:srgbClr val="DDE6F2"/>
                </a:solidFill>
                <a:latin typeface="Times New Roman"/>
              </a:rPr>
              <a:t>FHS, paths, creating and deleting, viewing, type and time, searching, links, archives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QUESTION 2 · FILE SYSTEM LAYOUT</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FHS: a single tree — each directory has its own purpose</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18</a:t>
            </a:r>
          </a:p>
        </p:txBody>
      </p:sp>
      <p:sp>
        <p:nvSpPr>
          <p:cNvPr id="8" name="Rounded Rectangle 7"/>
          <p:cNvSpPr/>
          <p:nvPr/>
        </p:nvSpPr>
        <p:spPr>
          <a:xfrm>
            <a:off x="5394960" y="1536192"/>
            <a:ext cx="1371600" cy="457200"/>
          </a:xfrm>
          <a:prstGeom prst="roundRect">
            <a:avLst>
              <a:gd name="adj" fmla="val 12000"/>
            </a:avLst>
          </a:prstGeom>
          <a:solidFill>
            <a:srgbClr val="122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2000" b="1" i="0">
                <a:solidFill>
                  <a:srgbClr val="FFFFFF"/>
                </a:solidFill>
                <a:latin typeface="Times New Roman"/>
              </a:rPr>
              <a:t>/</a:t>
            </a:r>
          </a:p>
        </p:txBody>
      </p:sp>
      <p:sp>
        <p:nvSpPr>
          <p:cNvPr id="9" name="Rectangle 8"/>
          <p:cNvSpPr/>
          <p:nvPr/>
        </p:nvSpPr>
        <p:spPr>
          <a:xfrm>
            <a:off x="1463040" y="2176272"/>
            <a:ext cx="9235440" cy="27432"/>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71616" y="1993392"/>
            <a:ext cx="27432" cy="201168"/>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581912" y="2194560"/>
            <a:ext cx="27432" cy="137160"/>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6928" y="2331720"/>
            <a:ext cx="2103120" cy="162763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2331720"/>
            <a:ext cx="64008" cy="16276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404872"/>
            <a:ext cx="1874519" cy="320040"/>
          </a:xfrm>
          <a:prstGeom prst="rect">
            <a:avLst/>
          </a:prstGeom>
          <a:noFill/>
        </p:spPr>
        <p:txBody>
          <a:bodyPr wrap="square" anchor="t" lIns="0" rIns="0" tIns="0" bIns="0">
            <a:spAutoFit/>
          </a:bodyPr>
          <a:lstStyle/>
          <a:p>
            <a:pPr algn="l">
              <a:lnSpc>
                <a:spcPct val="110000"/>
              </a:lnSpc>
              <a:spcAft>
                <a:spcPts val="300"/>
              </a:spcAft>
            </a:pPr>
            <a:r>
              <a:rPr sz="1250" b="1" i="0">
                <a:solidFill>
                  <a:srgbClr val="1F3864"/>
                </a:solidFill>
                <a:latin typeface="Consolas"/>
              </a:rPr>
              <a:t>/bin → /usr/bin</a:t>
            </a:r>
          </a:p>
        </p:txBody>
      </p:sp>
      <p:sp>
        <p:nvSpPr>
          <p:cNvPr id="15" name="TextBox 14"/>
          <p:cNvSpPr txBox="1"/>
          <p:nvPr/>
        </p:nvSpPr>
        <p:spPr>
          <a:xfrm>
            <a:off x="731520" y="2743200"/>
            <a:ext cx="1874519" cy="320040"/>
          </a:xfrm>
          <a:prstGeom prst="rect">
            <a:avLst/>
          </a:prstGeom>
          <a:noFill/>
        </p:spPr>
        <p:txBody>
          <a:bodyPr wrap="square" anchor="t" lIns="0" rIns="0" tIns="0" bIns="0">
            <a:spAutoFit/>
          </a:bodyPr>
          <a:lstStyle/>
          <a:p>
            <a:pPr algn="l">
              <a:lnSpc>
                <a:spcPct val="110000"/>
              </a:lnSpc>
              <a:spcAft>
                <a:spcPts val="300"/>
              </a:spcAft>
            </a:pPr>
            <a:r>
              <a:rPr sz="1200" b="1" i="0">
                <a:solidFill>
                  <a:srgbClr val="1F3864"/>
                </a:solidFill>
                <a:latin typeface="Times New Roman"/>
              </a:rPr>
              <a:t>commands</a:t>
            </a:r>
          </a:p>
        </p:txBody>
      </p:sp>
      <p:sp>
        <p:nvSpPr>
          <p:cNvPr id="16" name="TextBox 15"/>
          <p:cNvSpPr txBox="1"/>
          <p:nvPr/>
        </p:nvSpPr>
        <p:spPr>
          <a:xfrm>
            <a:off x="731520" y="3108960"/>
            <a:ext cx="1874519" cy="822960"/>
          </a:xfrm>
          <a:prstGeom prst="rect">
            <a:avLst/>
          </a:prstGeom>
          <a:noFill/>
        </p:spPr>
        <p:txBody>
          <a:bodyPr wrap="square" anchor="t" lIns="0" rIns="0" tIns="0" bIns="0">
            <a:spAutoFit/>
          </a:bodyPr>
          <a:lstStyle/>
          <a:p>
            <a:pPr algn="l">
              <a:lnSpc>
                <a:spcPct val="110000"/>
              </a:lnSpc>
              <a:spcAft>
                <a:spcPts val="300"/>
              </a:spcAft>
            </a:pPr>
            <a:r>
              <a:rPr sz="1100" b="0" i="1">
                <a:solidFill>
                  <a:srgbClr val="54647A"/>
                </a:solidFill>
                <a:latin typeface="Times New Roman"/>
              </a:rPr>
              <a:t>A replaced command — a rootkit sign</a:t>
            </a:r>
          </a:p>
        </p:txBody>
      </p:sp>
      <p:sp>
        <p:nvSpPr>
          <p:cNvPr id="17" name="Rectangle 16"/>
          <p:cNvSpPr/>
          <p:nvPr/>
        </p:nvSpPr>
        <p:spPr>
          <a:xfrm>
            <a:off x="3822192" y="2194560"/>
            <a:ext cx="27432" cy="137160"/>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807208" y="2331720"/>
            <a:ext cx="2103120" cy="162763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07208" y="2331720"/>
            <a:ext cx="64008" cy="162763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2404872"/>
            <a:ext cx="1874519" cy="320040"/>
          </a:xfrm>
          <a:prstGeom prst="rect">
            <a:avLst/>
          </a:prstGeom>
          <a:noFill/>
        </p:spPr>
        <p:txBody>
          <a:bodyPr wrap="square" anchor="t" lIns="0" rIns="0" tIns="0" bIns="0">
            <a:spAutoFit/>
          </a:bodyPr>
          <a:lstStyle/>
          <a:p>
            <a:pPr algn="l">
              <a:lnSpc>
                <a:spcPct val="110000"/>
              </a:lnSpc>
              <a:spcAft>
                <a:spcPts val="300"/>
              </a:spcAft>
            </a:pPr>
            <a:r>
              <a:rPr sz="1250" b="1" i="0">
                <a:solidFill>
                  <a:srgbClr val="C0392B"/>
                </a:solidFill>
                <a:latin typeface="Consolas"/>
              </a:rPr>
              <a:t>/etc</a:t>
            </a:r>
          </a:p>
        </p:txBody>
      </p:sp>
      <p:sp>
        <p:nvSpPr>
          <p:cNvPr id="21" name="TextBox 20"/>
          <p:cNvSpPr txBox="1"/>
          <p:nvPr/>
        </p:nvSpPr>
        <p:spPr>
          <a:xfrm>
            <a:off x="2971800" y="2743200"/>
            <a:ext cx="1874519" cy="320040"/>
          </a:xfrm>
          <a:prstGeom prst="rect">
            <a:avLst/>
          </a:prstGeom>
          <a:noFill/>
        </p:spPr>
        <p:txBody>
          <a:bodyPr wrap="square" anchor="t" lIns="0" rIns="0" tIns="0" bIns="0">
            <a:spAutoFit/>
          </a:bodyPr>
          <a:lstStyle/>
          <a:p>
            <a:pPr algn="l">
              <a:lnSpc>
                <a:spcPct val="110000"/>
              </a:lnSpc>
              <a:spcAft>
                <a:spcPts val="300"/>
              </a:spcAft>
            </a:pPr>
            <a:r>
              <a:rPr sz="1200" b="1" i="0">
                <a:solidFill>
                  <a:srgbClr val="1F3864"/>
                </a:solidFill>
                <a:latin typeface="Times New Roman"/>
              </a:rPr>
              <a:t>settings (text)</a:t>
            </a:r>
          </a:p>
        </p:txBody>
      </p:sp>
      <p:sp>
        <p:nvSpPr>
          <p:cNvPr id="22" name="TextBox 21"/>
          <p:cNvSpPr txBox="1"/>
          <p:nvPr/>
        </p:nvSpPr>
        <p:spPr>
          <a:xfrm>
            <a:off x="2971800" y="3108960"/>
            <a:ext cx="1874519" cy="822960"/>
          </a:xfrm>
          <a:prstGeom prst="rect">
            <a:avLst/>
          </a:prstGeom>
          <a:noFill/>
        </p:spPr>
        <p:txBody>
          <a:bodyPr wrap="square" anchor="t" lIns="0" rIns="0" tIns="0" bIns="0">
            <a:spAutoFit/>
          </a:bodyPr>
          <a:lstStyle/>
          <a:p>
            <a:pPr algn="l">
              <a:lnSpc>
                <a:spcPct val="110000"/>
              </a:lnSpc>
              <a:spcAft>
                <a:spcPts val="300"/>
              </a:spcAft>
            </a:pPr>
            <a:r>
              <a:rPr sz="1100" b="0" i="1">
                <a:solidFill>
                  <a:srgbClr val="54647A"/>
                </a:solidFill>
                <a:latin typeface="Times New Roman"/>
              </a:rPr>
              <a:t>Users, password hashes (L.4)</a:t>
            </a:r>
          </a:p>
        </p:txBody>
      </p:sp>
      <p:sp>
        <p:nvSpPr>
          <p:cNvPr id="23" name="Rectangle 22"/>
          <p:cNvSpPr/>
          <p:nvPr/>
        </p:nvSpPr>
        <p:spPr>
          <a:xfrm>
            <a:off x="6062472" y="2194560"/>
            <a:ext cx="27432" cy="137160"/>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47488" y="2331720"/>
            <a:ext cx="2103120" cy="162763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47488" y="2331720"/>
            <a:ext cx="64008" cy="1627632"/>
          </a:xfrm>
          <a:prstGeom prst="rect">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12080" y="2404872"/>
            <a:ext cx="1874519" cy="32004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Consolas"/>
              </a:rPr>
              <a:t>/home</a:t>
            </a:r>
          </a:p>
        </p:txBody>
      </p:sp>
      <p:sp>
        <p:nvSpPr>
          <p:cNvPr id="27" name="TextBox 26"/>
          <p:cNvSpPr txBox="1"/>
          <p:nvPr/>
        </p:nvSpPr>
        <p:spPr>
          <a:xfrm>
            <a:off x="5212080" y="2743200"/>
            <a:ext cx="1874519" cy="320040"/>
          </a:xfrm>
          <a:prstGeom prst="rect">
            <a:avLst/>
          </a:prstGeom>
          <a:noFill/>
        </p:spPr>
        <p:txBody>
          <a:bodyPr wrap="square" anchor="t" lIns="0" rIns="0" tIns="0" bIns="0">
            <a:spAutoFit/>
          </a:bodyPr>
          <a:lstStyle/>
          <a:p>
            <a:pPr algn="l">
              <a:lnSpc>
                <a:spcPct val="110000"/>
              </a:lnSpc>
              <a:spcAft>
                <a:spcPts val="300"/>
              </a:spcAft>
            </a:pPr>
            <a:r>
              <a:rPr sz="1200" b="1" i="0">
                <a:solidFill>
                  <a:srgbClr val="1F3864"/>
                </a:solidFill>
                <a:latin typeface="Times New Roman"/>
              </a:rPr>
              <a:t>home directories</a:t>
            </a:r>
          </a:p>
        </p:txBody>
      </p:sp>
      <p:sp>
        <p:nvSpPr>
          <p:cNvPr id="28" name="TextBox 27"/>
          <p:cNvSpPr txBox="1"/>
          <p:nvPr/>
        </p:nvSpPr>
        <p:spPr>
          <a:xfrm>
            <a:off x="5212080" y="3108960"/>
            <a:ext cx="1874519" cy="822960"/>
          </a:xfrm>
          <a:prstGeom prst="rect">
            <a:avLst/>
          </a:prstGeom>
          <a:noFill/>
        </p:spPr>
        <p:txBody>
          <a:bodyPr wrap="square" anchor="t" lIns="0" rIns="0" tIns="0" bIns="0">
            <a:spAutoFit/>
          </a:bodyPr>
          <a:lstStyle/>
          <a:p>
            <a:pPr algn="l">
              <a:lnSpc>
                <a:spcPct val="110000"/>
              </a:lnSpc>
              <a:spcAft>
                <a:spcPts val="300"/>
              </a:spcAft>
            </a:pPr>
            <a:r>
              <a:rPr sz="1100" b="0" i="1">
                <a:solidFill>
                  <a:srgbClr val="54647A"/>
                </a:solidFill>
                <a:latin typeface="Times New Roman"/>
              </a:rPr>
              <a:t>Personal files, command history</a:t>
            </a:r>
          </a:p>
        </p:txBody>
      </p:sp>
      <p:sp>
        <p:nvSpPr>
          <p:cNvPr id="29" name="Rectangle 28"/>
          <p:cNvSpPr/>
          <p:nvPr/>
        </p:nvSpPr>
        <p:spPr>
          <a:xfrm>
            <a:off x="8302752" y="2194560"/>
            <a:ext cx="27432" cy="137160"/>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287768" y="2331720"/>
            <a:ext cx="2103120" cy="162763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87768" y="2331720"/>
            <a:ext cx="64008" cy="162763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52360" y="2404872"/>
            <a:ext cx="1874519" cy="320040"/>
          </a:xfrm>
          <a:prstGeom prst="rect">
            <a:avLst/>
          </a:prstGeom>
          <a:noFill/>
        </p:spPr>
        <p:txBody>
          <a:bodyPr wrap="square" anchor="t" lIns="0" rIns="0" tIns="0" bIns="0">
            <a:spAutoFit/>
          </a:bodyPr>
          <a:lstStyle/>
          <a:p>
            <a:pPr algn="l">
              <a:lnSpc>
                <a:spcPct val="110000"/>
              </a:lnSpc>
              <a:spcAft>
                <a:spcPts val="300"/>
              </a:spcAft>
            </a:pPr>
            <a:r>
              <a:rPr sz="1250" b="1" i="0">
                <a:solidFill>
                  <a:srgbClr val="C0392B"/>
                </a:solidFill>
                <a:latin typeface="Consolas"/>
              </a:rPr>
              <a:t>/root</a:t>
            </a:r>
          </a:p>
        </p:txBody>
      </p:sp>
      <p:sp>
        <p:nvSpPr>
          <p:cNvPr id="33" name="TextBox 32"/>
          <p:cNvSpPr txBox="1"/>
          <p:nvPr/>
        </p:nvSpPr>
        <p:spPr>
          <a:xfrm>
            <a:off x="7452360" y="2743200"/>
            <a:ext cx="1874519" cy="320040"/>
          </a:xfrm>
          <a:prstGeom prst="rect">
            <a:avLst/>
          </a:prstGeom>
          <a:noFill/>
        </p:spPr>
        <p:txBody>
          <a:bodyPr wrap="square" anchor="t" lIns="0" rIns="0" tIns="0" bIns="0">
            <a:spAutoFit/>
          </a:bodyPr>
          <a:lstStyle/>
          <a:p>
            <a:pPr algn="l">
              <a:lnSpc>
                <a:spcPct val="110000"/>
              </a:lnSpc>
              <a:spcAft>
                <a:spcPts val="300"/>
              </a:spcAft>
            </a:pPr>
            <a:r>
              <a:rPr sz="1200" b="1" i="0">
                <a:solidFill>
                  <a:srgbClr val="1F3864"/>
                </a:solidFill>
                <a:latin typeface="Times New Roman"/>
              </a:rPr>
              <a:t>root’s home</a:t>
            </a:r>
          </a:p>
        </p:txBody>
      </p:sp>
      <p:sp>
        <p:nvSpPr>
          <p:cNvPr id="34" name="TextBox 33"/>
          <p:cNvSpPr txBox="1"/>
          <p:nvPr/>
        </p:nvSpPr>
        <p:spPr>
          <a:xfrm>
            <a:off x="7452360" y="3108960"/>
            <a:ext cx="1874519" cy="822960"/>
          </a:xfrm>
          <a:prstGeom prst="rect">
            <a:avLst/>
          </a:prstGeom>
          <a:noFill/>
        </p:spPr>
        <p:txBody>
          <a:bodyPr wrap="square" anchor="t" lIns="0" rIns="0" tIns="0" bIns="0">
            <a:spAutoFit/>
          </a:bodyPr>
          <a:lstStyle/>
          <a:p>
            <a:pPr algn="l">
              <a:lnSpc>
                <a:spcPct val="110000"/>
              </a:lnSpc>
              <a:spcAft>
                <a:spcPts val="300"/>
              </a:spcAft>
            </a:pPr>
            <a:r>
              <a:rPr sz="1100" b="0" i="1">
                <a:solidFill>
                  <a:srgbClr val="54647A"/>
                </a:solidFill>
                <a:latin typeface="Times New Roman"/>
              </a:rPr>
              <a:t>The attacker’s main target</a:t>
            </a:r>
          </a:p>
        </p:txBody>
      </p:sp>
      <p:sp>
        <p:nvSpPr>
          <p:cNvPr id="35" name="Rectangle 34"/>
          <p:cNvSpPr/>
          <p:nvPr/>
        </p:nvSpPr>
        <p:spPr>
          <a:xfrm>
            <a:off x="10543032" y="2194560"/>
            <a:ext cx="27432" cy="137160"/>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528048" y="2331720"/>
            <a:ext cx="2103120" cy="162763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528048" y="2331720"/>
            <a:ext cx="64008" cy="1627632"/>
          </a:xfrm>
          <a:prstGeom prst="rect">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92640" y="2404872"/>
            <a:ext cx="1874519" cy="320040"/>
          </a:xfrm>
          <a:prstGeom prst="rect">
            <a:avLst/>
          </a:prstGeom>
          <a:noFill/>
        </p:spPr>
        <p:txBody>
          <a:bodyPr wrap="square" anchor="t" lIns="0" rIns="0" tIns="0" bIns="0">
            <a:spAutoFit/>
          </a:bodyPr>
          <a:lstStyle/>
          <a:p>
            <a:pPr algn="l">
              <a:lnSpc>
                <a:spcPct val="110000"/>
              </a:lnSpc>
              <a:spcAft>
                <a:spcPts val="300"/>
              </a:spcAft>
            </a:pPr>
            <a:r>
              <a:rPr sz="1250" b="1" i="0">
                <a:solidFill>
                  <a:srgbClr val="E08E1D"/>
                </a:solidFill>
                <a:latin typeface="Consolas"/>
              </a:rPr>
              <a:t>/tmp</a:t>
            </a:r>
          </a:p>
        </p:txBody>
      </p:sp>
      <p:sp>
        <p:nvSpPr>
          <p:cNvPr id="39" name="TextBox 38"/>
          <p:cNvSpPr txBox="1"/>
          <p:nvPr/>
        </p:nvSpPr>
        <p:spPr>
          <a:xfrm>
            <a:off x="9692640" y="2743200"/>
            <a:ext cx="1874519" cy="320040"/>
          </a:xfrm>
          <a:prstGeom prst="rect">
            <a:avLst/>
          </a:prstGeom>
          <a:noFill/>
        </p:spPr>
        <p:txBody>
          <a:bodyPr wrap="square" anchor="t" lIns="0" rIns="0" tIns="0" bIns="0">
            <a:spAutoFit/>
          </a:bodyPr>
          <a:lstStyle/>
          <a:p>
            <a:pPr algn="l">
              <a:lnSpc>
                <a:spcPct val="110000"/>
              </a:lnSpc>
              <a:spcAft>
                <a:spcPts val="300"/>
              </a:spcAft>
            </a:pPr>
            <a:r>
              <a:rPr sz="1200" b="1" i="0">
                <a:solidFill>
                  <a:srgbClr val="1F3864"/>
                </a:solidFill>
                <a:latin typeface="Times New Roman"/>
              </a:rPr>
              <a:t>temporary, all write</a:t>
            </a:r>
          </a:p>
        </p:txBody>
      </p:sp>
      <p:sp>
        <p:nvSpPr>
          <p:cNvPr id="40" name="TextBox 39"/>
          <p:cNvSpPr txBox="1"/>
          <p:nvPr/>
        </p:nvSpPr>
        <p:spPr>
          <a:xfrm>
            <a:off x="9692640" y="3108960"/>
            <a:ext cx="1874519" cy="822960"/>
          </a:xfrm>
          <a:prstGeom prst="rect">
            <a:avLst/>
          </a:prstGeom>
          <a:noFill/>
        </p:spPr>
        <p:txBody>
          <a:bodyPr wrap="square" anchor="t" lIns="0" rIns="0" tIns="0" bIns="0">
            <a:spAutoFit/>
          </a:bodyPr>
          <a:lstStyle/>
          <a:p>
            <a:pPr algn="l">
              <a:lnSpc>
                <a:spcPct val="110000"/>
              </a:lnSpc>
              <a:spcAft>
                <a:spcPts val="300"/>
              </a:spcAft>
            </a:pPr>
            <a:r>
              <a:rPr sz="1100" b="0" i="1">
                <a:solidFill>
                  <a:srgbClr val="54647A"/>
                </a:solidFill>
                <a:latin typeface="Times New Roman"/>
              </a:rPr>
              <a:t>Malicious files often here</a:t>
            </a:r>
          </a:p>
        </p:txBody>
      </p:sp>
      <p:sp>
        <p:nvSpPr>
          <p:cNvPr id="41" name="Rounded Rectangle 40"/>
          <p:cNvSpPr/>
          <p:nvPr/>
        </p:nvSpPr>
        <p:spPr>
          <a:xfrm>
            <a:off x="566928" y="4114800"/>
            <a:ext cx="2103120" cy="162763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114800"/>
            <a:ext cx="64008" cy="1627632"/>
          </a:xfrm>
          <a:prstGeom prst="rect">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 y="4187952"/>
            <a:ext cx="1874519" cy="32004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Consolas"/>
              </a:rPr>
              <a:t>/var/log</a:t>
            </a:r>
          </a:p>
        </p:txBody>
      </p:sp>
      <p:sp>
        <p:nvSpPr>
          <p:cNvPr id="44" name="TextBox 43"/>
          <p:cNvSpPr txBox="1"/>
          <p:nvPr/>
        </p:nvSpPr>
        <p:spPr>
          <a:xfrm>
            <a:off x="731520" y="4526280"/>
            <a:ext cx="1874519" cy="320040"/>
          </a:xfrm>
          <a:prstGeom prst="rect">
            <a:avLst/>
          </a:prstGeom>
          <a:noFill/>
        </p:spPr>
        <p:txBody>
          <a:bodyPr wrap="square" anchor="t" lIns="0" rIns="0" tIns="0" bIns="0">
            <a:spAutoFit/>
          </a:bodyPr>
          <a:lstStyle/>
          <a:p>
            <a:pPr algn="l">
              <a:lnSpc>
                <a:spcPct val="110000"/>
              </a:lnSpc>
              <a:spcAft>
                <a:spcPts val="300"/>
              </a:spcAft>
            </a:pPr>
            <a:r>
              <a:rPr sz="1200" b="1" i="0">
                <a:solidFill>
                  <a:srgbClr val="1F3864"/>
                </a:solidFill>
                <a:latin typeface="Times New Roman"/>
              </a:rPr>
              <a:t>logs</a:t>
            </a:r>
          </a:p>
        </p:txBody>
      </p:sp>
      <p:sp>
        <p:nvSpPr>
          <p:cNvPr id="45" name="TextBox 44"/>
          <p:cNvSpPr txBox="1"/>
          <p:nvPr/>
        </p:nvSpPr>
        <p:spPr>
          <a:xfrm>
            <a:off x="731520" y="4892040"/>
            <a:ext cx="1874519" cy="822960"/>
          </a:xfrm>
          <a:prstGeom prst="rect">
            <a:avLst/>
          </a:prstGeom>
          <a:noFill/>
        </p:spPr>
        <p:txBody>
          <a:bodyPr wrap="square" anchor="t" lIns="0" rIns="0" tIns="0" bIns="0">
            <a:spAutoFit/>
          </a:bodyPr>
          <a:lstStyle/>
          <a:p>
            <a:pPr algn="l">
              <a:lnSpc>
                <a:spcPct val="110000"/>
              </a:lnSpc>
              <a:spcAft>
                <a:spcPts val="300"/>
              </a:spcAft>
            </a:pPr>
            <a:r>
              <a:rPr sz="1100" b="0" i="1">
                <a:solidFill>
                  <a:srgbClr val="54647A"/>
                </a:solidFill>
                <a:latin typeface="Times New Roman"/>
              </a:rPr>
              <a:t>Forensic traces</a:t>
            </a:r>
          </a:p>
        </p:txBody>
      </p:sp>
      <p:sp>
        <p:nvSpPr>
          <p:cNvPr id="46" name="Rounded Rectangle 45"/>
          <p:cNvSpPr/>
          <p:nvPr/>
        </p:nvSpPr>
        <p:spPr>
          <a:xfrm>
            <a:off x="2807208" y="4114800"/>
            <a:ext cx="2103120" cy="162763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807208" y="4114800"/>
            <a:ext cx="64008" cy="16276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971800" y="4187952"/>
            <a:ext cx="1874519" cy="320040"/>
          </a:xfrm>
          <a:prstGeom prst="rect">
            <a:avLst/>
          </a:prstGeom>
          <a:noFill/>
        </p:spPr>
        <p:txBody>
          <a:bodyPr wrap="square" anchor="t" lIns="0" rIns="0" tIns="0" bIns="0">
            <a:spAutoFit/>
          </a:bodyPr>
          <a:lstStyle/>
          <a:p>
            <a:pPr algn="l">
              <a:lnSpc>
                <a:spcPct val="110000"/>
              </a:lnSpc>
              <a:spcAft>
                <a:spcPts val="300"/>
              </a:spcAft>
            </a:pPr>
            <a:r>
              <a:rPr sz="1250" b="1" i="0">
                <a:solidFill>
                  <a:srgbClr val="1F3864"/>
                </a:solidFill>
                <a:latin typeface="Consolas"/>
              </a:rPr>
              <a:t>/dev</a:t>
            </a:r>
          </a:p>
        </p:txBody>
      </p:sp>
      <p:sp>
        <p:nvSpPr>
          <p:cNvPr id="49" name="TextBox 48"/>
          <p:cNvSpPr txBox="1"/>
          <p:nvPr/>
        </p:nvSpPr>
        <p:spPr>
          <a:xfrm>
            <a:off x="2971800" y="4526280"/>
            <a:ext cx="1874519" cy="320040"/>
          </a:xfrm>
          <a:prstGeom prst="rect">
            <a:avLst/>
          </a:prstGeom>
          <a:noFill/>
        </p:spPr>
        <p:txBody>
          <a:bodyPr wrap="square" anchor="t" lIns="0" rIns="0" tIns="0" bIns="0">
            <a:spAutoFit/>
          </a:bodyPr>
          <a:lstStyle/>
          <a:p>
            <a:pPr algn="l">
              <a:lnSpc>
                <a:spcPct val="110000"/>
              </a:lnSpc>
              <a:spcAft>
                <a:spcPts val="300"/>
              </a:spcAft>
            </a:pPr>
            <a:r>
              <a:rPr sz="1200" b="1" i="0">
                <a:solidFill>
                  <a:srgbClr val="1F3864"/>
                </a:solidFill>
                <a:latin typeface="Times New Roman"/>
              </a:rPr>
              <a:t>devices</a:t>
            </a:r>
          </a:p>
        </p:txBody>
      </p:sp>
      <p:sp>
        <p:nvSpPr>
          <p:cNvPr id="50" name="TextBox 49"/>
          <p:cNvSpPr txBox="1"/>
          <p:nvPr/>
        </p:nvSpPr>
        <p:spPr>
          <a:xfrm>
            <a:off x="2971800" y="4892040"/>
            <a:ext cx="1874519" cy="822960"/>
          </a:xfrm>
          <a:prstGeom prst="rect">
            <a:avLst/>
          </a:prstGeom>
          <a:noFill/>
        </p:spPr>
        <p:txBody>
          <a:bodyPr wrap="square" anchor="t" lIns="0" rIns="0" tIns="0" bIns="0">
            <a:spAutoFit/>
          </a:bodyPr>
          <a:lstStyle/>
          <a:p>
            <a:pPr algn="l">
              <a:lnSpc>
                <a:spcPct val="110000"/>
              </a:lnSpc>
              <a:spcAft>
                <a:spcPts val="300"/>
              </a:spcAft>
            </a:pPr>
            <a:r>
              <a:rPr sz="1100" b="0" i="1">
                <a:solidFill>
                  <a:srgbClr val="54647A"/>
                </a:solidFill>
                <a:latin typeface="Times New Roman"/>
              </a:rPr>
              <a:t>Imaging a disk</a:t>
            </a:r>
          </a:p>
        </p:txBody>
      </p:sp>
      <p:sp>
        <p:nvSpPr>
          <p:cNvPr id="51" name="Rounded Rectangle 50"/>
          <p:cNvSpPr/>
          <p:nvPr/>
        </p:nvSpPr>
        <p:spPr>
          <a:xfrm>
            <a:off x="5047488" y="4114800"/>
            <a:ext cx="2103120" cy="162763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047488" y="4114800"/>
            <a:ext cx="64008" cy="1627632"/>
          </a:xfrm>
          <a:prstGeom prst="rect">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212080" y="4187952"/>
            <a:ext cx="1874519" cy="320040"/>
          </a:xfrm>
          <a:prstGeom prst="rect">
            <a:avLst/>
          </a:prstGeom>
          <a:noFill/>
        </p:spPr>
        <p:txBody>
          <a:bodyPr wrap="square" anchor="t" lIns="0" rIns="0" tIns="0" bIns="0">
            <a:spAutoFit/>
          </a:bodyPr>
          <a:lstStyle/>
          <a:p>
            <a:pPr algn="l">
              <a:lnSpc>
                <a:spcPct val="110000"/>
              </a:lnSpc>
              <a:spcAft>
                <a:spcPts val="300"/>
              </a:spcAft>
            </a:pPr>
            <a:r>
              <a:rPr sz="1250" b="1" i="0">
                <a:solidFill>
                  <a:srgbClr val="E08E1D"/>
                </a:solidFill>
                <a:latin typeface="Consolas"/>
              </a:rPr>
              <a:t>/proc</a:t>
            </a:r>
          </a:p>
        </p:txBody>
      </p:sp>
      <p:sp>
        <p:nvSpPr>
          <p:cNvPr id="54" name="TextBox 53"/>
          <p:cNvSpPr txBox="1"/>
          <p:nvPr/>
        </p:nvSpPr>
        <p:spPr>
          <a:xfrm>
            <a:off x="5212080" y="4526280"/>
            <a:ext cx="1874519" cy="320040"/>
          </a:xfrm>
          <a:prstGeom prst="rect">
            <a:avLst/>
          </a:prstGeom>
          <a:noFill/>
        </p:spPr>
        <p:txBody>
          <a:bodyPr wrap="square" anchor="t" lIns="0" rIns="0" tIns="0" bIns="0">
            <a:spAutoFit/>
          </a:bodyPr>
          <a:lstStyle/>
          <a:p>
            <a:pPr algn="l">
              <a:lnSpc>
                <a:spcPct val="110000"/>
              </a:lnSpc>
              <a:spcAft>
                <a:spcPts val="300"/>
              </a:spcAft>
            </a:pPr>
            <a:r>
              <a:rPr sz="1200" b="1" i="0">
                <a:solidFill>
                  <a:srgbClr val="1F3864"/>
                </a:solidFill>
                <a:latin typeface="Times New Roman"/>
              </a:rPr>
              <a:t>processes (virtual)</a:t>
            </a:r>
          </a:p>
        </p:txBody>
      </p:sp>
      <p:sp>
        <p:nvSpPr>
          <p:cNvPr id="55" name="TextBox 54"/>
          <p:cNvSpPr txBox="1"/>
          <p:nvPr/>
        </p:nvSpPr>
        <p:spPr>
          <a:xfrm>
            <a:off x="5212080" y="4892040"/>
            <a:ext cx="1874519" cy="822960"/>
          </a:xfrm>
          <a:prstGeom prst="rect">
            <a:avLst/>
          </a:prstGeom>
          <a:noFill/>
        </p:spPr>
        <p:txBody>
          <a:bodyPr wrap="square" anchor="t" lIns="0" rIns="0" tIns="0" bIns="0">
            <a:spAutoFit/>
          </a:bodyPr>
          <a:lstStyle/>
          <a:p>
            <a:pPr algn="l">
              <a:lnSpc>
                <a:spcPct val="110000"/>
              </a:lnSpc>
              <a:spcAft>
                <a:spcPts val="300"/>
              </a:spcAft>
            </a:pPr>
            <a:r>
              <a:rPr sz="1100" b="0" i="1">
                <a:solidFill>
                  <a:srgbClr val="54647A"/>
                </a:solidFill>
                <a:latin typeface="Times New Roman"/>
              </a:rPr>
              <a:t>Analyzing running processes</a:t>
            </a:r>
          </a:p>
        </p:txBody>
      </p:sp>
      <p:sp>
        <p:nvSpPr>
          <p:cNvPr id="56" name="Rounded Rectangle 55"/>
          <p:cNvSpPr/>
          <p:nvPr/>
        </p:nvSpPr>
        <p:spPr>
          <a:xfrm>
            <a:off x="7287768" y="4114800"/>
            <a:ext cx="2103120" cy="162763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287768" y="4114800"/>
            <a:ext cx="64008" cy="16276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452360" y="4187952"/>
            <a:ext cx="1874519" cy="320040"/>
          </a:xfrm>
          <a:prstGeom prst="rect">
            <a:avLst/>
          </a:prstGeom>
          <a:noFill/>
        </p:spPr>
        <p:txBody>
          <a:bodyPr wrap="square" anchor="t" lIns="0" rIns="0" tIns="0" bIns="0">
            <a:spAutoFit/>
          </a:bodyPr>
          <a:lstStyle/>
          <a:p>
            <a:pPr algn="l">
              <a:lnSpc>
                <a:spcPct val="110000"/>
              </a:lnSpc>
              <a:spcAft>
                <a:spcPts val="300"/>
              </a:spcAft>
            </a:pPr>
            <a:r>
              <a:rPr sz="1250" b="1" i="0">
                <a:solidFill>
                  <a:srgbClr val="1F3864"/>
                </a:solidFill>
                <a:latin typeface="Consolas"/>
              </a:rPr>
              <a:t>/opt</a:t>
            </a:r>
          </a:p>
        </p:txBody>
      </p:sp>
      <p:sp>
        <p:nvSpPr>
          <p:cNvPr id="59" name="TextBox 58"/>
          <p:cNvSpPr txBox="1"/>
          <p:nvPr/>
        </p:nvSpPr>
        <p:spPr>
          <a:xfrm>
            <a:off x="7452360" y="4526280"/>
            <a:ext cx="1874519" cy="320040"/>
          </a:xfrm>
          <a:prstGeom prst="rect">
            <a:avLst/>
          </a:prstGeom>
          <a:noFill/>
        </p:spPr>
        <p:txBody>
          <a:bodyPr wrap="square" anchor="t" lIns="0" rIns="0" tIns="0" bIns="0">
            <a:spAutoFit/>
          </a:bodyPr>
          <a:lstStyle/>
          <a:p>
            <a:pPr algn="l">
              <a:lnSpc>
                <a:spcPct val="110000"/>
              </a:lnSpc>
              <a:spcAft>
                <a:spcPts val="300"/>
              </a:spcAft>
            </a:pPr>
            <a:r>
              <a:rPr sz="1200" b="1" i="0">
                <a:solidFill>
                  <a:srgbClr val="1F3864"/>
                </a:solidFill>
                <a:latin typeface="Times New Roman"/>
              </a:rPr>
              <a:t>extra software</a:t>
            </a:r>
          </a:p>
        </p:txBody>
      </p:sp>
      <p:sp>
        <p:nvSpPr>
          <p:cNvPr id="60" name="TextBox 59"/>
          <p:cNvSpPr txBox="1"/>
          <p:nvPr/>
        </p:nvSpPr>
        <p:spPr>
          <a:xfrm>
            <a:off x="7452360" y="4892040"/>
            <a:ext cx="1874519" cy="822960"/>
          </a:xfrm>
          <a:prstGeom prst="rect">
            <a:avLst/>
          </a:prstGeom>
          <a:noFill/>
        </p:spPr>
        <p:txBody>
          <a:bodyPr wrap="square" anchor="t" lIns="0" rIns="0" tIns="0" bIns="0">
            <a:spAutoFit/>
          </a:bodyPr>
          <a:lstStyle/>
          <a:p>
            <a:pPr algn="l">
              <a:lnSpc>
                <a:spcPct val="110000"/>
              </a:lnSpc>
              <a:spcAft>
                <a:spcPts val="300"/>
              </a:spcAft>
            </a:pPr>
            <a:r>
              <a:rPr sz="1100" b="0" i="1">
                <a:solidFill>
                  <a:srgbClr val="54647A"/>
                </a:solidFill>
                <a:latin typeface="Times New Roman"/>
              </a:rPr>
              <a:t>Manually installed tools</a:t>
            </a:r>
          </a:p>
        </p:txBody>
      </p:sp>
      <p:sp>
        <p:nvSpPr>
          <p:cNvPr id="61" name="Rounded Rectangle 60"/>
          <p:cNvSpPr/>
          <p:nvPr/>
        </p:nvSpPr>
        <p:spPr>
          <a:xfrm>
            <a:off x="9528048" y="4114800"/>
            <a:ext cx="2103120" cy="1627632"/>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28048" y="4114800"/>
            <a:ext cx="64008" cy="1627632"/>
          </a:xfrm>
          <a:prstGeom prst="rect">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692640" y="4187952"/>
            <a:ext cx="1874519" cy="32004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Consolas"/>
              </a:rPr>
              <a:t>/usr/share</a:t>
            </a:r>
          </a:p>
        </p:txBody>
      </p:sp>
      <p:sp>
        <p:nvSpPr>
          <p:cNvPr id="64" name="TextBox 63"/>
          <p:cNvSpPr txBox="1"/>
          <p:nvPr/>
        </p:nvSpPr>
        <p:spPr>
          <a:xfrm>
            <a:off x="9692640" y="4526280"/>
            <a:ext cx="1874519" cy="320040"/>
          </a:xfrm>
          <a:prstGeom prst="rect">
            <a:avLst/>
          </a:prstGeom>
          <a:noFill/>
        </p:spPr>
        <p:txBody>
          <a:bodyPr wrap="square" anchor="t" lIns="0" rIns="0" tIns="0" bIns="0">
            <a:spAutoFit/>
          </a:bodyPr>
          <a:lstStyle/>
          <a:p>
            <a:pPr algn="l">
              <a:lnSpc>
                <a:spcPct val="110000"/>
              </a:lnSpc>
              <a:spcAft>
                <a:spcPts val="300"/>
              </a:spcAft>
            </a:pPr>
            <a:r>
              <a:rPr sz="1200" b="1" i="0">
                <a:solidFill>
                  <a:srgbClr val="1F3864"/>
                </a:solidFill>
                <a:latin typeface="Times New Roman"/>
              </a:rPr>
              <a:t>shared data</a:t>
            </a:r>
          </a:p>
        </p:txBody>
      </p:sp>
      <p:sp>
        <p:nvSpPr>
          <p:cNvPr id="65" name="TextBox 64"/>
          <p:cNvSpPr txBox="1"/>
          <p:nvPr/>
        </p:nvSpPr>
        <p:spPr>
          <a:xfrm>
            <a:off x="9692640" y="4892040"/>
            <a:ext cx="1874519" cy="822960"/>
          </a:xfrm>
          <a:prstGeom prst="rect">
            <a:avLst/>
          </a:prstGeom>
          <a:noFill/>
        </p:spPr>
        <p:txBody>
          <a:bodyPr wrap="square" anchor="t" lIns="0" rIns="0" tIns="0" bIns="0">
            <a:spAutoFit/>
          </a:bodyPr>
          <a:lstStyle/>
          <a:p>
            <a:pPr algn="l">
              <a:lnSpc>
                <a:spcPct val="110000"/>
              </a:lnSpc>
              <a:spcAft>
                <a:spcPts val="300"/>
              </a:spcAft>
            </a:pPr>
            <a:r>
              <a:rPr sz="1100" b="0" i="1">
                <a:solidFill>
                  <a:srgbClr val="54647A"/>
                </a:solidFill>
                <a:latin typeface="Times New Roman"/>
              </a:rPr>
              <a:t>/usr/share/wordlists — password lists</a:t>
            </a:r>
          </a:p>
        </p:txBody>
      </p:sp>
      <p:sp>
        <p:nvSpPr>
          <p:cNvPr id="66" name="Rounded Rectangle 65"/>
          <p:cNvSpPr/>
          <p:nvPr/>
        </p:nvSpPr>
        <p:spPr>
          <a:xfrm>
            <a:off x="566928" y="5943600"/>
            <a:ext cx="8778240" cy="384048"/>
          </a:xfrm>
          <a:prstGeom prst="roundRect">
            <a:avLst>
              <a:gd name="adj" fmla="val 8000"/>
            </a:avLst>
          </a:prstGeom>
          <a:solidFill>
            <a:srgbClr val="F5F8FC"/>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search_1F3864.png"/>
          <p:cNvPicPr>
            <a:picLocks noChangeAspect="1"/>
          </p:cNvPicPr>
          <p:nvPr/>
        </p:nvPicPr>
        <p:blipFill>
          <a:blip r:embed="rId3"/>
          <a:stretch>
            <a:fillRect/>
          </a:stretch>
        </p:blipFill>
        <p:spPr>
          <a:xfrm>
            <a:off x="694944" y="5971032"/>
            <a:ext cx="329184" cy="329184"/>
          </a:xfrm>
          <a:prstGeom prst="rect">
            <a:avLst/>
          </a:prstGeom>
        </p:spPr>
      </p:pic>
      <p:sp>
        <p:nvSpPr>
          <p:cNvPr id="68" name="TextBox 67"/>
          <p:cNvSpPr txBox="1"/>
          <p:nvPr/>
        </p:nvSpPr>
        <p:spPr>
          <a:xfrm>
            <a:off x="1133856" y="5943600"/>
            <a:ext cx="8092440" cy="384048"/>
          </a:xfrm>
          <a:prstGeom prst="rect">
            <a:avLst/>
          </a:prstGeom>
          <a:noFill/>
        </p:spPr>
        <p:txBody>
          <a:bodyPr wrap="square" anchor="ctr" lIns="0" rIns="0" tIns="0" bIns="0">
            <a:spAutoFit/>
          </a:bodyPr>
          <a:lstStyle/>
          <a:p>
            <a:pPr algn="l">
              <a:lnSpc>
                <a:spcPct val="110000"/>
              </a:lnSpc>
              <a:spcAft>
                <a:spcPts val="300"/>
              </a:spcAft>
            </a:pPr>
            <a:r>
              <a:rPr sz="1150" b="0" i="0">
                <a:solidFill>
                  <a:srgbClr val="202A38"/>
                </a:solidFill>
                <a:latin typeface="Times New Roman"/>
              </a:rPr>
              <a:t>A USB stick and a second disk mount into the same tree: </a:t>
            </a:r>
            <a:r>
              <a:rPr sz="1100" b="1" i="0">
                <a:solidFill>
                  <a:srgbClr val="178A73"/>
                </a:solidFill>
                <a:latin typeface="Consolas"/>
              </a:rPr>
              <a:t>/media/kali/...</a:t>
            </a:r>
          </a:p>
        </p:txBody>
      </p:sp>
      <p:sp>
        <p:nvSpPr>
          <p:cNvPr id="69" name="Rounded Rectangle 68">
            <a:hlinkClick action="ppaction://hlinksldjump" r:id="rId4"/>
          </p:cNvPr>
          <p:cNvSpPr/>
          <p:nvPr/>
        </p:nvSpPr>
        <p:spPr>
          <a:xfrm>
            <a:off x="9509760" y="5980176"/>
            <a:ext cx="928115" cy="310896"/>
          </a:xfrm>
          <a:prstGeom prst="roundRect">
            <a:avLst>
              <a:gd name="adj" fmla="val 50000"/>
            </a:avLst>
          </a:prstGeom>
          <a:solidFill>
            <a:srgbClr val="FFFFFF"/>
          </a:solidFill>
          <a:ln w="19050">
            <a:solidFill>
              <a:srgbClr val="178A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78A73"/>
                </a:solidFill>
                <a:latin typeface="Consolas"/>
              </a:rPr>
              <a:t>?  FHS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QUESTION 2 · PATHS</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Absolute and relative path: how to write a file address</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19</a:t>
            </a:r>
          </a:p>
        </p:txBody>
      </p:sp>
      <p:sp>
        <p:nvSpPr>
          <p:cNvPr id="8" name="TextBox 7"/>
          <p:cNvSpPr txBox="1"/>
          <p:nvPr/>
        </p:nvSpPr>
        <p:spPr>
          <a:xfrm>
            <a:off x="566928" y="1554480"/>
            <a:ext cx="502920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1F3864"/>
                </a:solidFill>
                <a:latin typeface="Times New Roman"/>
              </a:rPr>
              <a:t>A path along the tree</a:t>
            </a:r>
          </a:p>
        </p:txBody>
      </p:sp>
      <p:sp>
        <p:nvSpPr>
          <p:cNvPr id="9" name="Rounded Rectangle 8"/>
          <p:cNvSpPr/>
          <p:nvPr/>
        </p:nvSpPr>
        <p:spPr>
          <a:xfrm>
            <a:off x="731520" y="1920240"/>
            <a:ext cx="1325880" cy="384048"/>
          </a:xfrm>
          <a:prstGeom prst="roundRect">
            <a:avLst>
              <a:gd name="adj" fmla="val 12000"/>
            </a:avLst>
          </a:prstGeom>
          <a:solidFill>
            <a:srgbClr val="122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a:t>
            </a:r>
          </a:p>
        </p:txBody>
      </p:sp>
      <p:sp>
        <p:nvSpPr>
          <p:cNvPr id="10" name="Rectangle 9"/>
          <p:cNvSpPr/>
          <p:nvPr/>
        </p:nvSpPr>
        <p:spPr>
          <a:xfrm>
            <a:off x="1143000" y="2606040"/>
            <a:ext cx="411480" cy="27432"/>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554480" y="2423160"/>
            <a:ext cx="1325880" cy="384048"/>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home</a:t>
            </a:r>
          </a:p>
        </p:txBody>
      </p:sp>
      <p:sp>
        <p:nvSpPr>
          <p:cNvPr id="12" name="Rectangle 11"/>
          <p:cNvSpPr/>
          <p:nvPr/>
        </p:nvSpPr>
        <p:spPr>
          <a:xfrm>
            <a:off x="1965960" y="3108960"/>
            <a:ext cx="411480" cy="27432"/>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377440" y="2926080"/>
            <a:ext cx="1325880" cy="384048"/>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kali</a:t>
            </a:r>
          </a:p>
        </p:txBody>
      </p:sp>
      <p:sp>
        <p:nvSpPr>
          <p:cNvPr id="14" name="Rectangle 13"/>
          <p:cNvSpPr/>
          <p:nvPr/>
        </p:nvSpPr>
        <p:spPr>
          <a:xfrm>
            <a:off x="2788920" y="3611880"/>
            <a:ext cx="411480" cy="27432"/>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0" y="3429000"/>
            <a:ext cx="1325880" cy="384048"/>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Documents</a:t>
            </a:r>
          </a:p>
        </p:txBody>
      </p:sp>
      <p:sp>
        <p:nvSpPr>
          <p:cNvPr id="16" name="Rectangle 15"/>
          <p:cNvSpPr/>
          <p:nvPr/>
        </p:nvSpPr>
        <p:spPr>
          <a:xfrm>
            <a:off x="2788920" y="4114800"/>
            <a:ext cx="411480" cy="27432"/>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200400" y="3931920"/>
            <a:ext cx="1325880" cy="384048"/>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Desktop</a:t>
            </a:r>
          </a:p>
        </p:txBody>
      </p:sp>
      <p:sp>
        <p:nvSpPr>
          <p:cNvPr id="18" name="Rectangle 17"/>
          <p:cNvSpPr/>
          <p:nvPr/>
        </p:nvSpPr>
        <p:spPr>
          <a:xfrm>
            <a:off x="1143000" y="4617720"/>
            <a:ext cx="411480" cy="27432"/>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54480" y="4434840"/>
            <a:ext cx="1325880" cy="384048"/>
          </a:xfrm>
          <a:prstGeom prst="roundRect">
            <a:avLst>
              <a:gd name="adj" fmla="val 12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etc</a:t>
            </a:r>
          </a:p>
        </p:txBody>
      </p:sp>
      <p:sp>
        <p:nvSpPr>
          <p:cNvPr id="20" name="Rectangle 19"/>
          <p:cNvSpPr/>
          <p:nvPr/>
        </p:nvSpPr>
        <p:spPr>
          <a:xfrm>
            <a:off x="1965960" y="5120640"/>
            <a:ext cx="411480" cy="27432"/>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377440" y="4937760"/>
            <a:ext cx="1325880" cy="384048"/>
          </a:xfrm>
          <a:prstGeom prst="roundRect">
            <a:avLst>
              <a:gd name="adj" fmla="val 12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hostname</a:t>
            </a:r>
          </a:p>
        </p:txBody>
      </p:sp>
      <p:sp>
        <p:nvSpPr>
          <p:cNvPr id="22" name="Rectangle 21"/>
          <p:cNvSpPr/>
          <p:nvPr/>
        </p:nvSpPr>
        <p:spPr>
          <a:xfrm>
            <a:off x="1143000" y="2304288"/>
            <a:ext cx="27432" cy="2331720"/>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965960" y="2807208"/>
            <a:ext cx="27432" cy="320040"/>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788920" y="3310128"/>
            <a:ext cx="27432" cy="822960"/>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965960" y="4818888"/>
            <a:ext cx="27432" cy="320040"/>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572000" y="1600200"/>
            <a:ext cx="7040880" cy="132588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0" y="1600200"/>
            <a:ext cx="64008" cy="13258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73168" y="1673352"/>
            <a:ext cx="6675120" cy="274320"/>
          </a:xfrm>
          <a:prstGeom prst="rect">
            <a:avLst/>
          </a:prstGeom>
          <a:noFill/>
        </p:spPr>
        <p:txBody>
          <a:bodyPr wrap="square" anchor="t" lIns="0" rIns="0" tIns="0" bIns="0">
            <a:spAutoFit/>
          </a:bodyPr>
          <a:lstStyle/>
          <a:p>
            <a:pPr algn="l">
              <a:lnSpc>
                <a:spcPct val="110000"/>
              </a:lnSpc>
              <a:spcAft>
                <a:spcPts val="300"/>
              </a:spcAft>
            </a:pPr>
            <a:r>
              <a:rPr sz="1350" b="1" i="0">
                <a:solidFill>
                  <a:srgbClr val="1F3864"/>
                </a:solidFill>
                <a:latin typeface="Times New Roman"/>
              </a:rPr>
              <a:t>Absolute path — always starts from </a:t>
            </a:r>
            <a:r>
              <a:rPr sz="1300" b="1" i="0">
                <a:solidFill>
                  <a:srgbClr val="178A73"/>
                </a:solidFill>
                <a:latin typeface="Consolas"/>
              </a:rPr>
              <a:t>/</a:t>
            </a:r>
          </a:p>
        </p:txBody>
      </p:sp>
      <p:sp>
        <p:nvSpPr>
          <p:cNvPr id="29" name="TextBox 28"/>
          <p:cNvSpPr txBox="1"/>
          <p:nvPr/>
        </p:nvSpPr>
        <p:spPr>
          <a:xfrm>
            <a:off x="4773168" y="2011680"/>
            <a:ext cx="6675120" cy="868680"/>
          </a:xfrm>
          <a:prstGeom prst="rect">
            <a:avLst/>
          </a:prstGeom>
          <a:noFill/>
        </p:spPr>
        <p:txBody>
          <a:bodyPr wrap="square" anchor="t" lIns="0" rIns="0" tIns="0" bIns="0">
            <a:spAutoFit/>
          </a:bodyPr>
          <a:lstStyle/>
          <a:p>
            <a:pPr algn="l">
              <a:lnSpc>
                <a:spcPct val="110000"/>
              </a:lnSpc>
              <a:spcAft>
                <a:spcPts val="400"/>
              </a:spcAft>
            </a:pPr>
            <a:r>
              <a:rPr sz="1250" b="1">
                <a:solidFill>
                  <a:srgbClr val="178A73"/>
                </a:solidFill>
                <a:latin typeface="Times New Roman"/>
              </a:rPr>
              <a:t>▸  </a:t>
            </a:r>
            <a:r>
              <a:rPr sz="1200" b="1" i="0">
                <a:solidFill>
                  <a:srgbClr val="178A73"/>
                </a:solidFill>
                <a:latin typeface="Consolas"/>
              </a:rPr>
              <a:t>/home/kali/Documents</a:t>
            </a:r>
            <a:r>
              <a:rPr sz="1250" b="0" i="0">
                <a:solidFill>
                  <a:srgbClr val="202A38"/>
                </a:solidFill>
                <a:latin typeface="Times New Roman"/>
              </a:rPr>
              <a:t> — same place wherever you stand</a:t>
            </a:r>
          </a:p>
          <a:p>
            <a:pPr algn="l">
              <a:lnSpc>
                <a:spcPct val="110000"/>
              </a:lnSpc>
              <a:spcAft>
                <a:spcPts val="400"/>
              </a:spcAft>
            </a:pPr>
            <a:r>
              <a:rPr sz="1250" b="1">
                <a:solidFill>
                  <a:srgbClr val="178A73"/>
                </a:solidFill>
                <a:latin typeface="Times New Roman"/>
              </a:rPr>
              <a:t>▸  </a:t>
            </a:r>
            <a:r>
              <a:rPr sz="1200" b="1" i="0">
                <a:solidFill>
                  <a:srgbClr val="178A73"/>
                </a:solidFill>
                <a:latin typeface="Consolas"/>
              </a:rPr>
              <a:t>/etc/hostname</a:t>
            </a:r>
          </a:p>
        </p:txBody>
      </p:sp>
      <p:sp>
        <p:nvSpPr>
          <p:cNvPr id="30" name="Rounded Rectangle 29"/>
          <p:cNvSpPr/>
          <p:nvPr/>
        </p:nvSpPr>
        <p:spPr>
          <a:xfrm>
            <a:off x="4572000" y="3063240"/>
            <a:ext cx="7040880" cy="132588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0" y="3063240"/>
            <a:ext cx="64008" cy="1325880"/>
          </a:xfrm>
          <a:prstGeom prst="rect">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73168" y="3136392"/>
            <a:ext cx="6675120" cy="274320"/>
          </a:xfrm>
          <a:prstGeom prst="rect">
            <a:avLst/>
          </a:prstGeom>
          <a:noFill/>
        </p:spPr>
        <p:txBody>
          <a:bodyPr wrap="square" anchor="t" lIns="0" rIns="0" tIns="0" bIns="0">
            <a:spAutoFit/>
          </a:bodyPr>
          <a:lstStyle/>
          <a:p>
            <a:pPr algn="l">
              <a:lnSpc>
                <a:spcPct val="110000"/>
              </a:lnSpc>
              <a:spcAft>
                <a:spcPts val="300"/>
              </a:spcAft>
            </a:pPr>
            <a:r>
              <a:rPr sz="1350" b="1" i="0">
                <a:solidFill>
                  <a:srgbClr val="178A73"/>
                </a:solidFill>
                <a:latin typeface="Times New Roman"/>
              </a:rPr>
              <a:t>Relative path — counted from the current directory</a:t>
            </a:r>
          </a:p>
        </p:txBody>
      </p:sp>
      <p:sp>
        <p:nvSpPr>
          <p:cNvPr id="33" name="TextBox 32"/>
          <p:cNvSpPr txBox="1"/>
          <p:nvPr/>
        </p:nvSpPr>
        <p:spPr>
          <a:xfrm>
            <a:off x="4773168" y="3474720"/>
            <a:ext cx="6675120" cy="868680"/>
          </a:xfrm>
          <a:prstGeom prst="rect">
            <a:avLst/>
          </a:prstGeom>
          <a:noFill/>
        </p:spPr>
        <p:txBody>
          <a:bodyPr wrap="square" anchor="t" lIns="0" rIns="0" tIns="0" bIns="0">
            <a:spAutoFit/>
          </a:bodyPr>
          <a:lstStyle/>
          <a:p>
            <a:pPr algn="l">
              <a:lnSpc>
                <a:spcPct val="110000"/>
              </a:lnSpc>
              <a:spcAft>
                <a:spcPts val="400"/>
              </a:spcAft>
            </a:pPr>
            <a:r>
              <a:rPr sz="1250" b="1">
                <a:solidFill>
                  <a:srgbClr val="178A73"/>
                </a:solidFill>
                <a:latin typeface="Times New Roman"/>
              </a:rPr>
              <a:t>▸  </a:t>
            </a:r>
            <a:r>
              <a:rPr sz="1250" b="0" i="0">
                <a:solidFill>
                  <a:srgbClr val="202A38"/>
                </a:solidFill>
                <a:latin typeface="Times New Roman"/>
              </a:rPr>
              <a:t>in </a:t>
            </a:r>
            <a:r>
              <a:rPr sz="1200" b="1" i="0">
                <a:solidFill>
                  <a:srgbClr val="178A73"/>
                </a:solidFill>
                <a:latin typeface="Consolas"/>
              </a:rPr>
              <a:t>/home/kali</a:t>
            </a:r>
            <a:r>
              <a:rPr sz="1250" b="0" i="0">
                <a:solidFill>
                  <a:srgbClr val="202A38"/>
                </a:solidFill>
                <a:latin typeface="Times New Roman"/>
              </a:rPr>
              <a:t>: </a:t>
            </a:r>
            <a:r>
              <a:rPr sz="1200" b="1" i="0">
                <a:solidFill>
                  <a:srgbClr val="178A73"/>
                </a:solidFill>
                <a:latin typeface="Consolas"/>
              </a:rPr>
              <a:t>Documents</a:t>
            </a:r>
            <a:r>
              <a:rPr sz="1250" b="0" i="0">
                <a:solidFill>
                  <a:srgbClr val="202A38"/>
                </a:solidFill>
                <a:latin typeface="Times New Roman"/>
              </a:rPr>
              <a:t> = </a:t>
            </a:r>
            <a:r>
              <a:rPr sz="1200" b="1" i="0">
                <a:solidFill>
                  <a:srgbClr val="178A73"/>
                </a:solidFill>
                <a:latin typeface="Consolas"/>
              </a:rPr>
              <a:t>/home/kali/Documents</a:t>
            </a:r>
          </a:p>
          <a:p>
            <a:pPr algn="l">
              <a:lnSpc>
                <a:spcPct val="110000"/>
              </a:lnSpc>
              <a:spcAft>
                <a:spcPts val="400"/>
              </a:spcAft>
            </a:pPr>
            <a:r>
              <a:rPr sz="1250" b="1">
                <a:solidFill>
                  <a:srgbClr val="178A73"/>
                </a:solidFill>
                <a:latin typeface="Times New Roman"/>
              </a:rPr>
              <a:t>▸  </a:t>
            </a:r>
            <a:r>
              <a:rPr sz="1250" b="0" i="0">
                <a:solidFill>
                  <a:srgbClr val="202A38"/>
                </a:solidFill>
                <a:latin typeface="Times New Roman"/>
              </a:rPr>
              <a:t>in </a:t>
            </a:r>
            <a:r>
              <a:rPr sz="1200" b="1" i="0">
                <a:solidFill>
                  <a:srgbClr val="178A73"/>
                </a:solidFill>
                <a:latin typeface="Consolas"/>
              </a:rPr>
              <a:t>/home/kali</a:t>
            </a:r>
            <a:r>
              <a:rPr sz="1250" b="0" i="0">
                <a:solidFill>
                  <a:srgbClr val="202A38"/>
                </a:solidFill>
                <a:latin typeface="Times New Roman"/>
              </a:rPr>
              <a:t>: </a:t>
            </a:r>
            <a:r>
              <a:rPr sz="1200" b="1" i="0">
                <a:solidFill>
                  <a:srgbClr val="178A73"/>
                </a:solidFill>
                <a:latin typeface="Consolas"/>
              </a:rPr>
              <a:t>../../etc</a:t>
            </a:r>
            <a:r>
              <a:rPr sz="1250" b="0" i="0">
                <a:solidFill>
                  <a:srgbClr val="202A38"/>
                </a:solidFill>
                <a:latin typeface="Times New Roman"/>
              </a:rPr>
              <a:t> = </a:t>
            </a:r>
            <a:r>
              <a:rPr sz="1200" b="1" i="0">
                <a:solidFill>
                  <a:srgbClr val="178A73"/>
                </a:solidFill>
                <a:latin typeface="Consolas"/>
              </a:rPr>
              <a:t>/etc</a:t>
            </a:r>
          </a:p>
        </p:txBody>
      </p:sp>
      <p:sp>
        <p:nvSpPr>
          <p:cNvPr id="34" name="Rounded Rectangle 33"/>
          <p:cNvSpPr/>
          <p:nvPr/>
        </p:nvSpPr>
        <p:spPr>
          <a:xfrm>
            <a:off x="4572000" y="4572000"/>
            <a:ext cx="1325880" cy="502920"/>
          </a:xfrm>
          <a:prstGeom prst="roundRect">
            <a:avLst>
              <a:gd name="adj" fmla="val 12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700" b="1" i="0">
                <a:solidFill>
                  <a:srgbClr val="FFFFFF"/>
                </a:solidFill>
                <a:latin typeface="Times New Roman"/>
              </a:rPr>
              <a:t>~</a:t>
            </a:r>
          </a:p>
        </p:txBody>
      </p:sp>
      <p:sp>
        <p:nvSpPr>
          <p:cNvPr id="35" name="TextBox 34"/>
          <p:cNvSpPr txBox="1"/>
          <p:nvPr/>
        </p:nvSpPr>
        <p:spPr>
          <a:xfrm>
            <a:off x="4572000" y="5120640"/>
            <a:ext cx="1325880" cy="274320"/>
          </a:xfrm>
          <a:prstGeom prst="rect">
            <a:avLst/>
          </a:prstGeom>
          <a:noFill/>
        </p:spPr>
        <p:txBody>
          <a:bodyPr wrap="square" anchor="t" lIns="0" rIns="0" tIns="0" bIns="0">
            <a:spAutoFit/>
          </a:bodyPr>
          <a:lstStyle/>
          <a:p>
            <a:pPr algn="ctr">
              <a:lnSpc>
                <a:spcPct val="110000"/>
              </a:lnSpc>
              <a:spcAft>
                <a:spcPts val="300"/>
              </a:spcAft>
            </a:pPr>
            <a:r>
              <a:rPr sz="1100" b="0" i="1">
                <a:solidFill>
                  <a:srgbClr val="54647A"/>
                </a:solidFill>
                <a:latin typeface="Times New Roman"/>
              </a:rPr>
              <a:t>home directory</a:t>
            </a:r>
          </a:p>
        </p:txBody>
      </p:sp>
      <p:sp>
        <p:nvSpPr>
          <p:cNvPr id="36" name="Rounded Rectangle 35"/>
          <p:cNvSpPr/>
          <p:nvPr/>
        </p:nvSpPr>
        <p:spPr>
          <a:xfrm>
            <a:off x="5998464" y="4572000"/>
            <a:ext cx="1325880" cy="502920"/>
          </a:xfrm>
          <a:prstGeom prst="roundRect">
            <a:avLst>
              <a:gd name="adj" fmla="val 12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700" b="1" i="0">
                <a:solidFill>
                  <a:srgbClr val="FFFFFF"/>
                </a:solidFill>
                <a:latin typeface="Times New Roman"/>
              </a:rPr>
              <a:t>.</a:t>
            </a:r>
          </a:p>
        </p:txBody>
      </p:sp>
      <p:sp>
        <p:nvSpPr>
          <p:cNvPr id="37" name="TextBox 36"/>
          <p:cNvSpPr txBox="1"/>
          <p:nvPr/>
        </p:nvSpPr>
        <p:spPr>
          <a:xfrm>
            <a:off x="5998464" y="5120640"/>
            <a:ext cx="1325880" cy="274320"/>
          </a:xfrm>
          <a:prstGeom prst="rect">
            <a:avLst/>
          </a:prstGeom>
          <a:noFill/>
        </p:spPr>
        <p:txBody>
          <a:bodyPr wrap="square" anchor="t" lIns="0" rIns="0" tIns="0" bIns="0">
            <a:spAutoFit/>
          </a:bodyPr>
          <a:lstStyle/>
          <a:p>
            <a:pPr algn="ctr">
              <a:lnSpc>
                <a:spcPct val="110000"/>
              </a:lnSpc>
              <a:spcAft>
                <a:spcPts val="300"/>
              </a:spcAft>
            </a:pPr>
            <a:r>
              <a:rPr sz="1100" b="0" i="1">
                <a:solidFill>
                  <a:srgbClr val="54647A"/>
                </a:solidFill>
                <a:latin typeface="Times New Roman"/>
              </a:rPr>
              <a:t>current directory</a:t>
            </a:r>
          </a:p>
        </p:txBody>
      </p:sp>
      <p:sp>
        <p:nvSpPr>
          <p:cNvPr id="38" name="Rounded Rectangle 37"/>
          <p:cNvSpPr/>
          <p:nvPr/>
        </p:nvSpPr>
        <p:spPr>
          <a:xfrm>
            <a:off x="7424928" y="4572000"/>
            <a:ext cx="1325880" cy="502920"/>
          </a:xfrm>
          <a:prstGeom prst="roundRect">
            <a:avLst>
              <a:gd name="adj" fmla="val 12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700" b="1" i="0">
                <a:solidFill>
                  <a:srgbClr val="FFFFFF"/>
                </a:solidFill>
                <a:latin typeface="Times New Roman"/>
              </a:rPr>
              <a:t>..</a:t>
            </a:r>
          </a:p>
        </p:txBody>
      </p:sp>
      <p:sp>
        <p:nvSpPr>
          <p:cNvPr id="39" name="TextBox 38"/>
          <p:cNvSpPr txBox="1"/>
          <p:nvPr/>
        </p:nvSpPr>
        <p:spPr>
          <a:xfrm>
            <a:off x="7424928" y="5120640"/>
            <a:ext cx="1325880" cy="274320"/>
          </a:xfrm>
          <a:prstGeom prst="rect">
            <a:avLst/>
          </a:prstGeom>
          <a:noFill/>
        </p:spPr>
        <p:txBody>
          <a:bodyPr wrap="square" anchor="t" lIns="0" rIns="0" tIns="0" bIns="0">
            <a:spAutoFit/>
          </a:bodyPr>
          <a:lstStyle/>
          <a:p>
            <a:pPr algn="ctr">
              <a:lnSpc>
                <a:spcPct val="110000"/>
              </a:lnSpc>
              <a:spcAft>
                <a:spcPts val="300"/>
              </a:spcAft>
            </a:pPr>
            <a:r>
              <a:rPr sz="1100" b="0" i="1">
                <a:solidFill>
                  <a:srgbClr val="54647A"/>
                </a:solidFill>
                <a:latin typeface="Times New Roman"/>
              </a:rPr>
              <a:t>parent directory</a:t>
            </a:r>
          </a:p>
        </p:txBody>
      </p:sp>
      <p:sp>
        <p:nvSpPr>
          <p:cNvPr id="40" name="Rounded Rectangle 39"/>
          <p:cNvSpPr/>
          <p:nvPr/>
        </p:nvSpPr>
        <p:spPr>
          <a:xfrm>
            <a:off x="8851392" y="4572000"/>
            <a:ext cx="1325880" cy="502920"/>
          </a:xfrm>
          <a:prstGeom prst="roundRect">
            <a:avLst>
              <a:gd name="adj" fmla="val 12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700" b="1" i="0">
                <a:solidFill>
                  <a:srgbClr val="FFFFFF"/>
                </a:solidFill>
                <a:latin typeface="Times New Roman"/>
              </a:rPr>
              <a:t>-</a:t>
            </a:r>
          </a:p>
        </p:txBody>
      </p:sp>
      <p:sp>
        <p:nvSpPr>
          <p:cNvPr id="41" name="TextBox 40"/>
          <p:cNvSpPr txBox="1"/>
          <p:nvPr/>
        </p:nvSpPr>
        <p:spPr>
          <a:xfrm>
            <a:off x="8851392" y="5120640"/>
            <a:ext cx="1325880" cy="274320"/>
          </a:xfrm>
          <a:prstGeom prst="rect">
            <a:avLst/>
          </a:prstGeom>
          <a:noFill/>
        </p:spPr>
        <p:txBody>
          <a:bodyPr wrap="square" anchor="t" lIns="0" rIns="0" tIns="0" bIns="0">
            <a:spAutoFit/>
          </a:bodyPr>
          <a:lstStyle/>
          <a:p>
            <a:pPr algn="ctr">
              <a:lnSpc>
                <a:spcPct val="110000"/>
              </a:lnSpc>
              <a:spcAft>
                <a:spcPts val="300"/>
              </a:spcAft>
            </a:pPr>
            <a:r>
              <a:rPr sz="1100" b="0" i="1">
                <a:solidFill>
                  <a:srgbClr val="54647A"/>
                </a:solidFill>
                <a:latin typeface="Times New Roman"/>
              </a:rPr>
              <a:t>previous (cd -)</a:t>
            </a:r>
          </a:p>
        </p:txBody>
      </p:sp>
      <p:sp>
        <p:nvSpPr>
          <p:cNvPr id="42" name="Rounded Rectangle 41"/>
          <p:cNvSpPr/>
          <p:nvPr/>
        </p:nvSpPr>
        <p:spPr>
          <a:xfrm>
            <a:off x="10277856" y="4572000"/>
            <a:ext cx="1325880" cy="502920"/>
          </a:xfrm>
          <a:prstGeom prst="roundRect">
            <a:avLst>
              <a:gd name="adj" fmla="val 12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700" b="1" i="0">
                <a:solidFill>
                  <a:srgbClr val="FFFFFF"/>
                </a:solidFill>
                <a:latin typeface="Times New Roman"/>
              </a:rPr>
              <a:t>.name</a:t>
            </a:r>
          </a:p>
        </p:txBody>
      </p:sp>
      <p:sp>
        <p:nvSpPr>
          <p:cNvPr id="43" name="TextBox 42"/>
          <p:cNvSpPr txBox="1"/>
          <p:nvPr/>
        </p:nvSpPr>
        <p:spPr>
          <a:xfrm>
            <a:off x="10277856" y="5120640"/>
            <a:ext cx="1325880" cy="274320"/>
          </a:xfrm>
          <a:prstGeom prst="rect">
            <a:avLst/>
          </a:prstGeom>
          <a:noFill/>
        </p:spPr>
        <p:txBody>
          <a:bodyPr wrap="square" anchor="t" lIns="0" rIns="0" tIns="0" bIns="0">
            <a:spAutoFit/>
          </a:bodyPr>
          <a:lstStyle/>
          <a:p>
            <a:pPr algn="ctr">
              <a:lnSpc>
                <a:spcPct val="110000"/>
              </a:lnSpc>
              <a:spcAft>
                <a:spcPts val="300"/>
              </a:spcAft>
            </a:pPr>
            <a:r>
              <a:rPr sz="1100" b="0" i="1">
                <a:solidFill>
                  <a:srgbClr val="54647A"/>
                </a:solidFill>
                <a:latin typeface="Times New Roman"/>
              </a:rPr>
              <a:t>hidden file</a:t>
            </a:r>
          </a:p>
        </p:txBody>
      </p:sp>
      <p:sp>
        <p:nvSpPr>
          <p:cNvPr id="44" name="Rounded Rectangle 43"/>
          <p:cNvSpPr/>
          <p:nvPr/>
        </p:nvSpPr>
        <p:spPr>
          <a:xfrm>
            <a:off x="566928" y="5577840"/>
            <a:ext cx="11045952" cy="685800"/>
          </a:xfrm>
          <a:prstGeom prst="roundRect">
            <a:avLst>
              <a:gd name="adj" fmla="val 8000"/>
            </a:avLst>
          </a:prstGeom>
          <a:solidFill>
            <a:srgbClr val="FFF6E5"/>
          </a:solidFill>
          <a:ln w="15875">
            <a:solidFill>
              <a:srgbClr val="E08E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warning_E08E1D.png"/>
          <p:cNvPicPr>
            <a:picLocks noChangeAspect="1"/>
          </p:cNvPicPr>
          <p:nvPr/>
        </p:nvPicPr>
        <p:blipFill>
          <a:blip r:embed="rId3"/>
          <a:stretch>
            <a:fillRect/>
          </a:stretch>
        </p:blipFill>
        <p:spPr>
          <a:xfrm>
            <a:off x="694944" y="5756148"/>
            <a:ext cx="329184" cy="329184"/>
          </a:xfrm>
          <a:prstGeom prst="rect">
            <a:avLst/>
          </a:prstGeom>
        </p:spPr>
      </p:pic>
      <p:sp>
        <p:nvSpPr>
          <p:cNvPr id="46" name="TextBox 45"/>
          <p:cNvSpPr txBox="1"/>
          <p:nvPr/>
        </p:nvSpPr>
        <p:spPr>
          <a:xfrm>
            <a:off x="1133856" y="5577840"/>
            <a:ext cx="10360152" cy="685800"/>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Case matters: </a:t>
            </a:r>
            <a:r>
              <a:rPr sz="1150" b="1" i="0">
                <a:solidFill>
                  <a:srgbClr val="178A73"/>
                </a:solidFill>
                <a:latin typeface="Consolas"/>
              </a:rPr>
              <a:t>Report.txt</a:t>
            </a:r>
            <a:r>
              <a:rPr sz="1200" b="0" i="0">
                <a:solidFill>
                  <a:srgbClr val="202A38"/>
                </a:solidFill>
                <a:latin typeface="Times New Roman"/>
              </a:rPr>
              <a:t> ≠ </a:t>
            </a:r>
            <a:r>
              <a:rPr sz="1150" b="1" i="0">
                <a:solidFill>
                  <a:srgbClr val="178A73"/>
                </a:solidFill>
                <a:latin typeface="Consolas"/>
              </a:rPr>
              <a:t>report.txt</a:t>
            </a:r>
            <a:r>
              <a:rPr sz="1200" b="0" i="0">
                <a:solidFill>
                  <a:srgbClr val="202A38"/>
                </a:solidFill>
                <a:latin typeface="Times New Roman"/>
              </a:rPr>
              <a:t>. A space in a name goes in quotes: </a:t>
            </a:r>
            <a:r>
              <a:rPr sz="1150" b="1" i="0">
                <a:solidFill>
                  <a:srgbClr val="178A73"/>
                </a:solidFill>
                <a:latin typeface="Consolas"/>
              </a:rPr>
              <a:t>"My files"</a:t>
            </a:r>
            <a:r>
              <a:rPr sz="1200" b="0" i="0">
                <a:solidFill>
                  <a:srgbClr val="202A38"/>
                </a:solidFill>
                <a:latin typeface="Times New Roman"/>
              </a:rPr>
              <a:t>. The extension is only a hint for humans.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QUESTION 2 · TASK 2.1</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2.1 — Navigation: pwd, cd, ls</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20</a:t>
            </a:r>
          </a:p>
        </p:txBody>
      </p:sp>
      <p:sp>
        <p:nvSpPr>
          <p:cNvPr id="8" name="Rounded Rectangle 7"/>
          <p:cNvSpPr/>
          <p:nvPr/>
        </p:nvSpPr>
        <p:spPr>
          <a:xfrm>
            <a:off x="566928" y="1600200"/>
            <a:ext cx="5669280" cy="3017520"/>
          </a:xfrm>
          <a:prstGeom prst="roundRect">
            <a:avLst>
              <a:gd name="adj" fmla="val 4000"/>
            </a:avLst>
          </a:prstGeom>
          <a:solidFill>
            <a:srgbClr val="142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664208"/>
            <a:ext cx="5394960" cy="228600"/>
          </a:xfrm>
          <a:prstGeom prst="rect">
            <a:avLst/>
          </a:prstGeom>
          <a:noFill/>
        </p:spPr>
        <p:txBody>
          <a:bodyPr wrap="square" anchor="t" lIns="0" rIns="0" tIns="0" bIns="0">
            <a:spAutoFit/>
          </a:bodyPr>
          <a:lstStyle/>
          <a:p>
            <a:pPr algn="l">
              <a:lnSpc>
                <a:spcPct val="110000"/>
              </a:lnSpc>
              <a:spcAft>
                <a:spcPts val="300"/>
              </a:spcAft>
            </a:pPr>
            <a:r>
              <a:rPr sz="1000" b="1" i="0">
                <a:solidFill>
                  <a:srgbClr val="7FD1B9"/>
                </a:solidFill>
                <a:latin typeface="Consolas"/>
              </a:rPr>
              <a:t>Terminal</a:t>
            </a:r>
          </a:p>
        </p:txBody>
      </p:sp>
      <p:sp>
        <p:nvSpPr>
          <p:cNvPr id="10" name="TextBox 9"/>
          <p:cNvSpPr txBox="1"/>
          <p:nvPr/>
        </p:nvSpPr>
        <p:spPr>
          <a:xfrm>
            <a:off x="704088" y="1929384"/>
            <a:ext cx="5394960" cy="2633472"/>
          </a:xfrm>
          <a:prstGeom prst="rect">
            <a:avLst/>
          </a:prstGeom>
          <a:noFill/>
        </p:spPr>
        <p:txBody>
          <a:bodyPr wrap="square" lIns="0" rIns="0" tIns="0" bIns="0">
            <a:spAutoFit/>
          </a:bodyPr>
          <a:lstStyle/>
          <a:p>
            <a:pPr>
              <a:lnSpc>
                <a:spcPct val="100000"/>
              </a:lnSpc>
              <a:spcAft>
                <a:spcPts val="100"/>
              </a:spcAft>
            </a:pPr>
            <a:r>
              <a:rPr sz="1200" b="1">
                <a:solidFill>
                  <a:srgbClr val="E6EDF5"/>
                </a:solidFill>
                <a:latin typeface="Consolas"/>
              </a:rPr>
              <a:t>$ pwd                </a:t>
            </a:r>
            <a:r>
              <a:rPr sz="1100">
                <a:solidFill>
                  <a:srgbClr val="7FD1B9"/>
                </a:solidFill>
                <a:latin typeface="Consolas"/>
              </a:rPr>
              <a:t> # where am I? -&gt; /home/kali</a:t>
            </a:r>
          </a:p>
          <a:p>
            <a:pPr>
              <a:lnSpc>
                <a:spcPct val="100000"/>
              </a:lnSpc>
              <a:spcAft>
                <a:spcPts val="100"/>
              </a:spcAft>
            </a:pPr>
            <a:r>
              <a:rPr sz="1200" b="1">
                <a:solidFill>
                  <a:srgbClr val="E6EDF5"/>
                </a:solidFill>
                <a:latin typeface="Consolas"/>
              </a:rPr>
              <a:t>$ ls -la ~           </a:t>
            </a:r>
            <a:r>
              <a:rPr sz="1100">
                <a:solidFill>
                  <a:srgbClr val="7FD1B9"/>
                </a:solidFill>
                <a:latin typeface="Consolas"/>
              </a:rPr>
              <a:t> # detailed + hidden files</a:t>
            </a:r>
          </a:p>
          <a:p>
            <a:pPr>
              <a:lnSpc>
                <a:spcPct val="100000"/>
              </a:lnSpc>
              <a:spcAft>
                <a:spcPts val="100"/>
              </a:spcAft>
            </a:pPr>
            <a:r>
              <a:rPr sz="1200" b="1">
                <a:solidFill>
                  <a:srgbClr val="E6EDF5"/>
                </a:solidFill>
                <a:latin typeface="Consolas"/>
              </a:rPr>
              <a:t>$ ls -lh /usr/bin/nmap  </a:t>
            </a:r>
            <a:r>
              <a:rPr sz="1100">
                <a:solidFill>
                  <a:srgbClr val="7FD1B9"/>
                </a:solidFill>
                <a:latin typeface="Consolas"/>
              </a:rPr>
              <a:t> # size in KB/MB</a:t>
            </a:r>
          </a:p>
          <a:p>
            <a:pPr>
              <a:lnSpc>
                <a:spcPct val="100000"/>
              </a:lnSpc>
              <a:spcAft>
                <a:spcPts val="100"/>
              </a:spcAft>
            </a:pPr>
            <a:r>
              <a:rPr sz="1200" b="1">
                <a:solidFill>
                  <a:srgbClr val="E6EDF5"/>
                </a:solidFill>
                <a:latin typeface="Consolas"/>
              </a:rPr>
              <a:t>$ ls -lt /etc        </a:t>
            </a:r>
            <a:r>
              <a:rPr sz="1100">
                <a:solidFill>
                  <a:srgbClr val="7FD1B9"/>
                </a:solidFill>
                <a:latin typeface="Consolas"/>
              </a:rPr>
              <a:t> # by time</a:t>
            </a:r>
          </a:p>
          <a:p>
            <a:pPr>
              <a:lnSpc>
                <a:spcPct val="100000"/>
              </a:lnSpc>
              <a:spcAft>
                <a:spcPts val="100"/>
              </a:spcAft>
            </a:pPr>
            <a:r>
              <a:rPr sz="1200" b="1">
                <a:solidFill>
                  <a:srgbClr val="E6EDF5"/>
                </a:solidFill>
                <a:latin typeface="Consolas"/>
              </a:rPr>
              <a:t>$ ls -l /            </a:t>
            </a:r>
            <a:r>
              <a:rPr sz="1100">
                <a:solidFill>
                  <a:srgbClr val="7FD1B9"/>
                </a:solidFill>
                <a:latin typeface="Consolas"/>
              </a:rPr>
              <a:t> # note bin -&gt; usr/bin</a:t>
            </a:r>
          </a:p>
          <a:p>
            <a:pPr>
              <a:lnSpc>
                <a:spcPct val="100000"/>
              </a:lnSpc>
              <a:spcAft>
                <a:spcPts val="100"/>
              </a:spcAft>
            </a:pPr>
            <a:r>
              <a:rPr sz="1200" b="1">
                <a:solidFill>
                  <a:srgbClr val="E6EDF5"/>
                </a:solidFill>
                <a:latin typeface="Consolas"/>
              </a:rPr>
              <a:t>$ cd /etc ; cd ..    </a:t>
            </a:r>
            <a:r>
              <a:rPr sz="1100">
                <a:solidFill>
                  <a:srgbClr val="7FD1B9"/>
                </a:solidFill>
                <a:latin typeface="Consolas"/>
              </a:rPr>
              <a:t> # absolute, then up</a:t>
            </a:r>
          </a:p>
          <a:p>
            <a:pPr>
              <a:lnSpc>
                <a:spcPct val="100000"/>
              </a:lnSpc>
              <a:spcAft>
                <a:spcPts val="100"/>
              </a:spcAft>
            </a:pPr>
            <a:r>
              <a:rPr sz="1200" b="1">
                <a:solidFill>
                  <a:srgbClr val="E6EDF5"/>
                </a:solidFill>
                <a:latin typeface="Consolas"/>
              </a:rPr>
              <a:t>$ cd usr/share       </a:t>
            </a:r>
            <a:r>
              <a:rPr sz="1100">
                <a:solidFill>
                  <a:srgbClr val="7FD1B9"/>
                </a:solidFill>
                <a:latin typeface="Consolas"/>
              </a:rPr>
              <a:t> # relative path</a:t>
            </a:r>
          </a:p>
          <a:p>
            <a:pPr>
              <a:lnSpc>
                <a:spcPct val="100000"/>
              </a:lnSpc>
              <a:spcAft>
                <a:spcPts val="100"/>
              </a:spcAft>
            </a:pPr>
            <a:r>
              <a:rPr sz="1200" b="1">
                <a:solidFill>
                  <a:srgbClr val="E6EDF5"/>
                </a:solidFill>
                <a:latin typeface="Consolas"/>
              </a:rPr>
              <a:t>$ cd ~ ; cd -        </a:t>
            </a:r>
            <a:r>
              <a:rPr sz="1100">
                <a:solidFill>
                  <a:srgbClr val="7FD1B9"/>
                </a:solidFill>
                <a:latin typeface="Consolas"/>
              </a:rPr>
              <a:t> # home, then back</a:t>
            </a:r>
          </a:p>
        </p:txBody>
      </p:sp>
      <p:sp>
        <p:nvSpPr>
          <p:cNvPr id="11" name="TextBox 10"/>
          <p:cNvSpPr txBox="1"/>
          <p:nvPr/>
        </p:nvSpPr>
        <p:spPr>
          <a:xfrm>
            <a:off x="6446520" y="1554480"/>
            <a:ext cx="512064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F3864"/>
                </a:solidFill>
                <a:latin typeface="Times New Roman"/>
              </a:rPr>
              <a:t>Predict, then check (you are in </a:t>
            </a:r>
            <a:r>
              <a:rPr sz="1200" b="1" i="0">
                <a:solidFill>
                  <a:srgbClr val="178A73"/>
                </a:solidFill>
                <a:latin typeface="Consolas"/>
              </a:rPr>
              <a:t>/home/kali</a:t>
            </a:r>
            <a:r>
              <a:rPr sz="1250" b="1" i="0">
                <a:solidFill>
                  <a:srgbClr val="1F3864"/>
                </a:solidFill>
                <a:latin typeface="Times New Roman"/>
              </a:rPr>
              <a:t>)</a:t>
            </a:r>
          </a:p>
        </p:txBody>
      </p:sp>
      <p:graphicFrame>
        <p:nvGraphicFramePr>
          <p:cNvPr id="12" name="Table 11"/>
          <p:cNvGraphicFramePr>
            <a:graphicFrameLocks noGrp="1"/>
          </p:cNvGraphicFramePr>
          <p:nvPr/>
        </p:nvGraphicFramePr>
        <p:xfrm>
          <a:off x="6446520" y="1874519"/>
          <a:ext cx="5166360" cy="1920240"/>
        </p:xfrm>
        <a:graphic>
          <a:graphicData uri="http://schemas.openxmlformats.org/drawingml/2006/table">
            <a:tbl>
              <a:tblPr firstRow="1" bandRow="1">
                <a:tableStyleId>{5940675A-B579-460E-94D1-54222C63F5DA}</a:tableStyleId>
              </a:tblPr>
              <a:tblGrid>
                <a:gridCol w="2743200"/>
                <a:gridCol w="2423160"/>
              </a:tblGrid>
              <a:tr h="384048">
                <a:tc>
                  <a:txBody>
                    <a:bodyPr wrap="square"/>
                    <a:lstStyle/>
                    <a:p>
                      <a:pPr algn="l"/>
                      <a:r>
                        <a:rPr sz="1200" b="1" i="0">
                          <a:solidFill>
                            <a:srgbClr val="FFFFFF"/>
                          </a:solidFill>
                          <a:latin typeface="Times New Roman"/>
                        </a:rPr>
                        <a:t>Command</a:t>
                      </a:r>
                    </a:p>
                  </a:txBody>
                  <a:tcPr marL="63500" marR="63500" marT="25400" marB="25400" anchor="ctr">
                    <a:solidFill>
                      <a:srgbClr val="1F3864"/>
                    </a:solidFill>
                  </a:tcPr>
                </a:tc>
                <a:tc>
                  <a:txBody>
                    <a:bodyPr wrap="square"/>
                    <a:lstStyle/>
                    <a:p>
                      <a:pPr algn="l"/>
                      <a:r>
                        <a:rPr sz="1200" b="1" i="0">
                          <a:solidFill>
                            <a:srgbClr val="FFFFFF"/>
                          </a:solidFill>
                          <a:latin typeface="Times New Roman"/>
                        </a:rPr>
                        <a:t>Result (pwd)</a:t>
                      </a:r>
                    </a:p>
                  </a:txBody>
                  <a:tcPr marL="63500" marR="63500" marT="25400" marB="25400" anchor="ctr">
                    <a:solidFill>
                      <a:srgbClr val="1F3864"/>
                    </a:solidFill>
                  </a:tcPr>
                </a:tc>
              </a:tr>
              <a:tr h="384048">
                <a:tc>
                  <a:txBody>
                    <a:bodyPr wrap="square"/>
                    <a:lstStyle/>
                    <a:p>
                      <a:pPr algn="l"/>
                      <a:r>
                        <a:rPr sz="1150" b="1" i="0">
                          <a:solidFill>
                            <a:srgbClr val="178A73"/>
                          </a:solidFill>
                          <a:latin typeface="Consolas"/>
                        </a:rPr>
                        <a:t>cd ../../etc</a:t>
                      </a:r>
                    </a:p>
                  </a:txBody>
                  <a:tcPr marL="63500" marR="63500" marT="25400" marB="25400" anchor="ctr">
                    <a:solidFill>
                      <a:srgbClr val="FFFFFF"/>
                    </a:solidFill>
                  </a:tcPr>
                </a:tc>
                <a:tc>
                  <a:txBody>
                    <a:bodyPr wrap="square"/>
                    <a:lstStyle/>
                    <a:p>
                      <a:pPr algn="l"/>
                      <a:r>
                        <a:rPr sz="1150" b="1" i="0">
                          <a:solidFill>
                            <a:srgbClr val="178A73"/>
                          </a:solidFill>
                          <a:latin typeface="Consolas"/>
                        </a:rPr>
                        <a:t>/etc</a:t>
                      </a:r>
                    </a:p>
                  </a:txBody>
                  <a:tcPr marL="63500" marR="63500" marT="25400" marB="25400" anchor="ctr">
                    <a:solidFill>
                      <a:srgbClr val="FFFFFF"/>
                    </a:solidFill>
                  </a:tcPr>
                </a:tc>
              </a:tr>
              <a:tr h="384048">
                <a:tc>
                  <a:txBody>
                    <a:bodyPr wrap="square"/>
                    <a:lstStyle/>
                    <a:p>
                      <a:pPr algn="l"/>
                      <a:r>
                        <a:rPr sz="1150" b="1" i="0">
                          <a:solidFill>
                            <a:srgbClr val="178A73"/>
                          </a:solidFill>
                          <a:latin typeface="Consolas"/>
                        </a:rPr>
                        <a:t>cd Desktop/..</a:t>
                      </a:r>
                    </a:p>
                  </a:txBody>
                  <a:tcPr marL="63500" marR="63500" marT="25400" marB="25400" anchor="ctr">
                    <a:solidFill>
                      <a:srgbClr val="F5F8FC"/>
                    </a:solidFill>
                  </a:tcPr>
                </a:tc>
                <a:tc>
                  <a:txBody>
                    <a:bodyPr wrap="square"/>
                    <a:lstStyle/>
                    <a:p>
                      <a:pPr algn="l"/>
                      <a:r>
                        <a:rPr sz="1150" b="1" i="0">
                          <a:solidFill>
                            <a:srgbClr val="178A73"/>
                          </a:solidFill>
                          <a:latin typeface="Consolas"/>
                        </a:rPr>
                        <a:t>/home/kali</a:t>
                      </a:r>
                    </a:p>
                  </a:txBody>
                  <a:tcPr marL="63500" marR="63500" marT="25400" marB="25400" anchor="ctr">
                    <a:solidFill>
                      <a:srgbClr val="F5F8FC"/>
                    </a:solidFill>
                  </a:tcPr>
                </a:tc>
              </a:tr>
              <a:tr h="384048">
                <a:tc>
                  <a:txBody>
                    <a:bodyPr wrap="square"/>
                    <a:lstStyle/>
                    <a:p>
                      <a:pPr algn="l"/>
                      <a:r>
                        <a:rPr sz="1150" b="1" i="0">
                          <a:solidFill>
                            <a:srgbClr val="178A73"/>
                          </a:solidFill>
                          <a:latin typeface="Consolas"/>
                        </a:rPr>
                        <a:t>cd /var/log/../tmp</a:t>
                      </a:r>
                    </a:p>
                  </a:txBody>
                  <a:tcPr marL="63500" marR="63500" marT="25400" marB="25400" anchor="ctr">
                    <a:solidFill>
                      <a:srgbClr val="FFFFFF"/>
                    </a:solidFill>
                  </a:tcPr>
                </a:tc>
                <a:tc>
                  <a:txBody>
                    <a:bodyPr wrap="square"/>
                    <a:lstStyle/>
                    <a:p>
                      <a:pPr algn="l"/>
                      <a:r>
                        <a:rPr sz="1150" b="1" i="0">
                          <a:solidFill>
                            <a:srgbClr val="178A73"/>
                          </a:solidFill>
                          <a:latin typeface="Consolas"/>
                        </a:rPr>
                        <a:t>/var/tmp</a:t>
                      </a:r>
                    </a:p>
                  </a:txBody>
                  <a:tcPr marL="63500" marR="63500" marT="25400" marB="25400" anchor="ctr">
                    <a:solidFill>
                      <a:srgbClr val="FFFFFF"/>
                    </a:solidFill>
                  </a:tcPr>
                </a:tc>
              </a:tr>
              <a:tr h="384048">
                <a:tc>
                  <a:txBody>
                    <a:bodyPr wrap="square"/>
                    <a:lstStyle/>
                    <a:p>
                      <a:pPr algn="l"/>
                      <a:r>
                        <a:rPr sz="1150" b="1" i="0">
                          <a:solidFill>
                            <a:srgbClr val="178A73"/>
                          </a:solidFill>
                          <a:latin typeface="Consolas"/>
                        </a:rPr>
                        <a:t>cd ~/../..</a:t>
                      </a:r>
                    </a:p>
                  </a:txBody>
                  <a:tcPr marL="63500" marR="63500" marT="25400" marB="25400" anchor="ctr">
                    <a:solidFill>
                      <a:srgbClr val="F5F8FC"/>
                    </a:solidFill>
                  </a:tcPr>
                </a:tc>
                <a:tc>
                  <a:txBody>
                    <a:bodyPr wrap="square"/>
                    <a:lstStyle/>
                    <a:p>
                      <a:pPr algn="l"/>
                      <a:r>
                        <a:rPr sz="1150" b="1" i="0">
                          <a:solidFill>
                            <a:srgbClr val="178A73"/>
                          </a:solidFill>
                          <a:latin typeface="Consolas"/>
                        </a:rPr>
                        <a:t>/</a:t>
                      </a:r>
                    </a:p>
                  </a:txBody>
                  <a:tcPr marL="63500" marR="63500" marT="25400" marB="25400" anchor="ctr">
                    <a:solidFill>
                      <a:srgbClr val="F5F8FC"/>
                    </a:solidFill>
                  </a:tcPr>
                </a:tc>
              </a:tr>
            </a:tbl>
          </a:graphicData>
        </a:graphic>
      </p:graphicFrame>
      <p:sp>
        <p:nvSpPr>
          <p:cNvPr id="13" name="TextBox 12"/>
          <p:cNvSpPr txBox="1"/>
          <p:nvPr/>
        </p:nvSpPr>
        <p:spPr>
          <a:xfrm>
            <a:off x="566928" y="4754880"/>
            <a:ext cx="566928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1F3864"/>
                </a:solidFill>
                <a:latin typeface="Times New Roman"/>
              </a:rPr>
              <a:t>Reading the </a:t>
            </a:r>
            <a:r>
              <a:rPr sz="1250" b="1" i="0">
                <a:solidFill>
                  <a:srgbClr val="178A73"/>
                </a:solidFill>
                <a:latin typeface="Consolas"/>
              </a:rPr>
              <a:t>ls -l</a:t>
            </a:r>
            <a:r>
              <a:rPr sz="1300" b="1" i="0">
                <a:solidFill>
                  <a:srgbClr val="1F3864"/>
                </a:solidFill>
                <a:latin typeface="Times New Roman"/>
              </a:rPr>
              <a:t> output</a:t>
            </a:r>
          </a:p>
        </p:txBody>
      </p:sp>
      <p:sp>
        <p:nvSpPr>
          <p:cNvPr id="14" name="Rounded Rectangle 13"/>
          <p:cNvSpPr/>
          <p:nvPr/>
        </p:nvSpPr>
        <p:spPr>
          <a:xfrm>
            <a:off x="566928" y="5074920"/>
            <a:ext cx="356616" cy="411480"/>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i="0">
                <a:solidFill>
                  <a:srgbClr val="FFFFFF"/>
                </a:solidFill>
                <a:latin typeface="Times New Roman"/>
              </a:rPr>
              <a:t>d</a:t>
            </a:r>
          </a:p>
        </p:txBody>
      </p:sp>
      <p:sp>
        <p:nvSpPr>
          <p:cNvPr id="15" name="TextBox 14"/>
          <p:cNvSpPr txBox="1"/>
          <p:nvPr/>
        </p:nvSpPr>
        <p:spPr>
          <a:xfrm>
            <a:off x="566928" y="5532120"/>
            <a:ext cx="356616" cy="457200"/>
          </a:xfrm>
          <a:prstGeom prst="rect">
            <a:avLst/>
          </a:prstGeom>
          <a:noFill/>
        </p:spPr>
        <p:txBody>
          <a:bodyPr wrap="square" anchor="t" lIns="0" rIns="0" tIns="0" bIns="0">
            <a:spAutoFit/>
          </a:bodyPr>
          <a:lstStyle/>
          <a:p>
            <a:pPr algn="ctr">
              <a:lnSpc>
                <a:spcPct val="110000"/>
              </a:lnSpc>
              <a:spcAft>
                <a:spcPts val="300"/>
              </a:spcAft>
            </a:pPr>
            <a:r>
              <a:rPr sz="1000" b="0" i="1">
                <a:solidFill>
                  <a:srgbClr val="54647A"/>
                </a:solidFill>
                <a:latin typeface="Times New Roman"/>
              </a:rPr>
              <a:t>type</a:t>
            </a:r>
          </a:p>
        </p:txBody>
      </p:sp>
      <p:sp>
        <p:nvSpPr>
          <p:cNvPr id="16" name="Rounded Rectangle 15"/>
          <p:cNvSpPr/>
          <p:nvPr/>
        </p:nvSpPr>
        <p:spPr>
          <a:xfrm>
            <a:off x="978408" y="5074920"/>
            <a:ext cx="1133856" cy="411480"/>
          </a:xfrm>
          <a:prstGeom prst="roundRect">
            <a:avLst>
              <a:gd name="adj" fmla="val 12000"/>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i="0">
                <a:solidFill>
                  <a:srgbClr val="FFFFFF"/>
                </a:solidFill>
                <a:latin typeface="Times New Roman"/>
              </a:rPr>
              <a:t>rwxr-xr-x</a:t>
            </a:r>
          </a:p>
        </p:txBody>
      </p:sp>
      <p:sp>
        <p:nvSpPr>
          <p:cNvPr id="17" name="TextBox 16"/>
          <p:cNvSpPr txBox="1"/>
          <p:nvPr/>
        </p:nvSpPr>
        <p:spPr>
          <a:xfrm>
            <a:off x="978408" y="5532120"/>
            <a:ext cx="1133856" cy="457200"/>
          </a:xfrm>
          <a:prstGeom prst="rect">
            <a:avLst/>
          </a:prstGeom>
          <a:noFill/>
        </p:spPr>
        <p:txBody>
          <a:bodyPr wrap="square" anchor="t" lIns="0" rIns="0" tIns="0" bIns="0">
            <a:spAutoFit/>
          </a:bodyPr>
          <a:lstStyle/>
          <a:p>
            <a:pPr algn="ctr">
              <a:lnSpc>
                <a:spcPct val="110000"/>
              </a:lnSpc>
              <a:spcAft>
                <a:spcPts val="300"/>
              </a:spcAft>
            </a:pPr>
            <a:r>
              <a:rPr sz="1000" b="0" i="1">
                <a:solidFill>
                  <a:srgbClr val="54647A"/>
                </a:solidFill>
                <a:latin typeface="Times New Roman"/>
              </a:rPr>
              <a:t>perms (L.4)</a:t>
            </a:r>
          </a:p>
        </p:txBody>
      </p:sp>
      <p:sp>
        <p:nvSpPr>
          <p:cNvPr id="18" name="Rounded Rectangle 17"/>
          <p:cNvSpPr/>
          <p:nvPr/>
        </p:nvSpPr>
        <p:spPr>
          <a:xfrm>
            <a:off x="2167128" y="5074920"/>
            <a:ext cx="448056" cy="411480"/>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i="0">
                <a:solidFill>
                  <a:srgbClr val="FFFFFF"/>
                </a:solidFill>
                <a:latin typeface="Times New Roman"/>
              </a:rPr>
              <a:t>2</a:t>
            </a:r>
          </a:p>
        </p:txBody>
      </p:sp>
      <p:sp>
        <p:nvSpPr>
          <p:cNvPr id="19" name="TextBox 18"/>
          <p:cNvSpPr txBox="1"/>
          <p:nvPr/>
        </p:nvSpPr>
        <p:spPr>
          <a:xfrm>
            <a:off x="2167128" y="5532120"/>
            <a:ext cx="448056" cy="457200"/>
          </a:xfrm>
          <a:prstGeom prst="rect">
            <a:avLst/>
          </a:prstGeom>
          <a:noFill/>
        </p:spPr>
        <p:txBody>
          <a:bodyPr wrap="square" anchor="t" lIns="0" rIns="0" tIns="0" bIns="0">
            <a:spAutoFit/>
          </a:bodyPr>
          <a:lstStyle/>
          <a:p>
            <a:pPr algn="ctr">
              <a:lnSpc>
                <a:spcPct val="110000"/>
              </a:lnSpc>
              <a:spcAft>
                <a:spcPts val="300"/>
              </a:spcAft>
            </a:pPr>
            <a:r>
              <a:rPr sz="1000" b="0" i="1">
                <a:solidFill>
                  <a:srgbClr val="54647A"/>
                </a:solidFill>
                <a:latin typeface="Times New Roman"/>
              </a:rPr>
              <a:t>links</a:t>
            </a:r>
          </a:p>
        </p:txBody>
      </p:sp>
      <p:sp>
        <p:nvSpPr>
          <p:cNvPr id="20" name="Rounded Rectangle 19"/>
          <p:cNvSpPr/>
          <p:nvPr/>
        </p:nvSpPr>
        <p:spPr>
          <a:xfrm>
            <a:off x="2670048" y="5074920"/>
            <a:ext cx="950976" cy="411480"/>
          </a:xfrm>
          <a:prstGeom prst="roundRect">
            <a:avLst>
              <a:gd name="adj" fmla="val 12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i="0">
                <a:solidFill>
                  <a:srgbClr val="FFFFFF"/>
                </a:solidFill>
                <a:latin typeface="Times New Roman"/>
              </a:rPr>
              <a:t>kali kali</a:t>
            </a:r>
          </a:p>
        </p:txBody>
      </p:sp>
      <p:sp>
        <p:nvSpPr>
          <p:cNvPr id="21" name="TextBox 20"/>
          <p:cNvSpPr txBox="1"/>
          <p:nvPr/>
        </p:nvSpPr>
        <p:spPr>
          <a:xfrm>
            <a:off x="2670048" y="5532120"/>
            <a:ext cx="950976" cy="457200"/>
          </a:xfrm>
          <a:prstGeom prst="rect">
            <a:avLst/>
          </a:prstGeom>
          <a:noFill/>
        </p:spPr>
        <p:txBody>
          <a:bodyPr wrap="square" anchor="t" lIns="0" rIns="0" tIns="0" bIns="0">
            <a:spAutoFit/>
          </a:bodyPr>
          <a:lstStyle/>
          <a:p>
            <a:pPr algn="ctr">
              <a:lnSpc>
                <a:spcPct val="110000"/>
              </a:lnSpc>
              <a:spcAft>
                <a:spcPts val="300"/>
              </a:spcAft>
            </a:pPr>
            <a:r>
              <a:rPr sz="1000" b="0" i="1">
                <a:solidFill>
                  <a:srgbClr val="54647A"/>
                </a:solidFill>
                <a:latin typeface="Times New Roman"/>
              </a:rPr>
              <a:t>owner, group</a:t>
            </a:r>
          </a:p>
        </p:txBody>
      </p:sp>
      <p:sp>
        <p:nvSpPr>
          <p:cNvPr id="22" name="Rounded Rectangle 21"/>
          <p:cNvSpPr/>
          <p:nvPr/>
        </p:nvSpPr>
        <p:spPr>
          <a:xfrm>
            <a:off x="3675888" y="5074920"/>
            <a:ext cx="585215" cy="411480"/>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i="0">
                <a:solidFill>
                  <a:srgbClr val="FFFFFF"/>
                </a:solidFill>
                <a:latin typeface="Times New Roman"/>
              </a:rPr>
              <a:t>4096</a:t>
            </a:r>
          </a:p>
        </p:txBody>
      </p:sp>
      <p:sp>
        <p:nvSpPr>
          <p:cNvPr id="23" name="TextBox 22"/>
          <p:cNvSpPr txBox="1"/>
          <p:nvPr/>
        </p:nvSpPr>
        <p:spPr>
          <a:xfrm>
            <a:off x="3675888" y="5532120"/>
            <a:ext cx="585215" cy="457200"/>
          </a:xfrm>
          <a:prstGeom prst="rect">
            <a:avLst/>
          </a:prstGeom>
          <a:noFill/>
        </p:spPr>
        <p:txBody>
          <a:bodyPr wrap="square" anchor="t" lIns="0" rIns="0" tIns="0" bIns="0">
            <a:spAutoFit/>
          </a:bodyPr>
          <a:lstStyle/>
          <a:p>
            <a:pPr algn="ctr">
              <a:lnSpc>
                <a:spcPct val="110000"/>
              </a:lnSpc>
              <a:spcAft>
                <a:spcPts val="300"/>
              </a:spcAft>
            </a:pPr>
            <a:r>
              <a:rPr sz="1000" b="0" i="1">
                <a:solidFill>
                  <a:srgbClr val="54647A"/>
                </a:solidFill>
                <a:latin typeface="Times New Roman"/>
              </a:rPr>
              <a:t>size</a:t>
            </a:r>
          </a:p>
        </p:txBody>
      </p:sp>
      <p:sp>
        <p:nvSpPr>
          <p:cNvPr id="24" name="Rounded Rectangle 23"/>
          <p:cNvSpPr/>
          <p:nvPr/>
        </p:nvSpPr>
        <p:spPr>
          <a:xfrm>
            <a:off x="4315968" y="5074920"/>
            <a:ext cx="1088136" cy="411480"/>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i="0">
                <a:solidFill>
                  <a:srgbClr val="FFFFFF"/>
                </a:solidFill>
                <a:latin typeface="Times New Roman"/>
              </a:rPr>
              <a:t>Oct 7 09:30</a:t>
            </a:r>
          </a:p>
        </p:txBody>
      </p:sp>
      <p:sp>
        <p:nvSpPr>
          <p:cNvPr id="25" name="TextBox 24"/>
          <p:cNvSpPr txBox="1"/>
          <p:nvPr/>
        </p:nvSpPr>
        <p:spPr>
          <a:xfrm>
            <a:off x="4315968" y="5532120"/>
            <a:ext cx="1088136" cy="457200"/>
          </a:xfrm>
          <a:prstGeom prst="rect">
            <a:avLst/>
          </a:prstGeom>
          <a:noFill/>
        </p:spPr>
        <p:txBody>
          <a:bodyPr wrap="square" anchor="t" lIns="0" rIns="0" tIns="0" bIns="0">
            <a:spAutoFit/>
          </a:bodyPr>
          <a:lstStyle/>
          <a:p>
            <a:pPr algn="ctr">
              <a:lnSpc>
                <a:spcPct val="110000"/>
              </a:lnSpc>
              <a:spcAft>
                <a:spcPts val="300"/>
              </a:spcAft>
            </a:pPr>
            <a:r>
              <a:rPr sz="1000" b="0" i="1">
                <a:solidFill>
                  <a:srgbClr val="54647A"/>
                </a:solidFill>
                <a:latin typeface="Times New Roman"/>
              </a:rPr>
              <a:t>mtime</a:t>
            </a:r>
          </a:p>
        </p:txBody>
      </p:sp>
      <p:sp>
        <p:nvSpPr>
          <p:cNvPr id="26" name="Rounded Rectangle 25"/>
          <p:cNvSpPr/>
          <p:nvPr/>
        </p:nvSpPr>
        <p:spPr>
          <a:xfrm>
            <a:off x="5458968" y="5074920"/>
            <a:ext cx="768096" cy="411480"/>
          </a:xfrm>
          <a:prstGeom prst="roundRect">
            <a:avLst>
              <a:gd name="adj" fmla="val 12000"/>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i="0">
                <a:solidFill>
                  <a:srgbClr val="FFFFFF"/>
                </a:solidFill>
                <a:latin typeface="Times New Roman"/>
              </a:rPr>
              <a:t>Desktop</a:t>
            </a:r>
          </a:p>
        </p:txBody>
      </p:sp>
      <p:sp>
        <p:nvSpPr>
          <p:cNvPr id="27" name="TextBox 26"/>
          <p:cNvSpPr txBox="1"/>
          <p:nvPr/>
        </p:nvSpPr>
        <p:spPr>
          <a:xfrm>
            <a:off x="5458968" y="5532120"/>
            <a:ext cx="768096" cy="457200"/>
          </a:xfrm>
          <a:prstGeom prst="rect">
            <a:avLst/>
          </a:prstGeom>
          <a:noFill/>
        </p:spPr>
        <p:txBody>
          <a:bodyPr wrap="square" anchor="t" lIns="0" rIns="0" tIns="0" bIns="0">
            <a:spAutoFit/>
          </a:bodyPr>
          <a:lstStyle/>
          <a:p>
            <a:pPr algn="ctr">
              <a:lnSpc>
                <a:spcPct val="110000"/>
              </a:lnSpc>
              <a:spcAft>
                <a:spcPts val="300"/>
              </a:spcAft>
            </a:pPr>
            <a:r>
              <a:rPr sz="1000" b="0" i="1">
                <a:solidFill>
                  <a:srgbClr val="54647A"/>
                </a:solidFill>
                <a:latin typeface="Times New Roman"/>
              </a:rPr>
              <a:t>name</a:t>
            </a:r>
          </a:p>
        </p:txBody>
      </p:sp>
      <p:sp>
        <p:nvSpPr>
          <p:cNvPr id="28" name="Rounded Rectangle 27"/>
          <p:cNvSpPr/>
          <p:nvPr/>
        </p:nvSpPr>
        <p:spPr>
          <a:xfrm>
            <a:off x="6446520" y="3977639"/>
            <a:ext cx="5166360" cy="146304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46520" y="3977639"/>
            <a:ext cx="64008" cy="1463040"/>
          </a:xfrm>
          <a:prstGeom prst="rect">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29400" y="4050791"/>
            <a:ext cx="484632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178A73"/>
                </a:solidFill>
                <a:latin typeface="Times New Roman"/>
              </a:rPr>
              <a:t>Type character (1st char)</a:t>
            </a:r>
          </a:p>
        </p:txBody>
      </p:sp>
      <p:sp>
        <p:nvSpPr>
          <p:cNvPr id="31" name="TextBox 30"/>
          <p:cNvSpPr txBox="1"/>
          <p:nvPr/>
        </p:nvSpPr>
        <p:spPr>
          <a:xfrm>
            <a:off x="6629400" y="4389120"/>
            <a:ext cx="4846320" cy="1005840"/>
          </a:xfrm>
          <a:prstGeom prst="rect">
            <a:avLst/>
          </a:prstGeom>
          <a:noFill/>
        </p:spPr>
        <p:txBody>
          <a:bodyPr wrap="square" anchor="t" lIns="0" rIns="0" tIns="0" bIns="0">
            <a:spAutoFit/>
          </a:bodyPr>
          <a:lstStyle/>
          <a:p>
            <a:pPr algn="l">
              <a:lnSpc>
                <a:spcPct val="110000"/>
              </a:lnSpc>
              <a:spcAft>
                <a:spcPts val="600"/>
              </a:spcAft>
            </a:pPr>
            <a:r>
              <a:rPr sz="1200" b="1" i="0">
                <a:solidFill>
                  <a:srgbClr val="178A73"/>
                </a:solidFill>
                <a:latin typeface="Consolas"/>
              </a:rPr>
              <a:t>-</a:t>
            </a:r>
            <a:r>
              <a:rPr sz="1250" b="0" i="0">
                <a:solidFill>
                  <a:srgbClr val="202A38"/>
                </a:solidFill>
                <a:latin typeface="Times New Roman"/>
              </a:rPr>
              <a:t> regular file   </a:t>
            </a:r>
            <a:r>
              <a:rPr sz="1200" b="1" i="0">
                <a:solidFill>
                  <a:srgbClr val="178A73"/>
                </a:solidFill>
                <a:latin typeface="Consolas"/>
              </a:rPr>
              <a:t>d</a:t>
            </a:r>
            <a:r>
              <a:rPr sz="1250" b="0" i="0">
                <a:solidFill>
                  <a:srgbClr val="202A38"/>
                </a:solidFill>
                <a:latin typeface="Times New Roman"/>
              </a:rPr>
              <a:t> directory   </a:t>
            </a:r>
            <a:r>
              <a:rPr sz="1200" b="1" i="0">
                <a:solidFill>
                  <a:srgbClr val="178A73"/>
                </a:solidFill>
                <a:latin typeface="Consolas"/>
              </a:rPr>
              <a:t>l</a:t>
            </a:r>
            <a:r>
              <a:rPr sz="1250" b="0" i="0">
                <a:solidFill>
                  <a:srgbClr val="202A38"/>
                </a:solidFill>
                <a:latin typeface="Times New Roman"/>
              </a:rPr>
              <a:t> symbolic link</a:t>
            </a:r>
          </a:p>
          <a:p>
            <a:pPr algn="l">
              <a:lnSpc>
                <a:spcPct val="110000"/>
              </a:lnSpc>
              <a:spcAft>
                <a:spcPts val="600"/>
              </a:spcAft>
            </a:pPr>
            <a:r>
              <a:rPr sz="1200" b="1" i="0">
                <a:solidFill>
                  <a:srgbClr val="178A73"/>
                </a:solidFill>
                <a:latin typeface="Consolas"/>
              </a:rPr>
              <a:t>c</a:t>
            </a:r>
            <a:r>
              <a:rPr sz="1250" b="0" i="0">
                <a:solidFill>
                  <a:srgbClr val="202A38"/>
                </a:solidFill>
                <a:latin typeface="Times New Roman"/>
              </a:rPr>
              <a:t> / </a:t>
            </a:r>
            <a:r>
              <a:rPr sz="1200" b="1" i="0">
                <a:solidFill>
                  <a:srgbClr val="178A73"/>
                </a:solidFill>
                <a:latin typeface="Consolas"/>
              </a:rPr>
              <a:t>b</a:t>
            </a:r>
            <a:r>
              <a:rPr sz="1250" b="0" i="0">
                <a:solidFill>
                  <a:srgbClr val="202A38"/>
                </a:solidFill>
                <a:latin typeface="Times New Roman"/>
              </a:rPr>
              <a:t> — character / block device (</a:t>
            </a:r>
            <a:r>
              <a:rPr sz="1200" b="1" i="0">
                <a:solidFill>
                  <a:srgbClr val="178A73"/>
                </a:solidFill>
                <a:latin typeface="Consolas"/>
              </a:rPr>
              <a:t>/dev</a:t>
            </a:r>
            <a:r>
              <a:rPr sz="1250" b="0" i="0">
                <a:solidFill>
                  <a:srgbClr val="202A38"/>
                </a:solidFill>
                <a:latin typeface="Times New Roman"/>
              </a:rPr>
              <a:t>)</a:t>
            </a:r>
          </a:p>
        </p:txBody>
      </p:sp>
      <p:sp>
        <p:nvSpPr>
          <p:cNvPr id="32" name="Rounded Rectangle 31"/>
          <p:cNvSpPr/>
          <p:nvPr/>
        </p:nvSpPr>
        <p:spPr>
          <a:xfrm>
            <a:off x="6446520" y="5577840"/>
            <a:ext cx="5166360" cy="685800"/>
          </a:xfrm>
          <a:prstGeom prst="roundRect">
            <a:avLst>
              <a:gd name="adj" fmla="val 8000"/>
            </a:avLst>
          </a:prstGeom>
          <a:solidFill>
            <a:srgbClr val="FFF6E5"/>
          </a:solidFill>
          <a:ln w="15875">
            <a:solidFill>
              <a:srgbClr val="E08E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warning_E08E1D.png"/>
          <p:cNvPicPr>
            <a:picLocks noChangeAspect="1"/>
          </p:cNvPicPr>
          <p:nvPr/>
        </p:nvPicPr>
        <p:blipFill>
          <a:blip r:embed="rId3"/>
          <a:stretch>
            <a:fillRect/>
          </a:stretch>
        </p:blipFill>
        <p:spPr>
          <a:xfrm>
            <a:off x="6574536" y="5756148"/>
            <a:ext cx="329184" cy="329184"/>
          </a:xfrm>
          <a:prstGeom prst="rect">
            <a:avLst/>
          </a:prstGeom>
        </p:spPr>
      </p:pic>
      <p:sp>
        <p:nvSpPr>
          <p:cNvPr id="34" name="TextBox 33"/>
          <p:cNvSpPr txBox="1"/>
          <p:nvPr/>
        </p:nvSpPr>
        <p:spPr>
          <a:xfrm>
            <a:off x="7013448" y="5577840"/>
            <a:ext cx="4480560" cy="685800"/>
          </a:xfrm>
          <a:prstGeom prst="rect">
            <a:avLst/>
          </a:prstGeom>
          <a:noFill/>
        </p:spPr>
        <p:txBody>
          <a:bodyPr wrap="square" anchor="ctr" lIns="0" rIns="0" tIns="0" bIns="0">
            <a:spAutoFit/>
          </a:bodyPr>
          <a:lstStyle/>
          <a:p>
            <a:pPr algn="l">
              <a:lnSpc>
                <a:spcPct val="110000"/>
              </a:lnSpc>
              <a:spcAft>
                <a:spcPts val="300"/>
              </a:spcAft>
            </a:pPr>
            <a:r>
              <a:rPr sz="1150" b="0" i="0">
                <a:solidFill>
                  <a:srgbClr val="202A38"/>
                </a:solidFill>
                <a:latin typeface="Times New Roman"/>
              </a:rPr>
              <a:t>Attackers hide files under dot-names (</a:t>
            </a:r>
            <a:r>
              <a:rPr sz="1100" b="1" i="0">
                <a:solidFill>
                  <a:srgbClr val="178A73"/>
                </a:solidFill>
                <a:latin typeface="Consolas"/>
              </a:rPr>
              <a:t>/tmp/.x</a:t>
            </a:r>
            <a:r>
              <a:rPr sz="1150" b="0" i="0">
                <a:solidFill>
                  <a:srgbClr val="202A38"/>
                </a:solidFill>
                <a:latin typeface="Times New Roman"/>
              </a:rPr>
              <a:t>) — always </a:t>
            </a:r>
            <a:r>
              <a:rPr sz="1100" b="1" i="0">
                <a:solidFill>
                  <a:srgbClr val="178A73"/>
                </a:solidFill>
                <a:latin typeface="Consolas"/>
              </a:rPr>
              <a:t>ls -la</a:t>
            </a:r>
            <a:r>
              <a:rPr sz="1150" b="0" i="0">
                <a:solidFill>
                  <a:srgbClr val="202A38"/>
                </a:solidFill>
                <a:latin typeface="Times New Roman"/>
              </a:rPr>
              <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QUESTION 2 · TASK 2.2</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2.2 — Creating: mkdir, touch and the nano editor</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21</a:t>
            </a:r>
          </a:p>
        </p:txBody>
      </p:sp>
      <p:sp>
        <p:nvSpPr>
          <p:cNvPr id="8" name="Rounded Rectangle 7"/>
          <p:cNvSpPr/>
          <p:nvPr/>
        </p:nvSpPr>
        <p:spPr>
          <a:xfrm>
            <a:off x="566928" y="1600200"/>
            <a:ext cx="6035040" cy="2834640"/>
          </a:xfrm>
          <a:prstGeom prst="roundRect">
            <a:avLst>
              <a:gd name="adj" fmla="val 4000"/>
            </a:avLst>
          </a:prstGeom>
          <a:solidFill>
            <a:srgbClr val="142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664208"/>
            <a:ext cx="5760720" cy="228600"/>
          </a:xfrm>
          <a:prstGeom prst="rect">
            <a:avLst/>
          </a:prstGeom>
          <a:noFill/>
        </p:spPr>
        <p:txBody>
          <a:bodyPr wrap="square" anchor="t" lIns="0" rIns="0" tIns="0" bIns="0">
            <a:spAutoFit/>
          </a:bodyPr>
          <a:lstStyle/>
          <a:p>
            <a:pPr algn="l">
              <a:lnSpc>
                <a:spcPct val="110000"/>
              </a:lnSpc>
              <a:spcAft>
                <a:spcPts val="300"/>
              </a:spcAft>
            </a:pPr>
            <a:r>
              <a:rPr sz="1000" b="1" i="0">
                <a:solidFill>
                  <a:srgbClr val="7FD1B9"/>
                </a:solidFill>
                <a:latin typeface="Consolas"/>
              </a:rPr>
              <a:t>Terminal</a:t>
            </a:r>
          </a:p>
        </p:txBody>
      </p:sp>
      <p:sp>
        <p:nvSpPr>
          <p:cNvPr id="10" name="TextBox 9"/>
          <p:cNvSpPr txBox="1"/>
          <p:nvPr/>
        </p:nvSpPr>
        <p:spPr>
          <a:xfrm>
            <a:off x="704088" y="1929384"/>
            <a:ext cx="5760720" cy="2450592"/>
          </a:xfrm>
          <a:prstGeom prst="rect">
            <a:avLst/>
          </a:prstGeom>
          <a:noFill/>
        </p:spPr>
        <p:txBody>
          <a:bodyPr wrap="square" lIns="0" rIns="0" tIns="0" bIns="0">
            <a:spAutoFit/>
          </a:bodyPr>
          <a:lstStyle/>
          <a:p>
            <a:pPr>
              <a:lnSpc>
                <a:spcPct val="100000"/>
              </a:lnSpc>
              <a:spcAft>
                <a:spcPts val="100"/>
              </a:spcAft>
            </a:pPr>
            <a:r>
              <a:rPr sz="1150" b="1">
                <a:solidFill>
                  <a:srgbClr val="E6EDF5"/>
                </a:solidFill>
                <a:latin typeface="Consolas"/>
              </a:rPr>
              <a:t>$ cd ~</a:t>
            </a:r>
          </a:p>
          <a:p>
            <a:pPr>
              <a:lnSpc>
                <a:spcPct val="100000"/>
              </a:lnSpc>
              <a:spcAft>
                <a:spcPts val="100"/>
              </a:spcAft>
            </a:pPr>
            <a:r>
              <a:rPr sz="1150" b="1">
                <a:solidFill>
                  <a:srgbClr val="E6EDF5"/>
                </a:solidFill>
                <a:latin typeface="Consolas"/>
              </a:rPr>
              <a:t>$ mkdir lab2</a:t>
            </a:r>
          </a:p>
          <a:p>
            <a:pPr>
              <a:lnSpc>
                <a:spcPct val="100000"/>
              </a:lnSpc>
              <a:spcAft>
                <a:spcPts val="100"/>
              </a:spcAft>
            </a:pPr>
            <a:r>
              <a:rPr sz="1150" b="1">
                <a:solidFill>
                  <a:srgbClr val="E6EDF5"/>
                </a:solidFill>
                <a:latin typeface="Consolas"/>
              </a:rPr>
              <a:t>$ mkdir -p lab2/report/2026/october  </a:t>
            </a:r>
            <a:r>
              <a:rPr sz="1050">
                <a:solidFill>
                  <a:srgbClr val="7FD1B9"/>
                </a:solidFill>
                <a:latin typeface="Consolas"/>
              </a:rPr>
              <a:t> # intermediate too</a:t>
            </a:r>
          </a:p>
          <a:p>
            <a:pPr>
              <a:lnSpc>
                <a:spcPct val="100000"/>
              </a:lnSpc>
              <a:spcAft>
                <a:spcPts val="100"/>
              </a:spcAft>
            </a:pPr>
            <a:r>
              <a:rPr sz="1150" b="1">
                <a:solidFill>
                  <a:srgbClr val="E6EDF5"/>
                </a:solidFill>
                <a:latin typeface="Consolas"/>
              </a:rPr>
              <a:t>$ mkdir lab2/logs lab2/images</a:t>
            </a:r>
          </a:p>
          <a:p>
            <a:pPr>
              <a:lnSpc>
                <a:spcPct val="100000"/>
              </a:lnSpc>
              <a:spcAft>
                <a:spcPts val="100"/>
              </a:spcAft>
            </a:pPr>
            <a:r>
              <a:rPr sz="1150" b="1">
                <a:solidFill>
                  <a:srgbClr val="E6EDF5"/>
                </a:solidFill>
                <a:latin typeface="Consolas"/>
              </a:rPr>
              <a:t>$ touch lab2/note.txt                </a:t>
            </a:r>
            <a:r>
              <a:rPr sz="1050">
                <a:solidFill>
                  <a:srgbClr val="7FD1B9"/>
                </a:solidFill>
                <a:latin typeface="Consolas"/>
              </a:rPr>
              <a:t> # empty file</a:t>
            </a:r>
          </a:p>
          <a:p>
            <a:pPr>
              <a:lnSpc>
                <a:spcPct val="100000"/>
              </a:lnSpc>
              <a:spcAft>
                <a:spcPts val="100"/>
              </a:spcAft>
            </a:pPr>
            <a:r>
              <a:rPr sz="1150" b="1">
                <a:solidFill>
                  <a:srgbClr val="E6EDF5"/>
                </a:solidFill>
                <a:latin typeface="Consolas"/>
              </a:rPr>
              <a:t>$ touch "lab2/my document.txt"       </a:t>
            </a:r>
            <a:r>
              <a:rPr sz="1050">
                <a:solidFill>
                  <a:srgbClr val="7FD1B9"/>
                </a:solidFill>
                <a:latin typeface="Consolas"/>
              </a:rPr>
              <a:t> # name with a space</a:t>
            </a:r>
          </a:p>
          <a:p>
            <a:pPr>
              <a:lnSpc>
                <a:spcPct val="100000"/>
              </a:lnSpc>
              <a:spcAft>
                <a:spcPts val="100"/>
              </a:spcAft>
            </a:pPr>
            <a:r>
              <a:rPr sz="1150" b="1">
                <a:solidFill>
                  <a:srgbClr val="E6EDF5"/>
                </a:solidFill>
                <a:latin typeface="Consolas"/>
              </a:rPr>
              <a:t>$ touch lab2/.hidden                 </a:t>
            </a:r>
            <a:r>
              <a:rPr sz="1050">
                <a:solidFill>
                  <a:srgbClr val="7FD1B9"/>
                </a:solidFill>
                <a:latin typeface="Consolas"/>
              </a:rPr>
              <a:t> # hidden file</a:t>
            </a:r>
          </a:p>
          <a:p>
            <a:pPr>
              <a:lnSpc>
                <a:spcPct val="100000"/>
              </a:lnSpc>
              <a:spcAft>
                <a:spcPts val="100"/>
              </a:spcAft>
            </a:pPr>
            <a:r>
              <a:rPr sz="1150" b="1">
                <a:solidFill>
                  <a:srgbClr val="E6EDF5"/>
                </a:solidFill>
                <a:latin typeface="Consolas"/>
              </a:rPr>
              <a:t>$ ls lab2 ; ls -a lab2               </a:t>
            </a:r>
            <a:r>
              <a:rPr sz="1050">
                <a:solidFill>
                  <a:srgbClr val="7FD1B9"/>
                </a:solidFill>
                <a:latin typeface="Consolas"/>
              </a:rPr>
              <a:t> # see the difference</a:t>
            </a:r>
          </a:p>
        </p:txBody>
      </p:sp>
      <p:sp>
        <p:nvSpPr>
          <p:cNvPr id="11" name="TextBox 10"/>
          <p:cNvSpPr txBox="1"/>
          <p:nvPr/>
        </p:nvSpPr>
        <p:spPr>
          <a:xfrm>
            <a:off x="6812280" y="1554480"/>
            <a:ext cx="475488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1F3864"/>
                </a:solidFill>
                <a:latin typeface="Times New Roman"/>
              </a:rPr>
              <a:t>Result: ~/lab2 structure</a:t>
            </a:r>
          </a:p>
        </p:txBody>
      </p:sp>
      <p:pic>
        <p:nvPicPr>
          <p:cNvPr id="12" name="Picture 11" descr="folder_1F3864.png"/>
          <p:cNvPicPr>
            <a:picLocks noChangeAspect="1"/>
          </p:cNvPicPr>
          <p:nvPr/>
        </p:nvPicPr>
        <p:blipFill>
          <a:blip r:embed="rId3"/>
          <a:stretch>
            <a:fillRect/>
          </a:stretch>
        </p:blipFill>
        <p:spPr>
          <a:xfrm>
            <a:off x="6858000" y="1874519"/>
            <a:ext cx="274320" cy="274320"/>
          </a:xfrm>
          <a:prstGeom prst="rect">
            <a:avLst/>
          </a:prstGeom>
        </p:spPr>
      </p:pic>
      <p:sp>
        <p:nvSpPr>
          <p:cNvPr id="13" name="TextBox 12"/>
          <p:cNvSpPr txBox="1"/>
          <p:nvPr/>
        </p:nvSpPr>
        <p:spPr>
          <a:xfrm>
            <a:off x="7223760" y="1874519"/>
            <a:ext cx="4114800" cy="292608"/>
          </a:xfrm>
          <a:prstGeom prst="rect">
            <a:avLst/>
          </a:prstGeom>
          <a:noFill/>
        </p:spPr>
        <p:txBody>
          <a:bodyPr wrap="square" anchor="t" lIns="0" rIns="0" tIns="0" bIns="0">
            <a:spAutoFit/>
          </a:bodyPr>
          <a:lstStyle/>
          <a:p>
            <a:pPr algn="l">
              <a:lnSpc>
                <a:spcPct val="110000"/>
              </a:lnSpc>
              <a:spcAft>
                <a:spcPts val="300"/>
              </a:spcAft>
            </a:pPr>
            <a:r>
              <a:rPr sz="1250" b="1" i="0">
                <a:solidFill>
                  <a:srgbClr val="1F3864"/>
                </a:solidFill>
                <a:latin typeface="Consolas"/>
              </a:rPr>
              <a:t>lab2/</a:t>
            </a:r>
          </a:p>
        </p:txBody>
      </p:sp>
      <p:pic>
        <p:nvPicPr>
          <p:cNvPr id="14" name="Picture 13" descr="folder_178A73.png"/>
          <p:cNvPicPr>
            <a:picLocks noChangeAspect="1"/>
          </p:cNvPicPr>
          <p:nvPr/>
        </p:nvPicPr>
        <p:blipFill>
          <a:blip r:embed="rId4"/>
          <a:stretch>
            <a:fillRect/>
          </a:stretch>
        </p:blipFill>
        <p:spPr>
          <a:xfrm>
            <a:off x="7269480" y="2240279"/>
            <a:ext cx="274320" cy="274320"/>
          </a:xfrm>
          <a:prstGeom prst="rect">
            <a:avLst/>
          </a:prstGeom>
        </p:spPr>
      </p:pic>
      <p:sp>
        <p:nvSpPr>
          <p:cNvPr id="15" name="TextBox 14"/>
          <p:cNvSpPr txBox="1"/>
          <p:nvPr/>
        </p:nvSpPr>
        <p:spPr>
          <a:xfrm>
            <a:off x="7635240" y="2240279"/>
            <a:ext cx="4114800" cy="292608"/>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Consolas"/>
              </a:rPr>
              <a:t>report/2026/october/</a:t>
            </a:r>
          </a:p>
        </p:txBody>
      </p:sp>
      <p:pic>
        <p:nvPicPr>
          <p:cNvPr id="16" name="Picture 15" descr="folder_178A73.png"/>
          <p:cNvPicPr>
            <a:picLocks noChangeAspect="1"/>
          </p:cNvPicPr>
          <p:nvPr/>
        </p:nvPicPr>
        <p:blipFill>
          <a:blip r:embed="rId4"/>
          <a:stretch>
            <a:fillRect/>
          </a:stretch>
        </p:blipFill>
        <p:spPr>
          <a:xfrm>
            <a:off x="7269480" y="2606039"/>
            <a:ext cx="274320" cy="274320"/>
          </a:xfrm>
          <a:prstGeom prst="rect">
            <a:avLst/>
          </a:prstGeom>
        </p:spPr>
      </p:pic>
      <p:sp>
        <p:nvSpPr>
          <p:cNvPr id="17" name="TextBox 16"/>
          <p:cNvSpPr txBox="1"/>
          <p:nvPr/>
        </p:nvSpPr>
        <p:spPr>
          <a:xfrm>
            <a:off x="7635240" y="2606039"/>
            <a:ext cx="4114800" cy="292608"/>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Consolas"/>
              </a:rPr>
              <a:t>logs/</a:t>
            </a:r>
          </a:p>
        </p:txBody>
      </p:sp>
      <p:pic>
        <p:nvPicPr>
          <p:cNvPr id="18" name="Picture 17" descr="folder_178A73.png"/>
          <p:cNvPicPr>
            <a:picLocks noChangeAspect="1"/>
          </p:cNvPicPr>
          <p:nvPr/>
        </p:nvPicPr>
        <p:blipFill>
          <a:blip r:embed="rId4"/>
          <a:stretch>
            <a:fillRect/>
          </a:stretch>
        </p:blipFill>
        <p:spPr>
          <a:xfrm>
            <a:off x="7269480" y="2971800"/>
            <a:ext cx="274320" cy="274320"/>
          </a:xfrm>
          <a:prstGeom prst="rect">
            <a:avLst/>
          </a:prstGeom>
        </p:spPr>
      </p:pic>
      <p:sp>
        <p:nvSpPr>
          <p:cNvPr id="19" name="TextBox 18"/>
          <p:cNvSpPr txBox="1"/>
          <p:nvPr/>
        </p:nvSpPr>
        <p:spPr>
          <a:xfrm>
            <a:off x="7635240" y="2971800"/>
            <a:ext cx="4114800" cy="292608"/>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Consolas"/>
              </a:rPr>
              <a:t>images/</a:t>
            </a:r>
          </a:p>
        </p:txBody>
      </p:sp>
      <p:pic>
        <p:nvPicPr>
          <p:cNvPr id="20" name="Picture 19" descr="file_E08E1D.png"/>
          <p:cNvPicPr>
            <a:picLocks noChangeAspect="1"/>
          </p:cNvPicPr>
          <p:nvPr/>
        </p:nvPicPr>
        <p:blipFill>
          <a:blip r:embed="rId5"/>
          <a:stretch>
            <a:fillRect/>
          </a:stretch>
        </p:blipFill>
        <p:spPr>
          <a:xfrm>
            <a:off x="7269480" y="3337560"/>
            <a:ext cx="274320" cy="274320"/>
          </a:xfrm>
          <a:prstGeom prst="rect">
            <a:avLst/>
          </a:prstGeom>
        </p:spPr>
      </p:pic>
      <p:sp>
        <p:nvSpPr>
          <p:cNvPr id="21" name="TextBox 20"/>
          <p:cNvSpPr txBox="1"/>
          <p:nvPr/>
        </p:nvSpPr>
        <p:spPr>
          <a:xfrm>
            <a:off x="7635240" y="3337560"/>
            <a:ext cx="4114800" cy="292608"/>
          </a:xfrm>
          <a:prstGeom prst="rect">
            <a:avLst/>
          </a:prstGeom>
          <a:noFill/>
        </p:spPr>
        <p:txBody>
          <a:bodyPr wrap="square" anchor="t" lIns="0" rIns="0" tIns="0" bIns="0">
            <a:spAutoFit/>
          </a:bodyPr>
          <a:lstStyle/>
          <a:p>
            <a:pPr algn="l">
              <a:lnSpc>
                <a:spcPct val="110000"/>
              </a:lnSpc>
              <a:spcAft>
                <a:spcPts val="300"/>
              </a:spcAft>
            </a:pPr>
            <a:r>
              <a:rPr sz="1250" b="1" i="0">
                <a:solidFill>
                  <a:srgbClr val="E08E1D"/>
                </a:solidFill>
                <a:latin typeface="Consolas"/>
              </a:rPr>
              <a:t>note.txt</a:t>
            </a:r>
          </a:p>
        </p:txBody>
      </p:sp>
      <p:pic>
        <p:nvPicPr>
          <p:cNvPr id="22" name="Picture 21" descr="file_E08E1D.png"/>
          <p:cNvPicPr>
            <a:picLocks noChangeAspect="1"/>
          </p:cNvPicPr>
          <p:nvPr/>
        </p:nvPicPr>
        <p:blipFill>
          <a:blip r:embed="rId5"/>
          <a:stretch>
            <a:fillRect/>
          </a:stretch>
        </p:blipFill>
        <p:spPr>
          <a:xfrm>
            <a:off x="7269480" y="3703320"/>
            <a:ext cx="274320" cy="274320"/>
          </a:xfrm>
          <a:prstGeom prst="rect">
            <a:avLst/>
          </a:prstGeom>
        </p:spPr>
      </p:pic>
      <p:sp>
        <p:nvSpPr>
          <p:cNvPr id="23" name="TextBox 22"/>
          <p:cNvSpPr txBox="1"/>
          <p:nvPr/>
        </p:nvSpPr>
        <p:spPr>
          <a:xfrm>
            <a:off x="7635240" y="3703320"/>
            <a:ext cx="4114800" cy="292608"/>
          </a:xfrm>
          <a:prstGeom prst="rect">
            <a:avLst/>
          </a:prstGeom>
          <a:noFill/>
        </p:spPr>
        <p:txBody>
          <a:bodyPr wrap="square" anchor="t" lIns="0" rIns="0" tIns="0" bIns="0">
            <a:spAutoFit/>
          </a:bodyPr>
          <a:lstStyle/>
          <a:p>
            <a:pPr algn="l">
              <a:lnSpc>
                <a:spcPct val="110000"/>
              </a:lnSpc>
              <a:spcAft>
                <a:spcPts val="300"/>
              </a:spcAft>
            </a:pPr>
            <a:r>
              <a:rPr sz="1250" b="1" i="0">
                <a:solidFill>
                  <a:srgbClr val="E08E1D"/>
                </a:solidFill>
                <a:latin typeface="Consolas"/>
              </a:rPr>
              <a:t>my document.txt</a:t>
            </a:r>
          </a:p>
        </p:txBody>
      </p:sp>
      <p:pic>
        <p:nvPicPr>
          <p:cNvPr id="24" name="Picture 23" descr="file_E08E1D.png"/>
          <p:cNvPicPr>
            <a:picLocks noChangeAspect="1"/>
          </p:cNvPicPr>
          <p:nvPr/>
        </p:nvPicPr>
        <p:blipFill>
          <a:blip r:embed="rId5"/>
          <a:stretch>
            <a:fillRect/>
          </a:stretch>
        </p:blipFill>
        <p:spPr>
          <a:xfrm>
            <a:off x="7269480" y="4069080"/>
            <a:ext cx="274320" cy="274320"/>
          </a:xfrm>
          <a:prstGeom prst="rect">
            <a:avLst/>
          </a:prstGeom>
        </p:spPr>
      </p:pic>
      <p:sp>
        <p:nvSpPr>
          <p:cNvPr id="25" name="TextBox 24"/>
          <p:cNvSpPr txBox="1"/>
          <p:nvPr/>
        </p:nvSpPr>
        <p:spPr>
          <a:xfrm>
            <a:off x="7635240" y="4069080"/>
            <a:ext cx="4114800" cy="292608"/>
          </a:xfrm>
          <a:prstGeom prst="rect">
            <a:avLst/>
          </a:prstGeom>
          <a:noFill/>
        </p:spPr>
        <p:txBody>
          <a:bodyPr wrap="square" anchor="t" lIns="0" rIns="0" tIns="0" bIns="0">
            <a:spAutoFit/>
          </a:bodyPr>
          <a:lstStyle/>
          <a:p>
            <a:pPr algn="l">
              <a:lnSpc>
                <a:spcPct val="110000"/>
              </a:lnSpc>
              <a:spcAft>
                <a:spcPts val="300"/>
              </a:spcAft>
            </a:pPr>
            <a:r>
              <a:rPr sz="1250" b="1" i="0">
                <a:solidFill>
                  <a:srgbClr val="54647A"/>
                </a:solidFill>
                <a:latin typeface="Consolas"/>
              </a:rPr>
              <a:t>.hidden  (only ls -a)</a:t>
            </a:r>
          </a:p>
        </p:txBody>
      </p:sp>
      <p:sp>
        <p:nvSpPr>
          <p:cNvPr id="26" name="TextBox 25"/>
          <p:cNvSpPr txBox="1"/>
          <p:nvPr/>
        </p:nvSpPr>
        <p:spPr>
          <a:xfrm>
            <a:off x="566928" y="4572000"/>
            <a:ext cx="603504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1F3864"/>
                </a:solidFill>
                <a:latin typeface="Times New Roman"/>
              </a:rPr>
              <a:t>nano: edit a file — </a:t>
            </a:r>
            <a:r>
              <a:rPr sz="1250" b="1" i="0">
                <a:solidFill>
                  <a:srgbClr val="178A73"/>
                </a:solidFill>
                <a:latin typeface="Consolas"/>
              </a:rPr>
              <a:t>nano lab2/note.txt</a:t>
            </a:r>
          </a:p>
        </p:txBody>
      </p:sp>
      <p:sp>
        <p:nvSpPr>
          <p:cNvPr id="27" name="Rounded Rectangle 26"/>
          <p:cNvSpPr/>
          <p:nvPr/>
        </p:nvSpPr>
        <p:spPr>
          <a:xfrm>
            <a:off x="566928" y="4937760"/>
            <a:ext cx="566928" cy="365760"/>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1F3864"/>
                </a:solidFill>
                <a:latin typeface="Cambria Math"/>
              </a:rPr>
              <a:t>Ctrl</a:t>
            </a:r>
          </a:p>
        </p:txBody>
      </p:sp>
      <p:sp>
        <p:nvSpPr>
          <p:cNvPr id="28" name="TextBox 27"/>
          <p:cNvSpPr txBox="1"/>
          <p:nvPr/>
        </p:nvSpPr>
        <p:spPr>
          <a:xfrm>
            <a:off x="1133856" y="4937760"/>
            <a:ext cx="219456" cy="365760"/>
          </a:xfrm>
          <a:prstGeom prst="rect">
            <a:avLst/>
          </a:prstGeom>
          <a:noFill/>
        </p:spPr>
        <p:txBody>
          <a:bodyPr wrap="square" anchor="ctr" lIns="0" rIns="0" tIns="0" bIns="0">
            <a:spAutoFit/>
          </a:bodyPr>
          <a:lstStyle/>
          <a:p>
            <a:pPr algn="ctr">
              <a:lnSpc>
                <a:spcPct val="110000"/>
              </a:lnSpc>
              <a:spcAft>
                <a:spcPts val="300"/>
              </a:spcAft>
            </a:pPr>
            <a:r>
              <a:rPr sz="1300" b="1" i="0">
                <a:solidFill>
                  <a:srgbClr val="54647A"/>
                </a:solidFill>
                <a:latin typeface="Times New Roman"/>
              </a:rPr>
              <a:t>+</a:t>
            </a:r>
          </a:p>
        </p:txBody>
      </p:sp>
      <p:sp>
        <p:nvSpPr>
          <p:cNvPr id="29" name="Rounded Rectangle 28"/>
          <p:cNvSpPr/>
          <p:nvPr/>
        </p:nvSpPr>
        <p:spPr>
          <a:xfrm>
            <a:off x="1353312" y="4937760"/>
            <a:ext cx="325526" cy="365760"/>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1F3864"/>
                </a:solidFill>
                <a:latin typeface="Cambria Math"/>
              </a:rPr>
              <a:t>O</a:t>
            </a:r>
          </a:p>
        </p:txBody>
      </p:sp>
      <p:sp>
        <p:nvSpPr>
          <p:cNvPr id="30" name="TextBox 29"/>
          <p:cNvSpPr txBox="1"/>
          <p:nvPr/>
        </p:nvSpPr>
        <p:spPr>
          <a:xfrm>
            <a:off x="1770278" y="4937760"/>
            <a:ext cx="1737360" cy="365760"/>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save (+ Enter)</a:t>
            </a:r>
          </a:p>
        </p:txBody>
      </p:sp>
      <p:sp>
        <p:nvSpPr>
          <p:cNvPr id="31" name="Rounded Rectangle 30"/>
          <p:cNvSpPr/>
          <p:nvPr/>
        </p:nvSpPr>
        <p:spPr>
          <a:xfrm>
            <a:off x="3584448" y="4937760"/>
            <a:ext cx="566928" cy="365760"/>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1F3864"/>
                </a:solidFill>
                <a:latin typeface="Cambria Math"/>
              </a:rPr>
              <a:t>Ctrl</a:t>
            </a:r>
          </a:p>
        </p:txBody>
      </p:sp>
      <p:sp>
        <p:nvSpPr>
          <p:cNvPr id="32" name="TextBox 31"/>
          <p:cNvSpPr txBox="1"/>
          <p:nvPr/>
        </p:nvSpPr>
        <p:spPr>
          <a:xfrm>
            <a:off x="4151376" y="4937760"/>
            <a:ext cx="219456" cy="365760"/>
          </a:xfrm>
          <a:prstGeom prst="rect">
            <a:avLst/>
          </a:prstGeom>
          <a:noFill/>
        </p:spPr>
        <p:txBody>
          <a:bodyPr wrap="square" anchor="ctr" lIns="0" rIns="0" tIns="0" bIns="0">
            <a:spAutoFit/>
          </a:bodyPr>
          <a:lstStyle/>
          <a:p>
            <a:pPr algn="ctr">
              <a:lnSpc>
                <a:spcPct val="110000"/>
              </a:lnSpc>
              <a:spcAft>
                <a:spcPts val="300"/>
              </a:spcAft>
            </a:pPr>
            <a:r>
              <a:rPr sz="1300" b="1" i="0">
                <a:solidFill>
                  <a:srgbClr val="54647A"/>
                </a:solidFill>
                <a:latin typeface="Times New Roman"/>
              </a:rPr>
              <a:t>+</a:t>
            </a:r>
          </a:p>
        </p:txBody>
      </p:sp>
      <p:sp>
        <p:nvSpPr>
          <p:cNvPr id="33" name="Rounded Rectangle 32"/>
          <p:cNvSpPr/>
          <p:nvPr/>
        </p:nvSpPr>
        <p:spPr>
          <a:xfrm>
            <a:off x="4370832" y="4937760"/>
            <a:ext cx="325526" cy="365760"/>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1F3864"/>
                </a:solidFill>
                <a:latin typeface="Cambria Math"/>
              </a:rPr>
              <a:t>X</a:t>
            </a:r>
          </a:p>
        </p:txBody>
      </p:sp>
      <p:sp>
        <p:nvSpPr>
          <p:cNvPr id="34" name="TextBox 33"/>
          <p:cNvSpPr txBox="1"/>
          <p:nvPr/>
        </p:nvSpPr>
        <p:spPr>
          <a:xfrm>
            <a:off x="4787798" y="4937760"/>
            <a:ext cx="1737360" cy="365760"/>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exit</a:t>
            </a:r>
          </a:p>
        </p:txBody>
      </p:sp>
      <p:sp>
        <p:nvSpPr>
          <p:cNvPr id="35" name="Rounded Rectangle 34"/>
          <p:cNvSpPr/>
          <p:nvPr/>
        </p:nvSpPr>
        <p:spPr>
          <a:xfrm>
            <a:off x="566928" y="5413248"/>
            <a:ext cx="566928" cy="365760"/>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1F3864"/>
                </a:solidFill>
                <a:latin typeface="Cambria Math"/>
              </a:rPr>
              <a:t>Ctrl</a:t>
            </a:r>
          </a:p>
        </p:txBody>
      </p:sp>
      <p:sp>
        <p:nvSpPr>
          <p:cNvPr id="36" name="TextBox 35"/>
          <p:cNvSpPr txBox="1"/>
          <p:nvPr/>
        </p:nvSpPr>
        <p:spPr>
          <a:xfrm>
            <a:off x="1133856" y="5413248"/>
            <a:ext cx="219456" cy="365760"/>
          </a:xfrm>
          <a:prstGeom prst="rect">
            <a:avLst/>
          </a:prstGeom>
          <a:noFill/>
        </p:spPr>
        <p:txBody>
          <a:bodyPr wrap="square" anchor="ctr" lIns="0" rIns="0" tIns="0" bIns="0">
            <a:spAutoFit/>
          </a:bodyPr>
          <a:lstStyle/>
          <a:p>
            <a:pPr algn="ctr">
              <a:lnSpc>
                <a:spcPct val="110000"/>
              </a:lnSpc>
              <a:spcAft>
                <a:spcPts val="300"/>
              </a:spcAft>
            </a:pPr>
            <a:r>
              <a:rPr sz="1300" b="1" i="0">
                <a:solidFill>
                  <a:srgbClr val="54647A"/>
                </a:solidFill>
                <a:latin typeface="Times New Roman"/>
              </a:rPr>
              <a:t>+</a:t>
            </a:r>
          </a:p>
        </p:txBody>
      </p:sp>
      <p:sp>
        <p:nvSpPr>
          <p:cNvPr id="37" name="Rounded Rectangle 36"/>
          <p:cNvSpPr/>
          <p:nvPr/>
        </p:nvSpPr>
        <p:spPr>
          <a:xfrm>
            <a:off x="1353312" y="5413248"/>
            <a:ext cx="325526" cy="365760"/>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1F3864"/>
                </a:solidFill>
                <a:latin typeface="Cambria Math"/>
              </a:rPr>
              <a:t>W</a:t>
            </a:r>
          </a:p>
        </p:txBody>
      </p:sp>
      <p:sp>
        <p:nvSpPr>
          <p:cNvPr id="38" name="TextBox 37"/>
          <p:cNvSpPr txBox="1"/>
          <p:nvPr/>
        </p:nvSpPr>
        <p:spPr>
          <a:xfrm>
            <a:off x="1770278" y="5413248"/>
            <a:ext cx="1737360" cy="365760"/>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search</a:t>
            </a:r>
          </a:p>
        </p:txBody>
      </p:sp>
      <p:sp>
        <p:nvSpPr>
          <p:cNvPr id="39" name="Rounded Rectangle 38"/>
          <p:cNvSpPr/>
          <p:nvPr/>
        </p:nvSpPr>
        <p:spPr>
          <a:xfrm>
            <a:off x="3584448" y="5413248"/>
            <a:ext cx="466344" cy="365760"/>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1F3864"/>
                </a:solidFill>
                <a:latin typeface="Cambria Math"/>
              </a:rPr>
              <a:t>Alt</a:t>
            </a:r>
          </a:p>
        </p:txBody>
      </p:sp>
      <p:sp>
        <p:nvSpPr>
          <p:cNvPr id="40" name="TextBox 39"/>
          <p:cNvSpPr txBox="1"/>
          <p:nvPr/>
        </p:nvSpPr>
        <p:spPr>
          <a:xfrm>
            <a:off x="4050792" y="5413248"/>
            <a:ext cx="219456" cy="365760"/>
          </a:xfrm>
          <a:prstGeom prst="rect">
            <a:avLst/>
          </a:prstGeom>
          <a:noFill/>
        </p:spPr>
        <p:txBody>
          <a:bodyPr wrap="square" anchor="ctr" lIns="0" rIns="0" tIns="0" bIns="0">
            <a:spAutoFit/>
          </a:bodyPr>
          <a:lstStyle/>
          <a:p>
            <a:pPr algn="ctr">
              <a:lnSpc>
                <a:spcPct val="110000"/>
              </a:lnSpc>
              <a:spcAft>
                <a:spcPts val="300"/>
              </a:spcAft>
            </a:pPr>
            <a:r>
              <a:rPr sz="1300" b="1" i="0">
                <a:solidFill>
                  <a:srgbClr val="54647A"/>
                </a:solidFill>
                <a:latin typeface="Times New Roman"/>
              </a:rPr>
              <a:t>+</a:t>
            </a:r>
          </a:p>
        </p:txBody>
      </p:sp>
      <p:sp>
        <p:nvSpPr>
          <p:cNvPr id="41" name="Rounded Rectangle 40"/>
          <p:cNvSpPr/>
          <p:nvPr/>
        </p:nvSpPr>
        <p:spPr>
          <a:xfrm>
            <a:off x="4270248" y="5413248"/>
            <a:ext cx="325526" cy="365760"/>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1F3864"/>
                </a:solidFill>
                <a:latin typeface="Cambria Math"/>
              </a:rPr>
              <a:t>U</a:t>
            </a:r>
          </a:p>
        </p:txBody>
      </p:sp>
      <p:sp>
        <p:nvSpPr>
          <p:cNvPr id="42" name="TextBox 41"/>
          <p:cNvSpPr txBox="1"/>
          <p:nvPr/>
        </p:nvSpPr>
        <p:spPr>
          <a:xfrm>
            <a:off x="4687214" y="5413248"/>
            <a:ext cx="1737360" cy="365760"/>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undo</a:t>
            </a:r>
          </a:p>
        </p:txBody>
      </p:sp>
      <p:sp>
        <p:nvSpPr>
          <p:cNvPr id="43" name="Rounded Rectangle 42"/>
          <p:cNvSpPr/>
          <p:nvPr/>
        </p:nvSpPr>
        <p:spPr>
          <a:xfrm>
            <a:off x="6812280" y="4526280"/>
            <a:ext cx="4800600" cy="114300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812280" y="4526280"/>
            <a:ext cx="64008" cy="1143000"/>
          </a:xfrm>
          <a:prstGeom prst="rect">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995160" y="4590288"/>
            <a:ext cx="4526280" cy="1051560"/>
          </a:xfrm>
          <a:prstGeom prst="rect">
            <a:avLst/>
          </a:prstGeom>
          <a:noFill/>
        </p:spPr>
        <p:txBody>
          <a:bodyPr wrap="square" anchor="t" lIns="0" rIns="0" tIns="0" bIns="0">
            <a:spAutoFit/>
          </a:bodyPr>
          <a:lstStyle/>
          <a:p>
            <a:pPr algn="l">
              <a:lnSpc>
                <a:spcPct val="110000"/>
              </a:lnSpc>
              <a:spcAft>
                <a:spcPts val="400"/>
              </a:spcAft>
            </a:pPr>
            <a:r>
              <a:rPr sz="1200" b="1">
                <a:solidFill>
                  <a:srgbClr val="178A73"/>
                </a:solidFill>
                <a:latin typeface="Times New Roman"/>
              </a:rPr>
              <a:t>▸  </a:t>
            </a:r>
            <a:r>
              <a:rPr sz="1150" b="1" i="0">
                <a:solidFill>
                  <a:srgbClr val="178A73"/>
                </a:solidFill>
                <a:latin typeface="Consolas"/>
              </a:rPr>
              <a:t>mkdir -p</a:t>
            </a:r>
            <a:r>
              <a:rPr sz="1200" b="0" i="0">
                <a:solidFill>
                  <a:srgbClr val="202A38"/>
                </a:solidFill>
                <a:latin typeface="Times New Roman"/>
              </a:rPr>
              <a:t> — the whole chain in one command</a:t>
            </a:r>
          </a:p>
          <a:p>
            <a:pPr algn="l">
              <a:lnSpc>
                <a:spcPct val="110000"/>
              </a:lnSpc>
              <a:spcAft>
                <a:spcPts val="400"/>
              </a:spcAft>
            </a:pPr>
            <a:r>
              <a:rPr sz="1200" b="1">
                <a:solidFill>
                  <a:srgbClr val="178A73"/>
                </a:solidFill>
                <a:latin typeface="Times New Roman"/>
              </a:rPr>
              <a:t>▸  </a:t>
            </a:r>
            <a:r>
              <a:rPr sz="1150" b="1" i="0">
                <a:solidFill>
                  <a:srgbClr val="178A73"/>
                </a:solidFill>
                <a:latin typeface="Consolas"/>
              </a:rPr>
              <a:t>touch</a:t>
            </a:r>
            <a:r>
              <a:rPr sz="1200" b="0" i="0">
                <a:solidFill>
                  <a:srgbClr val="202A38"/>
                </a:solidFill>
                <a:latin typeface="Times New Roman"/>
              </a:rPr>
              <a:t> on an existing file only updates its time</a:t>
            </a:r>
          </a:p>
          <a:p>
            <a:pPr algn="l">
              <a:lnSpc>
                <a:spcPct val="110000"/>
              </a:lnSpc>
              <a:spcAft>
                <a:spcPts val="400"/>
              </a:spcAft>
            </a:pPr>
            <a:r>
              <a:rPr sz="1200" b="1">
                <a:solidFill>
                  <a:srgbClr val="178A73"/>
                </a:solidFill>
                <a:latin typeface="Times New Roman"/>
              </a:rPr>
              <a:t>▸  </a:t>
            </a:r>
            <a:r>
              <a:rPr sz="1150" b="1" i="0">
                <a:solidFill>
                  <a:srgbClr val="178A73"/>
                </a:solidFill>
                <a:latin typeface="Consolas"/>
              </a:rPr>
              <a:t>^</a:t>
            </a:r>
            <a:r>
              <a:rPr sz="1200" b="0" i="0">
                <a:solidFill>
                  <a:srgbClr val="202A38"/>
                </a:solidFill>
                <a:latin typeface="Times New Roman"/>
              </a:rPr>
              <a:t> in the nano menu = </a:t>
            </a:r>
            <a:r>
              <a:rPr sz="1200" b="1" i="0">
                <a:solidFill>
                  <a:srgbClr val="1F3864"/>
                </a:solidFill>
                <a:latin typeface="Cambria Math"/>
              </a:rPr>
              <a:t> Ctrl </a:t>
            </a:r>
          </a:p>
        </p:txBody>
      </p:sp>
      <p:sp>
        <p:nvSpPr>
          <p:cNvPr id="46" name="Rounded Rectangle 45"/>
          <p:cNvSpPr/>
          <p:nvPr/>
        </p:nvSpPr>
        <p:spPr>
          <a:xfrm>
            <a:off x="6812280" y="5760720"/>
            <a:ext cx="4800600" cy="530352"/>
          </a:xfrm>
          <a:prstGeom prst="roundRect">
            <a:avLst>
              <a:gd name="adj" fmla="val 8000"/>
            </a:avLst>
          </a:prstGeom>
          <a:solidFill>
            <a:srgbClr val="F5F8FC"/>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search_1F3864.png"/>
          <p:cNvPicPr>
            <a:picLocks noChangeAspect="1"/>
          </p:cNvPicPr>
          <p:nvPr/>
        </p:nvPicPr>
        <p:blipFill>
          <a:blip r:embed="rId6"/>
          <a:stretch>
            <a:fillRect/>
          </a:stretch>
        </p:blipFill>
        <p:spPr>
          <a:xfrm>
            <a:off x="6940296" y="5861304"/>
            <a:ext cx="329184" cy="329184"/>
          </a:xfrm>
          <a:prstGeom prst="rect">
            <a:avLst/>
          </a:prstGeom>
        </p:spPr>
      </p:pic>
      <p:sp>
        <p:nvSpPr>
          <p:cNvPr id="48" name="TextBox 47"/>
          <p:cNvSpPr txBox="1"/>
          <p:nvPr/>
        </p:nvSpPr>
        <p:spPr>
          <a:xfrm>
            <a:off x="7379208" y="5760720"/>
            <a:ext cx="4114800" cy="530352"/>
          </a:xfrm>
          <a:prstGeom prst="rect">
            <a:avLst/>
          </a:prstGeom>
          <a:noFill/>
        </p:spPr>
        <p:txBody>
          <a:bodyPr wrap="square" anchor="ctr" lIns="0" rIns="0" tIns="0" bIns="0">
            <a:spAutoFit/>
          </a:bodyPr>
          <a:lstStyle/>
          <a:p>
            <a:pPr algn="l">
              <a:lnSpc>
                <a:spcPct val="110000"/>
              </a:lnSpc>
              <a:spcAft>
                <a:spcPts val="300"/>
              </a:spcAft>
            </a:pPr>
            <a:r>
              <a:rPr sz="1100" b="0" i="0">
                <a:solidFill>
                  <a:srgbClr val="202A38"/>
                </a:solidFill>
                <a:latin typeface="Times New Roman"/>
              </a:rPr>
              <a:t>Servers have no GUI — settings are edited in a terminal editor.</a:t>
            </a:r>
          </a:p>
        </p:txBody>
      </p:sp>
      <p:sp>
        <p:nvSpPr>
          <p:cNvPr id="49" name="TextBox 48"/>
          <p:cNvSpPr txBox="1"/>
          <p:nvPr/>
        </p:nvSpPr>
        <p:spPr>
          <a:xfrm>
            <a:off x="566928" y="5943600"/>
            <a:ext cx="6035040" cy="320040"/>
          </a:xfrm>
          <a:prstGeom prst="rect">
            <a:avLst/>
          </a:prstGeom>
          <a:noFill/>
        </p:spPr>
        <p:txBody>
          <a:bodyPr wrap="square" anchor="t" lIns="0" rIns="0" tIns="0" bIns="0">
            <a:spAutoFit/>
          </a:bodyPr>
          <a:lstStyle/>
          <a:p>
            <a:pPr algn="l">
              <a:lnSpc>
                <a:spcPct val="110000"/>
              </a:lnSpc>
              <a:spcAft>
                <a:spcPts val="300"/>
              </a:spcAft>
            </a:pPr>
            <a:r>
              <a:rPr sz="1150" b="0" i="1">
                <a:solidFill>
                  <a:srgbClr val="54647A"/>
                </a:solidFill>
                <a:latin typeface="Times New Roman"/>
              </a:rPr>
              <a:t>Screenshot 2.2: </a:t>
            </a:r>
            <a:r>
              <a:rPr sz="1100" b="1" i="0">
                <a:solidFill>
                  <a:srgbClr val="178A73"/>
                </a:solidFill>
                <a:latin typeface="Consolas"/>
              </a:rPr>
              <a:t>ls -a lab2</a:t>
            </a:r>
            <a:r>
              <a:rPr sz="1150" b="0" i="1">
                <a:solidFill>
                  <a:srgbClr val="54647A"/>
                </a:solidFill>
                <a:latin typeface="Times New Roman"/>
              </a:rPr>
              <a:t> and the nano window</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QUESTION 2 · TASK 2.3</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2.3 — Copy, move, delete and wildcards</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22</a:t>
            </a:r>
          </a:p>
        </p:txBody>
      </p:sp>
      <p:sp>
        <p:nvSpPr>
          <p:cNvPr id="8" name="Rounded Rectangle 7"/>
          <p:cNvSpPr/>
          <p:nvPr/>
        </p:nvSpPr>
        <p:spPr>
          <a:xfrm>
            <a:off x="566928" y="1600200"/>
            <a:ext cx="1828800" cy="1874519"/>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00200"/>
            <a:ext cx="64008" cy="1874519"/>
          </a:xfrm>
          <a:prstGeom prst="rect">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49808" y="1719072"/>
            <a:ext cx="502920" cy="50292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py_FFFFFF.png"/>
          <p:cNvPicPr>
            <a:picLocks noChangeAspect="1"/>
          </p:cNvPicPr>
          <p:nvPr/>
        </p:nvPicPr>
        <p:blipFill>
          <a:blip r:embed="rId3"/>
          <a:stretch>
            <a:fillRect/>
          </a:stretch>
        </p:blipFill>
        <p:spPr>
          <a:xfrm>
            <a:off x="875538" y="1844802"/>
            <a:ext cx="251460" cy="251460"/>
          </a:xfrm>
          <a:prstGeom prst="rect">
            <a:avLst/>
          </a:prstGeom>
        </p:spPr>
      </p:pic>
      <p:sp>
        <p:nvSpPr>
          <p:cNvPr id="12" name="TextBox 11"/>
          <p:cNvSpPr txBox="1"/>
          <p:nvPr/>
        </p:nvSpPr>
        <p:spPr>
          <a:xfrm>
            <a:off x="1344168" y="1737360"/>
            <a:ext cx="1005840" cy="457200"/>
          </a:xfrm>
          <a:prstGeom prst="rect">
            <a:avLst/>
          </a:prstGeom>
          <a:noFill/>
        </p:spPr>
        <p:txBody>
          <a:bodyPr wrap="square" anchor="t" lIns="0" rIns="0" tIns="0" bIns="0">
            <a:spAutoFit/>
          </a:bodyPr>
          <a:lstStyle/>
          <a:p>
            <a:pPr algn="l">
              <a:lnSpc>
                <a:spcPct val="110000"/>
              </a:lnSpc>
              <a:spcAft>
                <a:spcPts val="300"/>
              </a:spcAft>
            </a:pPr>
            <a:r>
              <a:rPr sz="2200" b="1" i="0">
                <a:solidFill>
                  <a:srgbClr val="178A73"/>
                </a:solidFill>
                <a:latin typeface="Consolas"/>
              </a:rPr>
              <a:t>cp</a:t>
            </a:r>
          </a:p>
        </p:txBody>
      </p:sp>
      <p:sp>
        <p:nvSpPr>
          <p:cNvPr id="13" name="TextBox 12"/>
          <p:cNvSpPr txBox="1"/>
          <p:nvPr/>
        </p:nvSpPr>
        <p:spPr>
          <a:xfrm>
            <a:off x="749808" y="2331720"/>
            <a:ext cx="1554480" cy="457200"/>
          </a:xfrm>
          <a:prstGeom prst="rect">
            <a:avLst/>
          </a:prstGeom>
          <a:noFill/>
        </p:spPr>
        <p:txBody>
          <a:bodyPr wrap="square" anchor="t" lIns="0" rIns="0" tIns="0" bIns="0">
            <a:spAutoFit/>
          </a:bodyPr>
          <a:lstStyle/>
          <a:p>
            <a:pPr algn="l">
              <a:lnSpc>
                <a:spcPct val="110000"/>
              </a:lnSpc>
              <a:spcAft>
                <a:spcPts val="300"/>
              </a:spcAft>
            </a:pPr>
            <a:r>
              <a:rPr sz="1150" b="1" i="0">
                <a:solidFill>
                  <a:srgbClr val="1F3864"/>
                </a:solidFill>
                <a:latin typeface="Times New Roman"/>
              </a:rPr>
              <a:t>copy</a:t>
            </a:r>
          </a:p>
        </p:txBody>
      </p:sp>
      <p:sp>
        <p:nvSpPr>
          <p:cNvPr id="14" name="TextBox 13"/>
          <p:cNvSpPr txBox="1"/>
          <p:nvPr/>
        </p:nvSpPr>
        <p:spPr>
          <a:xfrm>
            <a:off x="749808" y="2788920"/>
            <a:ext cx="1600200" cy="640080"/>
          </a:xfrm>
          <a:prstGeom prst="rect">
            <a:avLst/>
          </a:prstGeom>
          <a:noFill/>
        </p:spPr>
        <p:txBody>
          <a:bodyPr wrap="square" anchor="t" lIns="0" rIns="0" tIns="0" bIns="0">
            <a:spAutoFit/>
          </a:bodyPr>
          <a:lstStyle/>
          <a:p>
            <a:pPr algn="l">
              <a:lnSpc>
                <a:spcPct val="110000"/>
              </a:lnSpc>
              <a:spcAft>
                <a:spcPts val="300"/>
              </a:spcAft>
            </a:pPr>
            <a:r>
              <a:rPr sz="1000" b="1" i="0">
                <a:solidFill>
                  <a:srgbClr val="178A73"/>
                </a:solidFill>
                <a:latin typeface="Consolas"/>
              </a:rPr>
              <a:t>cp a.txt b.txt</a:t>
            </a:r>
            <a:r>
              <a:rPr sz="1050" b="0" i="0">
                <a:solidFill>
                  <a:srgbClr val="202A38"/>
                </a:solidFill>
                <a:latin typeface="Times New Roman"/>
              </a:rPr>
              <a:t> · dir: </a:t>
            </a:r>
            <a:r>
              <a:rPr sz="1000" b="1" i="0">
                <a:solidFill>
                  <a:srgbClr val="178A73"/>
                </a:solidFill>
                <a:latin typeface="Consolas"/>
              </a:rPr>
              <a:t>cp -r</a:t>
            </a:r>
          </a:p>
        </p:txBody>
      </p:sp>
      <p:sp>
        <p:nvSpPr>
          <p:cNvPr id="15" name="Rounded Rectangle 14"/>
          <p:cNvSpPr/>
          <p:nvPr/>
        </p:nvSpPr>
        <p:spPr>
          <a:xfrm>
            <a:off x="2505456" y="1600200"/>
            <a:ext cx="1828800" cy="1874519"/>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505456" y="1600200"/>
            <a:ext cx="64008" cy="1874519"/>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688336" y="1719072"/>
            <a:ext cx="502920" cy="50292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older_FFFFFF.png"/>
          <p:cNvPicPr>
            <a:picLocks noChangeAspect="1"/>
          </p:cNvPicPr>
          <p:nvPr/>
        </p:nvPicPr>
        <p:blipFill>
          <a:blip r:embed="rId4"/>
          <a:stretch>
            <a:fillRect/>
          </a:stretch>
        </p:blipFill>
        <p:spPr>
          <a:xfrm>
            <a:off x="2814066" y="1844802"/>
            <a:ext cx="251460" cy="251460"/>
          </a:xfrm>
          <a:prstGeom prst="rect">
            <a:avLst/>
          </a:prstGeom>
        </p:spPr>
      </p:pic>
      <p:sp>
        <p:nvSpPr>
          <p:cNvPr id="19" name="TextBox 18"/>
          <p:cNvSpPr txBox="1"/>
          <p:nvPr/>
        </p:nvSpPr>
        <p:spPr>
          <a:xfrm>
            <a:off x="3282696" y="1737360"/>
            <a:ext cx="1005840" cy="457200"/>
          </a:xfrm>
          <a:prstGeom prst="rect">
            <a:avLst/>
          </a:prstGeom>
          <a:noFill/>
        </p:spPr>
        <p:txBody>
          <a:bodyPr wrap="square" anchor="t" lIns="0" rIns="0" tIns="0" bIns="0">
            <a:spAutoFit/>
          </a:bodyPr>
          <a:lstStyle/>
          <a:p>
            <a:pPr algn="l">
              <a:lnSpc>
                <a:spcPct val="110000"/>
              </a:lnSpc>
              <a:spcAft>
                <a:spcPts val="300"/>
              </a:spcAft>
            </a:pPr>
            <a:r>
              <a:rPr sz="2200" b="1" i="0">
                <a:solidFill>
                  <a:srgbClr val="1F3864"/>
                </a:solidFill>
                <a:latin typeface="Consolas"/>
              </a:rPr>
              <a:t>mv</a:t>
            </a:r>
          </a:p>
        </p:txBody>
      </p:sp>
      <p:sp>
        <p:nvSpPr>
          <p:cNvPr id="20" name="TextBox 19"/>
          <p:cNvSpPr txBox="1"/>
          <p:nvPr/>
        </p:nvSpPr>
        <p:spPr>
          <a:xfrm>
            <a:off x="2688336" y="2331720"/>
            <a:ext cx="1554480" cy="457200"/>
          </a:xfrm>
          <a:prstGeom prst="rect">
            <a:avLst/>
          </a:prstGeom>
          <a:noFill/>
        </p:spPr>
        <p:txBody>
          <a:bodyPr wrap="square" anchor="t" lIns="0" rIns="0" tIns="0" bIns="0">
            <a:spAutoFit/>
          </a:bodyPr>
          <a:lstStyle/>
          <a:p>
            <a:pPr algn="l">
              <a:lnSpc>
                <a:spcPct val="110000"/>
              </a:lnSpc>
              <a:spcAft>
                <a:spcPts val="300"/>
              </a:spcAft>
            </a:pPr>
            <a:r>
              <a:rPr sz="1150" b="1" i="0">
                <a:solidFill>
                  <a:srgbClr val="1F3864"/>
                </a:solidFill>
                <a:latin typeface="Times New Roman"/>
              </a:rPr>
              <a:t>move / rename</a:t>
            </a:r>
          </a:p>
        </p:txBody>
      </p:sp>
      <p:sp>
        <p:nvSpPr>
          <p:cNvPr id="21" name="TextBox 20"/>
          <p:cNvSpPr txBox="1"/>
          <p:nvPr/>
        </p:nvSpPr>
        <p:spPr>
          <a:xfrm>
            <a:off x="2688336" y="2788920"/>
            <a:ext cx="1600200" cy="640080"/>
          </a:xfrm>
          <a:prstGeom prst="rect">
            <a:avLst/>
          </a:prstGeom>
          <a:noFill/>
        </p:spPr>
        <p:txBody>
          <a:bodyPr wrap="square" anchor="t" lIns="0" rIns="0" tIns="0" bIns="0">
            <a:spAutoFit/>
          </a:bodyPr>
          <a:lstStyle/>
          <a:p>
            <a:pPr algn="l">
              <a:lnSpc>
                <a:spcPct val="110000"/>
              </a:lnSpc>
              <a:spcAft>
                <a:spcPts val="300"/>
              </a:spcAft>
            </a:pPr>
            <a:r>
              <a:rPr sz="1000" b="1" i="0">
                <a:solidFill>
                  <a:srgbClr val="178A73"/>
                </a:solidFill>
                <a:latin typeface="Consolas"/>
              </a:rPr>
              <a:t>mv old.txt new.txt</a:t>
            </a:r>
          </a:p>
        </p:txBody>
      </p:sp>
      <p:sp>
        <p:nvSpPr>
          <p:cNvPr id="22" name="Rounded Rectangle 21"/>
          <p:cNvSpPr/>
          <p:nvPr/>
        </p:nvSpPr>
        <p:spPr>
          <a:xfrm>
            <a:off x="4443984" y="1600200"/>
            <a:ext cx="1828800" cy="1874519"/>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43984" y="1600200"/>
            <a:ext cx="64008" cy="1874519"/>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626864" y="1719072"/>
            <a:ext cx="502920" cy="50292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trash_FFFFFF.png"/>
          <p:cNvPicPr>
            <a:picLocks noChangeAspect="1"/>
          </p:cNvPicPr>
          <p:nvPr/>
        </p:nvPicPr>
        <p:blipFill>
          <a:blip r:embed="rId5"/>
          <a:stretch>
            <a:fillRect/>
          </a:stretch>
        </p:blipFill>
        <p:spPr>
          <a:xfrm>
            <a:off x="4752594" y="1844802"/>
            <a:ext cx="251460" cy="251460"/>
          </a:xfrm>
          <a:prstGeom prst="rect">
            <a:avLst/>
          </a:prstGeom>
        </p:spPr>
      </p:pic>
      <p:sp>
        <p:nvSpPr>
          <p:cNvPr id="26" name="TextBox 25"/>
          <p:cNvSpPr txBox="1"/>
          <p:nvPr/>
        </p:nvSpPr>
        <p:spPr>
          <a:xfrm>
            <a:off x="5221224" y="1737360"/>
            <a:ext cx="1005840" cy="457200"/>
          </a:xfrm>
          <a:prstGeom prst="rect">
            <a:avLst/>
          </a:prstGeom>
          <a:noFill/>
        </p:spPr>
        <p:txBody>
          <a:bodyPr wrap="square" anchor="t" lIns="0" rIns="0" tIns="0" bIns="0">
            <a:spAutoFit/>
          </a:bodyPr>
          <a:lstStyle/>
          <a:p>
            <a:pPr algn="l">
              <a:lnSpc>
                <a:spcPct val="110000"/>
              </a:lnSpc>
              <a:spcAft>
                <a:spcPts val="300"/>
              </a:spcAft>
            </a:pPr>
            <a:r>
              <a:rPr sz="2200" b="1" i="0">
                <a:solidFill>
                  <a:srgbClr val="C0392B"/>
                </a:solidFill>
                <a:latin typeface="Consolas"/>
              </a:rPr>
              <a:t>rm</a:t>
            </a:r>
          </a:p>
        </p:txBody>
      </p:sp>
      <p:sp>
        <p:nvSpPr>
          <p:cNvPr id="27" name="TextBox 26"/>
          <p:cNvSpPr txBox="1"/>
          <p:nvPr/>
        </p:nvSpPr>
        <p:spPr>
          <a:xfrm>
            <a:off x="4626864" y="2331720"/>
            <a:ext cx="1554480" cy="457200"/>
          </a:xfrm>
          <a:prstGeom prst="rect">
            <a:avLst/>
          </a:prstGeom>
          <a:noFill/>
        </p:spPr>
        <p:txBody>
          <a:bodyPr wrap="square" anchor="t" lIns="0" rIns="0" tIns="0" bIns="0">
            <a:spAutoFit/>
          </a:bodyPr>
          <a:lstStyle/>
          <a:p>
            <a:pPr algn="l">
              <a:lnSpc>
                <a:spcPct val="110000"/>
              </a:lnSpc>
              <a:spcAft>
                <a:spcPts val="300"/>
              </a:spcAft>
            </a:pPr>
            <a:r>
              <a:rPr sz="1150" b="1" i="0">
                <a:solidFill>
                  <a:srgbClr val="1F3864"/>
                </a:solidFill>
                <a:latin typeface="Times New Roman"/>
              </a:rPr>
              <a:t>delete (no undo!)</a:t>
            </a:r>
          </a:p>
        </p:txBody>
      </p:sp>
      <p:sp>
        <p:nvSpPr>
          <p:cNvPr id="28" name="TextBox 27"/>
          <p:cNvSpPr txBox="1"/>
          <p:nvPr/>
        </p:nvSpPr>
        <p:spPr>
          <a:xfrm>
            <a:off x="4626864" y="2788920"/>
            <a:ext cx="1600200" cy="640080"/>
          </a:xfrm>
          <a:prstGeom prst="rect">
            <a:avLst/>
          </a:prstGeom>
          <a:noFill/>
        </p:spPr>
        <p:txBody>
          <a:bodyPr wrap="square" anchor="t" lIns="0" rIns="0" tIns="0" bIns="0">
            <a:spAutoFit/>
          </a:bodyPr>
          <a:lstStyle/>
          <a:p>
            <a:pPr algn="l">
              <a:lnSpc>
                <a:spcPct val="110000"/>
              </a:lnSpc>
              <a:spcAft>
                <a:spcPts val="300"/>
              </a:spcAft>
            </a:pPr>
            <a:r>
              <a:rPr sz="1000" b="1" i="0">
                <a:solidFill>
                  <a:srgbClr val="178A73"/>
                </a:solidFill>
                <a:latin typeface="Consolas"/>
              </a:rPr>
              <a:t>rm file</a:t>
            </a:r>
            <a:r>
              <a:rPr sz="1050" b="0" i="0">
                <a:solidFill>
                  <a:srgbClr val="202A38"/>
                </a:solidFill>
                <a:latin typeface="Times New Roman"/>
              </a:rPr>
              <a:t> · dir: </a:t>
            </a:r>
            <a:r>
              <a:rPr sz="1000" b="1" i="0">
                <a:solidFill>
                  <a:srgbClr val="178A73"/>
                </a:solidFill>
                <a:latin typeface="Consolas"/>
              </a:rPr>
              <a:t>rm -r</a:t>
            </a:r>
          </a:p>
        </p:txBody>
      </p:sp>
      <p:sp>
        <p:nvSpPr>
          <p:cNvPr id="29" name="TextBox 28"/>
          <p:cNvSpPr txBox="1"/>
          <p:nvPr/>
        </p:nvSpPr>
        <p:spPr>
          <a:xfrm>
            <a:off x="566928" y="3611880"/>
            <a:ext cx="576072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1F3864"/>
                </a:solidFill>
                <a:latin typeface="Times New Roman"/>
              </a:rPr>
              <a:t>Options</a:t>
            </a:r>
          </a:p>
        </p:txBody>
      </p:sp>
      <p:sp>
        <p:nvSpPr>
          <p:cNvPr id="30" name="Rounded Rectangle 29"/>
          <p:cNvSpPr/>
          <p:nvPr/>
        </p:nvSpPr>
        <p:spPr>
          <a:xfrm>
            <a:off x="566928" y="3931920"/>
            <a:ext cx="640080" cy="347472"/>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-r</a:t>
            </a:r>
          </a:p>
        </p:txBody>
      </p:sp>
      <p:sp>
        <p:nvSpPr>
          <p:cNvPr id="31" name="TextBox 30"/>
          <p:cNvSpPr txBox="1"/>
          <p:nvPr/>
        </p:nvSpPr>
        <p:spPr>
          <a:xfrm>
            <a:off x="1325880" y="3931920"/>
            <a:ext cx="4572000" cy="347472"/>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with directory (recursive)</a:t>
            </a:r>
          </a:p>
        </p:txBody>
      </p:sp>
      <p:sp>
        <p:nvSpPr>
          <p:cNvPr id="32" name="Rounded Rectangle 31"/>
          <p:cNvSpPr/>
          <p:nvPr/>
        </p:nvSpPr>
        <p:spPr>
          <a:xfrm>
            <a:off x="566928" y="4343400"/>
            <a:ext cx="640080" cy="347472"/>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-i</a:t>
            </a:r>
          </a:p>
        </p:txBody>
      </p:sp>
      <p:sp>
        <p:nvSpPr>
          <p:cNvPr id="33" name="TextBox 32"/>
          <p:cNvSpPr txBox="1"/>
          <p:nvPr/>
        </p:nvSpPr>
        <p:spPr>
          <a:xfrm>
            <a:off x="1325880" y="4343400"/>
            <a:ext cx="4572000" cy="347472"/>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ask before overwrite/delete</a:t>
            </a:r>
          </a:p>
        </p:txBody>
      </p:sp>
      <p:sp>
        <p:nvSpPr>
          <p:cNvPr id="34" name="Rounded Rectangle 33"/>
          <p:cNvSpPr/>
          <p:nvPr/>
        </p:nvSpPr>
        <p:spPr>
          <a:xfrm>
            <a:off x="566928" y="4754880"/>
            <a:ext cx="640080" cy="347472"/>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-v</a:t>
            </a:r>
          </a:p>
        </p:txBody>
      </p:sp>
      <p:sp>
        <p:nvSpPr>
          <p:cNvPr id="35" name="TextBox 34"/>
          <p:cNvSpPr txBox="1"/>
          <p:nvPr/>
        </p:nvSpPr>
        <p:spPr>
          <a:xfrm>
            <a:off x="1325880" y="4754880"/>
            <a:ext cx="4572000" cy="347472"/>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show what is being done</a:t>
            </a:r>
          </a:p>
        </p:txBody>
      </p:sp>
      <p:sp>
        <p:nvSpPr>
          <p:cNvPr id="36" name="Rounded Rectangle 35"/>
          <p:cNvSpPr/>
          <p:nvPr/>
        </p:nvSpPr>
        <p:spPr>
          <a:xfrm>
            <a:off x="566928" y="5166360"/>
            <a:ext cx="640080" cy="347472"/>
          </a:xfrm>
          <a:prstGeom prst="roundRect">
            <a:avLst>
              <a:gd name="adj" fmla="val 1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-f</a:t>
            </a:r>
          </a:p>
        </p:txBody>
      </p:sp>
      <p:sp>
        <p:nvSpPr>
          <p:cNvPr id="37" name="TextBox 36"/>
          <p:cNvSpPr txBox="1"/>
          <p:nvPr/>
        </p:nvSpPr>
        <p:spPr>
          <a:xfrm>
            <a:off x="1325880" y="5166360"/>
            <a:ext cx="4572000" cy="347472"/>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no asking, force (dangerous)</a:t>
            </a:r>
          </a:p>
        </p:txBody>
      </p:sp>
      <p:sp>
        <p:nvSpPr>
          <p:cNvPr id="38" name="TextBox 37"/>
          <p:cNvSpPr txBox="1"/>
          <p:nvPr/>
        </p:nvSpPr>
        <p:spPr>
          <a:xfrm>
            <a:off x="566928" y="5623560"/>
            <a:ext cx="5760720" cy="274320"/>
          </a:xfrm>
          <a:prstGeom prst="rect">
            <a:avLst/>
          </a:prstGeom>
          <a:noFill/>
        </p:spPr>
        <p:txBody>
          <a:bodyPr wrap="square" anchor="t" lIns="0" rIns="0" tIns="0" bIns="0">
            <a:spAutoFit/>
          </a:bodyPr>
          <a:lstStyle/>
          <a:p>
            <a:pPr algn="l">
              <a:lnSpc>
                <a:spcPct val="110000"/>
              </a:lnSpc>
              <a:spcAft>
                <a:spcPts val="300"/>
              </a:spcAft>
            </a:pPr>
            <a:r>
              <a:rPr sz="1250" b="0" i="0">
                <a:solidFill>
                  <a:srgbClr val="202A38"/>
                </a:solidFill>
                <a:latin typeface="Times New Roman"/>
              </a:rPr>
              <a:t>Wildcards: </a:t>
            </a:r>
            <a:r>
              <a:rPr sz="1200" b="1" i="0">
                <a:solidFill>
                  <a:srgbClr val="178A73"/>
                </a:solidFill>
                <a:latin typeface="Consolas"/>
              </a:rPr>
              <a:t>*</a:t>
            </a:r>
            <a:r>
              <a:rPr sz="1250" b="0" i="0">
                <a:solidFill>
                  <a:srgbClr val="202A38"/>
                </a:solidFill>
                <a:latin typeface="Times New Roman"/>
              </a:rPr>
              <a:t> any characters · </a:t>
            </a:r>
            <a:r>
              <a:rPr sz="1200" b="1" i="0">
                <a:solidFill>
                  <a:srgbClr val="178A73"/>
                </a:solidFill>
                <a:latin typeface="Consolas"/>
              </a:rPr>
              <a:t>?</a:t>
            </a:r>
            <a:r>
              <a:rPr sz="1250" b="0" i="0">
                <a:solidFill>
                  <a:srgbClr val="202A38"/>
                </a:solidFill>
                <a:latin typeface="Times New Roman"/>
              </a:rPr>
              <a:t> one character · </a:t>
            </a:r>
            <a:r>
              <a:rPr sz="1200" b="1" i="0">
                <a:solidFill>
                  <a:srgbClr val="178A73"/>
                </a:solidFill>
                <a:latin typeface="Consolas"/>
              </a:rPr>
              <a:t>[12]</a:t>
            </a:r>
            <a:r>
              <a:rPr sz="1250" b="0" i="0">
                <a:solidFill>
                  <a:srgbClr val="202A38"/>
                </a:solidFill>
                <a:latin typeface="Times New Roman"/>
              </a:rPr>
              <a:t> 1 or 2</a:t>
            </a:r>
          </a:p>
        </p:txBody>
      </p:sp>
      <p:sp>
        <p:nvSpPr>
          <p:cNvPr id="39" name="TextBox 38"/>
          <p:cNvSpPr txBox="1"/>
          <p:nvPr/>
        </p:nvSpPr>
        <p:spPr>
          <a:xfrm>
            <a:off x="566928" y="5943600"/>
            <a:ext cx="5760720" cy="320040"/>
          </a:xfrm>
          <a:prstGeom prst="rect">
            <a:avLst/>
          </a:prstGeom>
          <a:noFill/>
        </p:spPr>
        <p:txBody>
          <a:bodyPr wrap="square" anchor="t" lIns="0" rIns="0" tIns="0" bIns="0">
            <a:spAutoFit/>
          </a:bodyPr>
          <a:lstStyle/>
          <a:p>
            <a:pPr algn="l">
              <a:lnSpc>
                <a:spcPct val="110000"/>
              </a:lnSpc>
              <a:spcAft>
                <a:spcPts val="300"/>
              </a:spcAft>
            </a:pPr>
            <a:r>
              <a:rPr sz="1150" b="0" i="1">
                <a:solidFill>
                  <a:srgbClr val="54647A"/>
                </a:solidFill>
                <a:latin typeface="Times New Roman"/>
              </a:rPr>
              <a:t>Screenshot 2.3: </a:t>
            </a:r>
            <a:r>
              <a:rPr sz="1100" b="1" i="0">
                <a:solidFill>
                  <a:srgbClr val="178A73"/>
                </a:solidFill>
                <a:latin typeface="Consolas"/>
              </a:rPr>
              <a:t>ls -R lab2</a:t>
            </a:r>
            <a:r>
              <a:rPr sz="1150" b="0" i="1">
                <a:solidFill>
                  <a:srgbClr val="54647A"/>
                </a:solidFill>
                <a:latin typeface="Times New Roman"/>
              </a:rPr>
              <a:t> and </a:t>
            </a:r>
            <a:r>
              <a:rPr sz="1100" b="1" i="0">
                <a:solidFill>
                  <a:srgbClr val="178A73"/>
                </a:solidFill>
                <a:latin typeface="Consolas"/>
              </a:rPr>
              <a:t>ls</a:t>
            </a:r>
            <a:r>
              <a:rPr sz="1150" b="0" i="1">
                <a:solidFill>
                  <a:srgbClr val="54647A"/>
                </a:solidFill>
                <a:latin typeface="Times New Roman"/>
              </a:rPr>
              <a:t> with wildcards</a:t>
            </a:r>
          </a:p>
        </p:txBody>
      </p:sp>
      <p:graphicFrame>
        <p:nvGraphicFramePr>
          <p:cNvPr id="40" name="Table 39"/>
          <p:cNvGraphicFramePr>
            <a:graphicFrameLocks noGrp="1"/>
          </p:cNvGraphicFramePr>
          <p:nvPr/>
        </p:nvGraphicFramePr>
        <p:xfrm>
          <a:off x="6537960" y="1600200"/>
          <a:ext cx="5074920" cy="2743200"/>
        </p:xfrm>
        <a:graphic>
          <a:graphicData uri="http://schemas.openxmlformats.org/drawingml/2006/table">
            <a:tbl>
              <a:tblPr firstRow="1" bandRow="1">
                <a:tableStyleId>{5940675A-B579-460E-94D1-54222C63F5DA}</a:tableStyleId>
              </a:tblPr>
              <a:tblGrid>
                <a:gridCol w="2286000"/>
                <a:gridCol w="2788920"/>
              </a:tblGrid>
              <a:tr h="457200">
                <a:tc>
                  <a:txBody>
                    <a:bodyPr wrap="square"/>
                    <a:lstStyle/>
                    <a:p>
                      <a:pPr algn="l"/>
                      <a:r>
                        <a:rPr sz="1200" b="1" i="0">
                          <a:solidFill>
                            <a:srgbClr val="FFFFFF"/>
                          </a:solidFill>
                          <a:latin typeface="Times New Roman"/>
                        </a:rPr>
                        <a:t>Case</a:t>
                      </a:r>
                    </a:p>
                  </a:txBody>
                  <a:tcPr marL="63500" marR="63500" marT="25400" marB="25400" anchor="ctr">
                    <a:solidFill>
                      <a:srgbClr val="1F3864"/>
                    </a:solidFill>
                  </a:tcPr>
                </a:tc>
                <a:tc>
                  <a:txBody>
                    <a:bodyPr wrap="square"/>
                    <a:lstStyle/>
                    <a:p>
                      <a:pPr algn="l"/>
                      <a:r>
                        <a:rPr sz="1200" b="1" i="0">
                          <a:solidFill>
                            <a:srgbClr val="FFFFFF"/>
                          </a:solidFill>
                          <a:latin typeface="Times New Roman"/>
                        </a:rPr>
                        <a:t>Result and reason</a:t>
                      </a:r>
                    </a:p>
                  </a:txBody>
                  <a:tcPr marL="63500" marR="63500" marT="25400" marB="25400" anchor="ctr">
                    <a:solidFill>
                      <a:srgbClr val="1F3864"/>
                    </a:solidFill>
                  </a:tcPr>
                </a:tc>
              </a:tr>
              <a:tr h="457200">
                <a:tc>
                  <a:txBody>
                    <a:bodyPr wrap="square"/>
                    <a:lstStyle/>
                    <a:p>
                      <a:pPr algn="l"/>
                      <a:r>
                        <a:rPr sz="1050" b="1" i="0">
                          <a:solidFill>
                            <a:srgbClr val="178A73"/>
                          </a:solidFill>
                          <a:latin typeface="Consolas"/>
                        </a:rPr>
                        <a:t>cp report new</a:t>
                      </a:r>
                    </a:p>
                  </a:txBody>
                  <a:tcPr marL="63500" marR="63500" marT="25400" marB="25400" anchor="ctr">
                    <a:solidFill>
                      <a:srgbClr val="FFFFFF"/>
                    </a:solidFill>
                  </a:tcPr>
                </a:tc>
                <a:tc>
                  <a:txBody>
                    <a:bodyPr wrap="square"/>
                    <a:lstStyle/>
                    <a:p>
                      <a:pPr algn="l"/>
                      <a:r>
                        <a:rPr sz="1050" b="1" i="0">
                          <a:solidFill>
                            <a:srgbClr val="178A73"/>
                          </a:solidFill>
                          <a:latin typeface="Consolas"/>
                        </a:rPr>
                        <a:t>omitting directory</a:t>
                      </a:r>
                      <a:r>
                        <a:rPr sz="1100" b="0" i="0">
                          <a:solidFill>
                            <a:srgbClr val="202A38"/>
                          </a:solidFill>
                          <a:latin typeface="Times New Roman"/>
                        </a:rPr>
                        <a:t> — needs </a:t>
                      </a:r>
                      <a:r>
                        <a:rPr sz="1050" b="1" i="0">
                          <a:solidFill>
                            <a:srgbClr val="178A73"/>
                          </a:solidFill>
                          <a:latin typeface="Consolas"/>
                        </a:rPr>
                        <a:t>-r</a:t>
                      </a:r>
                    </a:p>
                  </a:txBody>
                  <a:tcPr marL="63500" marR="63500" marT="25400" marB="25400" anchor="ctr">
                    <a:solidFill>
                      <a:srgbClr val="FFFFFF"/>
                    </a:solidFill>
                  </a:tcPr>
                </a:tc>
              </a:tr>
              <a:tr h="457200">
                <a:tc>
                  <a:txBody>
                    <a:bodyPr wrap="square"/>
                    <a:lstStyle/>
                    <a:p>
                      <a:pPr algn="l"/>
                      <a:r>
                        <a:rPr sz="1050" b="1" i="0">
                          <a:solidFill>
                            <a:srgbClr val="178A73"/>
                          </a:solidFill>
                          <a:latin typeface="Consolas"/>
                        </a:rPr>
                        <a:t>rmdir report</a:t>
                      </a:r>
                    </a:p>
                  </a:txBody>
                  <a:tcPr marL="63500" marR="63500" marT="25400" marB="25400" anchor="ctr">
                    <a:solidFill>
                      <a:srgbClr val="F5F8FC"/>
                    </a:solidFill>
                  </a:tcPr>
                </a:tc>
                <a:tc>
                  <a:txBody>
                    <a:bodyPr wrap="square"/>
                    <a:lstStyle/>
                    <a:p>
                      <a:pPr algn="l"/>
                      <a:r>
                        <a:rPr sz="1050" b="1" i="0">
                          <a:solidFill>
                            <a:srgbClr val="178A73"/>
                          </a:solidFill>
                          <a:latin typeface="Consolas"/>
                        </a:rPr>
                        <a:t>Directory not empty</a:t>
                      </a:r>
                      <a:r>
                        <a:rPr sz="1100" b="0" i="0">
                          <a:solidFill>
                            <a:srgbClr val="202A38"/>
                          </a:solidFill>
                          <a:latin typeface="Times New Roman"/>
                        </a:rPr>
                        <a:t> — </a:t>
                      </a:r>
                      <a:r>
                        <a:rPr sz="1050" b="1" i="0">
                          <a:solidFill>
                            <a:srgbClr val="178A73"/>
                          </a:solidFill>
                          <a:latin typeface="Consolas"/>
                        </a:rPr>
                        <a:t>rm -r</a:t>
                      </a:r>
                    </a:p>
                  </a:txBody>
                  <a:tcPr marL="63500" marR="63500" marT="25400" marB="25400" anchor="ctr">
                    <a:solidFill>
                      <a:srgbClr val="F5F8FC"/>
                    </a:solidFill>
                  </a:tcPr>
                </a:tc>
              </a:tr>
              <a:tr h="457200">
                <a:tc>
                  <a:txBody>
                    <a:bodyPr wrap="square"/>
                    <a:lstStyle/>
                    <a:p>
                      <a:pPr algn="l"/>
                      <a:r>
                        <a:rPr sz="1050" b="1" i="0">
                          <a:solidFill>
                            <a:srgbClr val="178A73"/>
                          </a:solidFill>
                          <a:latin typeface="Consolas"/>
                        </a:rPr>
                        <a:t>mv a.txt b.txt</a:t>
                      </a:r>
                      <a:r>
                        <a:rPr sz="1100" b="1" i="0">
                          <a:solidFill>
                            <a:srgbClr val="202A38"/>
                          </a:solidFill>
                          <a:latin typeface="Times New Roman"/>
                        </a:rPr>
                        <a:t> (b exists)</a:t>
                      </a:r>
                    </a:p>
                  </a:txBody>
                  <a:tcPr marL="63500" marR="63500" marT="25400" marB="25400" anchor="ctr">
                    <a:solidFill>
                      <a:srgbClr val="FFFFFF"/>
                    </a:solidFill>
                  </a:tcPr>
                </a:tc>
                <a:tc>
                  <a:txBody>
                    <a:bodyPr wrap="square"/>
                    <a:lstStyle/>
                    <a:p>
                      <a:pPr algn="l"/>
                      <a:r>
                        <a:rPr sz="1100" b="0" i="0">
                          <a:solidFill>
                            <a:srgbClr val="202A38"/>
                          </a:solidFill>
                          <a:latin typeface="Times New Roman"/>
                        </a:rPr>
                        <a:t>Overwritten silently! </a:t>
                      </a:r>
                      <a:r>
                        <a:rPr sz="1050" b="1" i="0">
                          <a:solidFill>
                            <a:srgbClr val="178A73"/>
                          </a:solidFill>
                          <a:latin typeface="Consolas"/>
                        </a:rPr>
                        <a:t>-i</a:t>
                      </a:r>
                      <a:r>
                        <a:rPr sz="1100" b="0" i="0">
                          <a:solidFill>
                            <a:srgbClr val="202A38"/>
                          </a:solidFill>
                          <a:latin typeface="Times New Roman"/>
                        </a:rPr>
                        <a:t> / </a:t>
                      </a:r>
                      <a:r>
                        <a:rPr sz="1050" b="1" i="0">
                          <a:solidFill>
                            <a:srgbClr val="178A73"/>
                          </a:solidFill>
                          <a:latin typeface="Consolas"/>
                        </a:rPr>
                        <a:t>-n</a:t>
                      </a:r>
                    </a:p>
                  </a:txBody>
                  <a:tcPr marL="63500" marR="63500" marT="25400" marB="25400" anchor="ctr">
                    <a:solidFill>
                      <a:srgbClr val="FFFFFF"/>
                    </a:solidFill>
                  </a:tcPr>
                </a:tc>
              </a:tr>
              <a:tr h="457200">
                <a:tc>
                  <a:txBody>
                    <a:bodyPr wrap="square"/>
                    <a:lstStyle/>
                    <a:p>
                      <a:pPr algn="l"/>
                      <a:r>
                        <a:rPr sz="1050" b="1" i="0">
                          <a:solidFill>
                            <a:srgbClr val="178A73"/>
                          </a:solidFill>
                          <a:latin typeface="Consolas"/>
                        </a:rPr>
                        <a:t>rm /etc/hostname</a:t>
                      </a:r>
                    </a:p>
                  </a:txBody>
                  <a:tcPr marL="63500" marR="63500" marT="25400" marB="25400" anchor="ctr">
                    <a:solidFill>
                      <a:srgbClr val="F5F8FC"/>
                    </a:solidFill>
                  </a:tcPr>
                </a:tc>
                <a:tc>
                  <a:txBody>
                    <a:bodyPr wrap="square"/>
                    <a:lstStyle/>
                    <a:p>
                      <a:pPr algn="l"/>
                      <a:r>
                        <a:rPr sz="1050" b="1" i="0">
                          <a:solidFill>
                            <a:srgbClr val="178A73"/>
                          </a:solidFill>
                          <a:latin typeface="Consolas"/>
                        </a:rPr>
                        <a:t>Permission denied</a:t>
                      </a:r>
                      <a:r>
                        <a:rPr sz="1100" b="0" i="0">
                          <a:solidFill>
                            <a:srgbClr val="202A38"/>
                          </a:solidFill>
                          <a:latin typeface="Times New Roman"/>
                        </a:rPr>
                        <a:t> (L.4)</a:t>
                      </a:r>
                    </a:p>
                  </a:txBody>
                  <a:tcPr marL="63500" marR="63500" marT="25400" marB="25400" anchor="ctr">
                    <a:solidFill>
                      <a:srgbClr val="F5F8FC"/>
                    </a:solidFill>
                  </a:tcPr>
                </a:tc>
              </a:tr>
              <a:tr h="457200">
                <a:tc>
                  <a:txBody>
                    <a:bodyPr wrap="square"/>
                    <a:lstStyle/>
                    <a:p>
                      <a:pPr algn="l"/>
                      <a:r>
                        <a:rPr sz="1050" b="1" i="0">
                          <a:solidFill>
                            <a:srgbClr val="178A73"/>
                          </a:solidFill>
                          <a:latin typeface="Consolas"/>
                        </a:rPr>
                        <a:t>cp f Logs/</a:t>
                      </a:r>
                    </a:p>
                  </a:txBody>
                  <a:tcPr marL="63500" marR="63500" marT="25400" marB="25400" anchor="ctr">
                    <a:solidFill>
                      <a:srgbClr val="FFFFFF"/>
                    </a:solidFill>
                  </a:tcPr>
                </a:tc>
                <a:tc>
                  <a:txBody>
                    <a:bodyPr wrap="square"/>
                    <a:lstStyle/>
                    <a:p>
                      <a:pPr algn="l"/>
                      <a:r>
                        <a:rPr sz="1100" b="0" i="0">
                          <a:solidFill>
                            <a:srgbClr val="202A38"/>
                          </a:solidFill>
                          <a:latin typeface="Times New Roman"/>
                        </a:rPr>
                        <a:t>A FILE named </a:t>
                      </a:r>
                      <a:r>
                        <a:rPr sz="1050" b="1" i="0">
                          <a:solidFill>
                            <a:srgbClr val="178A73"/>
                          </a:solidFill>
                          <a:latin typeface="Consolas"/>
                        </a:rPr>
                        <a:t>Logs</a:t>
                      </a:r>
                      <a:r>
                        <a:rPr sz="1100" b="0" i="0">
                          <a:solidFill>
                            <a:srgbClr val="202A38"/>
                          </a:solidFill>
                          <a:latin typeface="Times New Roman"/>
                        </a:rPr>
                        <a:t> appears</a:t>
                      </a:r>
                    </a:p>
                  </a:txBody>
                  <a:tcPr marL="63500" marR="63500" marT="25400" marB="25400" anchor="ctr">
                    <a:solidFill>
                      <a:srgbClr val="FFFFFF"/>
                    </a:solidFill>
                  </a:tcPr>
                </a:tc>
              </a:tr>
            </a:tbl>
          </a:graphicData>
        </a:graphic>
      </p:graphicFrame>
      <p:sp>
        <p:nvSpPr>
          <p:cNvPr id="41" name="Rounded Rectangle 40"/>
          <p:cNvSpPr/>
          <p:nvPr/>
        </p:nvSpPr>
        <p:spPr>
          <a:xfrm>
            <a:off x="6537960" y="4526280"/>
            <a:ext cx="5074920" cy="914400"/>
          </a:xfrm>
          <a:prstGeom prst="roundRect">
            <a:avLst>
              <a:gd name="adj" fmla="val 8000"/>
            </a:avLst>
          </a:prstGeom>
          <a:solidFill>
            <a:srgbClr val="FDEDEC"/>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x_C0392B.png"/>
          <p:cNvPicPr>
            <a:picLocks noChangeAspect="1"/>
          </p:cNvPicPr>
          <p:nvPr/>
        </p:nvPicPr>
        <p:blipFill>
          <a:blip r:embed="rId6"/>
          <a:stretch>
            <a:fillRect/>
          </a:stretch>
        </p:blipFill>
        <p:spPr>
          <a:xfrm>
            <a:off x="6665976" y="4818888"/>
            <a:ext cx="329184" cy="329184"/>
          </a:xfrm>
          <a:prstGeom prst="rect">
            <a:avLst/>
          </a:prstGeom>
        </p:spPr>
      </p:pic>
      <p:sp>
        <p:nvSpPr>
          <p:cNvPr id="43" name="TextBox 42"/>
          <p:cNvSpPr txBox="1"/>
          <p:nvPr/>
        </p:nvSpPr>
        <p:spPr>
          <a:xfrm>
            <a:off x="7104888" y="4526280"/>
            <a:ext cx="4389120" cy="914400"/>
          </a:xfrm>
          <a:prstGeom prst="rect">
            <a:avLst/>
          </a:prstGeom>
          <a:noFill/>
        </p:spPr>
        <p:txBody>
          <a:bodyPr wrap="square" anchor="ctr" lIns="0" rIns="0" tIns="0" bIns="0">
            <a:spAutoFit/>
          </a:bodyPr>
          <a:lstStyle/>
          <a:p>
            <a:pPr algn="l">
              <a:lnSpc>
                <a:spcPct val="110000"/>
              </a:lnSpc>
              <a:spcAft>
                <a:spcPts val="300"/>
              </a:spcAft>
            </a:pPr>
            <a:r>
              <a:rPr sz="1150" b="1" i="0">
                <a:solidFill>
                  <a:srgbClr val="178A73"/>
                </a:solidFill>
                <a:latin typeface="Consolas"/>
              </a:rPr>
              <a:t>rm -rf</a:t>
            </a:r>
            <a:r>
              <a:rPr sz="1200" b="0" i="0">
                <a:solidFill>
                  <a:srgbClr val="202A38"/>
                </a:solidFill>
                <a:latin typeface="Times New Roman"/>
              </a:rPr>
              <a:t> cannot be undone. Before a wildcard </a:t>
            </a:r>
            <a:r>
              <a:rPr sz="1150" b="1" i="0">
                <a:solidFill>
                  <a:srgbClr val="178A73"/>
                </a:solidFill>
                <a:latin typeface="Consolas"/>
              </a:rPr>
              <a:t>rm</a:t>
            </a:r>
            <a:r>
              <a:rPr sz="1200" b="0" i="0">
                <a:solidFill>
                  <a:srgbClr val="202A38"/>
                </a:solidFill>
                <a:latin typeface="Times New Roman"/>
              </a:rPr>
              <a:t>, check that wildcard with </a:t>
            </a:r>
            <a:r>
              <a:rPr sz="1150" b="1" i="0">
                <a:solidFill>
                  <a:srgbClr val="178A73"/>
                </a:solidFill>
                <a:latin typeface="Consolas"/>
              </a:rPr>
              <a:t>ls</a:t>
            </a:r>
            <a:r>
              <a:rPr sz="1200" b="0" i="0">
                <a:solidFill>
                  <a:srgbClr val="202A38"/>
                </a:solidFill>
                <a:latin typeface="Times New Roman"/>
              </a:rPr>
              <a:t>.</a:t>
            </a:r>
          </a:p>
        </p:txBody>
      </p:sp>
      <p:sp>
        <p:nvSpPr>
          <p:cNvPr id="44" name="Rounded Rectangle 43"/>
          <p:cNvSpPr/>
          <p:nvPr/>
        </p:nvSpPr>
        <p:spPr>
          <a:xfrm>
            <a:off x="6537960" y="5559552"/>
            <a:ext cx="5074920" cy="731520"/>
          </a:xfrm>
          <a:prstGeom prst="roundRect">
            <a:avLst>
              <a:gd name="adj" fmla="val 8000"/>
            </a:avLst>
          </a:prstGeom>
          <a:solidFill>
            <a:srgbClr val="F5F8FC"/>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search_1F3864.png"/>
          <p:cNvPicPr>
            <a:picLocks noChangeAspect="1"/>
          </p:cNvPicPr>
          <p:nvPr/>
        </p:nvPicPr>
        <p:blipFill>
          <a:blip r:embed="rId7"/>
          <a:stretch>
            <a:fillRect/>
          </a:stretch>
        </p:blipFill>
        <p:spPr>
          <a:xfrm>
            <a:off x="6665976" y="5760720"/>
            <a:ext cx="329184" cy="329184"/>
          </a:xfrm>
          <a:prstGeom prst="rect">
            <a:avLst/>
          </a:prstGeom>
        </p:spPr>
      </p:pic>
      <p:sp>
        <p:nvSpPr>
          <p:cNvPr id="46" name="TextBox 45"/>
          <p:cNvSpPr txBox="1"/>
          <p:nvPr/>
        </p:nvSpPr>
        <p:spPr>
          <a:xfrm>
            <a:off x="7104888" y="5559552"/>
            <a:ext cx="4389120" cy="731520"/>
          </a:xfrm>
          <a:prstGeom prst="rect">
            <a:avLst/>
          </a:prstGeom>
          <a:noFill/>
        </p:spPr>
        <p:txBody>
          <a:bodyPr wrap="square" anchor="ctr" lIns="0" rIns="0" tIns="0" bIns="0">
            <a:spAutoFit/>
          </a:bodyPr>
          <a:lstStyle/>
          <a:p>
            <a:pPr algn="l">
              <a:lnSpc>
                <a:spcPct val="110000"/>
              </a:lnSpc>
              <a:spcAft>
                <a:spcPts val="300"/>
              </a:spcAft>
            </a:pPr>
            <a:r>
              <a:rPr sz="1150" b="0" i="0">
                <a:solidFill>
                  <a:srgbClr val="202A38"/>
                </a:solidFill>
                <a:latin typeface="Times New Roman"/>
              </a:rPr>
              <a:t>In forensics an evidence file is never </a:t>
            </a:r>
            <a:r>
              <a:rPr sz="1100" b="1" i="0">
                <a:solidFill>
                  <a:srgbClr val="178A73"/>
                </a:solidFill>
                <a:latin typeface="Consolas"/>
              </a:rPr>
              <a:t>mv</a:t>
            </a:r>
            <a:r>
              <a:rPr sz="1150" b="0" i="0">
                <a:solidFill>
                  <a:srgbClr val="202A38"/>
                </a:solidFill>
                <a:latin typeface="Times New Roman"/>
              </a:rPr>
              <a:t>-ed — only a copy is worked 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QUESTION 2 · TASK 2.4</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2.4 — Viewing file contents: cat, less, head, tail</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23</a:t>
            </a:r>
          </a:p>
        </p:txBody>
      </p:sp>
      <p:sp>
        <p:nvSpPr>
          <p:cNvPr id="8" name="Rounded Rectangle 7"/>
          <p:cNvSpPr/>
          <p:nvPr/>
        </p:nvSpPr>
        <p:spPr>
          <a:xfrm>
            <a:off x="566928" y="1600200"/>
            <a:ext cx="2651760" cy="132588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00200"/>
            <a:ext cx="64008" cy="1325880"/>
          </a:xfrm>
          <a:prstGeom prst="rect">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664208"/>
            <a:ext cx="2377440" cy="411480"/>
          </a:xfrm>
          <a:prstGeom prst="rect">
            <a:avLst/>
          </a:prstGeom>
          <a:noFill/>
        </p:spPr>
        <p:txBody>
          <a:bodyPr wrap="square" anchor="t" lIns="0" rIns="0" tIns="0" bIns="0">
            <a:spAutoFit/>
          </a:bodyPr>
          <a:lstStyle/>
          <a:p>
            <a:pPr algn="l">
              <a:lnSpc>
                <a:spcPct val="110000"/>
              </a:lnSpc>
              <a:spcAft>
                <a:spcPts val="300"/>
              </a:spcAft>
            </a:pPr>
            <a:r>
              <a:rPr sz="2000" b="1" i="0">
                <a:solidFill>
                  <a:srgbClr val="178A73"/>
                </a:solidFill>
                <a:latin typeface="Consolas"/>
              </a:rPr>
              <a:t>cat</a:t>
            </a:r>
          </a:p>
        </p:txBody>
      </p:sp>
      <p:sp>
        <p:nvSpPr>
          <p:cNvPr id="11" name="TextBox 10"/>
          <p:cNvSpPr txBox="1"/>
          <p:nvPr/>
        </p:nvSpPr>
        <p:spPr>
          <a:xfrm>
            <a:off x="749808" y="2103120"/>
            <a:ext cx="2377440" cy="320040"/>
          </a:xfrm>
          <a:prstGeom prst="rect">
            <a:avLst/>
          </a:prstGeom>
          <a:noFill/>
        </p:spPr>
        <p:txBody>
          <a:bodyPr wrap="square" anchor="t" lIns="0" rIns="0" tIns="0" bIns="0">
            <a:spAutoFit/>
          </a:bodyPr>
          <a:lstStyle/>
          <a:p>
            <a:pPr algn="l">
              <a:lnSpc>
                <a:spcPct val="110000"/>
              </a:lnSpc>
              <a:spcAft>
                <a:spcPts val="300"/>
              </a:spcAft>
            </a:pPr>
            <a:r>
              <a:rPr sz="1200" b="1" i="0">
                <a:solidFill>
                  <a:srgbClr val="1F3864"/>
                </a:solidFill>
                <a:latin typeface="Times New Roman"/>
              </a:rPr>
              <a:t>small file — entirely</a:t>
            </a:r>
          </a:p>
        </p:txBody>
      </p:sp>
      <p:sp>
        <p:nvSpPr>
          <p:cNvPr id="12" name="TextBox 11"/>
          <p:cNvSpPr txBox="1"/>
          <p:nvPr/>
        </p:nvSpPr>
        <p:spPr>
          <a:xfrm>
            <a:off x="749808" y="2468880"/>
            <a:ext cx="2377440" cy="365760"/>
          </a:xfrm>
          <a:prstGeom prst="rect">
            <a:avLst/>
          </a:prstGeom>
          <a:noFill/>
        </p:spPr>
        <p:txBody>
          <a:bodyPr wrap="square" anchor="t" lIns="0" rIns="0" tIns="0" bIns="0">
            <a:spAutoFit/>
          </a:bodyPr>
          <a:lstStyle/>
          <a:p>
            <a:pPr algn="l">
              <a:lnSpc>
                <a:spcPct val="110000"/>
              </a:lnSpc>
              <a:spcAft>
                <a:spcPts val="300"/>
              </a:spcAft>
            </a:pPr>
            <a:r>
              <a:rPr sz="1050" b="1" i="0">
                <a:solidFill>
                  <a:srgbClr val="178A73"/>
                </a:solidFill>
                <a:latin typeface="Consolas"/>
              </a:rPr>
              <a:t>cat /etc/hostname</a:t>
            </a:r>
          </a:p>
        </p:txBody>
      </p:sp>
      <p:sp>
        <p:nvSpPr>
          <p:cNvPr id="13" name="Rounded Rectangle 12"/>
          <p:cNvSpPr/>
          <p:nvPr/>
        </p:nvSpPr>
        <p:spPr>
          <a:xfrm>
            <a:off x="3355848" y="1600200"/>
            <a:ext cx="2651760" cy="132588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55848" y="1600200"/>
            <a:ext cx="64008" cy="13258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8728" y="1664208"/>
            <a:ext cx="2377440" cy="411480"/>
          </a:xfrm>
          <a:prstGeom prst="rect">
            <a:avLst/>
          </a:prstGeom>
          <a:noFill/>
        </p:spPr>
        <p:txBody>
          <a:bodyPr wrap="square" anchor="t" lIns="0" rIns="0" tIns="0" bIns="0">
            <a:spAutoFit/>
          </a:bodyPr>
          <a:lstStyle/>
          <a:p>
            <a:pPr algn="l">
              <a:lnSpc>
                <a:spcPct val="110000"/>
              </a:lnSpc>
              <a:spcAft>
                <a:spcPts val="300"/>
              </a:spcAft>
            </a:pPr>
            <a:r>
              <a:rPr sz="2000" b="1" i="0">
                <a:solidFill>
                  <a:srgbClr val="1F3864"/>
                </a:solidFill>
                <a:latin typeface="Consolas"/>
              </a:rPr>
              <a:t>less</a:t>
            </a:r>
          </a:p>
        </p:txBody>
      </p:sp>
      <p:sp>
        <p:nvSpPr>
          <p:cNvPr id="16" name="TextBox 15"/>
          <p:cNvSpPr txBox="1"/>
          <p:nvPr/>
        </p:nvSpPr>
        <p:spPr>
          <a:xfrm>
            <a:off x="3538728" y="2103120"/>
            <a:ext cx="2377440" cy="320040"/>
          </a:xfrm>
          <a:prstGeom prst="rect">
            <a:avLst/>
          </a:prstGeom>
          <a:noFill/>
        </p:spPr>
        <p:txBody>
          <a:bodyPr wrap="square" anchor="t" lIns="0" rIns="0" tIns="0" bIns="0">
            <a:spAutoFit/>
          </a:bodyPr>
          <a:lstStyle/>
          <a:p>
            <a:pPr algn="l">
              <a:lnSpc>
                <a:spcPct val="110000"/>
              </a:lnSpc>
              <a:spcAft>
                <a:spcPts val="300"/>
              </a:spcAft>
            </a:pPr>
            <a:r>
              <a:rPr sz="1200" b="1" i="0">
                <a:solidFill>
                  <a:srgbClr val="1F3864"/>
                </a:solidFill>
                <a:latin typeface="Times New Roman"/>
              </a:rPr>
              <a:t>large file — paged, search</a:t>
            </a:r>
          </a:p>
        </p:txBody>
      </p:sp>
      <p:sp>
        <p:nvSpPr>
          <p:cNvPr id="17" name="TextBox 16"/>
          <p:cNvSpPr txBox="1"/>
          <p:nvPr/>
        </p:nvSpPr>
        <p:spPr>
          <a:xfrm>
            <a:off x="3538728" y="2468880"/>
            <a:ext cx="2377440" cy="365760"/>
          </a:xfrm>
          <a:prstGeom prst="rect">
            <a:avLst/>
          </a:prstGeom>
          <a:noFill/>
        </p:spPr>
        <p:txBody>
          <a:bodyPr wrap="square" anchor="t" lIns="0" rIns="0" tIns="0" bIns="0">
            <a:spAutoFit/>
          </a:bodyPr>
          <a:lstStyle/>
          <a:p>
            <a:pPr algn="l">
              <a:lnSpc>
                <a:spcPct val="110000"/>
              </a:lnSpc>
              <a:spcAft>
                <a:spcPts val="300"/>
              </a:spcAft>
            </a:pPr>
            <a:r>
              <a:rPr sz="1050" b="1" i="0">
                <a:solidFill>
                  <a:srgbClr val="178A73"/>
                </a:solidFill>
                <a:latin typeface="Consolas"/>
              </a:rPr>
              <a:t>less /etc/services</a:t>
            </a:r>
          </a:p>
        </p:txBody>
      </p:sp>
      <p:sp>
        <p:nvSpPr>
          <p:cNvPr id="18" name="Rounded Rectangle 17"/>
          <p:cNvSpPr/>
          <p:nvPr/>
        </p:nvSpPr>
        <p:spPr>
          <a:xfrm>
            <a:off x="6144768" y="1600200"/>
            <a:ext cx="2651760" cy="132588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00200"/>
            <a:ext cx="64008" cy="1325880"/>
          </a:xfrm>
          <a:prstGeom prst="rect">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7648" y="1664208"/>
            <a:ext cx="2377440" cy="411480"/>
          </a:xfrm>
          <a:prstGeom prst="rect">
            <a:avLst/>
          </a:prstGeom>
          <a:noFill/>
        </p:spPr>
        <p:txBody>
          <a:bodyPr wrap="square" anchor="t" lIns="0" rIns="0" tIns="0" bIns="0">
            <a:spAutoFit/>
          </a:bodyPr>
          <a:lstStyle/>
          <a:p>
            <a:pPr algn="l">
              <a:lnSpc>
                <a:spcPct val="110000"/>
              </a:lnSpc>
              <a:spcAft>
                <a:spcPts val="300"/>
              </a:spcAft>
            </a:pPr>
            <a:r>
              <a:rPr sz="2000" b="1" i="0">
                <a:solidFill>
                  <a:srgbClr val="E08E1D"/>
                </a:solidFill>
                <a:latin typeface="Consolas"/>
              </a:rPr>
              <a:t>head</a:t>
            </a:r>
          </a:p>
        </p:txBody>
      </p:sp>
      <p:sp>
        <p:nvSpPr>
          <p:cNvPr id="21" name="TextBox 20"/>
          <p:cNvSpPr txBox="1"/>
          <p:nvPr/>
        </p:nvSpPr>
        <p:spPr>
          <a:xfrm>
            <a:off x="6327648" y="2103120"/>
            <a:ext cx="2377440" cy="320040"/>
          </a:xfrm>
          <a:prstGeom prst="rect">
            <a:avLst/>
          </a:prstGeom>
          <a:noFill/>
        </p:spPr>
        <p:txBody>
          <a:bodyPr wrap="square" anchor="t" lIns="0" rIns="0" tIns="0" bIns="0">
            <a:spAutoFit/>
          </a:bodyPr>
          <a:lstStyle/>
          <a:p>
            <a:pPr algn="l">
              <a:lnSpc>
                <a:spcPct val="110000"/>
              </a:lnSpc>
              <a:spcAft>
                <a:spcPts val="300"/>
              </a:spcAft>
            </a:pPr>
            <a:r>
              <a:rPr sz="1200" b="1" i="0">
                <a:solidFill>
                  <a:srgbClr val="1F3864"/>
                </a:solidFill>
                <a:latin typeface="Times New Roman"/>
              </a:rPr>
              <a:t>start (default: 10 lines)</a:t>
            </a:r>
          </a:p>
        </p:txBody>
      </p:sp>
      <p:sp>
        <p:nvSpPr>
          <p:cNvPr id="22" name="TextBox 21"/>
          <p:cNvSpPr txBox="1"/>
          <p:nvPr/>
        </p:nvSpPr>
        <p:spPr>
          <a:xfrm>
            <a:off x="6327648" y="2468880"/>
            <a:ext cx="2377440" cy="365760"/>
          </a:xfrm>
          <a:prstGeom prst="rect">
            <a:avLst/>
          </a:prstGeom>
          <a:noFill/>
        </p:spPr>
        <p:txBody>
          <a:bodyPr wrap="square" anchor="t" lIns="0" rIns="0" tIns="0" bIns="0">
            <a:spAutoFit/>
          </a:bodyPr>
          <a:lstStyle/>
          <a:p>
            <a:pPr algn="l">
              <a:lnSpc>
                <a:spcPct val="110000"/>
              </a:lnSpc>
              <a:spcAft>
                <a:spcPts val="300"/>
              </a:spcAft>
            </a:pPr>
            <a:r>
              <a:rPr sz="1050" b="1" i="0">
                <a:solidFill>
                  <a:srgbClr val="178A73"/>
                </a:solidFill>
                <a:latin typeface="Consolas"/>
              </a:rPr>
              <a:t>head -n 25 /etc/services</a:t>
            </a:r>
          </a:p>
        </p:txBody>
      </p:sp>
      <p:sp>
        <p:nvSpPr>
          <p:cNvPr id="23" name="Rounded Rectangle 22"/>
          <p:cNvSpPr/>
          <p:nvPr/>
        </p:nvSpPr>
        <p:spPr>
          <a:xfrm>
            <a:off x="8933687" y="1600200"/>
            <a:ext cx="2651760" cy="132588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33687" y="1600200"/>
            <a:ext cx="64008"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16567" y="1664208"/>
            <a:ext cx="2377440" cy="411480"/>
          </a:xfrm>
          <a:prstGeom prst="rect">
            <a:avLst/>
          </a:prstGeom>
          <a:noFill/>
        </p:spPr>
        <p:txBody>
          <a:bodyPr wrap="square" anchor="t" lIns="0" rIns="0" tIns="0" bIns="0">
            <a:spAutoFit/>
          </a:bodyPr>
          <a:lstStyle/>
          <a:p>
            <a:pPr algn="l">
              <a:lnSpc>
                <a:spcPct val="110000"/>
              </a:lnSpc>
              <a:spcAft>
                <a:spcPts val="300"/>
              </a:spcAft>
            </a:pPr>
            <a:r>
              <a:rPr sz="2000" b="1" i="0">
                <a:solidFill>
                  <a:srgbClr val="C0392B"/>
                </a:solidFill>
                <a:latin typeface="Consolas"/>
              </a:rPr>
              <a:t>tail -f</a:t>
            </a:r>
          </a:p>
        </p:txBody>
      </p:sp>
      <p:sp>
        <p:nvSpPr>
          <p:cNvPr id="26" name="TextBox 25"/>
          <p:cNvSpPr txBox="1"/>
          <p:nvPr/>
        </p:nvSpPr>
        <p:spPr>
          <a:xfrm>
            <a:off x="9116567" y="2103120"/>
            <a:ext cx="2377440" cy="320040"/>
          </a:xfrm>
          <a:prstGeom prst="rect">
            <a:avLst/>
          </a:prstGeom>
          <a:noFill/>
        </p:spPr>
        <p:txBody>
          <a:bodyPr wrap="square" anchor="t" lIns="0" rIns="0" tIns="0" bIns="0">
            <a:spAutoFit/>
          </a:bodyPr>
          <a:lstStyle/>
          <a:p>
            <a:pPr algn="l">
              <a:lnSpc>
                <a:spcPct val="110000"/>
              </a:lnSpc>
              <a:spcAft>
                <a:spcPts val="300"/>
              </a:spcAft>
            </a:pPr>
            <a:r>
              <a:rPr sz="1200" b="1" i="0">
                <a:solidFill>
                  <a:srgbClr val="1F3864"/>
                </a:solidFill>
                <a:latin typeface="Times New Roman"/>
              </a:rPr>
              <a:t>a log being written — live</a:t>
            </a:r>
          </a:p>
        </p:txBody>
      </p:sp>
      <p:sp>
        <p:nvSpPr>
          <p:cNvPr id="27" name="TextBox 26"/>
          <p:cNvSpPr txBox="1"/>
          <p:nvPr/>
        </p:nvSpPr>
        <p:spPr>
          <a:xfrm>
            <a:off x="9116567" y="2468880"/>
            <a:ext cx="2377440" cy="365760"/>
          </a:xfrm>
          <a:prstGeom prst="rect">
            <a:avLst/>
          </a:prstGeom>
          <a:noFill/>
        </p:spPr>
        <p:txBody>
          <a:bodyPr wrap="square" anchor="t" lIns="0" rIns="0" tIns="0" bIns="0">
            <a:spAutoFit/>
          </a:bodyPr>
          <a:lstStyle/>
          <a:p>
            <a:pPr algn="l">
              <a:lnSpc>
                <a:spcPct val="110000"/>
              </a:lnSpc>
              <a:spcAft>
                <a:spcPts val="300"/>
              </a:spcAft>
            </a:pPr>
            <a:r>
              <a:rPr sz="1050" b="1" i="0">
                <a:solidFill>
                  <a:srgbClr val="178A73"/>
                </a:solidFill>
                <a:latin typeface="Consolas"/>
              </a:rPr>
              <a:t>tail -f err.txt</a:t>
            </a:r>
          </a:p>
        </p:txBody>
      </p:sp>
      <p:sp>
        <p:nvSpPr>
          <p:cNvPr id="28" name="TextBox 27"/>
          <p:cNvSpPr txBox="1"/>
          <p:nvPr/>
        </p:nvSpPr>
        <p:spPr>
          <a:xfrm>
            <a:off x="566928" y="3108960"/>
            <a:ext cx="54864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F3864"/>
                </a:solidFill>
                <a:latin typeface="Times New Roman"/>
              </a:rPr>
              <a:t>Exercise: </a:t>
            </a:r>
            <a:r>
              <a:rPr sz="1200" b="1" i="0">
                <a:solidFill>
                  <a:srgbClr val="178A73"/>
                </a:solidFill>
                <a:latin typeface="Consolas"/>
              </a:rPr>
              <a:t>/etc/services</a:t>
            </a:r>
            <a:r>
              <a:rPr sz="1250" b="1" i="0">
                <a:solidFill>
                  <a:srgbClr val="1F3864"/>
                </a:solidFill>
                <a:latin typeface="Times New Roman"/>
              </a:rPr>
              <a:t> — list of ports (prep for Lesson 3)</a:t>
            </a:r>
          </a:p>
        </p:txBody>
      </p:sp>
      <p:graphicFrame>
        <p:nvGraphicFramePr>
          <p:cNvPr id="29" name="Table 28"/>
          <p:cNvGraphicFramePr>
            <a:graphicFrameLocks noGrp="1"/>
          </p:cNvGraphicFramePr>
          <p:nvPr/>
        </p:nvGraphicFramePr>
        <p:xfrm>
          <a:off x="566928" y="3429000"/>
          <a:ext cx="5394960" cy="1828800"/>
        </p:xfrm>
        <a:graphic>
          <a:graphicData uri="http://schemas.openxmlformats.org/drawingml/2006/table">
            <a:tbl>
              <a:tblPr firstRow="1" bandRow="1">
                <a:tableStyleId>{5940675A-B579-460E-94D1-54222C63F5DA}</a:tableStyleId>
              </a:tblPr>
              <a:tblGrid>
                <a:gridCol w="2743200"/>
                <a:gridCol w="2651760"/>
              </a:tblGrid>
              <a:tr h="365760">
                <a:tc>
                  <a:txBody>
                    <a:bodyPr wrap="square"/>
                    <a:lstStyle/>
                    <a:p>
                      <a:pPr algn="l"/>
                      <a:r>
                        <a:rPr sz="1200" b="1" i="0">
                          <a:solidFill>
                            <a:srgbClr val="FFFFFF"/>
                          </a:solidFill>
                          <a:latin typeface="Times New Roman"/>
                        </a:rPr>
                        <a:t>Service</a:t>
                      </a:r>
                    </a:p>
                  </a:txBody>
                  <a:tcPr marL="63500" marR="63500" marT="25400" marB="25400" anchor="ctr">
                    <a:solidFill>
                      <a:srgbClr val="1F3864"/>
                    </a:solidFill>
                  </a:tcPr>
                </a:tc>
                <a:tc>
                  <a:txBody>
                    <a:bodyPr wrap="square"/>
                    <a:lstStyle/>
                    <a:p>
                      <a:pPr algn="l"/>
                      <a:r>
                        <a:rPr sz="1200" b="1" i="0">
                          <a:solidFill>
                            <a:srgbClr val="FFFFFF"/>
                          </a:solidFill>
                          <a:latin typeface="Times New Roman"/>
                        </a:rPr>
                        <a:t>Port (less: /name)</a:t>
                      </a:r>
                    </a:p>
                  </a:txBody>
                  <a:tcPr marL="63500" marR="63500" marT="25400" marB="25400" anchor="ctr">
                    <a:solidFill>
                      <a:srgbClr val="1F3864"/>
                    </a:solidFill>
                  </a:tcPr>
                </a:tc>
              </a:tr>
              <a:tr h="365760">
                <a:tc>
                  <a:txBody>
                    <a:bodyPr wrap="square"/>
                    <a:lstStyle/>
                    <a:p>
                      <a:pPr algn="l"/>
                      <a:r>
                        <a:rPr sz="1150" b="1" i="0">
                          <a:solidFill>
                            <a:srgbClr val="178A73"/>
                          </a:solidFill>
                          <a:latin typeface="Consolas"/>
                        </a:rPr>
                        <a:t>ssh</a:t>
                      </a:r>
                    </a:p>
                  </a:txBody>
                  <a:tcPr marL="63500" marR="63500" marT="25400" marB="25400" anchor="ctr">
                    <a:solidFill>
                      <a:srgbClr val="FFFFFF"/>
                    </a:solidFill>
                  </a:tcPr>
                </a:tc>
                <a:tc>
                  <a:txBody>
                    <a:bodyPr wrap="square"/>
                    <a:lstStyle/>
                    <a:p>
                      <a:pPr algn="l"/>
                      <a:r>
                        <a:rPr sz="1200" b="0" i="0">
                          <a:solidFill>
                            <a:srgbClr val="202A38"/>
                          </a:solidFill>
                          <a:latin typeface="Times New Roman"/>
                        </a:rPr>
                        <a:t>22/tcp</a:t>
                      </a:r>
                    </a:p>
                  </a:txBody>
                  <a:tcPr marL="63500" marR="63500" marT="25400" marB="25400" anchor="ctr">
                    <a:solidFill>
                      <a:srgbClr val="FFFFFF"/>
                    </a:solidFill>
                  </a:tcPr>
                </a:tc>
              </a:tr>
              <a:tr h="365760">
                <a:tc>
                  <a:txBody>
                    <a:bodyPr wrap="square"/>
                    <a:lstStyle/>
                    <a:p>
                      <a:pPr algn="l"/>
                      <a:r>
                        <a:rPr sz="1150" b="1" i="0">
                          <a:solidFill>
                            <a:srgbClr val="178A73"/>
                          </a:solidFill>
                          <a:latin typeface="Consolas"/>
                        </a:rPr>
                        <a:t>http</a:t>
                      </a:r>
                      <a:r>
                        <a:rPr sz="1200" b="1" i="0">
                          <a:solidFill>
                            <a:srgbClr val="202A38"/>
                          </a:solidFill>
                          <a:latin typeface="Times New Roman"/>
                        </a:rPr>
                        <a:t> / </a:t>
                      </a:r>
                      <a:r>
                        <a:rPr sz="1150" b="1" i="0">
                          <a:solidFill>
                            <a:srgbClr val="178A73"/>
                          </a:solidFill>
                          <a:latin typeface="Consolas"/>
                        </a:rPr>
                        <a:t>https</a:t>
                      </a:r>
                    </a:p>
                  </a:txBody>
                  <a:tcPr marL="63500" marR="63500" marT="25400" marB="25400" anchor="ctr">
                    <a:solidFill>
                      <a:srgbClr val="F5F8FC"/>
                    </a:solidFill>
                  </a:tcPr>
                </a:tc>
                <a:tc>
                  <a:txBody>
                    <a:bodyPr wrap="square"/>
                    <a:lstStyle/>
                    <a:p>
                      <a:pPr algn="l"/>
                      <a:r>
                        <a:rPr sz="1200" b="0" i="0">
                          <a:solidFill>
                            <a:srgbClr val="202A38"/>
                          </a:solidFill>
                          <a:latin typeface="Times New Roman"/>
                        </a:rPr>
                        <a:t>80/tcp · 443/tcp</a:t>
                      </a:r>
                    </a:p>
                  </a:txBody>
                  <a:tcPr marL="63500" marR="63500" marT="25400" marB="25400" anchor="ctr">
                    <a:solidFill>
                      <a:srgbClr val="F5F8FC"/>
                    </a:solidFill>
                  </a:tcPr>
                </a:tc>
              </a:tr>
              <a:tr h="365760">
                <a:tc>
                  <a:txBody>
                    <a:bodyPr wrap="square"/>
                    <a:lstStyle/>
                    <a:p>
                      <a:pPr algn="l"/>
                      <a:r>
                        <a:rPr sz="1150" b="1" i="0">
                          <a:solidFill>
                            <a:srgbClr val="178A73"/>
                          </a:solidFill>
                          <a:latin typeface="Consolas"/>
                        </a:rPr>
                        <a:t>ftp</a:t>
                      </a:r>
                    </a:p>
                  </a:txBody>
                  <a:tcPr marL="63500" marR="63500" marT="25400" marB="25400" anchor="ctr">
                    <a:solidFill>
                      <a:srgbClr val="FFFFFF"/>
                    </a:solidFill>
                  </a:tcPr>
                </a:tc>
                <a:tc>
                  <a:txBody>
                    <a:bodyPr wrap="square"/>
                    <a:lstStyle/>
                    <a:p>
                      <a:pPr algn="l"/>
                      <a:r>
                        <a:rPr sz="1200" b="0" i="0">
                          <a:solidFill>
                            <a:srgbClr val="202A38"/>
                          </a:solidFill>
                          <a:latin typeface="Times New Roman"/>
                        </a:rPr>
                        <a:t>21/tcp</a:t>
                      </a:r>
                    </a:p>
                  </a:txBody>
                  <a:tcPr marL="63500" marR="63500" marT="25400" marB="25400" anchor="ctr">
                    <a:solidFill>
                      <a:srgbClr val="FFFFFF"/>
                    </a:solidFill>
                  </a:tcPr>
                </a:tc>
              </a:tr>
              <a:tr h="365760">
                <a:tc>
                  <a:txBody>
                    <a:bodyPr wrap="square"/>
                    <a:lstStyle/>
                    <a:p>
                      <a:pPr algn="l"/>
                      <a:r>
                        <a:rPr sz="1150" b="1" i="0">
                          <a:solidFill>
                            <a:srgbClr val="178A73"/>
                          </a:solidFill>
                          <a:latin typeface="Consolas"/>
                        </a:rPr>
                        <a:t>microsoft-ds</a:t>
                      </a:r>
                      <a:r>
                        <a:rPr sz="1200" b="1" i="0">
                          <a:solidFill>
                            <a:srgbClr val="202A38"/>
                          </a:solidFill>
                          <a:latin typeface="Times New Roman"/>
                        </a:rPr>
                        <a:t> (SMB)</a:t>
                      </a:r>
                    </a:p>
                  </a:txBody>
                  <a:tcPr marL="63500" marR="63500" marT="25400" marB="25400" anchor="ctr">
                    <a:solidFill>
                      <a:srgbClr val="F5F8FC"/>
                    </a:solidFill>
                  </a:tcPr>
                </a:tc>
                <a:tc>
                  <a:txBody>
                    <a:bodyPr wrap="square"/>
                    <a:lstStyle/>
                    <a:p>
                      <a:pPr algn="l"/>
                      <a:r>
                        <a:rPr sz="1200" b="0" i="0">
                          <a:solidFill>
                            <a:srgbClr val="202A38"/>
                          </a:solidFill>
                          <a:latin typeface="Times New Roman"/>
                        </a:rPr>
                        <a:t>445/tcp</a:t>
                      </a:r>
                    </a:p>
                  </a:txBody>
                  <a:tcPr marL="63500" marR="63500" marT="25400" marB="25400" anchor="ctr">
                    <a:solidFill>
                      <a:srgbClr val="F5F8FC"/>
                    </a:solidFill>
                  </a:tcPr>
                </a:tc>
              </a:tr>
            </a:tbl>
          </a:graphicData>
        </a:graphic>
      </p:graphicFrame>
      <p:sp>
        <p:nvSpPr>
          <p:cNvPr id="30" name="TextBox 29"/>
          <p:cNvSpPr txBox="1"/>
          <p:nvPr/>
        </p:nvSpPr>
        <p:spPr>
          <a:xfrm>
            <a:off x="566928" y="5349240"/>
            <a:ext cx="5394960" cy="548640"/>
          </a:xfrm>
          <a:prstGeom prst="rect">
            <a:avLst/>
          </a:prstGeom>
          <a:noFill/>
        </p:spPr>
        <p:txBody>
          <a:bodyPr wrap="square" anchor="t" lIns="0" rIns="0" tIns="0" bIns="0">
            <a:spAutoFit/>
          </a:bodyPr>
          <a:lstStyle/>
          <a:p>
            <a:pPr algn="l">
              <a:lnSpc>
                <a:spcPct val="110000"/>
              </a:lnSpc>
              <a:spcAft>
                <a:spcPts val="300"/>
              </a:spcAft>
            </a:pPr>
            <a:r>
              <a:rPr sz="1150" b="0" i="1">
                <a:solidFill>
                  <a:srgbClr val="54647A"/>
                </a:solidFill>
                <a:latin typeface="Times New Roman"/>
              </a:rPr>
              <a:t>Find them yourself first, then compare with the table.</a:t>
            </a:r>
          </a:p>
        </p:txBody>
      </p:sp>
      <p:sp>
        <p:nvSpPr>
          <p:cNvPr id="31" name="TextBox 30"/>
          <p:cNvSpPr txBox="1"/>
          <p:nvPr/>
        </p:nvSpPr>
        <p:spPr>
          <a:xfrm>
            <a:off x="6217920" y="3108960"/>
            <a:ext cx="539496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F3864"/>
                </a:solidFill>
                <a:latin typeface="Times New Roman"/>
              </a:rPr>
              <a:t>Inside less</a:t>
            </a:r>
          </a:p>
        </p:txBody>
      </p:sp>
      <p:sp>
        <p:nvSpPr>
          <p:cNvPr id="32" name="Rounded Rectangle 31"/>
          <p:cNvSpPr/>
          <p:nvPr/>
        </p:nvSpPr>
        <p:spPr>
          <a:xfrm>
            <a:off x="6217920" y="3429000"/>
            <a:ext cx="667512" cy="365760"/>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1F3864"/>
                </a:solidFill>
                <a:latin typeface="Cambria Math"/>
              </a:rPr>
              <a:t>Space</a:t>
            </a:r>
          </a:p>
        </p:txBody>
      </p:sp>
      <p:sp>
        <p:nvSpPr>
          <p:cNvPr id="33" name="TextBox 32"/>
          <p:cNvSpPr txBox="1"/>
          <p:nvPr/>
        </p:nvSpPr>
        <p:spPr>
          <a:xfrm>
            <a:off x="6995160" y="3429000"/>
            <a:ext cx="1828800" cy="365760"/>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down</a:t>
            </a:r>
          </a:p>
        </p:txBody>
      </p:sp>
      <p:sp>
        <p:nvSpPr>
          <p:cNvPr id="34" name="Rounded Rectangle 33"/>
          <p:cNvSpPr/>
          <p:nvPr/>
        </p:nvSpPr>
        <p:spPr>
          <a:xfrm>
            <a:off x="8915400" y="3429000"/>
            <a:ext cx="325526" cy="365760"/>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1F3864"/>
                </a:solidFill>
                <a:latin typeface="Cambria Math"/>
              </a:rPr>
              <a:t>b</a:t>
            </a:r>
          </a:p>
        </p:txBody>
      </p:sp>
      <p:sp>
        <p:nvSpPr>
          <p:cNvPr id="35" name="TextBox 34"/>
          <p:cNvSpPr txBox="1"/>
          <p:nvPr/>
        </p:nvSpPr>
        <p:spPr>
          <a:xfrm>
            <a:off x="9350654" y="3429000"/>
            <a:ext cx="1828800" cy="365760"/>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up</a:t>
            </a:r>
          </a:p>
        </p:txBody>
      </p:sp>
      <p:sp>
        <p:nvSpPr>
          <p:cNvPr id="36" name="Rounded Rectangle 35"/>
          <p:cNvSpPr/>
          <p:nvPr/>
        </p:nvSpPr>
        <p:spPr>
          <a:xfrm>
            <a:off x="6217920" y="3886200"/>
            <a:ext cx="325526" cy="365760"/>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1F3864"/>
                </a:solidFill>
                <a:latin typeface="Cambria Math"/>
              </a:rPr>
              <a:t>/</a:t>
            </a:r>
          </a:p>
        </p:txBody>
      </p:sp>
      <p:sp>
        <p:nvSpPr>
          <p:cNvPr id="37" name="TextBox 36"/>
          <p:cNvSpPr txBox="1"/>
          <p:nvPr/>
        </p:nvSpPr>
        <p:spPr>
          <a:xfrm>
            <a:off x="6653174" y="3886200"/>
            <a:ext cx="1828800" cy="365760"/>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search</a:t>
            </a:r>
          </a:p>
        </p:txBody>
      </p:sp>
      <p:sp>
        <p:nvSpPr>
          <p:cNvPr id="38" name="Rounded Rectangle 37"/>
          <p:cNvSpPr/>
          <p:nvPr/>
        </p:nvSpPr>
        <p:spPr>
          <a:xfrm>
            <a:off x="8915400" y="3886200"/>
            <a:ext cx="325526" cy="365760"/>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1F3864"/>
                </a:solidFill>
                <a:latin typeface="Cambria Math"/>
              </a:rPr>
              <a:t>n</a:t>
            </a:r>
          </a:p>
        </p:txBody>
      </p:sp>
      <p:sp>
        <p:nvSpPr>
          <p:cNvPr id="39" name="TextBox 38"/>
          <p:cNvSpPr txBox="1"/>
          <p:nvPr/>
        </p:nvSpPr>
        <p:spPr>
          <a:xfrm>
            <a:off x="9350654" y="3886200"/>
            <a:ext cx="1828800" cy="365760"/>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next match</a:t>
            </a:r>
          </a:p>
        </p:txBody>
      </p:sp>
      <p:sp>
        <p:nvSpPr>
          <p:cNvPr id="40" name="Rounded Rectangle 39"/>
          <p:cNvSpPr/>
          <p:nvPr/>
        </p:nvSpPr>
        <p:spPr>
          <a:xfrm>
            <a:off x="6217920" y="4343400"/>
            <a:ext cx="325526" cy="365760"/>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1F3864"/>
                </a:solidFill>
                <a:latin typeface="Cambria Math"/>
              </a:rPr>
              <a:t>g</a:t>
            </a:r>
          </a:p>
        </p:txBody>
      </p:sp>
      <p:sp>
        <p:nvSpPr>
          <p:cNvPr id="41" name="TextBox 40"/>
          <p:cNvSpPr txBox="1"/>
          <p:nvPr/>
        </p:nvSpPr>
        <p:spPr>
          <a:xfrm>
            <a:off x="6653174" y="4343400"/>
            <a:ext cx="1828800" cy="365760"/>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start</a:t>
            </a:r>
          </a:p>
        </p:txBody>
      </p:sp>
      <p:sp>
        <p:nvSpPr>
          <p:cNvPr id="42" name="Rounded Rectangle 41"/>
          <p:cNvSpPr/>
          <p:nvPr/>
        </p:nvSpPr>
        <p:spPr>
          <a:xfrm>
            <a:off x="8915400" y="4343400"/>
            <a:ext cx="325526" cy="365760"/>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1F3864"/>
                </a:solidFill>
                <a:latin typeface="Cambria Math"/>
              </a:rPr>
              <a:t>G</a:t>
            </a:r>
          </a:p>
        </p:txBody>
      </p:sp>
      <p:sp>
        <p:nvSpPr>
          <p:cNvPr id="43" name="TextBox 42"/>
          <p:cNvSpPr txBox="1"/>
          <p:nvPr/>
        </p:nvSpPr>
        <p:spPr>
          <a:xfrm>
            <a:off x="9350654" y="4343400"/>
            <a:ext cx="1828800" cy="365760"/>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end</a:t>
            </a:r>
          </a:p>
        </p:txBody>
      </p:sp>
      <p:sp>
        <p:nvSpPr>
          <p:cNvPr id="44" name="Rounded Rectangle 43"/>
          <p:cNvSpPr/>
          <p:nvPr/>
        </p:nvSpPr>
        <p:spPr>
          <a:xfrm>
            <a:off x="6217920" y="4800600"/>
            <a:ext cx="325526" cy="365760"/>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1F3864"/>
                </a:solidFill>
                <a:latin typeface="Cambria Math"/>
              </a:rPr>
              <a:t>q</a:t>
            </a:r>
          </a:p>
        </p:txBody>
      </p:sp>
      <p:sp>
        <p:nvSpPr>
          <p:cNvPr id="45" name="TextBox 44"/>
          <p:cNvSpPr txBox="1"/>
          <p:nvPr/>
        </p:nvSpPr>
        <p:spPr>
          <a:xfrm>
            <a:off x="6653174" y="4800600"/>
            <a:ext cx="1828800" cy="365760"/>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exit</a:t>
            </a:r>
          </a:p>
        </p:txBody>
      </p:sp>
      <p:sp>
        <p:nvSpPr>
          <p:cNvPr id="46" name="Rounded Rectangle 45"/>
          <p:cNvSpPr/>
          <p:nvPr/>
        </p:nvSpPr>
        <p:spPr>
          <a:xfrm>
            <a:off x="6217920" y="5349240"/>
            <a:ext cx="5394960" cy="914400"/>
          </a:xfrm>
          <a:prstGeom prst="roundRect">
            <a:avLst>
              <a:gd name="adj" fmla="val 8000"/>
            </a:avLst>
          </a:prstGeom>
          <a:solidFill>
            <a:srgbClr val="E3F3EE"/>
          </a:solidFill>
          <a:ln w="15875">
            <a:solidFill>
              <a:srgbClr val="178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check_178A73.png"/>
          <p:cNvPicPr>
            <a:picLocks noChangeAspect="1"/>
          </p:cNvPicPr>
          <p:nvPr/>
        </p:nvPicPr>
        <p:blipFill>
          <a:blip r:embed="rId3"/>
          <a:stretch>
            <a:fillRect/>
          </a:stretch>
        </p:blipFill>
        <p:spPr>
          <a:xfrm>
            <a:off x="6345936" y="5641848"/>
            <a:ext cx="329184" cy="329184"/>
          </a:xfrm>
          <a:prstGeom prst="rect">
            <a:avLst/>
          </a:prstGeom>
        </p:spPr>
      </p:pic>
      <p:sp>
        <p:nvSpPr>
          <p:cNvPr id="48" name="TextBox 47"/>
          <p:cNvSpPr txBox="1"/>
          <p:nvPr/>
        </p:nvSpPr>
        <p:spPr>
          <a:xfrm>
            <a:off x="6784848" y="5349240"/>
            <a:ext cx="4709160" cy="914400"/>
          </a:xfrm>
          <a:prstGeom prst="rect">
            <a:avLst/>
          </a:prstGeom>
          <a:noFill/>
        </p:spPr>
        <p:txBody>
          <a:bodyPr wrap="square" anchor="ctr" lIns="0" rIns="0" tIns="0" bIns="0">
            <a:spAutoFit/>
          </a:bodyPr>
          <a:lstStyle/>
          <a:p>
            <a:pPr algn="l">
              <a:lnSpc>
                <a:spcPct val="110000"/>
              </a:lnSpc>
              <a:spcAft>
                <a:spcPts val="300"/>
              </a:spcAft>
            </a:pPr>
            <a:r>
              <a:rPr sz="1100" b="1" i="0">
                <a:solidFill>
                  <a:srgbClr val="178A73"/>
                </a:solidFill>
                <a:latin typeface="Consolas"/>
              </a:rPr>
              <a:t>tail -f</a:t>
            </a:r>
            <a:r>
              <a:rPr sz="1150" b="0" i="0">
                <a:solidFill>
                  <a:srgbClr val="202A38"/>
                </a:solidFill>
                <a:latin typeface="Times New Roman"/>
              </a:rPr>
              <a:t>: watch in window 1, append in window 2 (</a:t>
            </a:r>
            <a:r>
              <a:rPr sz="1100" b="1" i="0">
                <a:solidFill>
                  <a:srgbClr val="178A73"/>
                </a:solidFill>
                <a:latin typeface="Consolas"/>
              </a:rPr>
              <a:t>&gt;&gt;</a:t>
            </a:r>
            <a:r>
              <a:rPr sz="1150" b="0" i="0">
                <a:solidFill>
                  <a:srgbClr val="202A38"/>
                </a:solidFill>
                <a:latin typeface="Times New Roman"/>
              </a:rPr>
              <a:t> — Lesson 2 topic). Stop: </a:t>
            </a:r>
            <a:r>
              <a:rPr sz="1150" b="1" i="0">
                <a:solidFill>
                  <a:srgbClr val="1F3864"/>
                </a:solidFill>
                <a:latin typeface="Cambria Math"/>
              </a:rPr>
              <a:t> Ctrl </a:t>
            </a:r>
            <a:r>
              <a:rPr sz="1150" b="0" i="0">
                <a:solidFill>
                  <a:srgbClr val="202A38"/>
                </a:solidFill>
                <a:latin typeface="Times New Roman"/>
              </a:rPr>
              <a:t> + </a:t>
            </a:r>
            <a:r>
              <a:rPr sz="1150" b="1" i="0">
                <a:solidFill>
                  <a:srgbClr val="1F3864"/>
                </a:solidFill>
                <a:latin typeface="Cambria Math"/>
              </a:rPr>
              <a:t> C </a:t>
            </a:r>
            <a:r>
              <a:rPr sz="1150" b="0" i="0">
                <a:solidFill>
                  <a:srgbClr val="202A38"/>
                </a:solidFill>
                <a:latin typeface="Times New Roman"/>
              </a:rPr>
              <a:t>. A daily tool of a SOC operator.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QUESTION 2 · TASK 2.5</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2.5 — File type: not the extension, the signature inside matters</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24</a:t>
            </a:r>
          </a:p>
        </p:txBody>
      </p:sp>
      <p:sp>
        <p:nvSpPr>
          <p:cNvPr id="8" name="Rounded Rectangle 7"/>
          <p:cNvSpPr/>
          <p:nvPr/>
        </p:nvSpPr>
        <p:spPr>
          <a:xfrm>
            <a:off x="566928" y="1600200"/>
            <a:ext cx="5943600" cy="2331720"/>
          </a:xfrm>
          <a:prstGeom prst="roundRect">
            <a:avLst>
              <a:gd name="adj" fmla="val 4000"/>
            </a:avLst>
          </a:prstGeom>
          <a:solidFill>
            <a:srgbClr val="142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664208"/>
            <a:ext cx="5669280" cy="228600"/>
          </a:xfrm>
          <a:prstGeom prst="rect">
            <a:avLst/>
          </a:prstGeom>
          <a:noFill/>
        </p:spPr>
        <p:txBody>
          <a:bodyPr wrap="square" anchor="t" lIns="0" rIns="0" tIns="0" bIns="0">
            <a:spAutoFit/>
          </a:bodyPr>
          <a:lstStyle/>
          <a:p>
            <a:pPr algn="l">
              <a:lnSpc>
                <a:spcPct val="110000"/>
              </a:lnSpc>
              <a:spcAft>
                <a:spcPts val="300"/>
              </a:spcAft>
            </a:pPr>
            <a:r>
              <a:rPr sz="1000" b="1" i="0">
                <a:solidFill>
                  <a:srgbClr val="7FD1B9"/>
                </a:solidFill>
                <a:latin typeface="Consolas"/>
              </a:rPr>
              <a:t>Terminal</a:t>
            </a:r>
          </a:p>
        </p:txBody>
      </p:sp>
      <p:sp>
        <p:nvSpPr>
          <p:cNvPr id="10" name="TextBox 9"/>
          <p:cNvSpPr txBox="1"/>
          <p:nvPr/>
        </p:nvSpPr>
        <p:spPr>
          <a:xfrm>
            <a:off x="704088" y="1929384"/>
            <a:ext cx="5669280" cy="1947672"/>
          </a:xfrm>
          <a:prstGeom prst="rect">
            <a:avLst/>
          </a:prstGeom>
          <a:noFill/>
        </p:spPr>
        <p:txBody>
          <a:bodyPr wrap="square" lIns="0" rIns="0" tIns="0" bIns="0">
            <a:spAutoFit/>
          </a:bodyPr>
          <a:lstStyle/>
          <a:p>
            <a:pPr>
              <a:lnSpc>
                <a:spcPct val="100000"/>
              </a:lnSpc>
              <a:spcAft>
                <a:spcPts val="100"/>
              </a:spcAft>
            </a:pPr>
            <a:r>
              <a:rPr sz="1150" b="1">
                <a:solidFill>
                  <a:srgbClr val="E6EDF5"/>
                </a:solidFill>
                <a:latin typeface="Consolas"/>
              </a:rPr>
              <a:t>$ file /usr/bin/ls</a:t>
            </a:r>
          </a:p>
          <a:p>
            <a:pPr>
              <a:lnSpc>
                <a:spcPct val="100000"/>
              </a:lnSpc>
              <a:spcAft>
                <a:spcPts val="100"/>
              </a:spcAft>
            </a:pPr>
            <a:r>
              <a:rPr sz="1150" b="0">
                <a:solidFill>
                  <a:srgbClr val="E6EDF5"/>
                </a:solidFill>
                <a:latin typeface="Consolas"/>
              </a:rPr>
              <a:t>ELF 64-bit LSB pie executable, x86-64</a:t>
            </a:r>
          </a:p>
          <a:p>
            <a:pPr>
              <a:lnSpc>
                <a:spcPct val="100000"/>
              </a:lnSpc>
              <a:spcAft>
                <a:spcPts val="100"/>
              </a:spcAft>
            </a:pPr>
            <a:r>
              <a:rPr sz="1150" b="1">
                <a:solidFill>
                  <a:srgbClr val="E6EDF5"/>
                </a:solidFill>
                <a:latin typeface="Consolas"/>
              </a:rPr>
              <a:t>$ cp /usr/bin/ls ~/lab2/image.jpg</a:t>
            </a:r>
          </a:p>
          <a:p>
            <a:pPr>
              <a:lnSpc>
                <a:spcPct val="100000"/>
              </a:lnSpc>
              <a:spcAft>
                <a:spcPts val="100"/>
              </a:spcAft>
            </a:pPr>
            <a:r>
              <a:rPr sz="1150" b="1">
                <a:solidFill>
                  <a:srgbClr val="E6EDF5"/>
                </a:solidFill>
                <a:latin typeface="Consolas"/>
              </a:rPr>
              <a:t>$ file ~/lab2/image.jpg</a:t>
            </a:r>
          </a:p>
          <a:p>
            <a:pPr>
              <a:lnSpc>
                <a:spcPct val="100000"/>
              </a:lnSpc>
              <a:spcAft>
                <a:spcPts val="100"/>
              </a:spcAft>
            </a:pPr>
            <a:r>
              <a:rPr sz="1150" b="0">
                <a:solidFill>
                  <a:srgbClr val="E6EDF5"/>
                </a:solidFill>
                <a:latin typeface="Consolas"/>
              </a:rPr>
              <a:t>ELF 64-bit LSB pie executable ...   </a:t>
            </a:r>
            <a:r>
              <a:rPr sz="1050">
                <a:solidFill>
                  <a:srgbClr val="7FD1B9"/>
                </a:solidFill>
                <a:latin typeface="Consolas"/>
              </a:rPr>
              <a:t> # not an image!</a:t>
            </a:r>
          </a:p>
          <a:p>
            <a:pPr>
              <a:lnSpc>
                <a:spcPct val="100000"/>
              </a:lnSpc>
              <a:spcAft>
                <a:spcPts val="100"/>
              </a:spcAft>
            </a:pPr>
            <a:r>
              <a:rPr sz="1150" b="1">
                <a:solidFill>
                  <a:srgbClr val="E6EDF5"/>
                </a:solidFill>
                <a:latin typeface="Consolas"/>
              </a:rPr>
              <a:t>$ xxd -l 16 ~/lab2/image.jpg</a:t>
            </a:r>
          </a:p>
          <a:p>
            <a:pPr>
              <a:lnSpc>
                <a:spcPct val="100000"/>
              </a:lnSpc>
              <a:spcAft>
                <a:spcPts val="100"/>
              </a:spcAft>
            </a:pPr>
            <a:r>
              <a:rPr sz="1150" b="0">
                <a:solidFill>
                  <a:srgbClr val="E6EDF5"/>
                </a:solidFill>
                <a:latin typeface="Consolas"/>
              </a:rPr>
              <a:t>00000000: 7f45 4c46 0201 0100 ...  .ELF....</a:t>
            </a:r>
          </a:p>
        </p:txBody>
      </p:sp>
      <p:sp>
        <p:nvSpPr>
          <p:cNvPr id="11" name="Rounded Rectangle 10"/>
          <p:cNvSpPr/>
          <p:nvPr/>
        </p:nvSpPr>
        <p:spPr>
          <a:xfrm>
            <a:off x="566928" y="4114800"/>
            <a:ext cx="1737360" cy="685800"/>
          </a:xfrm>
          <a:prstGeom prst="roundRect">
            <a:avLst>
              <a:gd name="adj" fmla="val 12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i="0">
                <a:solidFill>
                  <a:srgbClr val="FFFFFF"/>
                </a:solidFill>
                <a:latin typeface="Times New Roman"/>
              </a:rPr>
              <a:t>image.jpg</a:t>
            </a:r>
          </a:p>
          <a:p>
            <a:pPr algn="ctr"/>
            <a:r>
              <a:rPr sz="1050" b="0" i="0">
                <a:solidFill>
                  <a:srgbClr val="FFFFFF"/>
                </a:solidFill>
                <a:latin typeface="Times New Roman"/>
              </a:rPr>
              <a:t>name deceives</a:t>
            </a:r>
          </a:p>
        </p:txBody>
      </p:sp>
      <p:sp>
        <p:nvSpPr>
          <p:cNvPr id="12" name="Right Arrow 11"/>
          <p:cNvSpPr/>
          <p:nvPr/>
        </p:nvSpPr>
        <p:spPr>
          <a:xfrm>
            <a:off x="2331720" y="4325112"/>
            <a:ext cx="219456" cy="256032"/>
          </a:xfrm>
          <a:prstGeom prst="rightArrow">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578608" y="4114800"/>
            <a:ext cx="1737360" cy="685800"/>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i="0">
                <a:solidFill>
                  <a:srgbClr val="FFFFFF"/>
                </a:solidFill>
                <a:latin typeface="Times New Roman"/>
              </a:rPr>
              <a:t>7f 45 4c 46</a:t>
            </a:r>
          </a:p>
          <a:p>
            <a:pPr algn="ctr"/>
            <a:r>
              <a:rPr sz="1050" b="0" i="0">
                <a:solidFill>
                  <a:srgbClr val="FFFFFF"/>
                </a:solidFill>
                <a:latin typeface="Times New Roman"/>
              </a:rPr>
              <a:t>first bytes</a:t>
            </a:r>
          </a:p>
        </p:txBody>
      </p:sp>
      <p:sp>
        <p:nvSpPr>
          <p:cNvPr id="14" name="Right Arrow 13"/>
          <p:cNvSpPr/>
          <p:nvPr/>
        </p:nvSpPr>
        <p:spPr>
          <a:xfrm>
            <a:off x="4343400" y="4325112"/>
            <a:ext cx="219456" cy="256032"/>
          </a:xfrm>
          <a:prstGeom prst="rightArrow">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590288" y="4114800"/>
            <a:ext cx="1737360" cy="685800"/>
          </a:xfrm>
          <a:prstGeom prst="roundRect">
            <a:avLst>
              <a:gd name="adj" fmla="val 12000"/>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i="0">
                <a:solidFill>
                  <a:srgbClr val="FFFFFF"/>
                </a:solidFill>
                <a:latin typeface="Times New Roman"/>
              </a:rPr>
              <a:t>file → ELF</a:t>
            </a:r>
          </a:p>
          <a:p>
            <a:pPr algn="ctr"/>
            <a:r>
              <a:rPr sz="1050" b="0" i="0">
                <a:solidFill>
                  <a:srgbClr val="FFFFFF"/>
                </a:solidFill>
                <a:latin typeface="Times New Roman"/>
              </a:rPr>
              <a:t>the real type</a:t>
            </a:r>
          </a:p>
        </p:txBody>
      </p:sp>
      <p:sp>
        <p:nvSpPr>
          <p:cNvPr id="16" name="Rounded Rectangle 15"/>
          <p:cNvSpPr/>
          <p:nvPr/>
        </p:nvSpPr>
        <p:spPr>
          <a:xfrm>
            <a:off x="566928" y="4983480"/>
            <a:ext cx="5943600" cy="868680"/>
          </a:xfrm>
          <a:prstGeom prst="roundRect">
            <a:avLst>
              <a:gd name="adj" fmla="val 8000"/>
            </a:avLst>
          </a:prstGeom>
          <a:solidFill>
            <a:srgbClr val="FFF6E5"/>
          </a:solidFill>
          <a:ln w="15875">
            <a:solidFill>
              <a:srgbClr val="E08E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warning_E08E1D.png"/>
          <p:cNvPicPr>
            <a:picLocks noChangeAspect="1"/>
          </p:cNvPicPr>
          <p:nvPr/>
        </p:nvPicPr>
        <p:blipFill>
          <a:blip r:embed="rId3"/>
          <a:stretch>
            <a:fillRect/>
          </a:stretch>
        </p:blipFill>
        <p:spPr>
          <a:xfrm>
            <a:off x="694944" y="5253228"/>
            <a:ext cx="329184" cy="329184"/>
          </a:xfrm>
          <a:prstGeom prst="rect">
            <a:avLst/>
          </a:prstGeom>
        </p:spPr>
      </p:pic>
      <p:sp>
        <p:nvSpPr>
          <p:cNvPr id="18" name="TextBox 17"/>
          <p:cNvSpPr txBox="1"/>
          <p:nvPr/>
        </p:nvSpPr>
        <p:spPr>
          <a:xfrm>
            <a:off x="1133856" y="4983480"/>
            <a:ext cx="5257800" cy="868680"/>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Malware is disguised with names like </a:t>
            </a:r>
            <a:r>
              <a:rPr sz="1150" b="1" i="0">
                <a:solidFill>
                  <a:srgbClr val="178A73"/>
                </a:solidFill>
                <a:latin typeface="Consolas"/>
              </a:rPr>
              <a:t>document.pdf</a:t>
            </a:r>
            <a:r>
              <a:rPr sz="1200" b="0" i="0">
                <a:solidFill>
                  <a:srgbClr val="202A38"/>
                </a:solidFill>
                <a:latin typeface="Times New Roman"/>
              </a:rPr>
              <a:t>, </a:t>
            </a:r>
            <a:r>
              <a:rPr sz="1150" b="1" i="0">
                <a:solidFill>
                  <a:srgbClr val="178A73"/>
                </a:solidFill>
                <a:latin typeface="Consolas"/>
              </a:rPr>
              <a:t>image.jpg</a:t>
            </a:r>
            <a:r>
              <a:rPr sz="1200" b="0" i="0">
                <a:solidFill>
                  <a:srgbClr val="202A38"/>
                </a:solidFill>
                <a:latin typeface="Times New Roman"/>
              </a:rPr>
              <a:t> — a forensic analyst checks the type with </a:t>
            </a:r>
            <a:r>
              <a:rPr sz="1150" b="1" i="0">
                <a:solidFill>
                  <a:srgbClr val="178A73"/>
                </a:solidFill>
                <a:latin typeface="Consolas"/>
              </a:rPr>
              <a:t>file</a:t>
            </a:r>
            <a:r>
              <a:rPr sz="1200" b="0" i="0">
                <a:solidFill>
                  <a:srgbClr val="202A38"/>
                </a:solidFill>
                <a:latin typeface="Times New Roman"/>
              </a:rPr>
              <a:t>.</a:t>
            </a:r>
          </a:p>
        </p:txBody>
      </p:sp>
      <p:sp>
        <p:nvSpPr>
          <p:cNvPr id="19" name="TextBox 18"/>
          <p:cNvSpPr txBox="1"/>
          <p:nvPr/>
        </p:nvSpPr>
        <p:spPr>
          <a:xfrm>
            <a:off x="566928" y="5943600"/>
            <a:ext cx="3657600" cy="320040"/>
          </a:xfrm>
          <a:prstGeom prst="rect">
            <a:avLst/>
          </a:prstGeom>
          <a:noFill/>
        </p:spPr>
        <p:txBody>
          <a:bodyPr wrap="square" anchor="t" lIns="0" rIns="0" tIns="0" bIns="0">
            <a:spAutoFit/>
          </a:bodyPr>
          <a:lstStyle/>
          <a:p>
            <a:pPr algn="l">
              <a:lnSpc>
                <a:spcPct val="110000"/>
              </a:lnSpc>
              <a:spcAft>
                <a:spcPts val="300"/>
              </a:spcAft>
            </a:pPr>
            <a:r>
              <a:rPr sz="1150" b="0" i="1">
                <a:solidFill>
                  <a:srgbClr val="54647A"/>
                </a:solidFill>
                <a:latin typeface="Times New Roman"/>
              </a:rPr>
              <a:t>Screenshot 2.5: </a:t>
            </a:r>
            <a:r>
              <a:rPr sz="1100" b="1" i="0">
                <a:solidFill>
                  <a:srgbClr val="178A73"/>
                </a:solidFill>
                <a:latin typeface="Consolas"/>
              </a:rPr>
              <a:t>file</a:t>
            </a:r>
            <a:r>
              <a:rPr sz="1150" b="0" i="1">
                <a:solidFill>
                  <a:srgbClr val="54647A"/>
                </a:solidFill>
                <a:latin typeface="Times New Roman"/>
              </a:rPr>
              <a:t>, </a:t>
            </a:r>
            <a:r>
              <a:rPr sz="1100" b="1" i="0">
                <a:solidFill>
                  <a:srgbClr val="178A73"/>
                </a:solidFill>
                <a:latin typeface="Consolas"/>
              </a:rPr>
              <a:t>xxd</a:t>
            </a:r>
            <a:r>
              <a:rPr sz="1150" b="0" i="1">
                <a:solidFill>
                  <a:srgbClr val="54647A"/>
                </a:solidFill>
                <a:latin typeface="Times New Roman"/>
              </a:rPr>
              <a:t> and </a:t>
            </a:r>
            <a:r>
              <a:rPr sz="1100" b="1" i="0">
                <a:solidFill>
                  <a:srgbClr val="178A73"/>
                </a:solidFill>
                <a:latin typeface="Consolas"/>
              </a:rPr>
              <a:t>stat</a:t>
            </a:r>
          </a:p>
        </p:txBody>
      </p:sp>
      <p:sp>
        <p:nvSpPr>
          <p:cNvPr id="20" name="Rounded Rectangle 19">
            <a:hlinkClick action="ppaction://hlinksldjump" r:id="rId5"/>
          </p:cNvPr>
          <p:cNvSpPr/>
          <p:nvPr/>
        </p:nvSpPr>
        <p:spPr>
          <a:xfrm>
            <a:off x="4114800" y="5943600"/>
            <a:ext cx="1696212" cy="310896"/>
          </a:xfrm>
          <a:prstGeom prst="roundRect">
            <a:avLst>
              <a:gd name="adj" fmla="val 50000"/>
            </a:avLst>
          </a:prstGeom>
          <a:solidFill>
            <a:srgbClr val="FFFFFF"/>
          </a:solidFill>
          <a:ln w="19050">
            <a:solidFill>
              <a:srgbClr val="178A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78A73"/>
                </a:solidFill>
                <a:latin typeface="Consolas"/>
              </a:rPr>
              <a:t>?  Magic bytes</a:t>
            </a:r>
          </a:p>
        </p:txBody>
      </p:sp>
      <p:graphicFrame>
        <p:nvGraphicFramePr>
          <p:cNvPr id="21" name="Table 20"/>
          <p:cNvGraphicFramePr>
            <a:graphicFrameLocks noGrp="1"/>
          </p:cNvGraphicFramePr>
          <p:nvPr/>
        </p:nvGraphicFramePr>
        <p:xfrm>
          <a:off x="6720840" y="1600200"/>
          <a:ext cx="4892040" cy="3218688"/>
        </p:xfrm>
        <a:graphic>
          <a:graphicData uri="http://schemas.openxmlformats.org/drawingml/2006/table">
            <a:tbl>
              <a:tblPr firstRow="1" bandRow="1">
                <a:tableStyleId>{5940675A-B579-460E-94D1-54222C63F5DA}</a:tableStyleId>
              </a:tblPr>
              <a:tblGrid>
                <a:gridCol w="2103120"/>
                <a:gridCol w="1600200"/>
                <a:gridCol w="1188720"/>
              </a:tblGrid>
              <a:tr h="402336">
                <a:tc>
                  <a:txBody>
                    <a:bodyPr wrap="square"/>
                    <a:lstStyle/>
                    <a:p>
                      <a:pPr algn="l"/>
                      <a:r>
                        <a:rPr sz="1200" b="1" i="0">
                          <a:solidFill>
                            <a:srgbClr val="FFFFFF"/>
                          </a:solidFill>
                          <a:latin typeface="Times New Roman"/>
                        </a:rPr>
                        <a:t>Type</a:t>
                      </a:r>
                    </a:p>
                  </a:txBody>
                  <a:tcPr marL="63500" marR="63500" marT="25400" marB="25400" anchor="ctr">
                    <a:solidFill>
                      <a:srgbClr val="1F3864"/>
                    </a:solidFill>
                  </a:tcPr>
                </a:tc>
                <a:tc>
                  <a:txBody>
                    <a:bodyPr wrap="square"/>
                    <a:lstStyle/>
                    <a:p>
                      <a:pPr algn="l"/>
                      <a:r>
                        <a:rPr sz="1200" b="1" i="0">
                          <a:solidFill>
                            <a:srgbClr val="FFFFFF"/>
                          </a:solidFill>
                          <a:latin typeface="Times New Roman"/>
                        </a:rPr>
                        <a:t>Signature (hex)</a:t>
                      </a:r>
                    </a:p>
                  </a:txBody>
                  <a:tcPr marL="63500" marR="63500" marT="25400" marB="25400" anchor="ctr">
                    <a:solidFill>
                      <a:srgbClr val="1F3864"/>
                    </a:solidFill>
                  </a:tcPr>
                </a:tc>
                <a:tc>
                  <a:txBody>
                    <a:bodyPr wrap="square"/>
                    <a:lstStyle/>
                    <a:p>
                      <a:pPr algn="l"/>
                      <a:r>
                        <a:rPr sz="1200" b="1" i="0">
                          <a:solidFill>
                            <a:srgbClr val="FFFFFF"/>
                          </a:solidFill>
                          <a:latin typeface="Times New Roman"/>
                        </a:rPr>
                        <a:t>Text</a:t>
                      </a:r>
                    </a:p>
                  </a:txBody>
                  <a:tcPr marL="63500" marR="63500" marT="25400" marB="25400" anchor="ctr">
                    <a:solidFill>
                      <a:srgbClr val="1F3864"/>
                    </a:solidFill>
                  </a:tcPr>
                </a:tc>
              </a:tr>
              <a:tr h="402336">
                <a:tc>
                  <a:txBody>
                    <a:bodyPr wrap="square"/>
                    <a:lstStyle/>
                    <a:p>
                      <a:pPr algn="l"/>
                      <a:r>
                        <a:rPr sz="1150" b="1" i="0">
                          <a:solidFill>
                            <a:srgbClr val="202A38"/>
                          </a:solidFill>
                          <a:latin typeface="Times New Roman"/>
                        </a:rPr>
                        <a:t>Linux program (ELF)</a:t>
                      </a:r>
                    </a:p>
                  </a:txBody>
                  <a:tcPr marL="63500" marR="63500" marT="25400" marB="25400" anchor="ctr">
                    <a:solidFill>
                      <a:srgbClr val="FFFFFF"/>
                    </a:solidFill>
                  </a:tcPr>
                </a:tc>
                <a:tc>
                  <a:txBody>
                    <a:bodyPr wrap="square"/>
                    <a:lstStyle/>
                    <a:p>
                      <a:pPr algn="l"/>
                      <a:r>
                        <a:rPr sz="1100" b="1" i="0">
                          <a:solidFill>
                            <a:srgbClr val="178A73"/>
                          </a:solidFill>
                          <a:latin typeface="Consolas"/>
                        </a:rPr>
                        <a:t>7f 45 4c 46</a:t>
                      </a:r>
                    </a:p>
                  </a:txBody>
                  <a:tcPr marL="63500" marR="63500" marT="25400" marB="25400" anchor="ctr">
                    <a:solidFill>
                      <a:srgbClr val="FFFFFF"/>
                    </a:solidFill>
                  </a:tcPr>
                </a:tc>
                <a:tc>
                  <a:txBody>
                    <a:bodyPr wrap="square"/>
                    <a:lstStyle/>
                    <a:p>
                      <a:pPr algn="l"/>
                      <a:r>
                        <a:rPr sz="1100" b="1" i="0">
                          <a:solidFill>
                            <a:srgbClr val="178A73"/>
                          </a:solidFill>
                          <a:latin typeface="Consolas"/>
                        </a:rPr>
                        <a:t>.ELF</a:t>
                      </a:r>
                    </a:p>
                  </a:txBody>
                  <a:tcPr marL="63500" marR="63500" marT="25400" marB="25400" anchor="ctr">
                    <a:solidFill>
                      <a:srgbClr val="FFFFFF"/>
                    </a:solidFill>
                  </a:tcPr>
                </a:tc>
              </a:tr>
              <a:tr h="402336">
                <a:tc>
                  <a:txBody>
                    <a:bodyPr wrap="square"/>
                    <a:lstStyle/>
                    <a:p>
                      <a:pPr algn="l"/>
                      <a:r>
                        <a:rPr sz="1150" b="1" i="0">
                          <a:solidFill>
                            <a:srgbClr val="202A38"/>
                          </a:solidFill>
                          <a:latin typeface="Times New Roman"/>
                        </a:rPr>
                        <a:t>Windows (.exe, .dll)</a:t>
                      </a:r>
                    </a:p>
                  </a:txBody>
                  <a:tcPr marL="63500" marR="63500" marT="25400" marB="25400" anchor="ctr">
                    <a:solidFill>
                      <a:srgbClr val="F5F8FC"/>
                    </a:solidFill>
                  </a:tcPr>
                </a:tc>
                <a:tc>
                  <a:txBody>
                    <a:bodyPr wrap="square"/>
                    <a:lstStyle/>
                    <a:p>
                      <a:pPr algn="l"/>
                      <a:r>
                        <a:rPr sz="1100" b="1" i="0">
                          <a:solidFill>
                            <a:srgbClr val="178A73"/>
                          </a:solidFill>
                          <a:latin typeface="Consolas"/>
                        </a:rPr>
                        <a:t>4d 5a</a:t>
                      </a:r>
                    </a:p>
                  </a:txBody>
                  <a:tcPr marL="63500" marR="63500" marT="25400" marB="25400" anchor="ctr">
                    <a:solidFill>
                      <a:srgbClr val="F5F8FC"/>
                    </a:solidFill>
                  </a:tcPr>
                </a:tc>
                <a:tc>
                  <a:txBody>
                    <a:bodyPr wrap="square"/>
                    <a:lstStyle/>
                    <a:p>
                      <a:pPr algn="l"/>
                      <a:r>
                        <a:rPr sz="1100" b="1" i="0">
                          <a:solidFill>
                            <a:srgbClr val="178A73"/>
                          </a:solidFill>
                          <a:latin typeface="Consolas"/>
                        </a:rPr>
                        <a:t>MZ</a:t>
                      </a:r>
                    </a:p>
                  </a:txBody>
                  <a:tcPr marL="63500" marR="63500" marT="25400" marB="25400" anchor="ctr">
                    <a:solidFill>
                      <a:srgbClr val="F5F8FC"/>
                    </a:solidFill>
                  </a:tcPr>
                </a:tc>
              </a:tr>
              <a:tr h="402336">
                <a:tc>
                  <a:txBody>
                    <a:bodyPr wrap="square"/>
                    <a:lstStyle/>
                    <a:p>
                      <a:pPr algn="l"/>
                      <a:r>
                        <a:rPr sz="1150" b="1" i="0">
                          <a:solidFill>
                            <a:srgbClr val="202A38"/>
                          </a:solidFill>
                          <a:latin typeface="Times New Roman"/>
                        </a:rPr>
                        <a:t>PNG image</a:t>
                      </a:r>
                    </a:p>
                  </a:txBody>
                  <a:tcPr marL="63500" marR="63500" marT="25400" marB="25400" anchor="ctr">
                    <a:solidFill>
                      <a:srgbClr val="FFFFFF"/>
                    </a:solidFill>
                  </a:tcPr>
                </a:tc>
                <a:tc>
                  <a:txBody>
                    <a:bodyPr wrap="square"/>
                    <a:lstStyle/>
                    <a:p>
                      <a:pPr algn="l"/>
                      <a:r>
                        <a:rPr sz="1100" b="1" i="0">
                          <a:solidFill>
                            <a:srgbClr val="178A73"/>
                          </a:solidFill>
                          <a:latin typeface="Consolas"/>
                        </a:rPr>
                        <a:t>89 50 4e 47</a:t>
                      </a:r>
                    </a:p>
                  </a:txBody>
                  <a:tcPr marL="63500" marR="63500" marT="25400" marB="25400" anchor="ctr">
                    <a:solidFill>
                      <a:srgbClr val="FFFFFF"/>
                    </a:solidFill>
                  </a:tcPr>
                </a:tc>
                <a:tc>
                  <a:txBody>
                    <a:bodyPr wrap="square"/>
                    <a:lstStyle/>
                    <a:p>
                      <a:pPr algn="l"/>
                      <a:r>
                        <a:rPr sz="1100" b="1" i="0">
                          <a:solidFill>
                            <a:srgbClr val="178A73"/>
                          </a:solidFill>
                          <a:latin typeface="Consolas"/>
                        </a:rPr>
                        <a:t>.PNG</a:t>
                      </a:r>
                    </a:p>
                  </a:txBody>
                  <a:tcPr marL="63500" marR="63500" marT="25400" marB="25400" anchor="ctr">
                    <a:solidFill>
                      <a:srgbClr val="FFFFFF"/>
                    </a:solidFill>
                  </a:tcPr>
                </a:tc>
              </a:tr>
              <a:tr h="402336">
                <a:tc>
                  <a:txBody>
                    <a:bodyPr wrap="square"/>
                    <a:lstStyle/>
                    <a:p>
                      <a:pPr algn="l"/>
                      <a:r>
                        <a:rPr sz="1150" b="1" i="0">
                          <a:solidFill>
                            <a:srgbClr val="202A38"/>
                          </a:solidFill>
                          <a:latin typeface="Times New Roman"/>
                        </a:rPr>
                        <a:t>JPEG image</a:t>
                      </a:r>
                    </a:p>
                  </a:txBody>
                  <a:tcPr marL="63500" marR="63500" marT="25400" marB="25400" anchor="ctr">
                    <a:solidFill>
                      <a:srgbClr val="F5F8FC"/>
                    </a:solidFill>
                  </a:tcPr>
                </a:tc>
                <a:tc>
                  <a:txBody>
                    <a:bodyPr wrap="square"/>
                    <a:lstStyle/>
                    <a:p>
                      <a:pPr algn="l"/>
                      <a:r>
                        <a:rPr sz="1100" b="1" i="0">
                          <a:solidFill>
                            <a:srgbClr val="178A73"/>
                          </a:solidFill>
                          <a:latin typeface="Consolas"/>
                        </a:rPr>
                        <a:t>ff d8 ff</a:t>
                      </a:r>
                    </a:p>
                  </a:txBody>
                  <a:tcPr marL="63500" marR="63500" marT="25400" marB="25400" anchor="ctr">
                    <a:solidFill>
                      <a:srgbClr val="F5F8FC"/>
                    </a:solidFill>
                  </a:tcPr>
                </a:tc>
                <a:tc>
                  <a:txBody>
                    <a:bodyPr wrap="square"/>
                    <a:lstStyle/>
                    <a:p>
                      <a:pPr algn="l"/>
                      <a:r>
                        <a:rPr sz="1150" b="0" i="0">
                          <a:solidFill>
                            <a:srgbClr val="202A38"/>
                          </a:solidFill>
                          <a:latin typeface="Times New Roman"/>
                        </a:rPr>
                        <a:t>—</a:t>
                      </a:r>
                    </a:p>
                  </a:txBody>
                  <a:tcPr marL="63500" marR="63500" marT="25400" marB="25400" anchor="ctr">
                    <a:solidFill>
                      <a:srgbClr val="F5F8FC"/>
                    </a:solidFill>
                  </a:tcPr>
                </a:tc>
              </a:tr>
              <a:tr h="402336">
                <a:tc>
                  <a:txBody>
                    <a:bodyPr wrap="square"/>
                    <a:lstStyle/>
                    <a:p>
                      <a:pPr algn="l"/>
                      <a:r>
                        <a:rPr sz="1150" b="1" i="0">
                          <a:solidFill>
                            <a:srgbClr val="202A38"/>
                          </a:solidFill>
                          <a:latin typeface="Times New Roman"/>
                        </a:rPr>
                        <a:t>PDF</a:t>
                      </a:r>
                    </a:p>
                  </a:txBody>
                  <a:tcPr marL="63500" marR="63500" marT="25400" marB="25400" anchor="ctr">
                    <a:solidFill>
                      <a:srgbClr val="FFFFFF"/>
                    </a:solidFill>
                  </a:tcPr>
                </a:tc>
                <a:tc>
                  <a:txBody>
                    <a:bodyPr wrap="square"/>
                    <a:lstStyle/>
                    <a:p>
                      <a:pPr algn="l"/>
                      <a:r>
                        <a:rPr sz="1100" b="1" i="0">
                          <a:solidFill>
                            <a:srgbClr val="178A73"/>
                          </a:solidFill>
                          <a:latin typeface="Consolas"/>
                        </a:rPr>
                        <a:t>25 50 44 46</a:t>
                      </a:r>
                    </a:p>
                  </a:txBody>
                  <a:tcPr marL="63500" marR="63500" marT="25400" marB="25400" anchor="ctr">
                    <a:solidFill>
                      <a:srgbClr val="FFFFFF"/>
                    </a:solidFill>
                  </a:tcPr>
                </a:tc>
                <a:tc>
                  <a:txBody>
                    <a:bodyPr wrap="square"/>
                    <a:lstStyle/>
                    <a:p>
                      <a:pPr algn="l"/>
                      <a:r>
                        <a:rPr sz="1100" b="1" i="0">
                          <a:solidFill>
                            <a:srgbClr val="178A73"/>
                          </a:solidFill>
                          <a:latin typeface="Consolas"/>
                        </a:rPr>
                        <a:t>%PDF</a:t>
                      </a:r>
                    </a:p>
                  </a:txBody>
                  <a:tcPr marL="63500" marR="63500" marT="25400" marB="25400" anchor="ctr">
                    <a:solidFill>
                      <a:srgbClr val="FFFFFF"/>
                    </a:solidFill>
                  </a:tcPr>
                </a:tc>
              </a:tr>
              <a:tr h="402336">
                <a:tc>
                  <a:txBody>
                    <a:bodyPr wrap="square"/>
                    <a:lstStyle/>
                    <a:p>
                      <a:pPr algn="l"/>
                      <a:r>
                        <a:rPr sz="1150" b="1" i="0">
                          <a:solidFill>
                            <a:srgbClr val="202A38"/>
                          </a:solidFill>
                          <a:latin typeface="Times New Roman"/>
                        </a:rPr>
                        <a:t>ZIP (.docx, .apk)</a:t>
                      </a:r>
                    </a:p>
                  </a:txBody>
                  <a:tcPr marL="63500" marR="63500" marT="25400" marB="25400" anchor="ctr">
                    <a:solidFill>
                      <a:srgbClr val="F5F8FC"/>
                    </a:solidFill>
                  </a:tcPr>
                </a:tc>
                <a:tc>
                  <a:txBody>
                    <a:bodyPr wrap="square"/>
                    <a:lstStyle/>
                    <a:p>
                      <a:pPr algn="l"/>
                      <a:r>
                        <a:rPr sz="1100" b="1" i="0">
                          <a:solidFill>
                            <a:srgbClr val="178A73"/>
                          </a:solidFill>
                          <a:latin typeface="Consolas"/>
                        </a:rPr>
                        <a:t>50 4b 03 04</a:t>
                      </a:r>
                    </a:p>
                  </a:txBody>
                  <a:tcPr marL="63500" marR="63500" marT="25400" marB="25400" anchor="ctr">
                    <a:solidFill>
                      <a:srgbClr val="F5F8FC"/>
                    </a:solidFill>
                  </a:tcPr>
                </a:tc>
                <a:tc>
                  <a:txBody>
                    <a:bodyPr wrap="square"/>
                    <a:lstStyle/>
                    <a:p>
                      <a:pPr algn="l"/>
                      <a:r>
                        <a:rPr sz="1100" b="1" i="0">
                          <a:solidFill>
                            <a:srgbClr val="178A73"/>
                          </a:solidFill>
                          <a:latin typeface="Consolas"/>
                        </a:rPr>
                        <a:t>PK</a:t>
                      </a:r>
                    </a:p>
                  </a:txBody>
                  <a:tcPr marL="63500" marR="63500" marT="25400" marB="25400" anchor="ctr">
                    <a:solidFill>
                      <a:srgbClr val="F5F8FC"/>
                    </a:solidFill>
                  </a:tcPr>
                </a:tc>
              </a:tr>
              <a:tr h="402336">
                <a:tc>
                  <a:txBody>
                    <a:bodyPr wrap="square"/>
                    <a:lstStyle/>
                    <a:p>
                      <a:pPr algn="l"/>
                      <a:r>
                        <a:rPr sz="1150" b="1" i="0">
                          <a:solidFill>
                            <a:srgbClr val="202A38"/>
                          </a:solidFill>
                          <a:latin typeface="Times New Roman"/>
                        </a:rPr>
                        <a:t>GZIP</a:t>
                      </a:r>
                    </a:p>
                  </a:txBody>
                  <a:tcPr marL="63500" marR="63500" marT="25400" marB="25400" anchor="ctr">
                    <a:solidFill>
                      <a:srgbClr val="FFFFFF"/>
                    </a:solidFill>
                  </a:tcPr>
                </a:tc>
                <a:tc>
                  <a:txBody>
                    <a:bodyPr wrap="square"/>
                    <a:lstStyle/>
                    <a:p>
                      <a:pPr algn="l"/>
                      <a:r>
                        <a:rPr sz="1100" b="1" i="0">
                          <a:solidFill>
                            <a:srgbClr val="178A73"/>
                          </a:solidFill>
                          <a:latin typeface="Consolas"/>
                        </a:rPr>
                        <a:t>1f 8b</a:t>
                      </a:r>
                    </a:p>
                  </a:txBody>
                  <a:tcPr marL="63500" marR="63500" marT="25400" marB="25400" anchor="ctr">
                    <a:solidFill>
                      <a:srgbClr val="FFFFFF"/>
                    </a:solidFill>
                  </a:tcPr>
                </a:tc>
                <a:tc>
                  <a:txBody>
                    <a:bodyPr wrap="square"/>
                    <a:lstStyle/>
                    <a:p>
                      <a:pPr algn="l"/>
                      <a:r>
                        <a:rPr sz="1150" b="0" i="0">
                          <a:solidFill>
                            <a:srgbClr val="202A38"/>
                          </a:solidFill>
                          <a:latin typeface="Times New Roman"/>
                        </a:rPr>
                        <a:t>—</a:t>
                      </a:r>
                    </a:p>
                  </a:txBody>
                  <a:tcPr marL="63500" marR="63500" marT="25400" marB="25400" anchor="ctr">
                    <a:solidFill>
                      <a:srgbClr val="FFFFFF"/>
                    </a:solidFill>
                  </a:tcPr>
                </a:tc>
              </a:tr>
            </a:tbl>
          </a:graphicData>
        </a:graphic>
      </p:graphicFrame>
      <p:sp>
        <p:nvSpPr>
          <p:cNvPr id="22" name="Rounded Rectangle 21"/>
          <p:cNvSpPr/>
          <p:nvPr/>
        </p:nvSpPr>
        <p:spPr>
          <a:xfrm>
            <a:off x="6720840" y="4983480"/>
            <a:ext cx="4892040" cy="868680"/>
          </a:xfrm>
          <a:prstGeom prst="roundRect">
            <a:avLst>
              <a:gd name="adj" fmla="val 8000"/>
            </a:avLst>
          </a:prstGeom>
          <a:solidFill>
            <a:srgbClr val="F5F8FC"/>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search_1F3864.png"/>
          <p:cNvPicPr>
            <a:picLocks noChangeAspect="1"/>
          </p:cNvPicPr>
          <p:nvPr/>
        </p:nvPicPr>
        <p:blipFill>
          <a:blip r:embed="rId4"/>
          <a:stretch>
            <a:fillRect/>
          </a:stretch>
        </p:blipFill>
        <p:spPr>
          <a:xfrm>
            <a:off x="6848856" y="5253228"/>
            <a:ext cx="329184" cy="329184"/>
          </a:xfrm>
          <a:prstGeom prst="rect">
            <a:avLst/>
          </a:prstGeom>
        </p:spPr>
      </p:pic>
      <p:sp>
        <p:nvSpPr>
          <p:cNvPr id="24" name="TextBox 23"/>
          <p:cNvSpPr txBox="1"/>
          <p:nvPr/>
        </p:nvSpPr>
        <p:spPr>
          <a:xfrm>
            <a:off x="7287768" y="4983480"/>
            <a:ext cx="4206240" cy="868680"/>
          </a:xfrm>
          <a:prstGeom prst="rect">
            <a:avLst/>
          </a:prstGeom>
          <a:noFill/>
        </p:spPr>
        <p:txBody>
          <a:bodyPr wrap="square" anchor="ctr" lIns="0" rIns="0" tIns="0" bIns="0">
            <a:spAutoFit/>
          </a:bodyPr>
          <a:lstStyle/>
          <a:p>
            <a:pPr algn="l">
              <a:lnSpc>
                <a:spcPct val="110000"/>
              </a:lnSpc>
              <a:spcAft>
                <a:spcPts val="300"/>
              </a:spcAft>
            </a:pPr>
            <a:r>
              <a:rPr sz="1150" b="1" i="0">
                <a:solidFill>
                  <a:srgbClr val="178A73"/>
                </a:solidFill>
                <a:latin typeface="Consolas"/>
              </a:rPr>
              <a:t>.docx</a:t>
            </a:r>
            <a:r>
              <a:rPr sz="1200" b="0" i="0">
                <a:solidFill>
                  <a:srgbClr val="202A38"/>
                </a:solidFill>
                <a:latin typeface="Times New Roman"/>
              </a:rPr>
              <a:t> is also a ZIP archive: its signature is </a:t>
            </a:r>
            <a:r>
              <a:rPr sz="1150" b="1" i="0">
                <a:solidFill>
                  <a:srgbClr val="178A73"/>
                </a:solidFill>
                <a:latin typeface="Consolas"/>
              </a:rPr>
              <a:t>PK</a:t>
            </a:r>
            <a:r>
              <a:rPr sz="1200" b="0" i="0">
                <a:solidFill>
                  <a:srgbClr val="202A38"/>
                </a:solidFill>
                <a:latin typeface="Times New Roman"/>
              </a:rPr>
              <a:t> — XML files inside.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QUESTION 2 · TASK 2.5 (CONTINUED)</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Timestamps and detecting their tampering</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25</a:t>
            </a:r>
          </a:p>
        </p:txBody>
      </p:sp>
      <p:sp>
        <p:nvSpPr>
          <p:cNvPr id="8" name="Rounded Rectangle 7"/>
          <p:cNvSpPr/>
          <p:nvPr/>
        </p:nvSpPr>
        <p:spPr>
          <a:xfrm>
            <a:off x="566928" y="1600200"/>
            <a:ext cx="6035040" cy="2514600"/>
          </a:xfrm>
          <a:prstGeom prst="roundRect">
            <a:avLst>
              <a:gd name="adj" fmla="val 4000"/>
            </a:avLst>
          </a:prstGeom>
          <a:solidFill>
            <a:srgbClr val="142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664208"/>
            <a:ext cx="5760720" cy="228600"/>
          </a:xfrm>
          <a:prstGeom prst="rect">
            <a:avLst/>
          </a:prstGeom>
          <a:noFill/>
        </p:spPr>
        <p:txBody>
          <a:bodyPr wrap="square" anchor="t" lIns="0" rIns="0" tIns="0" bIns="0">
            <a:spAutoFit/>
          </a:bodyPr>
          <a:lstStyle/>
          <a:p>
            <a:pPr algn="l">
              <a:lnSpc>
                <a:spcPct val="110000"/>
              </a:lnSpc>
              <a:spcAft>
                <a:spcPts val="300"/>
              </a:spcAft>
            </a:pPr>
            <a:r>
              <a:rPr sz="1000" b="1" i="0">
                <a:solidFill>
                  <a:srgbClr val="7FD1B9"/>
                </a:solidFill>
                <a:latin typeface="Consolas"/>
              </a:rPr>
              <a:t>Terminal</a:t>
            </a:r>
          </a:p>
        </p:txBody>
      </p:sp>
      <p:sp>
        <p:nvSpPr>
          <p:cNvPr id="10" name="TextBox 9"/>
          <p:cNvSpPr txBox="1"/>
          <p:nvPr/>
        </p:nvSpPr>
        <p:spPr>
          <a:xfrm>
            <a:off x="704088" y="1929384"/>
            <a:ext cx="5760720" cy="2130552"/>
          </a:xfrm>
          <a:prstGeom prst="rect">
            <a:avLst/>
          </a:prstGeom>
          <a:noFill/>
        </p:spPr>
        <p:txBody>
          <a:bodyPr wrap="square" lIns="0" rIns="0" tIns="0" bIns="0">
            <a:spAutoFit/>
          </a:bodyPr>
          <a:lstStyle/>
          <a:p>
            <a:pPr>
              <a:lnSpc>
                <a:spcPct val="100000"/>
              </a:lnSpc>
              <a:spcAft>
                <a:spcPts val="100"/>
              </a:spcAft>
            </a:pPr>
            <a:r>
              <a:rPr sz="1150" b="1">
                <a:solidFill>
                  <a:srgbClr val="E6EDF5"/>
                </a:solidFill>
                <a:latin typeface="Consolas"/>
              </a:rPr>
              <a:t>$ stat ~/lab2/note.txt</a:t>
            </a:r>
          </a:p>
          <a:p>
            <a:pPr>
              <a:lnSpc>
                <a:spcPct val="100000"/>
              </a:lnSpc>
              <a:spcAft>
                <a:spcPts val="100"/>
              </a:spcAft>
            </a:pPr>
            <a:r>
              <a:rPr sz="1150" b="0">
                <a:solidFill>
                  <a:srgbClr val="E6EDF5"/>
                </a:solidFill>
                <a:latin typeface="Consolas"/>
              </a:rPr>
              <a:t>  Access: 2026-10-07 09:41  </a:t>
            </a:r>
            <a:r>
              <a:rPr sz="1050">
                <a:solidFill>
                  <a:srgbClr val="7FD1B9"/>
                </a:solidFill>
                <a:latin typeface="Consolas"/>
              </a:rPr>
              <a:t> # last read</a:t>
            </a:r>
          </a:p>
          <a:p>
            <a:pPr>
              <a:lnSpc>
                <a:spcPct val="100000"/>
              </a:lnSpc>
              <a:spcAft>
                <a:spcPts val="100"/>
              </a:spcAft>
            </a:pPr>
            <a:r>
              <a:rPr sz="1150" b="0">
                <a:solidFill>
                  <a:srgbClr val="E6EDF5"/>
                </a:solidFill>
                <a:latin typeface="Consolas"/>
              </a:rPr>
              <a:t>  Modify: 2026-10-07 09:40  </a:t>
            </a:r>
            <a:r>
              <a:rPr sz="1050">
                <a:solidFill>
                  <a:srgbClr val="7FD1B9"/>
                </a:solidFill>
                <a:latin typeface="Consolas"/>
              </a:rPr>
              <a:t> # content changed</a:t>
            </a:r>
          </a:p>
          <a:p>
            <a:pPr>
              <a:lnSpc>
                <a:spcPct val="100000"/>
              </a:lnSpc>
              <a:spcAft>
                <a:spcPts val="100"/>
              </a:spcAft>
            </a:pPr>
            <a:r>
              <a:rPr sz="1150" b="0">
                <a:solidFill>
                  <a:srgbClr val="E6EDF5"/>
                </a:solidFill>
                <a:latin typeface="Consolas"/>
              </a:rPr>
              <a:t>  Change: 2026-10-07 09:40  </a:t>
            </a:r>
            <a:r>
              <a:rPr sz="1050">
                <a:solidFill>
                  <a:srgbClr val="7FD1B9"/>
                </a:solidFill>
                <a:latin typeface="Consolas"/>
              </a:rPr>
              <a:t> # metadata changed</a:t>
            </a:r>
          </a:p>
          <a:p>
            <a:pPr>
              <a:lnSpc>
                <a:spcPct val="100000"/>
              </a:lnSpc>
              <a:spcAft>
                <a:spcPts val="100"/>
              </a:spcAft>
            </a:pPr>
            <a:r>
              <a:rPr sz="1150" b="0">
                <a:solidFill>
                  <a:srgbClr val="E6EDF5"/>
                </a:solidFill>
                <a:latin typeface="Consolas"/>
              </a:rPr>
              <a:t>   Birth: 2026-10-07 09:35  </a:t>
            </a:r>
            <a:r>
              <a:rPr sz="1050">
                <a:solidFill>
                  <a:srgbClr val="7FD1B9"/>
                </a:solidFill>
                <a:latin typeface="Consolas"/>
              </a:rPr>
              <a:t> # created</a:t>
            </a:r>
          </a:p>
          <a:p>
            <a:pPr>
              <a:lnSpc>
                <a:spcPct val="100000"/>
              </a:lnSpc>
              <a:spcAft>
                <a:spcPts val="100"/>
              </a:spcAft>
            </a:pPr>
            <a:r>
              <a:rPr sz="1150" b="1">
                <a:solidFill>
                  <a:srgbClr val="E6EDF5"/>
                </a:solidFill>
                <a:latin typeface="Consolas"/>
              </a:rPr>
              <a:t>$ touch -d "2020-01-01 10:00" ~/lab2/note.txt</a:t>
            </a:r>
          </a:p>
          <a:p>
            <a:pPr>
              <a:lnSpc>
                <a:spcPct val="100000"/>
              </a:lnSpc>
              <a:spcAft>
                <a:spcPts val="100"/>
              </a:spcAft>
            </a:pPr>
            <a:r>
              <a:rPr sz="1150" b="1">
                <a:solidFill>
                  <a:srgbClr val="E6EDF5"/>
                </a:solidFill>
                <a:latin typeface="Consolas"/>
              </a:rPr>
              <a:t>$ stat ~/lab2/note.txt   </a:t>
            </a:r>
            <a:r>
              <a:rPr sz="1050">
                <a:solidFill>
                  <a:srgbClr val="7FD1B9"/>
                </a:solidFill>
                <a:latin typeface="Consolas"/>
              </a:rPr>
              <a:t> # Modify=2020, Change=NOW</a:t>
            </a:r>
          </a:p>
        </p:txBody>
      </p:sp>
      <p:sp>
        <p:nvSpPr>
          <p:cNvPr id="11" name="Rounded Rectangle 10"/>
          <p:cNvSpPr/>
          <p:nvPr/>
        </p:nvSpPr>
        <p:spPr>
          <a:xfrm>
            <a:off x="6812280" y="1600200"/>
            <a:ext cx="2286000" cy="914400"/>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50" b="1" i="0">
                <a:solidFill>
                  <a:srgbClr val="FFFFFF"/>
                </a:solidFill>
                <a:latin typeface="Times New Roman"/>
              </a:rPr>
              <a:t>atime · Access</a:t>
            </a:r>
          </a:p>
          <a:p>
            <a:pPr algn="ctr"/>
            <a:r>
              <a:rPr sz="1100" b="0" i="0">
                <a:solidFill>
                  <a:srgbClr val="FFFFFF"/>
                </a:solidFill>
                <a:latin typeface="Times New Roman"/>
              </a:rPr>
              <a:t>last read</a:t>
            </a:r>
          </a:p>
        </p:txBody>
      </p:sp>
      <p:sp>
        <p:nvSpPr>
          <p:cNvPr id="12" name="Rounded Rectangle 11"/>
          <p:cNvSpPr/>
          <p:nvPr/>
        </p:nvSpPr>
        <p:spPr>
          <a:xfrm>
            <a:off x="9235440" y="1600200"/>
            <a:ext cx="2286000" cy="914400"/>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50" b="1" i="0">
                <a:solidFill>
                  <a:srgbClr val="FFFFFF"/>
                </a:solidFill>
                <a:latin typeface="Times New Roman"/>
              </a:rPr>
              <a:t>mtime · Modify</a:t>
            </a:r>
          </a:p>
          <a:p>
            <a:pPr algn="ctr"/>
            <a:r>
              <a:rPr sz="1100" b="0" i="0">
                <a:solidFill>
                  <a:srgbClr val="FFFFFF"/>
                </a:solidFill>
                <a:latin typeface="Times New Roman"/>
              </a:rPr>
              <a:t>content changed</a:t>
            </a:r>
          </a:p>
        </p:txBody>
      </p:sp>
      <p:sp>
        <p:nvSpPr>
          <p:cNvPr id="13" name="Rounded Rectangle 12"/>
          <p:cNvSpPr/>
          <p:nvPr/>
        </p:nvSpPr>
        <p:spPr>
          <a:xfrm>
            <a:off x="6812280" y="2651760"/>
            <a:ext cx="2286000" cy="914400"/>
          </a:xfrm>
          <a:prstGeom prst="roundRect">
            <a:avLst>
              <a:gd name="adj" fmla="val 12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50" b="1" i="0">
                <a:solidFill>
                  <a:srgbClr val="FFFFFF"/>
                </a:solidFill>
                <a:latin typeface="Times New Roman"/>
              </a:rPr>
              <a:t>ctime · Change</a:t>
            </a:r>
          </a:p>
          <a:p>
            <a:pPr algn="ctr"/>
            <a:r>
              <a:rPr sz="1100" b="0" i="0">
                <a:solidFill>
                  <a:srgbClr val="FFFFFF"/>
                </a:solidFill>
                <a:latin typeface="Times New Roman"/>
              </a:rPr>
              <a:t>metadata changed</a:t>
            </a:r>
          </a:p>
        </p:txBody>
      </p:sp>
      <p:sp>
        <p:nvSpPr>
          <p:cNvPr id="14" name="Rounded Rectangle 13"/>
          <p:cNvSpPr/>
          <p:nvPr/>
        </p:nvSpPr>
        <p:spPr>
          <a:xfrm>
            <a:off x="9235440" y="2651760"/>
            <a:ext cx="2286000" cy="914400"/>
          </a:xfrm>
          <a:prstGeom prst="roundRect">
            <a:avLst>
              <a:gd name="adj" fmla="val 12000"/>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50" b="1" i="0">
                <a:solidFill>
                  <a:srgbClr val="FFFFFF"/>
                </a:solidFill>
                <a:latin typeface="Times New Roman"/>
              </a:rPr>
              <a:t>btime · Birth</a:t>
            </a:r>
          </a:p>
          <a:p>
            <a:pPr algn="ctr"/>
            <a:r>
              <a:rPr sz="1100" b="0" i="0">
                <a:solidFill>
                  <a:srgbClr val="FFFFFF"/>
                </a:solidFill>
                <a:latin typeface="Times New Roman"/>
              </a:rPr>
              <a:t>created</a:t>
            </a:r>
          </a:p>
        </p:txBody>
      </p:sp>
      <p:sp>
        <p:nvSpPr>
          <p:cNvPr id="15" name="TextBox 14"/>
          <p:cNvSpPr txBox="1"/>
          <p:nvPr/>
        </p:nvSpPr>
        <p:spPr>
          <a:xfrm>
            <a:off x="6812280" y="3749039"/>
            <a:ext cx="475488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1F3864"/>
                </a:solidFill>
                <a:latin typeface="Times New Roman"/>
              </a:rPr>
              <a:t>After </a:t>
            </a:r>
            <a:r>
              <a:rPr sz="1250" b="1" i="0">
                <a:solidFill>
                  <a:srgbClr val="178A73"/>
                </a:solidFill>
                <a:latin typeface="Consolas"/>
              </a:rPr>
              <a:t>touch -d</a:t>
            </a:r>
          </a:p>
        </p:txBody>
      </p:sp>
      <p:sp>
        <p:nvSpPr>
          <p:cNvPr id="16" name="Rounded Rectangle 15"/>
          <p:cNvSpPr/>
          <p:nvPr/>
        </p:nvSpPr>
        <p:spPr>
          <a:xfrm>
            <a:off x="6812280" y="4069080"/>
            <a:ext cx="1280160" cy="384048"/>
          </a:xfrm>
          <a:prstGeom prst="roundRect">
            <a:avLst>
              <a:gd name="adj" fmla="val 1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Modify</a:t>
            </a:r>
          </a:p>
        </p:txBody>
      </p:sp>
      <p:sp>
        <p:nvSpPr>
          <p:cNvPr id="17" name="TextBox 16"/>
          <p:cNvSpPr txBox="1"/>
          <p:nvPr/>
        </p:nvSpPr>
        <p:spPr>
          <a:xfrm>
            <a:off x="8229600" y="4069080"/>
            <a:ext cx="3291840" cy="384048"/>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2020-01-01 — fake</a:t>
            </a:r>
          </a:p>
        </p:txBody>
      </p:sp>
      <p:sp>
        <p:nvSpPr>
          <p:cNvPr id="18" name="Rounded Rectangle 17"/>
          <p:cNvSpPr/>
          <p:nvPr/>
        </p:nvSpPr>
        <p:spPr>
          <a:xfrm>
            <a:off x="6812280" y="4544568"/>
            <a:ext cx="1280160" cy="384048"/>
          </a:xfrm>
          <a:prstGeom prst="roundRect">
            <a:avLst>
              <a:gd name="adj" fmla="val 12000"/>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Change</a:t>
            </a:r>
          </a:p>
        </p:txBody>
      </p:sp>
      <p:sp>
        <p:nvSpPr>
          <p:cNvPr id="19" name="TextBox 18"/>
          <p:cNvSpPr txBox="1"/>
          <p:nvPr/>
        </p:nvSpPr>
        <p:spPr>
          <a:xfrm>
            <a:off x="8229600" y="4544568"/>
            <a:ext cx="3291840" cy="384048"/>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current time — real</a:t>
            </a:r>
          </a:p>
        </p:txBody>
      </p:sp>
      <p:sp>
        <p:nvSpPr>
          <p:cNvPr id="20" name="Rounded Rectangle 19"/>
          <p:cNvSpPr/>
          <p:nvPr/>
        </p:nvSpPr>
        <p:spPr>
          <a:xfrm>
            <a:off x="566928" y="4297680"/>
            <a:ext cx="6035040" cy="960120"/>
          </a:xfrm>
          <a:prstGeom prst="roundRect">
            <a:avLst>
              <a:gd name="adj" fmla="val 8000"/>
            </a:avLst>
          </a:prstGeom>
          <a:solidFill>
            <a:srgbClr val="FDEDEC"/>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x_C0392B.png"/>
          <p:cNvPicPr>
            <a:picLocks noChangeAspect="1"/>
          </p:cNvPicPr>
          <p:nvPr/>
        </p:nvPicPr>
        <p:blipFill>
          <a:blip r:embed="rId3"/>
          <a:stretch>
            <a:fillRect/>
          </a:stretch>
        </p:blipFill>
        <p:spPr>
          <a:xfrm>
            <a:off x="694944" y="4613148"/>
            <a:ext cx="329184" cy="329184"/>
          </a:xfrm>
          <a:prstGeom prst="rect">
            <a:avLst/>
          </a:prstGeom>
        </p:spPr>
      </p:pic>
      <p:sp>
        <p:nvSpPr>
          <p:cNvPr id="22" name="TextBox 21"/>
          <p:cNvSpPr txBox="1"/>
          <p:nvPr/>
        </p:nvSpPr>
        <p:spPr>
          <a:xfrm>
            <a:off x="1133856" y="4297680"/>
            <a:ext cx="5349240" cy="960120"/>
          </a:xfrm>
          <a:prstGeom prst="rect">
            <a:avLst/>
          </a:prstGeom>
          <a:noFill/>
        </p:spPr>
        <p:txBody>
          <a:bodyPr wrap="square" anchor="ctr" lIns="0" rIns="0" tIns="0" bIns="0">
            <a:spAutoFit/>
          </a:bodyPr>
          <a:lstStyle/>
          <a:p>
            <a:pPr algn="l">
              <a:lnSpc>
                <a:spcPct val="110000"/>
              </a:lnSpc>
              <a:spcAft>
                <a:spcPts val="300"/>
              </a:spcAft>
            </a:pPr>
            <a:r>
              <a:rPr sz="1200" b="1" i="0">
                <a:solidFill>
                  <a:srgbClr val="1F3864"/>
                </a:solidFill>
                <a:latin typeface="Times New Roman"/>
              </a:rPr>
              <a:t>Modify ≪ Change</a:t>
            </a:r>
            <a:r>
              <a:rPr sz="1200" b="0" i="0">
                <a:solidFill>
                  <a:srgbClr val="202A38"/>
                </a:solidFill>
                <a:latin typeface="Times New Roman"/>
              </a:rPr>
              <a:t> — a sign the timestamp was changed by hand (timestomping). </a:t>
            </a:r>
            <a:r>
              <a:rPr sz="1150" b="1" i="0">
                <a:solidFill>
                  <a:srgbClr val="178A73"/>
                </a:solidFill>
                <a:latin typeface="Consolas"/>
              </a:rPr>
              <a:t>ls -l</a:t>
            </a:r>
            <a:r>
              <a:rPr sz="1200" b="0" i="0">
                <a:solidFill>
                  <a:srgbClr val="202A38"/>
                </a:solidFill>
                <a:latin typeface="Times New Roman"/>
              </a:rPr>
              <a:t> shows only Modify — </a:t>
            </a:r>
            <a:r>
              <a:rPr sz="1150" b="1" i="0">
                <a:solidFill>
                  <a:srgbClr val="178A73"/>
                </a:solidFill>
                <a:latin typeface="Consolas"/>
              </a:rPr>
              <a:t>stat</a:t>
            </a:r>
            <a:r>
              <a:rPr sz="1200" b="0" i="0">
                <a:solidFill>
                  <a:srgbClr val="202A38"/>
                </a:solidFill>
                <a:latin typeface="Times New Roman"/>
              </a:rPr>
              <a:t> is needed to check.</a:t>
            </a:r>
          </a:p>
        </p:txBody>
      </p:sp>
      <p:sp>
        <p:nvSpPr>
          <p:cNvPr id="23" name="Rounded Rectangle 22"/>
          <p:cNvSpPr/>
          <p:nvPr/>
        </p:nvSpPr>
        <p:spPr>
          <a:xfrm>
            <a:off x="566928" y="5394960"/>
            <a:ext cx="6035040" cy="868680"/>
          </a:xfrm>
          <a:prstGeom prst="roundRect">
            <a:avLst>
              <a:gd name="adj" fmla="val 8000"/>
            </a:avLst>
          </a:prstGeom>
          <a:solidFill>
            <a:srgbClr val="F5F8FC"/>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search_1F3864.png"/>
          <p:cNvPicPr>
            <a:picLocks noChangeAspect="1"/>
          </p:cNvPicPr>
          <p:nvPr/>
        </p:nvPicPr>
        <p:blipFill>
          <a:blip r:embed="rId4"/>
          <a:stretch>
            <a:fillRect/>
          </a:stretch>
        </p:blipFill>
        <p:spPr>
          <a:xfrm>
            <a:off x="694944" y="5664708"/>
            <a:ext cx="329184" cy="329184"/>
          </a:xfrm>
          <a:prstGeom prst="rect">
            <a:avLst/>
          </a:prstGeom>
        </p:spPr>
      </p:pic>
      <p:sp>
        <p:nvSpPr>
          <p:cNvPr id="25" name="TextBox 24"/>
          <p:cNvSpPr txBox="1"/>
          <p:nvPr/>
        </p:nvSpPr>
        <p:spPr>
          <a:xfrm>
            <a:off x="1133856" y="5394960"/>
            <a:ext cx="5349240" cy="868680"/>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On some file systems </a:t>
            </a:r>
            <a:r>
              <a:rPr sz="1150" b="1" i="0">
                <a:solidFill>
                  <a:srgbClr val="178A73"/>
                </a:solidFill>
                <a:latin typeface="Consolas"/>
              </a:rPr>
              <a:t>Birth: -</a:t>
            </a:r>
            <a:r>
              <a:rPr sz="1200" b="0" i="0">
                <a:solidFill>
                  <a:srgbClr val="202A38"/>
                </a:solidFill>
                <a:latin typeface="Times New Roman"/>
              </a:rPr>
              <a:t> appears — the creation time is not stored.</a:t>
            </a:r>
          </a:p>
        </p:txBody>
      </p:sp>
      <p:sp>
        <p:nvSpPr>
          <p:cNvPr id="26" name="Rounded Rectangle 25">
            <a:hlinkClick action="ppaction://hlinksldjump" r:id="rId6"/>
          </p:cNvPr>
          <p:cNvSpPr/>
          <p:nvPr/>
        </p:nvSpPr>
        <p:spPr>
          <a:xfrm>
            <a:off x="6812280" y="5120640"/>
            <a:ext cx="1600200" cy="310896"/>
          </a:xfrm>
          <a:prstGeom prst="roundRect">
            <a:avLst>
              <a:gd name="adj" fmla="val 50000"/>
            </a:avLst>
          </a:prstGeom>
          <a:solidFill>
            <a:srgbClr val="FFFFFF"/>
          </a:solidFill>
          <a:ln w="19050">
            <a:solidFill>
              <a:srgbClr val="178A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78A73"/>
                </a:solidFill>
                <a:latin typeface="Consolas"/>
              </a:rPr>
              <a:t>?  Timestamps</a:t>
            </a:r>
          </a:p>
        </p:txBody>
      </p:sp>
      <p:sp>
        <p:nvSpPr>
          <p:cNvPr id="27" name="Rounded Rectangle 26"/>
          <p:cNvSpPr/>
          <p:nvPr/>
        </p:nvSpPr>
        <p:spPr>
          <a:xfrm>
            <a:off x="6812280" y="5577840"/>
            <a:ext cx="4800600" cy="685800"/>
          </a:xfrm>
          <a:prstGeom prst="roundRect">
            <a:avLst>
              <a:gd name="adj" fmla="val 8000"/>
            </a:avLst>
          </a:prstGeom>
          <a:solidFill>
            <a:srgbClr val="E3F3EE"/>
          </a:solidFill>
          <a:ln w="15875">
            <a:solidFill>
              <a:srgbClr val="178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check_178A73.png"/>
          <p:cNvPicPr>
            <a:picLocks noChangeAspect="1"/>
          </p:cNvPicPr>
          <p:nvPr/>
        </p:nvPicPr>
        <p:blipFill>
          <a:blip r:embed="rId5"/>
          <a:stretch>
            <a:fillRect/>
          </a:stretch>
        </p:blipFill>
        <p:spPr>
          <a:xfrm>
            <a:off x="6940296" y="5756148"/>
            <a:ext cx="329184" cy="329184"/>
          </a:xfrm>
          <a:prstGeom prst="rect">
            <a:avLst/>
          </a:prstGeom>
        </p:spPr>
      </p:pic>
      <p:sp>
        <p:nvSpPr>
          <p:cNvPr id="29" name="TextBox 28"/>
          <p:cNvSpPr txBox="1"/>
          <p:nvPr/>
        </p:nvSpPr>
        <p:spPr>
          <a:xfrm>
            <a:off x="7379208" y="5577840"/>
            <a:ext cx="4114800" cy="685800"/>
          </a:xfrm>
          <a:prstGeom prst="rect">
            <a:avLst/>
          </a:prstGeom>
          <a:noFill/>
        </p:spPr>
        <p:txBody>
          <a:bodyPr wrap="square" anchor="ctr" lIns="0" rIns="0" tIns="0" bIns="0">
            <a:spAutoFit/>
          </a:bodyPr>
          <a:lstStyle/>
          <a:p>
            <a:pPr algn="l">
              <a:lnSpc>
                <a:spcPct val="110000"/>
              </a:lnSpc>
              <a:spcAft>
                <a:spcPts val="300"/>
              </a:spcAft>
            </a:pPr>
            <a:r>
              <a:rPr sz="1150" b="0" i="0">
                <a:solidFill>
                  <a:srgbClr val="202A38"/>
                </a:solidFill>
                <a:latin typeface="Times New Roman"/>
              </a:rPr>
              <a:t>A forensic timeline is built exactly from these timestamps.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QUESTION 2 · TASK 2.6</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2.6 — Searching for files: find, which, whereis</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26</a:t>
            </a:r>
          </a:p>
        </p:txBody>
      </p:sp>
      <p:sp>
        <p:nvSpPr>
          <p:cNvPr id="8" name="Rounded Rectangle 7"/>
          <p:cNvSpPr/>
          <p:nvPr/>
        </p:nvSpPr>
        <p:spPr>
          <a:xfrm>
            <a:off x="566928" y="1600200"/>
            <a:ext cx="6400800" cy="3291840"/>
          </a:xfrm>
          <a:prstGeom prst="roundRect">
            <a:avLst>
              <a:gd name="adj" fmla="val 4000"/>
            </a:avLst>
          </a:prstGeom>
          <a:solidFill>
            <a:srgbClr val="142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664208"/>
            <a:ext cx="6126480" cy="228600"/>
          </a:xfrm>
          <a:prstGeom prst="rect">
            <a:avLst/>
          </a:prstGeom>
          <a:noFill/>
        </p:spPr>
        <p:txBody>
          <a:bodyPr wrap="square" anchor="t" lIns="0" rIns="0" tIns="0" bIns="0">
            <a:spAutoFit/>
          </a:bodyPr>
          <a:lstStyle/>
          <a:p>
            <a:pPr algn="l">
              <a:lnSpc>
                <a:spcPct val="110000"/>
              </a:lnSpc>
              <a:spcAft>
                <a:spcPts val="300"/>
              </a:spcAft>
            </a:pPr>
            <a:r>
              <a:rPr sz="1000" b="1" i="0">
                <a:solidFill>
                  <a:srgbClr val="7FD1B9"/>
                </a:solidFill>
                <a:latin typeface="Consolas"/>
              </a:rPr>
              <a:t>Terminal</a:t>
            </a:r>
          </a:p>
        </p:txBody>
      </p:sp>
      <p:sp>
        <p:nvSpPr>
          <p:cNvPr id="10" name="TextBox 9"/>
          <p:cNvSpPr txBox="1"/>
          <p:nvPr/>
        </p:nvSpPr>
        <p:spPr>
          <a:xfrm>
            <a:off x="704088" y="1929384"/>
            <a:ext cx="6126480" cy="2907792"/>
          </a:xfrm>
          <a:prstGeom prst="rect">
            <a:avLst/>
          </a:prstGeom>
          <a:noFill/>
        </p:spPr>
        <p:txBody>
          <a:bodyPr wrap="square" lIns="0" rIns="0" tIns="0" bIns="0">
            <a:spAutoFit/>
          </a:bodyPr>
          <a:lstStyle/>
          <a:p>
            <a:pPr>
              <a:lnSpc>
                <a:spcPct val="100000"/>
              </a:lnSpc>
              <a:spcAft>
                <a:spcPts val="100"/>
              </a:spcAft>
            </a:pPr>
            <a:r>
              <a:rPr sz="1150" b="1">
                <a:solidFill>
                  <a:srgbClr val="E6EDF5"/>
                </a:solidFill>
                <a:latin typeface="Consolas"/>
              </a:rPr>
              <a:t>$ find ~/lab2 -name "*.txt"         </a:t>
            </a:r>
            <a:r>
              <a:rPr sz="1050">
                <a:solidFill>
                  <a:srgbClr val="7FD1B9"/>
                </a:solidFill>
                <a:latin typeface="Consolas"/>
              </a:rPr>
              <a:t> # by name</a:t>
            </a:r>
          </a:p>
          <a:p>
            <a:pPr>
              <a:lnSpc>
                <a:spcPct val="100000"/>
              </a:lnSpc>
              <a:spcAft>
                <a:spcPts val="100"/>
              </a:spcAft>
            </a:pPr>
            <a:r>
              <a:rPr sz="1150" b="1">
                <a:solidFill>
                  <a:srgbClr val="E6EDF5"/>
                </a:solidFill>
                <a:latin typeface="Consolas"/>
              </a:rPr>
              <a:t>$ find ~/lab2 -iname "NOTE*"        </a:t>
            </a:r>
            <a:r>
              <a:rPr sz="1050">
                <a:solidFill>
                  <a:srgbClr val="7FD1B9"/>
                </a:solidFill>
                <a:latin typeface="Consolas"/>
              </a:rPr>
              <a:t> # case-insensitive</a:t>
            </a:r>
          </a:p>
          <a:p>
            <a:pPr>
              <a:lnSpc>
                <a:spcPct val="100000"/>
              </a:lnSpc>
              <a:spcAft>
                <a:spcPts val="100"/>
              </a:spcAft>
            </a:pPr>
            <a:r>
              <a:rPr sz="1150" b="1">
                <a:solidFill>
                  <a:srgbClr val="E6EDF5"/>
                </a:solidFill>
                <a:latin typeface="Consolas"/>
              </a:rPr>
              <a:t>$ find ~/lab2 -type d               </a:t>
            </a:r>
            <a:r>
              <a:rPr sz="1050">
                <a:solidFill>
                  <a:srgbClr val="7FD1B9"/>
                </a:solidFill>
                <a:latin typeface="Consolas"/>
              </a:rPr>
              <a:t> # directories only</a:t>
            </a:r>
          </a:p>
          <a:p>
            <a:pPr>
              <a:lnSpc>
                <a:spcPct val="100000"/>
              </a:lnSpc>
              <a:spcAft>
                <a:spcPts val="100"/>
              </a:spcAft>
            </a:pPr>
            <a:r>
              <a:rPr sz="1150" b="1">
                <a:solidFill>
                  <a:srgbClr val="E6EDF5"/>
                </a:solidFill>
                <a:latin typeface="Consolas"/>
              </a:rPr>
              <a:t>$ find /usr/share -name "rockyou*"  </a:t>
            </a:r>
            <a:r>
              <a:rPr sz="1050">
                <a:solidFill>
                  <a:srgbClr val="7FD1B9"/>
                </a:solidFill>
                <a:latin typeface="Consolas"/>
              </a:rPr>
              <a:t> # the password list</a:t>
            </a:r>
          </a:p>
          <a:p>
            <a:pPr>
              <a:lnSpc>
                <a:spcPct val="100000"/>
              </a:lnSpc>
              <a:spcAft>
                <a:spcPts val="100"/>
              </a:spcAft>
            </a:pPr>
            <a:r>
              <a:rPr sz="1150" b="1">
                <a:solidFill>
                  <a:srgbClr val="E6EDF5"/>
                </a:solidFill>
                <a:latin typeface="Consolas"/>
              </a:rPr>
              <a:t>$ find /usr/bin -size +5M           </a:t>
            </a:r>
            <a:r>
              <a:rPr sz="1050">
                <a:solidFill>
                  <a:srgbClr val="7FD1B9"/>
                </a:solidFill>
                <a:latin typeface="Consolas"/>
              </a:rPr>
              <a:t> # larger than 5 MB</a:t>
            </a:r>
          </a:p>
          <a:p>
            <a:pPr>
              <a:lnSpc>
                <a:spcPct val="100000"/>
              </a:lnSpc>
              <a:spcAft>
                <a:spcPts val="100"/>
              </a:spcAft>
            </a:pPr>
            <a:r>
              <a:rPr sz="1150" b="1">
                <a:solidFill>
                  <a:srgbClr val="E6EDF5"/>
                </a:solidFill>
                <a:latin typeface="Consolas"/>
              </a:rPr>
              <a:t>$ find ~ -mmin -30                  </a:t>
            </a:r>
            <a:r>
              <a:rPr sz="1050">
                <a:solidFill>
                  <a:srgbClr val="7FD1B9"/>
                </a:solidFill>
                <a:latin typeface="Consolas"/>
              </a:rPr>
              <a:t> # in the last 30 min</a:t>
            </a:r>
          </a:p>
          <a:p>
            <a:pPr>
              <a:lnSpc>
                <a:spcPct val="100000"/>
              </a:lnSpc>
              <a:spcAft>
                <a:spcPts val="100"/>
              </a:spcAft>
            </a:pPr>
            <a:r>
              <a:rPr sz="1150" b="1">
                <a:solidFill>
                  <a:srgbClr val="E6EDF5"/>
                </a:solidFill>
                <a:latin typeface="Consolas"/>
              </a:rPr>
              <a:t>$ find /etc -name "*.conf"          </a:t>
            </a:r>
            <a:r>
              <a:rPr sz="1050">
                <a:solidFill>
                  <a:srgbClr val="7FD1B9"/>
                </a:solidFill>
                <a:latin typeface="Consolas"/>
              </a:rPr>
              <a:t> # Permission denied?</a:t>
            </a:r>
          </a:p>
          <a:p>
            <a:pPr>
              <a:lnSpc>
                <a:spcPct val="100000"/>
              </a:lnSpc>
              <a:spcAft>
                <a:spcPts val="100"/>
              </a:spcAft>
            </a:pPr>
            <a:r>
              <a:rPr sz="1150" b="1">
                <a:solidFill>
                  <a:srgbClr val="E6EDF5"/>
                </a:solidFill>
                <a:latin typeface="Consolas"/>
              </a:rPr>
              <a:t>$ which nmap                        </a:t>
            </a:r>
            <a:r>
              <a:rPr sz="1050">
                <a:solidFill>
                  <a:srgbClr val="7FD1B9"/>
                </a:solidFill>
                <a:latin typeface="Consolas"/>
              </a:rPr>
              <a:t> # /usr/bin/nmap</a:t>
            </a:r>
          </a:p>
          <a:p>
            <a:pPr>
              <a:lnSpc>
                <a:spcPct val="100000"/>
              </a:lnSpc>
              <a:spcAft>
                <a:spcPts val="100"/>
              </a:spcAft>
            </a:pPr>
            <a:r>
              <a:rPr sz="1150" b="1">
                <a:solidFill>
                  <a:srgbClr val="E6EDF5"/>
                </a:solidFill>
                <a:latin typeface="Consolas"/>
              </a:rPr>
              <a:t>$ whereis ls</a:t>
            </a:r>
          </a:p>
        </p:txBody>
      </p:sp>
      <p:sp>
        <p:nvSpPr>
          <p:cNvPr id="11" name="TextBox 10"/>
          <p:cNvSpPr txBox="1"/>
          <p:nvPr/>
        </p:nvSpPr>
        <p:spPr>
          <a:xfrm>
            <a:off x="566928" y="5029200"/>
            <a:ext cx="640080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1F3864"/>
                </a:solidFill>
                <a:latin typeface="Times New Roman"/>
              </a:rPr>
              <a:t>find syntax</a:t>
            </a:r>
          </a:p>
        </p:txBody>
      </p:sp>
      <p:sp>
        <p:nvSpPr>
          <p:cNvPr id="12" name="Rounded Rectangle 11"/>
          <p:cNvSpPr/>
          <p:nvPr/>
        </p:nvSpPr>
        <p:spPr>
          <a:xfrm>
            <a:off x="566928" y="5349240"/>
            <a:ext cx="841248" cy="457200"/>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i="0">
                <a:solidFill>
                  <a:srgbClr val="FFFFFF"/>
                </a:solidFill>
                <a:latin typeface="Times New Roman"/>
              </a:rPr>
              <a:t>find</a:t>
            </a:r>
          </a:p>
        </p:txBody>
      </p:sp>
      <p:sp>
        <p:nvSpPr>
          <p:cNvPr id="13" name="TextBox 12"/>
          <p:cNvSpPr txBox="1"/>
          <p:nvPr/>
        </p:nvSpPr>
        <p:spPr>
          <a:xfrm>
            <a:off x="566928" y="5852160"/>
            <a:ext cx="841248" cy="274320"/>
          </a:xfrm>
          <a:prstGeom prst="rect">
            <a:avLst/>
          </a:prstGeom>
          <a:noFill/>
        </p:spPr>
        <p:txBody>
          <a:bodyPr wrap="square" anchor="t" lIns="0" rIns="0" tIns="0" bIns="0">
            <a:spAutoFit/>
          </a:bodyPr>
          <a:lstStyle/>
          <a:p>
            <a:pPr algn="ctr">
              <a:lnSpc>
                <a:spcPct val="110000"/>
              </a:lnSpc>
              <a:spcAft>
                <a:spcPts val="300"/>
              </a:spcAft>
            </a:pPr>
            <a:r>
              <a:rPr sz="1100" b="0" i="1">
                <a:solidFill>
                  <a:srgbClr val="54647A"/>
                </a:solidFill>
                <a:latin typeface="Times New Roman"/>
              </a:rPr>
              <a:t>command</a:t>
            </a:r>
          </a:p>
        </p:txBody>
      </p:sp>
      <p:sp>
        <p:nvSpPr>
          <p:cNvPr id="14" name="Rounded Rectangle 13"/>
          <p:cNvSpPr/>
          <p:nvPr/>
        </p:nvSpPr>
        <p:spPr>
          <a:xfrm>
            <a:off x="1481328" y="5349240"/>
            <a:ext cx="1298448" cy="457200"/>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i="0">
                <a:solidFill>
                  <a:srgbClr val="FFFFFF"/>
                </a:solidFill>
                <a:latin typeface="Times New Roman"/>
              </a:rPr>
              <a:t>~/lab2</a:t>
            </a:r>
          </a:p>
        </p:txBody>
      </p:sp>
      <p:sp>
        <p:nvSpPr>
          <p:cNvPr id="15" name="TextBox 14"/>
          <p:cNvSpPr txBox="1"/>
          <p:nvPr/>
        </p:nvSpPr>
        <p:spPr>
          <a:xfrm>
            <a:off x="1481328" y="5852160"/>
            <a:ext cx="1298448" cy="274320"/>
          </a:xfrm>
          <a:prstGeom prst="rect">
            <a:avLst/>
          </a:prstGeom>
          <a:noFill/>
        </p:spPr>
        <p:txBody>
          <a:bodyPr wrap="square" anchor="t" lIns="0" rIns="0" tIns="0" bIns="0">
            <a:spAutoFit/>
          </a:bodyPr>
          <a:lstStyle/>
          <a:p>
            <a:pPr algn="ctr">
              <a:lnSpc>
                <a:spcPct val="110000"/>
              </a:lnSpc>
              <a:spcAft>
                <a:spcPts val="300"/>
              </a:spcAft>
            </a:pPr>
            <a:r>
              <a:rPr sz="1100" b="0" i="1">
                <a:solidFill>
                  <a:srgbClr val="54647A"/>
                </a:solidFill>
                <a:latin typeface="Times New Roman"/>
              </a:rPr>
              <a:t>where from</a:t>
            </a:r>
          </a:p>
        </p:txBody>
      </p:sp>
      <p:sp>
        <p:nvSpPr>
          <p:cNvPr id="16" name="Rounded Rectangle 15"/>
          <p:cNvSpPr/>
          <p:nvPr/>
        </p:nvSpPr>
        <p:spPr>
          <a:xfrm>
            <a:off x="2852928" y="5349240"/>
            <a:ext cx="1024127" cy="457200"/>
          </a:xfrm>
          <a:prstGeom prst="roundRect">
            <a:avLst>
              <a:gd name="adj" fmla="val 12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i="0">
                <a:solidFill>
                  <a:srgbClr val="FFFFFF"/>
                </a:solidFill>
                <a:latin typeface="Times New Roman"/>
              </a:rPr>
              <a:t>-name</a:t>
            </a:r>
          </a:p>
        </p:txBody>
      </p:sp>
      <p:sp>
        <p:nvSpPr>
          <p:cNvPr id="17" name="TextBox 16"/>
          <p:cNvSpPr txBox="1"/>
          <p:nvPr/>
        </p:nvSpPr>
        <p:spPr>
          <a:xfrm>
            <a:off x="2852928" y="5852160"/>
            <a:ext cx="1024127" cy="274320"/>
          </a:xfrm>
          <a:prstGeom prst="rect">
            <a:avLst/>
          </a:prstGeom>
          <a:noFill/>
        </p:spPr>
        <p:txBody>
          <a:bodyPr wrap="square" anchor="t" lIns="0" rIns="0" tIns="0" bIns="0">
            <a:spAutoFit/>
          </a:bodyPr>
          <a:lstStyle/>
          <a:p>
            <a:pPr algn="ctr">
              <a:lnSpc>
                <a:spcPct val="110000"/>
              </a:lnSpc>
              <a:spcAft>
                <a:spcPts val="300"/>
              </a:spcAft>
            </a:pPr>
            <a:r>
              <a:rPr sz="1100" b="0" i="1">
                <a:solidFill>
                  <a:srgbClr val="54647A"/>
                </a:solidFill>
                <a:latin typeface="Times New Roman"/>
              </a:rPr>
              <a:t>condition</a:t>
            </a:r>
          </a:p>
        </p:txBody>
      </p:sp>
      <p:sp>
        <p:nvSpPr>
          <p:cNvPr id="18" name="Rounded Rectangle 17"/>
          <p:cNvSpPr/>
          <p:nvPr/>
        </p:nvSpPr>
        <p:spPr>
          <a:xfrm>
            <a:off x="3950208" y="5349240"/>
            <a:ext cx="1207007" cy="457200"/>
          </a:xfrm>
          <a:prstGeom prst="roundRect">
            <a:avLst>
              <a:gd name="adj" fmla="val 12000"/>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i="0">
                <a:solidFill>
                  <a:srgbClr val="FFFFFF"/>
                </a:solidFill>
                <a:latin typeface="Times New Roman"/>
              </a:rPr>
              <a:t>“*.txt”</a:t>
            </a:r>
          </a:p>
        </p:txBody>
      </p:sp>
      <p:sp>
        <p:nvSpPr>
          <p:cNvPr id="19" name="TextBox 18"/>
          <p:cNvSpPr txBox="1"/>
          <p:nvPr/>
        </p:nvSpPr>
        <p:spPr>
          <a:xfrm>
            <a:off x="3950208" y="5852160"/>
            <a:ext cx="1207007" cy="274320"/>
          </a:xfrm>
          <a:prstGeom prst="rect">
            <a:avLst/>
          </a:prstGeom>
          <a:noFill/>
        </p:spPr>
        <p:txBody>
          <a:bodyPr wrap="square" anchor="t" lIns="0" rIns="0" tIns="0" bIns="0">
            <a:spAutoFit/>
          </a:bodyPr>
          <a:lstStyle/>
          <a:p>
            <a:pPr algn="ctr">
              <a:lnSpc>
                <a:spcPct val="110000"/>
              </a:lnSpc>
              <a:spcAft>
                <a:spcPts val="300"/>
              </a:spcAft>
            </a:pPr>
            <a:r>
              <a:rPr sz="1100" b="0" i="1">
                <a:solidFill>
                  <a:srgbClr val="54647A"/>
                </a:solidFill>
                <a:latin typeface="Times New Roman"/>
              </a:rPr>
              <a:t>value</a:t>
            </a:r>
          </a:p>
        </p:txBody>
      </p:sp>
      <p:graphicFrame>
        <p:nvGraphicFramePr>
          <p:cNvPr id="20" name="Table 19"/>
          <p:cNvGraphicFramePr>
            <a:graphicFrameLocks noGrp="1"/>
          </p:cNvGraphicFramePr>
          <p:nvPr/>
        </p:nvGraphicFramePr>
        <p:xfrm>
          <a:off x="7178040" y="1600200"/>
          <a:ext cx="4434840" cy="3072384"/>
        </p:xfrm>
        <a:graphic>
          <a:graphicData uri="http://schemas.openxmlformats.org/drawingml/2006/table">
            <a:tbl>
              <a:tblPr firstRow="1" bandRow="1">
                <a:tableStyleId>{5940675A-B579-460E-94D1-54222C63F5DA}</a:tableStyleId>
              </a:tblPr>
              <a:tblGrid>
                <a:gridCol w="2011680"/>
                <a:gridCol w="2423160"/>
              </a:tblGrid>
              <a:tr h="384048">
                <a:tc>
                  <a:txBody>
                    <a:bodyPr wrap="square"/>
                    <a:lstStyle/>
                    <a:p>
                      <a:pPr algn="l"/>
                      <a:r>
                        <a:rPr sz="1200" b="1" i="0">
                          <a:solidFill>
                            <a:srgbClr val="FFFFFF"/>
                          </a:solidFill>
                          <a:latin typeface="Times New Roman"/>
                        </a:rPr>
                        <a:t>Condition</a:t>
                      </a:r>
                    </a:p>
                  </a:txBody>
                  <a:tcPr marL="63500" marR="63500" marT="25400" marB="25400" anchor="ctr">
                    <a:solidFill>
                      <a:srgbClr val="1F3864"/>
                    </a:solidFill>
                  </a:tcPr>
                </a:tc>
                <a:tc>
                  <a:txBody>
                    <a:bodyPr wrap="square"/>
                    <a:lstStyle/>
                    <a:p>
                      <a:pPr algn="l"/>
                      <a:r>
                        <a:rPr sz="1200" b="1" i="0">
                          <a:solidFill>
                            <a:srgbClr val="FFFFFF"/>
                          </a:solidFill>
                          <a:latin typeface="Times New Roman"/>
                        </a:rPr>
                        <a:t>Meaning</a:t>
                      </a:r>
                    </a:p>
                  </a:txBody>
                  <a:tcPr marL="63500" marR="63500" marT="25400" marB="25400" anchor="ctr">
                    <a:solidFill>
                      <a:srgbClr val="1F3864"/>
                    </a:solidFill>
                  </a:tcPr>
                </a:tc>
              </a:tr>
              <a:tr h="384048">
                <a:tc>
                  <a:txBody>
                    <a:bodyPr wrap="square"/>
                    <a:lstStyle/>
                    <a:p>
                      <a:pPr algn="l"/>
                      <a:r>
                        <a:rPr sz="1100" b="1" i="0">
                          <a:solidFill>
                            <a:srgbClr val="178A73"/>
                          </a:solidFill>
                          <a:latin typeface="Consolas"/>
                        </a:rPr>
                        <a:t>-name</a:t>
                      </a:r>
                      <a:r>
                        <a:rPr sz="1150" b="1" i="0">
                          <a:solidFill>
                            <a:srgbClr val="202A38"/>
                          </a:solidFill>
                          <a:latin typeface="Times New Roman"/>
                        </a:rPr>
                        <a:t> / </a:t>
                      </a:r>
                      <a:r>
                        <a:rPr sz="1100" b="1" i="0">
                          <a:solidFill>
                            <a:srgbClr val="178A73"/>
                          </a:solidFill>
                          <a:latin typeface="Consolas"/>
                        </a:rPr>
                        <a:t>-iname</a:t>
                      </a:r>
                    </a:p>
                  </a:txBody>
                  <a:tcPr marL="63500" marR="63500" marT="25400" marB="25400" anchor="ctr">
                    <a:solidFill>
                      <a:srgbClr val="FFFFFF"/>
                    </a:solidFill>
                  </a:tcPr>
                </a:tc>
                <a:tc>
                  <a:txBody>
                    <a:bodyPr wrap="square"/>
                    <a:lstStyle/>
                    <a:p>
                      <a:pPr algn="l"/>
                      <a:r>
                        <a:rPr sz="1150" b="0" i="0">
                          <a:solidFill>
                            <a:srgbClr val="202A38"/>
                          </a:solidFill>
                          <a:latin typeface="Times New Roman"/>
                        </a:rPr>
                        <a:t>name (case-sens / insens)</a:t>
                      </a:r>
                    </a:p>
                  </a:txBody>
                  <a:tcPr marL="63500" marR="63500" marT="25400" marB="25400" anchor="ctr">
                    <a:solidFill>
                      <a:srgbClr val="FFFFFF"/>
                    </a:solidFill>
                  </a:tcPr>
                </a:tc>
              </a:tr>
              <a:tr h="384048">
                <a:tc>
                  <a:txBody>
                    <a:bodyPr wrap="square"/>
                    <a:lstStyle/>
                    <a:p>
                      <a:pPr algn="l"/>
                      <a:r>
                        <a:rPr sz="1100" b="1" i="0">
                          <a:solidFill>
                            <a:srgbClr val="178A73"/>
                          </a:solidFill>
                          <a:latin typeface="Consolas"/>
                        </a:rPr>
                        <a:t>-type f|d|l</a:t>
                      </a:r>
                    </a:p>
                  </a:txBody>
                  <a:tcPr marL="63500" marR="63500" marT="25400" marB="25400" anchor="ctr">
                    <a:solidFill>
                      <a:srgbClr val="F5F8FC"/>
                    </a:solidFill>
                  </a:tcPr>
                </a:tc>
                <a:tc>
                  <a:txBody>
                    <a:bodyPr wrap="square"/>
                    <a:lstStyle/>
                    <a:p>
                      <a:pPr algn="l"/>
                      <a:r>
                        <a:rPr sz="1150" b="0" i="0">
                          <a:solidFill>
                            <a:srgbClr val="202A38"/>
                          </a:solidFill>
                          <a:latin typeface="Times New Roman"/>
                        </a:rPr>
                        <a:t>file / directory / link</a:t>
                      </a:r>
                    </a:p>
                  </a:txBody>
                  <a:tcPr marL="63500" marR="63500" marT="25400" marB="25400" anchor="ctr">
                    <a:solidFill>
                      <a:srgbClr val="F5F8FC"/>
                    </a:solidFill>
                  </a:tcPr>
                </a:tc>
              </a:tr>
              <a:tr h="384048">
                <a:tc>
                  <a:txBody>
                    <a:bodyPr wrap="square"/>
                    <a:lstStyle/>
                    <a:p>
                      <a:pPr algn="l"/>
                      <a:r>
                        <a:rPr sz="1100" b="1" i="0">
                          <a:solidFill>
                            <a:srgbClr val="178A73"/>
                          </a:solidFill>
                          <a:latin typeface="Consolas"/>
                        </a:rPr>
                        <a:t>-size +100M</a:t>
                      </a:r>
                    </a:p>
                  </a:txBody>
                  <a:tcPr marL="63500" marR="63500" marT="25400" marB="25400" anchor="ctr">
                    <a:solidFill>
                      <a:srgbClr val="FFFFFF"/>
                    </a:solidFill>
                  </a:tcPr>
                </a:tc>
                <a:tc>
                  <a:txBody>
                    <a:bodyPr wrap="square"/>
                    <a:lstStyle/>
                    <a:p>
                      <a:pPr algn="l"/>
                      <a:r>
                        <a:rPr sz="1150" b="0" i="0">
                          <a:solidFill>
                            <a:srgbClr val="202A38"/>
                          </a:solidFill>
                          <a:latin typeface="Times New Roman"/>
                        </a:rPr>
                        <a:t>size: </a:t>
                      </a:r>
                      <a:r>
                        <a:rPr sz="1100" b="1" i="0">
                          <a:solidFill>
                            <a:srgbClr val="178A73"/>
                          </a:solidFill>
                          <a:latin typeface="Consolas"/>
                        </a:rPr>
                        <a:t>+</a:t>
                      </a:r>
                      <a:r>
                        <a:rPr sz="1150" b="0" i="0">
                          <a:solidFill>
                            <a:srgbClr val="202A38"/>
                          </a:solidFill>
                          <a:latin typeface="Times New Roman"/>
                        </a:rPr>
                        <a:t> larger, </a:t>
                      </a:r>
                      <a:r>
                        <a:rPr sz="1100" b="1" i="0">
                          <a:solidFill>
                            <a:srgbClr val="178A73"/>
                          </a:solidFill>
                          <a:latin typeface="Consolas"/>
                        </a:rPr>
                        <a:t>-</a:t>
                      </a:r>
                      <a:r>
                        <a:rPr sz="1150" b="0" i="0">
                          <a:solidFill>
                            <a:srgbClr val="202A38"/>
                          </a:solidFill>
                          <a:latin typeface="Times New Roman"/>
                        </a:rPr>
                        <a:t> smaller</a:t>
                      </a:r>
                    </a:p>
                  </a:txBody>
                  <a:tcPr marL="63500" marR="63500" marT="25400" marB="25400" anchor="ctr">
                    <a:solidFill>
                      <a:srgbClr val="FFFFFF"/>
                    </a:solidFill>
                  </a:tcPr>
                </a:tc>
              </a:tr>
              <a:tr h="384048">
                <a:tc>
                  <a:txBody>
                    <a:bodyPr wrap="square"/>
                    <a:lstStyle/>
                    <a:p>
                      <a:pPr algn="l"/>
                      <a:r>
                        <a:rPr sz="1100" b="1" i="0">
                          <a:solidFill>
                            <a:srgbClr val="178A73"/>
                          </a:solidFill>
                          <a:latin typeface="Consolas"/>
                        </a:rPr>
                        <a:t>-mmin -60</a:t>
                      </a:r>
                    </a:p>
                  </a:txBody>
                  <a:tcPr marL="63500" marR="63500" marT="25400" marB="25400" anchor="ctr">
                    <a:solidFill>
                      <a:srgbClr val="F5F8FC"/>
                    </a:solidFill>
                  </a:tcPr>
                </a:tc>
                <a:tc>
                  <a:txBody>
                    <a:bodyPr wrap="square"/>
                    <a:lstStyle/>
                    <a:p>
                      <a:pPr algn="l"/>
                      <a:r>
                        <a:rPr sz="1150" b="0" i="0">
                          <a:solidFill>
                            <a:srgbClr val="202A38"/>
                          </a:solidFill>
                          <a:latin typeface="Times New Roman"/>
                        </a:rPr>
                        <a:t>changed in last 60 min</a:t>
                      </a:r>
                    </a:p>
                  </a:txBody>
                  <a:tcPr marL="63500" marR="63500" marT="25400" marB="25400" anchor="ctr">
                    <a:solidFill>
                      <a:srgbClr val="F5F8FC"/>
                    </a:solidFill>
                  </a:tcPr>
                </a:tc>
              </a:tr>
              <a:tr h="384048">
                <a:tc>
                  <a:txBody>
                    <a:bodyPr wrap="square"/>
                    <a:lstStyle/>
                    <a:p>
                      <a:pPr algn="l"/>
                      <a:r>
                        <a:rPr sz="1100" b="1" i="0">
                          <a:solidFill>
                            <a:srgbClr val="178A73"/>
                          </a:solidFill>
                          <a:latin typeface="Consolas"/>
                        </a:rPr>
                        <a:t>-mtime -1</a:t>
                      </a:r>
                    </a:p>
                  </a:txBody>
                  <a:tcPr marL="63500" marR="63500" marT="25400" marB="25400" anchor="ctr">
                    <a:solidFill>
                      <a:srgbClr val="FFFFFF"/>
                    </a:solidFill>
                  </a:tcPr>
                </a:tc>
                <a:tc>
                  <a:txBody>
                    <a:bodyPr wrap="square"/>
                    <a:lstStyle/>
                    <a:p>
                      <a:pPr algn="l"/>
                      <a:r>
                        <a:rPr sz="1150" b="0" i="0">
                          <a:solidFill>
                            <a:srgbClr val="202A38"/>
                          </a:solidFill>
                          <a:latin typeface="Times New Roman"/>
                        </a:rPr>
                        <a:t>in the last 24 hours</a:t>
                      </a:r>
                    </a:p>
                  </a:txBody>
                  <a:tcPr marL="63500" marR="63500" marT="25400" marB="25400" anchor="ctr">
                    <a:solidFill>
                      <a:srgbClr val="FFFFFF"/>
                    </a:solidFill>
                  </a:tcPr>
                </a:tc>
              </a:tr>
              <a:tr h="384048">
                <a:tc>
                  <a:txBody>
                    <a:bodyPr wrap="square"/>
                    <a:lstStyle/>
                    <a:p>
                      <a:pPr algn="l"/>
                      <a:r>
                        <a:rPr sz="1100" b="1" i="0">
                          <a:solidFill>
                            <a:srgbClr val="178A73"/>
                          </a:solidFill>
                          <a:latin typeface="Consolas"/>
                        </a:rPr>
                        <a:t>-newer file</a:t>
                      </a:r>
                    </a:p>
                  </a:txBody>
                  <a:tcPr marL="63500" marR="63500" marT="25400" marB="25400" anchor="ctr">
                    <a:solidFill>
                      <a:srgbClr val="F5F8FC"/>
                    </a:solidFill>
                  </a:tcPr>
                </a:tc>
                <a:tc>
                  <a:txBody>
                    <a:bodyPr wrap="square"/>
                    <a:lstStyle/>
                    <a:p>
                      <a:pPr algn="l"/>
                      <a:r>
                        <a:rPr sz="1150" b="0" i="0">
                          <a:solidFill>
                            <a:srgbClr val="202A38"/>
                          </a:solidFill>
                          <a:latin typeface="Times New Roman"/>
                        </a:rPr>
                        <a:t>newer than that file</a:t>
                      </a:r>
                    </a:p>
                  </a:txBody>
                  <a:tcPr marL="63500" marR="63500" marT="25400" marB="25400" anchor="ctr">
                    <a:solidFill>
                      <a:srgbClr val="F5F8FC"/>
                    </a:solidFill>
                  </a:tcPr>
                </a:tc>
              </a:tr>
              <a:tr h="384048">
                <a:tc>
                  <a:txBody>
                    <a:bodyPr wrap="square"/>
                    <a:lstStyle/>
                    <a:p>
                      <a:pPr algn="l"/>
                      <a:r>
                        <a:rPr sz="1100" b="1" i="0">
                          <a:solidFill>
                            <a:srgbClr val="178A73"/>
                          </a:solidFill>
                          <a:latin typeface="Consolas"/>
                        </a:rPr>
                        <a:t>-empty</a:t>
                      </a:r>
                    </a:p>
                  </a:txBody>
                  <a:tcPr marL="63500" marR="63500" marT="25400" marB="25400" anchor="ctr">
                    <a:solidFill>
                      <a:srgbClr val="FFFFFF"/>
                    </a:solidFill>
                  </a:tcPr>
                </a:tc>
                <a:tc>
                  <a:txBody>
                    <a:bodyPr wrap="square"/>
                    <a:lstStyle/>
                    <a:p>
                      <a:pPr algn="l"/>
                      <a:r>
                        <a:rPr sz="1150" b="0" i="0">
                          <a:solidFill>
                            <a:srgbClr val="202A38"/>
                          </a:solidFill>
                          <a:latin typeface="Times New Roman"/>
                        </a:rPr>
                        <a:t>empty file/directory</a:t>
                      </a:r>
                    </a:p>
                  </a:txBody>
                  <a:tcPr marL="63500" marR="63500" marT="25400" marB="25400" anchor="ctr">
                    <a:solidFill>
                      <a:srgbClr val="FFFFFF"/>
                    </a:solidFill>
                  </a:tcPr>
                </a:tc>
              </a:tr>
            </a:tbl>
          </a:graphicData>
        </a:graphic>
      </p:graphicFrame>
      <p:sp>
        <p:nvSpPr>
          <p:cNvPr id="21" name="Rounded Rectangle 20"/>
          <p:cNvSpPr/>
          <p:nvPr/>
        </p:nvSpPr>
        <p:spPr>
          <a:xfrm>
            <a:off x="7178040" y="4800600"/>
            <a:ext cx="4434840" cy="777240"/>
          </a:xfrm>
          <a:prstGeom prst="roundRect">
            <a:avLst>
              <a:gd name="adj" fmla="val 8000"/>
            </a:avLst>
          </a:prstGeom>
          <a:solidFill>
            <a:srgbClr val="E3F3EE"/>
          </a:solidFill>
          <a:ln w="15875">
            <a:solidFill>
              <a:srgbClr val="178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heck_178A73.png"/>
          <p:cNvPicPr>
            <a:picLocks noChangeAspect="1"/>
          </p:cNvPicPr>
          <p:nvPr/>
        </p:nvPicPr>
        <p:blipFill>
          <a:blip r:embed="rId3"/>
          <a:stretch>
            <a:fillRect/>
          </a:stretch>
        </p:blipFill>
        <p:spPr>
          <a:xfrm>
            <a:off x="7306056" y="5024628"/>
            <a:ext cx="329184" cy="329184"/>
          </a:xfrm>
          <a:prstGeom prst="rect">
            <a:avLst/>
          </a:prstGeom>
        </p:spPr>
      </p:pic>
      <p:sp>
        <p:nvSpPr>
          <p:cNvPr id="23" name="TextBox 22"/>
          <p:cNvSpPr txBox="1"/>
          <p:nvPr/>
        </p:nvSpPr>
        <p:spPr>
          <a:xfrm>
            <a:off x="7744968" y="4800600"/>
            <a:ext cx="3749040" cy="777240"/>
          </a:xfrm>
          <a:prstGeom prst="rect">
            <a:avLst/>
          </a:prstGeom>
          <a:noFill/>
        </p:spPr>
        <p:txBody>
          <a:bodyPr wrap="square" anchor="ctr" lIns="0" rIns="0" tIns="0" bIns="0">
            <a:spAutoFit/>
          </a:bodyPr>
          <a:lstStyle/>
          <a:p>
            <a:pPr algn="l">
              <a:lnSpc>
                <a:spcPct val="110000"/>
              </a:lnSpc>
              <a:spcAft>
                <a:spcPts val="300"/>
              </a:spcAft>
            </a:pPr>
            <a:r>
              <a:rPr sz="1150" b="0" i="0">
                <a:solidFill>
                  <a:srgbClr val="202A38"/>
                </a:solidFill>
                <a:latin typeface="Times New Roman"/>
              </a:rPr>
              <a:t>First IR question: “what changed in the last hour?” → </a:t>
            </a:r>
            <a:r>
              <a:rPr sz="1100" b="1" i="0">
                <a:solidFill>
                  <a:srgbClr val="178A73"/>
                </a:solidFill>
                <a:latin typeface="Consolas"/>
              </a:rPr>
              <a:t>find / -mmin -60</a:t>
            </a:r>
          </a:p>
        </p:txBody>
      </p:sp>
      <p:sp>
        <p:nvSpPr>
          <p:cNvPr id="24" name="Rounded Rectangle 23"/>
          <p:cNvSpPr/>
          <p:nvPr/>
        </p:nvSpPr>
        <p:spPr>
          <a:xfrm>
            <a:off x="7178040" y="5669280"/>
            <a:ext cx="4434840" cy="621792"/>
          </a:xfrm>
          <a:prstGeom prst="roundRect">
            <a:avLst>
              <a:gd name="adj" fmla="val 8000"/>
            </a:avLst>
          </a:prstGeom>
          <a:solidFill>
            <a:srgbClr val="F5F8FC"/>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earch_1F3864.png"/>
          <p:cNvPicPr>
            <a:picLocks noChangeAspect="1"/>
          </p:cNvPicPr>
          <p:nvPr/>
        </p:nvPicPr>
        <p:blipFill>
          <a:blip r:embed="rId4"/>
          <a:stretch>
            <a:fillRect/>
          </a:stretch>
        </p:blipFill>
        <p:spPr>
          <a:xfrm>
            <a:off x="7306056" y="5815584"/>
            <a:ext cx="329184" cy="329184"/>
          </a:xfrm>
          <a:prstGeom prst="rect">
            <a:avLst/>
          </a:prstGeom>
        </p:spPr>
      </p:pic>
      <p:sp>
        <p:nvSpPr>
          <p:cNvPr id="26" name="TextBox 25"/>
          <p:cNvSpPr txBox="1"/>
          <p:nvPr/>
        </p:nvSpPr>
        <p:spPr>
          <a:xfrm>
            <a:off x="7744968" y="5669280"/>
            <a:ext cx="3749040" cy="621792"/>
          </a:xfrm>
          <a:prstGeom prst="rect">
            <a:avLst/>
          </a:prstGeom>
          <a:noFill/>
        </p:spPr>
        <p:txBody>
          <a:bodyPr wrap="square" anchor="ctr" lIns="0" rIns="0" tIns="0" bIns="0">
            <a:spAutoFit/>
          </a:bodyPr>
          <a:lstStyle/>
          <a:p>
            <a:pPr algn="l">
              <a:lnSpc>
                <a:spcPct val="110000"/>
              </a:lnSpc>
              <a:spcAft>
                <a:spcPts val="300"/>
              </a:spcAft>
            </a:pPr>
            <a:r>
              <a:rPr sz="1100" b="1" i="0">
                <a:solidFill>
                  <a:srgbClr val="178A73"/>
                </a:solidFill>
                <a:latin typeface="Consolas"/>
              </a:rPr>
              <a:t>Permission denied</a:t>
            </a:r>
            <a:r>
              <a:rPr sz="1150" b="0" i="0">
                <a:solidFill>
                  <a:srgbClr val="202A38"/>
                </a:solidFill>
                <a:latin typeface="Times New Roman"/>
              </a:rPr>
              <a:t> — the reason in Lesson 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QUESTION 2 · TASK 2.7</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2.7 — Links: symbolic (ln -s) and hard (ln)</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27</a:t>
            </a:r>
          </a:p>
        </p:txBody>
      </p:sp>
      <p:sp>
        <p:nvSpPr>
          <p:cNvPr id="8" name="Rounded Rectangle 7"/>
          <p:cNvSpPr/>
          <p:nvPr/>
        </p:nvSpPr>
        <p:spPr>
          <a:xfrm>
            <a:off x="566928" y="1600200"/>
            <a:ext cx="5669280" cy="2971800"/>
          </a:xfrm>
          <a:prstGeom prst="roundRect">
            <a:avLst>
              <a:gd name="adj" fmla="val 4000"/>
            </a:avLst>
          </a:prstGeom>
          <a:solidFill>
            <a:srgbClr val="142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664208"/>
            <a:ext cx="5394960" cy="228600"/>
          </a:xfrm>
          <a:prstGeom prst="rect">
            <a:avLst/>
          </a:prstGeom>
          <a:noFill/>
        </p:spPr>
        <p:txBody>
          <a:bodyPr wrap="square" anchor="t" lIns="0" rIns="0" tIns="0" bIns="0">
            <a:spAutoFit/>
          </a:bodyPr>
          <a:lstStyle/>
          <a:p>
            <a:pPr algn="l">
              <a:lnSpc>
                <a:spcPct val="110000"/>
              </a:lnSpc>
              <a:spcAft>
                <a:spcPts val="300"/>
              </a:spcAft>
            </a:pPr>
            <a:r>
              <a:rPr sz="1000" b="1" i="0">
                <a:solidFill>
                  <a:srgbClr val="7FD1B9"/>
                </a:solidFill>
                <a:latin typeface="Consolas"/>
              </a:rPr>
              <a:t>Terminal</a:t>
            </a:r>
          </a:p>
        </p:txBody>
      </p:sp>
      <p:sp>
        <p:nvSpPr>
          <p:cNvPr id="10" name="TextBox 9"/>
          <p:cNvSpPr txBox="1"/>
          <p:nvPr/>
        </p:nvSpPr>
        <p:spPr>
          <a:xfrm>
            <a:off x="704088" y="1929384"/>
            <a:ext cx="5394960" cy="2587752"/>
          </a:xfrm>
          <a:prstGeom prst="rect">
            <a:avLst/>
          </a:prstGeom>
          <a:noFill/>
        </p:spPr>
        <p:txBody>
          <a:bodyPr wrap="square" lIns="0" rIns="0" tIns="0" bIns="0">
            <a:spAutoFit/>
          </a:bodyPr>
          <a:lstStyle/>
          <a:p>
            <a:pPr>
              <a:lnSpc>
                <a:spcPct val="100000"/>
              </a:lnSpc>
              <a:spcAft>
                <a:spcPts val="100"/>
              </a:spcAft>
            </a:pPr>
            <a:r>
              <a:rPr sz="1150" b="1">
                <a:solidFill>
                  <a:srgbClr val="E6EDF5"/>
                </a:solidFill>
                <a:latin typeface="Consolas"/>
              </a:rPr>
              <a:t>$ cd ~/lab2</a:t>
            </a:r>
          </a:p>
          <a:p>
            <a:pPr>
              <a:lnSpc>
                <a:spcPct val="100000"/>
              </a:lnSpc>
              <a:spcAft>
                <a:spcPts val="100"/>
              </a:spcAft>
            </a:pPr>
            <a:r>
              <a:rPr sz="1150" b="1">
                <a:solidFill>
                  <a:srgbClr val="E6EDF5"/>
                </a:solidFill>
                <a:latin typeface="Consolas"/>
              </a:rPr>
              <a:t>$ echo "Original text" &gt; original.txt</a:t>
            </a:r>
          </a:p>
          <a:p>
            <a:pPr>
              <a:lnSpc>
                <a:spcPct val="100000"/>
              </a:lnSpc>
              <a:spcAft>
                <a:spcPts val="100"/>
              </a:spcAft>
            </a:pPr>
            <a:r>
              <a:rPr sz="1150" b="1">
                <a:solidFill>
                  <a:srgbClr val="E6EDF5"/>
                </a:solidFill>
                <a:latin typeface="Consolas"/>
              </a:rPr>
              <a:t>$ ln -s ~/lab2/original.txt symbolic.lnk </a:t>
            </a:r>
            <a:r>
              <a:rPr sz="1050">
                <a:solidFill>
                  <a:srgbClr val="7FD1B9"/>
                </a:solidFill>
                <a:latin typeface="Consolas"/>
              </a:rPr>
              <a:t> # symbolic link</a:t>
            </a:r>
          </a:p>
          <a:p>
            <a:pPr>
              <a:lnSpc>
                <a:spcPct val="100000"/>
              </a:lnSpc>
              <a:spcAft>
                <a:spcPts val="100"/>
              </a:spcAft>
            </a:pPr>
            <a:r>
              <a:rPr sz="1150" b="1">
                <a:solidFill>
                  <a:srgbClr val="E6EDF5"/>
                </a:solidFill>
                <a:latin typeface="Consolas"/>
              </a:rPr>
              <a:t>$ ln original.txt hard.lnk               </a:t>
            </a:r>
            <a:r>
              <a:rPr sz="1050">
                <a:solidFill>
                  <a:srgbClr val="7FD1B9"/>
                </a:solidFill>
                <a:latin typeface="Consolas"/>
              </a:rPr>
              <a:t> # hard link</a:t>
            </a:r>
          </a:p>
          <a:p>
            <a:pPr>
              <a:lnSpc>
                <a:spcPct val="100000"/>
              </a:lnSpc>
              <a:spcAft>
                <a:spcPts val="100"/>
              </a:spcAft>
            </a:pPr>
            <a:r>
              <a:rPr sz="1150" b="1">
                <a:solidFill>
                  <a:srgbClr val="E6EDF5"/>
                </a:solidFill>
                <a:latin typeface="Consolas"/>
              </a:rPr>
              <a:t>$ ls -li                           </a:t>
            </a:r>
            <a:r>
              <a:rPr sz="1050">
                <a:solidFill>
                  <a:srgbClr val="7FD1B9"/>
                </a:solidFill>
                <a:latin typeface="Consolas"/>
              </a:rPr>
              <a:t> # inode numbers</a:t>
            </a:r>
          </a:p>
          <a:p>
            <a:pPr>
              <a:lnSpc>
                <a:spcPct val="100000"/>
              </a:lnSpc>
              <a:spcAft>
                <a:spcPts val="100"/>
              </a:spcAft>
            </a:pPr>
            <a:r>
              <a:rPr sz="1150" b="1">
                <a:solidFill>
                  <a:srgbClr val="E6EDF5"/>
                </a:solidFill>
                <a:latin typeface="Consolas"/>
              </a:rPr>
              <a:t>$ rm original.txt</a:t>
            </a:r>
          </a:p>
          <a:p>
            <a:pPr>
              <a:lnSpc>
                <a:spcPct val="100000"/>
              </a:lnSpc>
              <a:spcAft>
                <a:spcPts val="100"/>
              </a:spcAft>
            </a:pPr>
            <a:r>
              <a:rPr sz="1150" b="1">
                <a:solidFill>
                  <a:srgbClr val="E6EDF5"/>
                </a:solidFill>
                <a:latin typeface="Consolas"/>
              </a:rPr>
              <a:t>$ cat symbolic.lnk  </a:t>
            </a:r>
            <a:r>
              <a:rPr sz="1050">
                <a:solidFill>
                  <a:srgbClr val="7FD1B9"/>
                </a:solidFill>
                <a:latin typeface="Consolas"/>
              </a:rPr>
              <a:t> # No such file (broken)</a:t>
            </a:r>
          </a:p>
          <a:p>
            <a:pPr>
              <a:lnSpc>
                <a:spcPct val="100000"/>
              </a:lnSpc>
              <a:spcAft>
                <a:spcPts val="100"/>
              </a:spcAft>
            </a:pPr>
            <a:r>
              <a:rPr sz="1150" b="1">
                <a:solidFill>
                  <a:srgbClr val="E6EDF5"/>
                </a:solidFill>
                <a:latin typeface="Consolas"/>
              </a:rPr>
              <a:t>$ cat hard.lnk      </a:t>
            </a:r>
            <a:r>
              <a:rPr sz="1050">
                <a:solidFill>
                  <a:srgbClr val="7FD1B9"/>
                </a:solidFill>
                <a:latin typeface="Consolas"/>
              </a:rPr>
              <a:t> # Original text — preserved!</a:t>
            </a:r>
          </a:p>
        </p:txBody>
      </p:sp>
      <p:sp>
        <p:nvSpPr>
          <p:cNvPr id="11" name="TextBox 10"/>
          <p:cNvSpPr txBox="1"/>
          <p:nvPr/>
        </p:nvSpPr>
        <p:spPr>
          <a:xfrm>
            <a:off x="6446520" y="1554480"/>
            <a:ext cx="512064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1F3864"/>
                </a:solidFill>
                <a:latin typeface="Times New Roman"/>
              </a:rPr>
              <a:t>What happens inside</a:t>
            </a:r>
          </a:p>
        </p:txBody>
      </p:sp>
      <p:sp>
        <p:nvSpPr>
          <p:cNvPr id="12" name="Rounded Rectangle 11"/>
          <p:cNvSpPr/>
          <p:nvPr/>
        </p:nvSpPr>
        <p:spPr>
          <a:xfrm>
            <a:off x="6446520" y="1965960"/>
            <a:ext cx="1600200" cy="502920"/>
          </a:xfrm>
          <a:prstGeom prst="roundRect">
            <a:avLst>
              <a:gd name="adj" fmla="val 12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symbolic.lnk</a:t>
            </a:r>
          </a:p>
        </p:txBody>
      </p:sp>
      <p:sp>
        <p:nvSpPr>
          <p:cNvPr id="13" name="Rounded Rectangle 12"/>
          <p:cNvSpPr/>
          <p:nvPr/>
        </p:nvSpPr>
        <p:spPr>
          <a:xfrm>
            <a:off x="6446520" y="2743200"/>
            <a:ext cx="1600200" cy="502920"/>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original.txt</a:t>
            </a:r>
          </a:p>
        </p:txBody>
      </p:sp>
      <p:sp>
        <p:nvSpPr>
          <p:cNvPr id="14" name="Rounded Rectangle 13"/>
          <p:cNvSpPr/>
          <p:nvPr/>
        </p:nvSpPr>
        <p:spPr>
          <a:xfrm>
            <a:off x="6446520" y="3520440"/>
            <a:ext cx="1600200" cy="502920"/>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hard.lnk</a:t>
            </a:r>
          </a:p>
        </p:txBody>
      </p:sp>
      <p:sp>
        <p:nvSpPr>
          <p:cNvPr id="15" name="Rounded Rectangle 14"/>
          <p:cNvSpPr/>
          <p:nvPr/>
        </p:nvSpPr>
        <p:spPr>
          <a:xfrm>
            <a:off x="9052560" y="2743200"/>
            <a:ext cx="2560320" cy="502920"/>
          </a:xfrm>
          <a:prstGeom prst="roundRect">
            <a:avLst>
              <a:gd name="adj" fmla="val 12000"/>
            </a:avLst>
          </a:prstGeom>
          <a:solidFill>
            <a:srgbClr val="122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inode 1234 → data</a:t>
            </a:r>
          </a:p>
        </p:txBody>
      </p:sp>
      <p:sp>
        <p:nvSpPr>
          <p:cNvPr id="16" name="Down Arrow 15"/>
          <p:cNvSpPr/>
          <p:nvPr/>
        </p:nvSpPr>
        <p:spPr>
          <a:xfrm>
            <a:off x="7086600" y="2487168"/>
            <a:ext cx="274320" cy="237744"/>
          </a:xfrm>
          <a:prstGeom prst="downArrow">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52360" y="2468880"/>
            <a:ext cx="1554480" cy="274320"/>
          </a:xfrm>
          <a:prstGeom prst="rect">
            <a:avLst/>
          </a:prstGeom>
          <a:noFill/>
        </p:spPr>
        <p:txBody>
          <a:bodyPr wrap="square" anchor="t" lIns="0" rIns="0" tIns="0" bIns="0">
            <a:spAutoFit/>
          </a:bodyPr>
          <a:lstStyle/>
          <a:p>
            <a:pPr algn="l">
              <a:lnSpc>
                <a:spcPct val="110000"/>
              </a:lnSpc>
              <a:spcAft>
                <a:spcPts val="300"/>
              </a:spcAft>
            </a:pPr>
            <a:r>
              <a:rPr sz="1050" b="0" i="1">
                <a:solidFill>
                  <a:srgbClr val="E08E1D"/>
                </a:solidFill>
                <a:latin typeface="Times New Roman"/>
              </a:rPr>
              <a:t>points to the name</a:t>
            </a:r>
          </a:p>
        </p:txBody>
      </p:sp>
      <p:sp>
        <p:nvSpPr>
          <p:cNvPr id="18" name="Right Arrow 17"/>
          <p:cNvSpPr/>
          <p:nvPr/>
        </p:nvSpPr>
        <p:spPr>
          <a:xfrm>
            <a:off x="8138160" y="2862072"/>
            <a:ext cx="822960" cy="274320"/>
          </a:xfrm>
          <a:prstGeom prst="rightArrow">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92440" y="3749039"/>
            <a:ext cx="1188720" cy="36576"/>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253728" y="3273552"/>
            <a:ext cx="36576" cy="51206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3840480"/>
            <a:ext cx="3291840" cy="274320"/>
          </a:xfrm>
          <a:prstGeom prst="rect">
            <a:avLst/>
          </a:prstGeom>
          <a:noFill/>
        </p:spPr>
        <p:txBody>
          <a:bodyPr wrap="square" anchor="t" lIns="0" rIns="0" tIns="0" bIns="0">
            <a:spAutoFit/>
          </a:bodyPr>
          <a:lstStyle/>
          <a:p>
            <a:pPr algn="l">
              <a:lnSpc>
                <a:spcPct val="110000"/>
              </a:lnSpc>
              <a:spcAft>
                <a:spcPts val="300"/>
              </a:spcAft>
            </a:pPr>
            <a:r>
              <a:rPr sz="1050" b="0" i="1">
                <a:solidFill>
                  <a:srgbClr val="1F3864"/>
                </a:solidFill>
                <a:latin typeface="Times New Roman"/>
              </a:rPr>
              <a:t>same inode (a second name)</a:t>
            </a:r>
          </a:p>
        </p:txBody>
      </p:sp>
      <p:graphicFrame>
        <p:nvGraphicFramePr>
          <p:cNvPr id="22" name="Table 21"/>
          <p:cNvGraphicFramePr>
            <a:graphicFrameLocks noGrp="1"/>
          </p:cNvGraphicFramePr>
          <p:nvPr/>
        </p:nvGraphicFramePr>
        <p:xfrm>
          <a:off x="6446520" y="4251960"/>
          <a:ext cx="5166360" cy="1389888"/>
        </p:xfrm>
        <a:graphic>
          <a:graphicData uri="http://schemas.openxmlformats.org/drawingml/2006/table">
            <a:tbl>
              <a:tblPr firstRow="1" bandRow="1">
                <a:tableStyleId>{5940675A-B579-460E-94D1-54222C63F5DA}</a:tableStyleId>
              </a:tblPr>
              <a:tblGrid>
                <a:gridCol w="1645920"/>
                <a:gridCol w="1737360"/>
                <a:gridCol w="1783080"/>
              </a:tblGrid>
              <a:tr h="347472">
                <a:tc>
                  <a:txBody>
                    <a:bodyPr wrap="square"/>
                    <a:lstStyle/>
                    <a:p>
                      <a:pPr algn="l"/>
                    </a:p>
                  </a:txBody>
                  <a:tcPr marL="63500" marR="63500" marT="25400" marB="25400" anchor="ctr">
                    <a:solidFill>
                      <a:srgbClr val="1F3864"/>
                    </a:solidFill>
                  </a:tcPr>
                </a:tc>
                <a:tc>
                  <a:txBody>
                    <a:bodyPr wrap="square"/>
                    <a:lstStyle/>
                    <a:p>
                      <a:pPr algn="l"/>
                      <a:r>
                        <a:rPr sz="1150" b="1" i="0">
                          <a:solidFill>
                            <a:srgbClr val="FFFFFF"/>
                          </a:solidFill>
                          <a:latin typeface="Times New Roman"/>
                        </a:rPr>
                        <a:t>Symbolic </a:t>
                      </a:r>
                      <a:r>
                        <a:rPr sz="1100" b="1" i="0">
                          <a:solidFill>
                            <a:srgbClr val="FFFFFF"/>
                          </a:solidFill>
                          <a:latin typeface="Consolas"/>
                        </a:rPr>
                        <a:t>-s</a:t>
                      </a:r>
                    </a:p>
                  </a:txBody>
                  <a:tcPr marL="63500" marR="63500" marT="25400" marB="25400" anchor="ctr">
                    <a:solidFill>
                      <a:srgbClr val="1F3864"/>
                    </a:solidFill>
                  </a:tcPr>
                </a:tc>
                <a:tc>
                  <a:txBody>
                    <a:bodyPr wrap="square"/>
                    <a:lstStyle/>
                    <a:p>
                      <a:pPr algn="l"/>
                      <a:r>
                        <a:rPr sz="1150" b="1" i="0">
                          <a:solidFill>
                            <a:srgbClr val="FFFFFF"/>
                          </a:solidFill>
                          <a:latin typeface="Times New Roman"/>
                        </a:rPr>
                        <a:t>Hard</a:t>
                      </a:r>
                    </a:p>
                  </a:txBody>
                  <a:tcPr marL="63500" marR="63500" marT="25400" marB="25400" anchor="ctr">
                    <a:solidFill>
                      <a:srgbClr val="1F3864"/>
                    </a:solidFill>
                  </a:tcPr>
                </a:tc>
              </a:tr>
              <a:tr h="347472">
                <a:tc>
                  <a:txBody>
                    <a:bodyPr wrap="square"/>
                    <a:lstStyle/>
                    <a:p>
                      <a:pPr algn="l"/>
                      <a:r>
                        <a:rPr sz="1150" b="1" i="0">
                          <a:solidFill>
                            <a:srgbClr val="202A38"/>
                          </a:solidFill>
                          <a:latin typeface="Times New Roman"/>
                        </a:rPr>
                        <a:t>If original deleted</a:t>
                      </a:r>
                    </a:p>
                  </a:txBody>
                  <a:tcPr marL="63500" marR="63500" marT="25400" marB="25400" anchor="ctr">
                    <a:solidFill>
                      <a:srgbClr val="FFFFFF"/>
                    </a:solidFill>
                  </a:tcPr>
                </a:tc>
                <a:tc>
                  <a:txBody>
                    <a:bodyPr wrap="square"/>
                    <a:lstStyle/>
                    <a:p>
                      <a:pPr algn="l"/>
                      <a:r>
                        <a:rPr sz="1150" b="0" i="0">
                          <a:solidFill>
                            <a:srgbClr val="202A38"/>
                          </a:solidFill>
                          <a:latin typeface="Times New Roman"/>
                        </a:rPr>
                        <a:t>broken link</a:t>
                      </a:r>
                    </a:p>
                  </a:txBody>
                  <a:tcPr marL="63500" marR="63500" marT="25400" marB="25400" anchor="ctr">
                    <a:solidFill>
                      <a:srgbClr val="FFFFFF"/>
                    </a:solidFill>
                  </a:tcPr>
                </a:tc>
                <a:tc>
                  <a:txBody>
                    <a:bodyPr wrap="square"/>
                    <a:lstStyle/>
                    <a:p>
                      <a:pPr algn="l"/>
                      <a:r>
                        <a:rPr sz="1150" b="0" i="0">
                          <a:solidFill>
                            <a:srgbClr val="202A38"/>
                          </a:solidFill>
                          <a:latin typeface="Times New Roman"/>
                        </a:rPr>
                        <a:t>data remains</a:t>
                      </a:r>
                    </a:p>
                  </a:txBody>
                  <a:tcPr marL="63500" marR="63500" marT="25400" marB="25400" anchor="ctr">
                    <a:solidFill>
                      <a:srgbClr val="FFFFFF"/>
                    </a:solidFill>
                  </a:tcPr>
                </a:tc>
              </a:tr>
              <a:tr h="347472">
                <a:tc>
                  <a:txBody>
                    <a:bodyPr wrap="square"/>
                    <a:lstStyle/>
                    <a:p>
                      <a:pPr algn="l"/>
                      <a:r>
                        <a:rPr sz="1150" b="1" i="0">
                          <a:solidFill>
                            <a:srgbClr val="202A38"/>
                          </a:solidFill>
                          <a:latin typeface="Times New Roman"/>
                        </a:rPr>
                        <a:t>To a directory</a:t>
                      </a:r>
                    </a:p>
                  </a:txBody>
                  <a:tcPr marL="63500" marR="63500" marT="25400" marB="25400" anchor="ctr">
                    <a:solidFill>
                      <a:srgbClr val="F5F8FC"/>
                    </a:solidFill>
                  </a:tcPr>
                </a:tc>
                <a:tc>
                  <a:txBody>
                    <a:bodyPr wrap="square"/>
                    <a:lstStyle/>
                    <a:p>
                      <a:pPr algn="l"/>
                      <a:r>
                        <a:rPr sz="1150" b="0" i="0">
                          <a:solidFill>
                            <a:srgbClr val="202A38"/>
                          </a:solidFill>
                          <a:latin typeface="Times New Roman"/>
                        </a:rPr>
                        <a:t>possible</a:t>
                      </a:r>
                    </a:p>
                  </a:txBody>
                  <a:tcPr marL="63500" marR="63500" marT="25400" marB="25400" anchor="ctr">
                    <a:solidFill>
                      <a:srgbClr val="F5F8FC"/>
                    </a:solidFill>
                  </a:tcPr>
                </a:tc>
                <a:tc>
                  <a:txBody>
                    <a:bodyPr wrap="square"/>
                    <a:lstStyle/>
                    <a:p>
                      <a:pPr algn="l"/>
                      <a:r>
                        <a:rPr sz="1150" b="0" i="0">
                          <a:solidFill>
                            <a:srgbClr val="202A38"/>
                          </a:solidFill>
                          <a:latin typeface="Times New Roman"/>
                        </a:rPr>
                        <a:t>not possible</a:t>
                      </a:r>
                    </a:p>
                  </a:txBody>
                  <a:tcPr marL="63500" marR="63500" marT="25400" marB="25400" anchor="ctr">
                    <a:solidFill>
                      <a:srgbClr val="F5F8FC"/>
                    </a:solidFill>
                  </a:tcPr>
                </a:tc>
              </a:tr>
              <a:tr h="347472">
                <a:tc>
                  <a:txBody>
                    <a:bodyPr wrap="square"/>
                    <a:lstStyle/>
                    <a:p>
                      <a:pPr algn="l"/>
                      <a:r>
                        <a:rPr sz="1150" b="1" i="0">
                          <a:solidFill>
                            <a:srgbClr val="202A38"/>
                          </a:solidFill>
                          <a:latin typeface="Times New Roman"/>
                        </a:rPr>
                        <a:t>To another disk</a:t>
                      </a:r>
                    </a:p>
                  </a:txBody>
                  <a:tcPr marL="63500" marR="63500" marT="25400" marB="25400" anchor="ctr">
                    <a:solidFill>
                      <a:srgbClr val="FFFFFF"/>
                    </a:solidFill>
                  </a:tcPr>
                </a:tc>
                <a:tc>
                  <a:txBody>
                    <a:bodyPr wrap="square"/>
                    <a:lstStyle/>
                    <a:p>
                      <a:pPr algn="l"/>
                      <a:r>
                        <a:rPr sz="1150" b="0" i="0">
                          <a:solidFill>
                            <a:srgbClr val="202A38"/>
                          </a:solidFill>
                          <a:latin typeface="Times New Roman"/>
                        </a:rPr>
                        <a:t>possible</a:t>
                      </a:r>
                    </a:p>
                  </a:txBody>
                  <a:tcPr marL="63500" marR="63500" marT="25400" marB="25400" anchor="ctr">
                    <a:solidFill>
                      <a:srgbClr val="FFFFFF"/>
                    </a:solidFill>
                  </a:tcPr>
                </a:tc>
                <a:tc>
                  <a:txBody>
                    <a:bodyPr wrap="square"/>
                    <a:lstStyle/>
                    <a:p>
                      <a:pPr algn="l"/>
                      <a:r>
                        <a:rPr sz="1150" b="0" i="0">
                          <a:solidFill>
                            <a:srgbClr val="202A38"/>
                          </a:solidFill>
                          <a:latin typeface="Times New Roman"/>
                        </a:rPr>
                        <a:t>not possible</a:t>
                      </a:r>
                    </a:p>
                  </a:txBody>
                  <a:tcPr marL="63500" marR="63500" marT="25400" marB="25400" anchor="ctr">
                    <a:solidFill>
                      <a:srgbClr val="FFFFFF"/>
                    </a:solidFill>
                  </a:tcPr>
                </a:tc>
              </a:tr>
            </a:tbl>
          </a:graphicData>
        </a:graphic>
      </p:graphicFrame>
      <p:sp>
        <p:nvSpPr>
          <p:cNvPr id="23" name="Rounded Rectangle 22"/>
          <p:cNvSpPr/>
          <p:nvPr/>
        </p:nvSpPr>
        <p:spPr>
          <a:xfrm>
            <a:off x="566928" y="4709160"/>
            <a:ext cx="5669280" cy="914400"/>
          </a:xfrm>
          <a:prstGeom prst="roundRect">
            <a:avLst>
              <a:gd name="adj" fmla="val 8000"/>
            </a:avLst>
          </a:prstGeom>
          <a:solidFill>
            <a:srgbClr val="FFF6E5"/>
          </a:solidFill>
          <a:ln w="15875">
            <a:solidFill>
              <a:srgbClr val="E08E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warning_E08E1D.png"/>
          <p:cNvPicPr>
            <a:picLocks noChangeAspect="1"/>
          </p:cNvPicPr>
          <p:nvPr/>
        </p:nvPicPr>
        <p:blipFill>
          <a:blip r:embed="rId3"/>
          <a:stretch>
            <a:fillRect/>
          </a:stretch>
        </p:blipFill>
        <p:spPr>
          <a:xfrm>
            <a:off x="694944" y="5001768"/>
            <a:ext cx="329184" cy="329184"/>
          </a:xfrm>
          <a:prstGeom prst="rect">
            <a:avLst/>
          </a:prstGeom>
        </p:spPr>
      </p:pic>
      <p:sp>
        <p:nvSpPr>
          <p:cNvPr id="25" name="TextBox 24"/>
          <p:cNvSpPr txBox="1"/>
          <p:nvPr/>
        </p:nvSpPr>
        <p:spPr>
          <a:xfrm>
            <a:off x="1133856" y="4709160"/>
            <a:ext cx="4983480" cy="914400"/>
          </a:xfrm>
          <a:prstGeom prst="rect">
            <a:avLst/>
          </a:prstGeom>
          <a:noFill/>
        </p:spPr>
        <p:txBody>
          <a:bodyPr wrap="square" anchor="ctr" lIns="0" rIns="0" tIns="0" bIns="0">
            <a:spAutoFit/>
          </a:bodyPr>
          <a:lstStyle/>
          <a:p>
            <a:pPr algn="l">
              <a:lnSpc>
                <a:spcPct val="110000"/>
              </a:lnSpc>
              <a:spcAft>
                <a:spcPts val="300"/>
              </a:spcAft>
            </a:pPr>
            <a:r>
              <a:rPr sz="1100" b="1" i="0">
                <a:solidFill>
                  <a:srgbClr val="178A73"/>
                </a:solidFill>
                <a:latin typeface="Consolas"/>
              </a:rPr>
              <a:t>~/.bash_history -&gt; /dev/null</a:t>
            </a:r>
            <a:r>
              <a:rPr sz="1150" b="0" i="0">
                <a:solidFill>
                  <a:srgbClr val="202A38"/>
                </a:solidFill>
                <a:latin typeface="Times New Roman"/>
              </a:rPr>
              <a:t> — a trick so command history is not written. A forensic analyst sees it from the </a:t>
            </a:r>
            <a:r>
              <a:rPr sz="1100" b="1" i="0">
                <a:solidFill>
                  <a:srgbClr val="178A73"/>
                </a:solidFill>
                <a:latin typeface="Consolas"/>
              </a:rPr>
              <a:t>-&gt;</a:t>
            </a:r>
            <a:r>
              <a:rPr sz="1150" b="0" i="0">
                <a:solidFill>
                  <a:srgbClr val="202A38"/>
                </a:solidFill>
                <a:latin typeface="Times New Roman"/>
              </a:rPr>
              <a:t> in </a:t>
            </a:r>
            <a:r>
              <a:rPr sz="1100" b="1" i="0">
                <a:solidFill>
                  <a:srgbClr val="178A73"/>
                </a:solidFill>
                <a:latin typeface="Consolas"/>
              </a:rPr>
              <a:t>ls -l</a:t>
            </a:r>
            <a:r>
              <a:rPr sz="1150" b="0" i="0">
                <a:solidFill>
                  <a:srgbClr val="202A38"/>
                </a:solidFill>
                <a:latin typeface="Times New Roman"/>
              </a:rPr>
              <a:t>.</a:t>
            </a:r>
          </a:p>
        </p:txBody>
      </p:sp>
      <p:sp>
        <p:nvSpPr>
          <p:cNvPr id="26" name="TextBox 25"/>
          <p:cNvSpPr txBox="1"/>
          <p:nvPr/>
        </p:nvSpPr>
        <p:spPr>
          <a:xfrm>
            <a:off x="566928" y="5760720"/>
            <a:ext cx="3657600" cy="320040"/>
          </a:xfrm>
          <a:prstGeom prst="rect">
            <a:avLst/>
          </a:prstGeom>
          <a:noFill/>
        </p:spPr>
        <p:txBody>
          <a:bodyPr wrap="square" anchor="t" lIns="0" rIns="0" tIns="0" bIns="0">
            <a:spAutoFit/>
          </a:bodyPr>
          <a:lstStyle/>
          <a:p>
            <a:pPr algn="l">
              <a:lnSpc>
                <a:spcPct val="110000"/>
              </a:lnSpc>
              <a:spcAft>
                <a:spcPts val="300"/>
              </a:spcAft>
            </a:pPr>
            <a:r>
              <a:rPr sz="1150" b="0" i="1">
                <a:solidFill>
                  <a:srgbClr val="54647A"/>
                </a:solidFill>
                <a:latin typeface="Times New Roman"/>
              </a:rPr>
              <a:t>Screenshot 2.7: </a:t>
            </a:r>
            <a:r>
              <a:rPr sz="1100" b="1" i="0">
                <a:solidFill>
                  <a:srgbClr val="178A73"/>
                </a:solidFill>
                <a:latin typeface="Consolas"/>
              </a:rPr>
              <a:t>ls -li</a:t>
            </a:r>
            <a:r>
              <a:rPr sz="1150" b="0" i="1">
                <a:solidFill>
                  <a:srgbClr val="54647A"/>
                </a:solidFill>
                <a:latin typeface="Times New Roman"/>
              </a:rPr>
              <a:t> and </a:t>
            </a:r>
            <a:r>
              <a:rPr sz="1100" b="1" i="0">
                <a:solidFill>
                  <a:srgbClr val="178A73"/>
                </a:solidFill>
                <a:latin typeface="Consolas"/>
              </a:rPr>
              <a:t>cat</a:t>
            </a:r>
          </a:p>
        </p:txBody>
      </p:sp>
      <p:sp>
        <p:nvSpPr>
          <p:cNvPr id="27" name="Rounded Rectangle 26">
            <a:hlinkClick action="ppaction://hlinksldjump" r:id="rId4"/>
          </p:cNvPr>
          <p:cNvSpPr/>
          <p:nvPr/>
        </p:nvSpPr>
        <p:spPr>
          <a:xfrm>
            <a:off x="4206240" y="5760720"/>
            <a:ext cx="1120140" cy="310896"/>
          </a:xfrm>
          <a:prstGeom prst="roundRect">
            <a:avLst>
              <a:gd name="adj" fmla="val 50000"/>
            </a:avLst>
          </a:prstGeom>
          <a:solidFill>
            <a:srgbClr val="FFFFFF"/>
          </a:solidFill>
          <a:ln w="19050">
            <a:solidFill>
              <a:srgbClr val="178A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78A73"/>
                </a:solidFill>
                <a:latin typeface="Consolas"/>
              </a:rPr>
              <a:t>?  Inode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QUESTION 2 · TASK 2.8</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2.8 — Archiving and compression: tar, gzip, zip</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28</a:t>
            </a:r>
          </a:p>
        </p:txBody>
      </p:sp>
      <p:sp>
        <p:nvSpPr>
          <p:cNvPr id="8" name="Rounded Rectangle 7"/>
          <p:cNvSpPr/>
          <p:nvPr/>
        </p:nvSpPr>
        <p:spPr>
          <a:xfrm>
            <a:off x="566928" y="1600200"/>
            <a:ext cx="6035040" cy="2788920"/>
          </a:xfrm>
          <a:prstGeom prst="roundRect">
            <a:avLst>
              <a:gd name="adj" fmla="val 4000"/>
            </a:avLst>
          </a:prstGeom>
          <a:solidFill>
            <a:srgbClr val="142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664208"/>
            <a:ext cx="5760720" cy="228600"/>
          </a:xfrm>
          <a:prstGeom prst="rect">
            <a:avLst/>
          </a:prstGeom>
          <a:noFill/>
        </p:spPr>
        <p:txBody>
          <a:bodyPr wrap="square" anchor="t" lIns="0" rIns="0" tIns="0" bIns="0">
            <a:spAutoFit/>
          </a:bodyPr>
          <a:lstStyle/>
          <a:p>
            <a:pPr algn="l">
              <a:lnSpc>
                <a:spcPct val="110000"/>
              </a:lnSpc>
              <a:spcAft>
                <a:spcPts val="300"/>
              </a:spcAft>
            </a:pPr>
            <a:r>
              <a:rPr sz="1000" b="1" i="0">
                <a:solidFill>
                  <a:srgbClr val="7FD1B9"/>
                </a:solidFill>
                <a:latin typeface="Consolas"/>
              </a:rPr>
              <a:t>Terminal</a:t>
            </a:r>
          </a:p>
        </p:txBody>
      </p:sp>
      <p:sp>
        <p:nvSpPr>
          <p:cNvPr id="10" name="TextBox 9"/>
          <p:cNvSpPr txBox="1"/>
          <p:nvPr/>
        </p:nvSpPr>
        <p:spPr>
          <a:xfrm>
            <a:off x="704088" y="1929384"/>
            <a:ext cx="5760720" cy="2404872"/>
          </a:xfrm>
          <a:prstGeom prst="rect">
            <a:avLst/>
          </a:prstGeom>
          <a:noFill/>
        </p:spPr>
        <p:txBody>
          <a:bodyPr wrap="square" lIns="0" rIns="0" tIns="0" bIns="0">
            <a:spAutoFit/>
          </a:bodyPr>
          <a:lstStyle/>
          <a:p>
            <a:pPr>
              <a:lnSpc>
                <a:spcPct val="100000"/>
              </a:lnSpc>
              <a:spcAft>
                <a:spcPts val="100"/>
              </a:spcAft>
            </a:pPr>
            <a:r>
              <a:rPr sz="1150" b="1">
                <a:solidFill>
                  <a:srgbClr val="E6EDF5"/>
                </a:solidFill>
                <a:latin typeface="Consolas"/>
              </a:rPr>
              <a:t>$ tar -czvf lab2.tar.gz lab2         </a:t>
            </a:r>
            <a:r>
              <a:rPr sz="1050">
                <a:solidFill>
                  <a:srgbClr val="7FD1B9"/>
                </a:solidFill>
                <a:latin typeface="Consolas"/>
              </a:rPr>
              <a:t> # archive + compress</a:t>
            </a:r>
          </a:p>
          <a:p>
            <a:pPr>
              <a:lnSpc>
                <a:spcPct val="100000"/>
              </a:lnSpc>
              <a:spcAft>
                <a:spcPts val="100"/>
              </a:spcAft>
            </a:pPr>
            <a:r>
              <a:rPr sz="1150" b="1">
                <a:solidFill>
                  <a:srgbClr val="E6EDF5"/>
                </a:solidFill>
                <a:latin typeface="Consolas"/>
              </a:rPr>
              <a:t>$ tar -tzvf lab2.tar.gz               </a:t>
            </a:r>
            <a:r>
              <a:rPr sz="1050">
                <a:solidFill>
                  <a:srgbClr val="7FD1B9"/>
                </a:solidFill>
                <a:latin typeface="Consolas"/>
              </a:rPr>
              <a:t> # view without extracting</a:t>
            </a:r>
          </a:p>
          <a:p>
            <a:pPr>
              <a:lnSpc>
                <a:spcPct val="100000"/>
              </a:lnSpc>
              <a:spcAft>
                <a:spcPts val="100"/>
              </a:spcAft>
            </a:pPr>
            <a:r>
              <a:rPr sz="1150" b="1">
                <a:solidFill>
                  <a:srgbClr val="E6EDF5"/>
                </a:solidFill>
                <a:latin typeface="Consolas"/>
              </a:rPr>
              <a:t>$ tar -xzvf lab2.tar.gz -C /tmp/extract</a:t>
            </a:r>
            <a:r>
              <a:rPr sz="1050">
                <a:solidFill>
                  <a:srgbClr val="7FD1B9"/>
                </a:solidFill>
                <a:latin typeface="Consolas"/>
              </a:rPr>
              <a:t> # extract</a:t>
            </a:r>
          </a:p>
          <a:p>
            <a:pPr>
              <a:lnSpc>
                <a:spcPct val="100000"/>
              </a:lnSpc>
              <a:spcAft>
                <a:spcPts val="100"/>
              </a:spcAft>
            </a:pPr>
            <a:r>
              <a:rPr sz="1150" b="1">
                <a:solidFill>
                  <a:srgbClr val="E6EDF5"/>
                </a:solidFill>
                <a:latin typeface="Consolas"/>
              </a:rPr>
              <a:t>$ zip -r lab2.zip lab2 ; unzip -l lab2.zip</a:t>
            </a:r>
          </a:p>
          <a:p>
            <a:pPr>
              <a:lnSpc>
                <a:spcPct val="100000"/>
              </a:lnSpc>
              <a:spcAft>
                <a:spcPts val="100"/>
              </a:spcAft>
            </a:pPr>
            <a:r>
              <a:rPr sz="1150" b="1">
                <a:solidFill>
                  <a:srgbClr val="E6EDF5"/>
                </a:solidFill>
                <a:latin typeface="Consolas"/>
              </a:rPr>
              <a:t>$ cp /usr/share/wordlists/rockyou.txt.gz ~/</a:t>
            </a:r>
          </a:p>
          <a:p>
            <a:pPr>
              <a:lnSpc>
                <a:spcPct val="100000"/>
              </a:lnSpc>
              <a:spcAft>
                <a:spcPts val="100"/>
              </a:spcAft>
            </a:pPr>
            <a:r>
              <a:rPr sz="1150" b="1">
                <a:solidFill>
                  <a:srgbClr val="E6EDF5"/>
                </a:solidFill>
                <a:latin typeface="Consolas"/>
              </a:rPr>
              <a:t>$ gunzip -k ~/rockyou.txt.gz          </a:t>
            </a:r>
            <a:r>
              <a:rPr sz="1050">
                <a:solidFill>
                  <a:srgbClr val="7FD1B9"/>
                </a:solidFill>
                <a:latin typeface="Consolas"/>
              </a:rPr>
              <a:t> # ~50 MB -&gt; ~134 MB</a:t>
            </a:r>
          </a:p>
          <a:p>
            <a:pPr>
              <a:lnSpc>
                <a:spcPct val="100000"/>
              </a:lnSpc>
              <a:spcAft>
                <a:spcPts val="100"/>
              </a:spcAft>
            </a:pPr>
            <a:r>
              <a:rPr sz="1150" b="1">
                <a:solidFill>
                  <a:srgbClr val="E6EDF5"/>
                </a:solidFill>
                <a:latin typeface="Consolas"/>
              </a:rPr>
              <a:t>$ head -n 15 ~/rockyou.txt</a:t>
            </a:r>
          </a:p>
        </p:txBody>
      </p:sp>
      <p:sp>
        <p:nvSpPr>
          <p:cNvPr id="11" name="TextBox 10"/>
          <p:cNvSpPr txBox="1"/>
          <p:nvPr/>
        </p:nvSpPr>
        <p:spPr>
          <a:xfrm>
            <a:off x="6812280" y="1554480"/>
            <a:ext cx="475488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1F3864"/>
                </a:solidFill>
                <a:latin typeface="Times New Roman"/>
              </a:rPr>
              <a:t>tar options</a:t>
            </a:r>
          </a:p>
        </p:txBody>
      </p:sp>
      <p:sp>
        <p:nvSpPr>
          <p:cNvPr id="12" name="Rounded Rectangle 11"/>
          <p:cNvSpPr/>
          <p:nvPr/>
        </p:nvSpPr>
        <p:spPr>
          <a:xfrm>
            <a:off x="6812280" y="1874519"/>
            <a:ext cx="502920" cy="365760"/>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-c</a:t>
            </a:r>
          </a:p>
        </p:txBody>
      </p:sp>
      <p:sp>
        <p:nvSpPr>
          <p:cNvPr id="13" name="TextBox 12"/>
          <p:cNvSpPr txBox="1"/>
          <p:nvPr/>
        </p:nvSpPr>
        <p:spPr>
          <a:xfrm>
            <a:off x="7406640" y="1874519"/>
            <a:ext cx="1783080" cy="365760"/>
          </a:xfrm>
          <a:prstGeom prst="rect">
            <a:avLst/>
          </a:prstGeom>
          <a:noFill/>
        </p:spPr>
        <p:txBody>
          <a:bodyPr wrap="square" anchor="ctr" lIns="0" rIns="0" tIns="0" bIns="0">
            <a:spAutoFit/>
          </a:bodyPr>
          <a:lstStyle/>
          <a:p>
            <a:pPr algn="l">
              <a:lnSpc>
                <a:spcPct val="110000"/>
              </a:lnSpc>
              <a:spcAft>
                <a:spcPts val="300"/>
              </a:spcAft>
            </a:pPr>
            <a:r>
              <a:rPr sz="1150" b="0" i="0">
                <a:solidFill>
                  <a:srgbClr val="202A38"/>
                </a:solidFill>
                <a:latin typeface="Times New Roman"/>
              </a:rPr>
              <a:t>create</a:t>
            </a:r>
          </a:p>
        </p:txBody>
      </p:sp>
      <p:sp>
        <p:nvSpPr>
          <p:cNvPr id="14" name="Rounded Rectangle 13"/>
          <p:cNvSpPr/>
          <p:nvPr/>
        </p:nvSpPr>
        <p:spPr>
          <a:xfrm>
            <a:off x="9235440" y="1874519"/>
            <a:ext cx="502920" cy="365760"/>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-x</a:t>
            </a:r>
          </a:p>
        </p:txBody>
      </p:sp>
      <p:sp>
        <p:nvSpPr>
          <p:cNvPr id="15" name="TextBox 14"/>
          <p:cNvSpPr txBox="1"/>
          <p:nvPr/>
        </p:nvSpPr>
        <p:spPr>
          <a:xfrm>
            <a:off x="9829800" y="1874519"/>
            <a:ext cx="1783080" cy="365760"/>
          </a:xfrm>
          <a:prstGeom prst="rect">
            <a:avLst/>
          </a:prstGeom>
          <a:noFill/>
        </p:spPr>
        <p:txBody>
          <a:bodyPr wrap="square" anchor="ctr" lIns="0" rIns="0" tIns="0" bIns="0">
            <a:spAutoFit/>
          </a:bodyPr>
          <a:lstStyle/>
          <a:p>
            <a:pPr algn="l">
              <a:lnSpc>
                <a:spcPct val="110000"/>
              </a:lnSpc>
              <a:spcAft>
                <a:spcPts val="300"/>
              </a:spcAft>
            </a:pPr>
            <a:r>
              <a:rPr sz="1150" b="0" i="0">
                <a:solidFill>
                  <a:srgbClr val="202A38"/>
                </a:solidFill>
                <a:latin typeface="Times New Roman"/>
              </a:rPr>
              <a:t>extract</a:t>
            </a:r>
          </a:p>
        </p:txBody>
      </p:sp>
      <p:sp>
        <p:nvSpPr>
          <p:cNvPr id="16" name="Rounded Rectangle 15"/>
          <p:cNvSpPr/>
          <p:nvPr/>
        </p:nvSpPr>
        <p:spPr>
          <a:xfrm>
            <a:off x="6812280" y="2331720"/>
            <a:ext cx="502920" cy="365760"/>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-t</a:t>
            </a:r>
          </a:p>
        </p:txBody>
      </p:sp>
      <p:sp>
        <p:nvSpPr>
          <p:cNvPr id="17" name="TextBox 16"/>
          <p:cNvSpPr txBox="1"/>
          <p:nvPr/>
        </p:nvSpPr>
        <p:spPr>
          <a:xfrm>
            <a:off x="7406640" y="2331720"/>
            <a:ext cx="1783080" cy="365760"/>
          </a:xfrm>
          <a:prstGeom prst="rect">
            <a:avLst/>
          </a:prstGeom>
          <a:noFill/>
        </p:spPr>
        <p:txBody>
          <a:bodyPr wrap="square" anchor="ctr" lIns="0" rIns="0" tIns="0" bIns="0">
            <a:spAutoFit/>
          </a:bodyPr>
          <a:lstStyle/>
          <a:p>
            <a:pPr algn="l">
              <a:lnSpc>
                <a:spcPct val="110000"/>
              </a:lnSpc>
              <a:spcAft>
                <a:spcPts val="300"/>
              </a:spcAft>
            </a:pPr>
            <a:r>
              <a:rPr sz="1150" b="0" i="0">
                <a:solidFill>
                  <a:srgbClr val="202A38"/>
                </a:solidFill>
                <a:latin typeface="Times New Roman"/>
              </a:rPr>
              <a:t>list contents</a:t>
            </a:r>
          </a:p>
        </p:txBody>
      </p:sp>
      <p:sp>
        <p:nvSpPr>
          <p:cNvPr id="18" name="Rounded Rectangle 17"/>
          <p:cNvSpPr/>
          <p:nvPr/>
        </p:nvSpPr>
        <p:spPr>
          <a:xfrm>
            <a:off x="9235440" y="2331720"/>
            <a:ext cx="502920" cy="365760"/>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-v</a:t>
            </a:r>
          </a:p>
        </p:txBody>
      </p:sp>
      <p:sp>
        <p:nvSpPr>
          <p:cNvPr id="19" name="TextBox 18"/>
          <p:cNvSpPr txBox="1"/>
          <p:nvPr/>
        </p:nvSpPr>
        <p:spPr>
          <a:xfrm>
            <a:off x="9829800" y="2331720"/>
            <a:ext cx="1783080" cy="365760"/>
          </a:xfrm>
          <a:prstGeom prst="rect">
            <a:avLst/>
          </a:prstGeom>
          <a:noFill/>
        </p:spPr>
        <p:txBody>
          <a:bodyPr wrap="square" anchor="ctr" lIns="0" rIns="0" tIns="0" bIns="0">
            <a:spAutoFit/>
          </a:bodyPr>
          <a:lstStyle/>
          <a:p>
            <a:pPr algn="l">
              <a:lnSpc>
                <a:spcPct val="110000"/>
              </a:lnSpc>
              <a:spcAft>
                <a:spcPts val="300"/>
              </a:spcAft>
            </a:pPr>
            <a:r>
              <a:rPr sz="1150" b="0" i="0">
                <a:solidFill>
                  <a:srgbClr val="202A38"/>
                </a:solidFill>
                <a:latin typeface="Times New Roman"/>
              </a:rPr>
              <a:t>show the process</a:t>
            </a:r>
          </a:p>
        </p:txBody>
      </p:sp>
      <p:sp>
        <p:nvSpPr>
          <p:cNvPr id="20" name="Rounded Rectangle 19"/>
          <p:cNvSpPr/>
          <p:nvPr/>
        </p:nvSpPr>
        <p:spPr>
          <a:xfrm>
            <a:off x="6812280" y="2788920"/>
            <a:ext cx="502920" cy="365760"/>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-f</a:t>
            </a:r>
          </a:p>
        </p:txBody>
      </p:sp>
      <p:sp>
        <p:nvSpPr>
          <p:cNvPr id="21" name="TextBox 20"/>
          <p:cNvSpPr txBox="1"/>
          <p:nvPr/>
        </p:nvSpPr>
        <p:spPr>
          <a:xfrm>
            <a:off x="7406640" y="2788920"/>
            <a:ext cx="1783080" cy="365760"/>
          </a:xfrm>
          <a:prstGeom prst="rect">
            <a:avLst/>
          </a:prstGeom>
          <a:noFill/>
        </p:spPr>
        <p:txBody>
          <a:bodyPr wrap="square" anchor="ctr" lIns="0" rIns="0" tIns="0" bIns="0">
            <a:spAutoFit/>
          </a:bodyPr>
          <a:lstStyle/>
          <a:p>
            <a:pPr algn="l">
              <a:lnSpc>
                <a:spcPct val="110000"/>
              </a:lnSpc>
              <a:spcAft>
                <a:spcPts val="300"/>
              </a:spcAft>
            </a:pPr>
            <a:r>
              <a:rPr sz="1150" b="0" i="0">
                <a:solidFill>
                  <a:srgbClr val="202A38"/>
                </a:solidFill>
                <a:latin typeface="Times New Roman"/>
              </a:rPr>
              <a:t>archive name (last)</a:t>
            </a:r>
          </a:p>
        </p:txBody>
      </p:sp>
      <p:sp>
        <p:nvSpPr>
          <p:cNvPr id="22" name="Rounded Rectangle 21"/>
          <p:cNvSpPr/>
          <p:nvPr/>
        </p:nvSpPr>
        <p:spPr>
          <a:xfrm>
            <a:off x="9235440" y="2788920"/>
            <a:ext cx="502920" cy="365760"/>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-z</a:t>
            </a:r>
          </a:p>
        </p:txBody>
      </p:sp>
      <p:sp>
        <p:nvSpPr>
          <p:cNvPr id="23" name="TextBox 22"/>
          <p:cNvSpPr txBox="1"/>
          <p:nvPr/>
        </p:nvSpPr>
        <p:spPr>
          <a:xfrm>
            <a:off x="9829800" y="2788920"/>
            <a:ext cx="1783080" cy="365760"/>
          </a:xfrm>
          <a:prstGeom prst="rect">
            <a:avLst/>
          </a:prstGeom>
          <a:noFill/>
        </p:spPr>
        <p:txBody>
          <a:bodyPr wrap="square" anchor="ctr" lIns="0" rIns="0" tIns="0" bIns="0">
            <a:spAutoFit/>
          </a:bodyPr>
          <a:lstStyle/>
          <a:p>
            <a:pPr algn="l">
              <a:lnSpc>
                <a:spcPct val="110000"/>
              </a:lnSpc>
              <a:spcAft>
                <a:spcPts val="300"/>
              </a:spcAft>
            </a:pPr>
            <a:r>
              <a:rPr sz="1150" b="0" i="0">
                <a:solidFill>
                  <a:srgbClr val="202A38"/>
                </a:solidFill>
                <a:latin typeface="Times New Roman"/>
              </a:rPr>
              <a:t>gzip (.tar.gz)</a:t>
            </a:r>
          </a:p>
        </p:txBody>
      </p:sp>
      <p:sp>
        <p:nvSpPr>
          <p:cNvPr id="24" name="Rounded Rectangle 23"/>
          <p:cNvSpPr/>
          <p:nvPr/>
        </p:nvSpPr>
        <p:spPr>
          <a:xfrm>
            <a:off x="6812280" y="3246120"/>
            <a:ext cx="502920" cy="365760"/>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-C</a:t>
            </a:r>
          </a:p>
        </p:txBody>
      </p:sp>
      <p:sp>
        <p:nvSpPr>
          <p:cNvPr id="25" name="TextBox 24"/>
          <p:cNvSpPr txBox="1"/>
          <p:nvPr/>
        </p:nvSpPr>
        <p:spPr>
          <a:xfrm>
            <a:off x="7406640" y="3246120"/>
            <a:ext cx="1783080" cy="365760"/>
          </a:xfrm>
          <a:prstGeom prst="rect">
            <a:avLst/>
          </a:prstGeom>
          <a:noFill/>
        </p:spPr>
        <p:txBody>
          <a:bodyPr wrap="square" anchor="ctr" lIns="0" rIns="0" tIns="0" bIns="0">
            <a:spAutoFit/>
          </a:bodyPr>
          <a:lstStyle/>
          <a:p>
            <a:pPr algn="l">
              <a:lnSpc>
                <a:spcPct val="110000"/>
              </a:lnSpc>
              <a:spcAft>
                <a:spcPts val="300"/>
              </a:spcAft>
            </a:pPr>
            <a:r>
              <a:rPr sz="1150" b="0" i="0">
                <a:solidFill>
                  <a:srgbClr val="202A38"/>
                </a:solidFill>
                <a:latin typeface="Times New Roman"/>
              </a:rPr>
              <a:t>to which directory</a:t>
            </a:r>
          </a:p>
        </p:txBody>
      </p:sp>
      <p:sp>
        <p:nvSpPr>
          <p:cNvPr id="26" name="Rounded Rectangle 25"/>
          <p:cNvSpPr/>
          <p:nvPr/>
        </p:nvSpPr>
        <p:spPr>
          <a:xfrm>
            <a:off x="6812280" y="3794760"/>
            <a:ext cx="1417320" cy="640080"/>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lab2/</a:t>
            </a:r>
          </a:p>
          <a:p>
            <a:pPr algn="ctr"/>
            <a:r>
              <a:rPr sz="1000" b="0" i="0">
                <a:solidFill>
                  <a:srgbClr val="FFFFFF"/>
                </a:solidFill>
                <a:latin typeface="Times New Roman"/>
              </a:rPr>
              <a:t>many files</a:t>
            </a:r>
          </a:p>
        </p:txBody>
      </p:sp>
      <p:sp>
        <p:nvSpPr>
          <p:cNvPr id="27" name="Right Arrow 26"/>
          <p:cNvSpPr/>
          <p:nvPr/>
        </p:nvSpPr>
        <p:spPr>
          <a:xfrm>
            <a:off x="8238744" y="3986784"/>
            <a:ext cx="182880" cy="237744"/>
          </a:xfrm>
          <a:prstGeom prst="rightArrow">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39912" y="3794760"/>
            <a:ext cx="1417320" cy="640080"/>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lab2.tar</a:t>
            </a:r>
          </a:p>
          <a:p>
            <a:pPr algn="ctr"/>
            <a:r>
              <a:rPr sz="1000" b="0" i="0">
                <a:solidFill>
                  <a:srgbClr val="FFFFFF"/>
                </a:solidFill>
                <a:latin typeface="Times New Roman"/>
              </a:rPr>
              <a:t>one archive (tar)</a:t>
            </a:r>
          </a:p>
        </p:txBody>
      </p:sp>
      <p:sp>
        <p:nvSpPr>
          <p:cNvPr id="29" name="Right Arrow 28"/>
          <p:cNvSpPr/>
          <p:nvPr/>
        </p:nvSpPr>
        <p:spPr>
          <a:xfrm>
            <a:off x="9866376" y="3986784"/>
            <a:ext cx="182880" cy="237744"/>
          </a:xfrm>
          <a:prstGeom prst="rightArrow">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067544" y="3794760"/>
            <a:ext cx="1417320" cy="640080"/>
          </a:xfrm>
          <a:prstGeom prst="roundRect">
            <a:avLst>
              <a:gd name="adj" fmla="val 12000"/>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lab2.tar.gz</a:t>
            </a:r>
          </a:p>
          <a:p>
            <a:pPr algn="ctr"/>
            <a:r>
              <a:rPr sz="1000" b="0" i="0">
                <a:solidFill>
                  <a:srgbClr val="FFFFFF"/>
                </a:solidFill>
                <a:latin typeface="Times New Roman"/>
              </a:rPr>
              <a:t>compressed (gzip)</a:t>
            </a:r>
          </a:p>
        </p:txBody>
      </p:sp>
      <p:sp>
        <p:nvSpPr>
          <p:cNvPr id="31" name="Rounded Rectangle 30"/>
          <p:cNvSpPr/>
          <p:nvPr/>
        </p:nvSpPr>
        <p:spPr>
          <a:xfrm>
            <a:off x="566928" y="4526280"/>
            <a:ext cx="6035040" cy="1097280"/>
          </a:xfrm>
          <a:prstGeom prst="roundRect">
            <a:avLst>
              <a:gd name="adj" fmla="val 8000"/>
            </a:avLst>
          </a:prstGeom>
          <a:solidFill>
            <a:srgbClr val="FDEDEC"/>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x_C0392B.png"/>
          <p:cNvPicPr>
            <a:picLocks noChangeAspect="1"/>
          </p:cNvPicPr>
          <p:nvPr/>
        </p:nvPicPr>
        <p:blipFill>
          <a:blip r:embed="rId3"/>
          <a:stretch>
            <a:fillRect/>
          </a:stretch>
        </p:blipFill>
        <p:spPr>
          <a:xfrm>
            <a:off x="694944" y="4910328"/>
            <a:ext cx="329184" cy="329184"/>
          </a:xfrm>
          <a:prstGeom prst="rect">
            <a:avLst/>
          </a:prstGeom>
        </p:spPr>
      </p:pic>
      <p:sp>
        <p:nvSpPr>
          <p:cNvPr id="33" name="TextBox 32"/>
          <p:cNvSpPr txBox="1"/>
          <p:nvPr/>
        </p:nvSpPr>
        <p:spPr>
          <a:xfrm>
            <a:off x="1133856" y="4526280"/>
            <a:ext cx="5349240" cy="1097280"/>
          </a:xfrm>
          <a:prstGeom prst="rect">
            <a:avLst/>
          </a:prstGeom>
          <a:noFill/>
        </p:spPr>
        <p:txBody>
          <a:bodyPr wrap="square" anchor="ctr" lIns="0" rIns="0" tIns="0" bIns="0">
            <a:spAutoFit/>
          </a:bodyPr>
          <a:lstStyle/>
          <a:p>
            <a:pPr algn="l">
              <a:lnSpc>
                <a:spcPct val="110000"/>
              </a:lnSpc>
              <a:spcAft>
                <a:spcPts val="300"/>
              </a:spcAft>
            </a:pPr>
            <a:r>
              <a:rPr sz="1150" b="1" i="0">
                <a:solidFill>
                  <a:srgbClr val="1F3864"/>
                </a:solidFill>
                <a:latin typeface="Times New Roman"/>
              </a:rPr>
              <a:t>rockyou.txt</a:t>
            </a:r>
            <a:r>
              <a:rPr sz="1150" b="0" i="0">
                <a:solidFill>
                  <a:srgbClr val="202A38"/>
                </a:solidFill>
                <a:latin typeface="Times New Roman"/>
              </a:rPr>
              <a:t> — a list built from 32M+ passwords stolen in 2009 (14M+ unique). Only for auditing password strength, in your own lab.</a:t>
            </a:r>
          </a:p>
        </p:txBody>
      </p:sp>
      <p:sp>
        <p:nvSpPr>
          <p:cNvPr id="34" name="Rounded Rectangle 33"/>
          <p:cNvSpPr/>
          <p:nvPr/>
        </p:nvSpPr>
        <p:spPr>
          <a:xfrm>
            <a:off x="6812280" y="4617720"/>
            <a:ext cx="4800600" cy="1005840"/>
          </a:xfrm>
          <a:prstGeom prst="roundRect">
            <a:avLst>
              <a:gd name="adj" fmla="val 8000"/>
            </a:avLst>
          </a:prstGeom>
          <a:solidFill>
            <a:srgbClr val="F5F8FC"/>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search_1F3864.png"/>
          <p:cNvPicPr>
            <a:picLocks noChangeAspect="1"/>
          </p:cNvPicPr>
          <p:nvPr/>
        </p:nvPicPr>
        <p:blipFill>
          <a:blip r:embed="rId4"/>
          <a:stretch>
            <a:fillRect/>
          </a:stretch>
        </p:blipFill>
        <p:spPr>
          <a:xfrm>
            <a:off x="6940296" y="4956048"/>
            <a:ext cx="329184" cy="329184"/>
          </a:xfrm>
          <a:prstGeom prst="rect">
            <a:avLst/>
          </a:prstGeom>
        </p:spPr>
      </p:pic>
      <p:sp>
        <p:nvSpPr>
          <p:cNvPr id="36" name="TextBox 35"/>
          <p:cNvSpPr txBox="1"/>
          <p:nvPr/>
        </p:nvSpPr>
        <p:spPr>
          <a:xfrm>
            <a:off x="7379208" y="4617720"/>
            <a:ext cx="4114800" cy="1005840"/>
          </a:xfrm>
          <a:prstGeom prst="rect">
            <a:avLst/>
          </a:prstGeom>
          <a:noFill/>
        </p:spPr>
        <p:txBody>
          <a:bodyPr wrap="square" anchor="ctr" lIns="0" rIns="0" tIns="0" bIns="0">
            <a:spAutoFit/>
          </a:bodyPr>
          <a:lstStyle/>
          <a:p>
            <a:pPr algn="l">
              <a:lnSpc>
                <a:spcPct val="110000"/>
              </a:lnSpc>
              <a:spcAft>
                <a:spcPts val="300"/>
              </a:spcAft>
            </a:pPr>
            <a:r>
              <a:rPr sz="1150" b="0" i="0">
                <a:solidFill>
                  <a:srgbClr val="202A38"/>
                </a:solidFill>
                <a:latin typeface="Times New Roman"/>
              </a:rPr>
              <a:t>Evidence is archived and stored with a hash. An unexpected </a:t>
            </a:r>
            <a:r>
              <a:rPr sz="1100" b="1" i="0">
                <a:solidFill>
                  <a:srgbClr val="178A73"/>
                </a:solidFill>
                <a:latin typeface="Consolas"/>
              </a:rPr>
              <a:t>.tar.gz</a:t>
            </a:r>
            <a:r>
              <a:rPr sz="1150" b="0" i="0">
                <a:solidFill>
                  <a:srgbClr val="202A38"/>
                </a:solidFill>
                <a:latin typeface="Times New Roman"/>
              </a:rPr>
              <a:t> in </a:t>
            </a:r>
            <a:r>
              <a:rPr sz="1100" b="1" i="0">
                <a:solidFill>
                  <a:srgbClr val="178A73"/>
                </a:solidFill>
                <a:latin typeface="Consolas"/>
              </a:rPr>
              <a:t>/tmp</a:t>
            </a:r>
            <a:r>
              <a:rPr sz="1150" b="0" i="0">
                <a:solidFill>
                  <a:srgbClr val="202A38"/>
                </a:solidFill>
                <a:latin typeface="Times New Roman"/>
              </a:rPr>
              <a:t> may be a sign of data being exfiltrated.</a:t>
            </a:r>
          </a:p>
        </p:txBody>
      </p:sp>
      <p:sp>
        <p:nvSpPr>
          <p:cNvPr id="37" name="TextBox 36"/>
          <p:cNvSpPr txBox="1"/>
          <p:nvPr/>
        </p:nvSpPr>
        <p:spPr>
          <a:xfrm>
            <a:off x="566928" y="5806440"/>
            <a:ext cx="6035040" cy="320040"/>
          </a:xfrm>
          <a:prstGeom prst="rect">
            <a:avLst/>
          </a:prstGeom>
          <a:noFill/>
        </p:spPr>
        <p:txBody>
          <a:bodyPr wrap="square" anchor="t" lIns="0" rIns="0" tIns="0" bIns="0">
            <a:spAutoFit/>
          </a:bodyPr>
          <a:lstStyle/>
          <a:p>
            <a:pPr algn="l">
              <a:lnSpc>
                <a:spcPct val="110000"/>
              </a:lnSpc>
              <a:spcAft>
                <a:spcPts val="300"/>
              </a:spcAft>
            </a:pPr>
            <a:r>
              <a:rPr sz="1150" b="0" i="1">
                <a:solidFill>
                  <a:srgbClr val="54647A"/>
                </a:solidFill>
                <a:latin typeface="Times New Roman"/>
              </a:rPr>
              <a:t>Screenshot 2.8: </a:t>
            </a:r>
            <a:r>
              <a:rPr sz="1100" b="1" i="0">
                <a:solidFill>
                  <a:srgbClr val="178A73"/>
                </a:solidFill>
                <a:latin typeface="Consolas"/>
              </a:rPr>
              <a:t>tar -tzvf</a:t>
            </a:r>
            <a:r>
              <a:rPr sz="1150" b="0" i="1">
                <a:solidFill>
                  <a:srgbClr val="54647A"/>
                </a:solidFill>
                <a:latin typeface="Times New Roman"/>
              </a:rPr>
              <a:t> and </a:t>
            </a:r>
            <a:r>
              <a:rPr sz="1100" b="1" i="0">
                <a:solidFill>
                  <a:srgbClr val="178A73"/>
                </a:solidFill>
                <a:latin typeface="Consolas"/>
              </a:rPr>
              <a:t>rockyou.txt</a:t>
            </a:r>
            <a:r>
              <a:rPr sz="1150" b="0" i="1">
                <a:solidFill>
                  <a:srgbClr val="54647A"/>
                </a:solidFill>
                <a:latin typeface="Times New Roman"/>
              </a:rPr>
              <a:t> size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QUESTION 2 · TASK 2.9</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2.9 — Directory size and structure: du, tree</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29</a:t>
            </a:r>
          </a:p>
        </p:txBody>
      </p:sp>
      <p:sp>
        <p:nvSpPr>
          <p:cNvPr id="8" name="Rounded Rectangle 7"/>
          <p:cNvSpPr/>
          <p:nvPr/>
        </p:nvSpPr>
        <p:spPr>
          <a:xfrm>
            <a:off x="566928" y="1600200"/>
            <a:ext cx="6035040" cy="2377440"/>
          </a:xfrm>
          <a:prstGeom prst="roundRect">
            <a:avLst>
              <a:gd name="adj" fmla="val 4000"/>
            </a:avLst>
          </a:prstGeom>
          <a:solidFill>
            <a:srgbClr val="142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664208"/>
            <a:ext cx="5760720" cy="228600"/>
          </a:xfrm>
          <a:prstGeom prst="rect">
            <a:avLst/>
          </a:prstGeom>
          <a:noFill/>
        </p:spPr>
        <p:txBody>
          <a:bodyPr wrap="square" anchor="t" lIns="0" rIns="0" tIns="0" bIns="0">
            <a:spAutoFit/>
          </a:bodyPr>
          <a:lstStyle/>
          <a:p>
            <a:pPr algn="l">
              <a:lnSpc>
                <a:spcPct val="110000"/>
              </a:lnSpc>
              <a:spcAft>
                <a:spcPts val="300"/>
              </a:spcAft>
            </a:pPr>
            <a:r>
              <a:rPr sz="1000" b="1" i="0">
                <a:solidFill>
                  <a:srgbClr val="7FD1B9"/>
                </a:solidFill>
                <a:latin typeface="Consolas"/>
              </a:rPr>
              <a:t>Terminal</a:t>
            </a:r>
          </a:p>
        </p:txBody>
      </p:sp>
      <p:sp>
        <p:nvSpPr>
          <p:cNvPr id="10" name="TextBox 9"/>
          <p:cNvSpPr txBox="1"/>
          <p:nvPr/>
        </p:nvSpPr>
        <p:spPr>
          <a:xfrm>
            <a:off x="704088" y="1929384"/>
            <a:ext cx="5760720" cy="1993392"/>
          </a:xfrm>
          <a:prstGeom prst="rect">
            <a:avLst/>
          </a:prstGeom>
          <a:noFill/>
        </p:spPr>
        <p:txBody>
          <a:bodyPr wrap="square" lIns="0" rIns="0" tIns="0" bIns="0">
            <a:spAutoFit/>
          </a:bodyPr>
          <a:lstStyle/>
          <a:p>
            <a:pPr>
              <a:lnSpc>
                <a:spcPct val="100000"/>
              </a:lnSpc>
              <a:spcAft>
                <a:spcPts val="100"/>
              </a:spcAft>
            </a:pPr>
            <a:r>
              <a:rPr sz="1150" b="1">
                <a:solidFill>
                  <a:srgbClr val="E6EDF5"/>
                </a:solidFill>
                <a:latin typeface="Consolas"/>
              </a:rPr>
              <a:t>$ cd ~</a:t>
            </a:r>
          </a:p>
          <a:p>
            <a:pPr>
              <a:lnSpc>
                <a:spcPct val="100000"/>
              </a:lnSpc>
              <a:spcAft>
                <a:spcPts val="100"/>
              </a:spcAft>
            </a:pPr>
            <a:r>
              <a:rPr sz="1150" b="1">
                <a:solidFill>
                  <a:srgbClr val="E6EDF5"/>
                </a:solidFill>
                <a:latin typeface="Consolas"/>
              </a:rPr>
              <a:t>$ du -sh lab2       </a:t>
            </a:r>
            <a:r>
              <a:rPr sz="1050">
                <a:solidFill>
                  <a:srgbClr val="7FD1B9"/>
                </a:solidFill>
                <a:latin typeface="Consolas"/>
              </a:rPr>
              <a:t> # total directory size</a:t>
            </a:r>
          </a:p>
          <a:p>
            <a:pPr>
              <a:lnSpc>
                <a:spcPct val="100000"/>
              </a:lnSpc>
              <a:spcAft>
                <a:spcPts val="100"/>
              </a:spcAft>
            </a:pPr>
            <a:r>
              <a:rPr sz="1150" b="1">
                <a:solidFill>
                  <a:srgbClr val="E6EDF5"/>
                </a:solidFill>
                <a:latin typeface="Consolas"/>
              </a:rPr>
              <a:t>$ du -h lab2        </a:t>
            </a:r>
            <a:r>
              <a:rPr sz="1050">
                <a:solidFill>
                  <a:srgbClr val="7FD1B9"/>
                </a:solidFill>
                <a:latin typeface="Consolas"/>
              </a:rPr>
              <a:t> # each sub-directory</a:t>
            </a:r>
          </a:p>
          <a:p>
            <a:pPr>
              <a:lnSpc>
                <a:spcPct val="100000"/>
              </a:lnSpc>
              <a:spcAft>
                <a:spcPts val="100"/>
              </a:spcAft>
            </a:pPr>
            <a:r>
              <a:rPr sz="1150" b="1">
                <a:solidFill>
                  <a:srgbClr val="E6EDF5"/>
                </a:solidFill>
                <a:latin typeface="Consolas"/>
              </a:rPr>
              <a:t>$ du -ah lab2       </a:t>
            </a:r>
            <a:r>
              <a:rPr sz="1050">
                <a:solidFill>
                  <a:srgbClr val="7FD1B9"/>
                </a:solidFill>
                <a:latin typeface="Consolas"/>
              </a:rPr>
              <a:t> # files too</a:t>
            </a:r>
          </a:p>
          <a:p>
            <a:pPr>
              <a:lnSpc>
                <a:spcPct val="100000"/>
              </a:lnSpc>
              <a:spcAft>
                <a:spcPts val="100"/>
              </a:spcAft>
            </a:pPr>
            <a:r>
              <a:rPr sz="1150" b="1">
                <a:solidFill>
                  <a:srgbClr val="E6EDF5"/>
                </a:solidFill>
                <a:latin typeface="Consolas"/>
              </a:rPr>
              <a:t>$ tree lab2         </a:t>
            </a:r>
            <a:r>
              <a:rPr sz="1050">
                <a:solidFill>
                  <a:srgbClr val="7FD1B9"/>
                </a:solidFill>
                <a:latin typeface="Consolas"/>
              </a:rPr>
              <a:t> # directory tree</a:t>
            </a:r>
          </a:p>
          <a:p>
            <a:pPr>
              <a:lnSpc>
                <a:spcPct val="100000"/>
              </a:lnSpc>
              <a:spcAft>
                <a:spcPts val="100"/>
              </a:spcAft>
            </a:pPr>
            <a:r>
              <a:rPr sz="1150" b="1">
                <a:solidFill>
                  <a:srgbClr val="E6EDF5"/>
                </a:solidFill>
                <a:latin typeface="Consolas"/>
              </a:rPr>
              <a:t>$ tree -a lab2      </a:t>
            </a:r>
            <a:r>
              <a:rPr sz="1050">
                <a:solidFill>
                  <a:srgbClr val="7FD1B9"/>
                </a:solidFill>
                <a:latin typeface="Consolas"/>
              </a:rPr>
              <a:t> # with hidden files</a:t>
            </a:r>
          </a:p>
          <a:p>
            <a:pPr>
              <a:lnSpc>
                <a:spcPct val="100000"/>
              </a:lnSpc>
              <a:spcAft>
                <a:spcPts val="100"/>
              </a:spcAft>
            </a:pPr>
            <a:r>
              <a:rPr sz="1150" b="1">
                <a:solidFill>
                  <a:srgbClr val="E6EDF5"/>
                </a:solidFill>
                <a:latin typeface="Consolas"/>
              </a:rPr>
              <a:t>$ ls -R lab2        </a:t>
            </a:r>
            <a:r>
              <a:rPr sz="1050">
                <a:solidFill>
                  <a:srgbClr val="7FD1B9"/>
                </a:solidFill>
                <a:latin typeface="Consolas"/>
              </a:rPr>
              <a:t> # if tree is missing</a:t>
            </a:r>
          </a:p>
        </p:txBody>
      </p:sp>
      <p:sp>
        <p:nvSpPr>
          <p:cNvPr id="11" name="Rounded Rectangle 10"/>
          <p:cNvSpPr/>
          <p:nvPr/>
        </p:nvSpPr>
        <p:spPr>
          <a:xfrm>
            <a:off x="6812280" y="1600200"/>
            <a:ext cx="2286000" cy="118872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12280" y="1600200"/>
            <a:ext cx="64008" cy="1188720"/>
          </a:xfrm>
          <a:prstGeom prst="rect">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1691640"/>
            <a:ext cx="1920240" cy="365760"/>
          </a:xfrm>
          <a:prstGeom prst="rect">
            <a:avLst/>
          </a:prstGeom>
          <a:noFill/>
        </p:spPr>
        <p:txBody>
          <a:bodyPr wrap="square" anchor="t" lIns="0" rIns="0" tIns="0" bIns="0">
            <a:spAutoFit/>
          </a:bodyPr>
          <a:lstStyle/>
          <a:p>
            <a:pPr algn="l">
              <a:lnSpc>
                <a:spcPct val="110000"/>
              </a:lnSpc>
              <a:spcAft>
                <a:spcPts val="300"/>
              </a:spcAft>
            </a:pPr>
            <a:r>
              <a:rPr sz="1900" b="1" i="0">
                <a:solidFill>
                  <a:srgbClr val="178A73"/>
                </a:solidFill>
                <a:latin typeface="Consolas"/>
              </a:rPr>
              <a:t>du</a:t>
            </a:r>
          </a:p>
        </p:txBody>
      </p:sp>
      <p:sp>
        <p:nvSpPr>
          <p:cNvPr id="14" name="TextBox 13"/>
          <p:cNvSpPr txBox="1"/>
          <p:nvPr/>
        </p:nvSpPr>
        <p:spPr>
          <a:xfrm>
            <a:off x="6995160" y="2103120"/>
            <a:ext cx="1920240" cy="320040"/>
          </a:xfrm>
          <a:prstGeom prst="rect">
            <a:avLst/>
          </a:prstGeom>
          <a:noFill/>
        </p:spPr>
        <p:txBody>
          <a:bodyPr wrap="square" anchor="t" lIns="0" rIns="0" tIns="0" bIns="0">
            <a:spAutoFit/>
          </a:bodyPr>
          <a:lstStyle/>
          <a:p>
            <a:pPr algn="l">
              <a:lnSpc>
                <a:spcPct val="110000"/>
              </a:lnSpc>
              <a:spcAft>
                <a:spcPts val="300"/>
              </a:spcAft>
            </a:pPr>
            <a:r>
              <a:rPr sz="1150" b="1" i="0">
                <a:solidFill>
                  <a:srgbClr val="1F3864"/>
                </a:solidFill>
                <a:latin typeface="Times New Roman"/>
              </a:rPr>
              <a:t>disk usage — size</a:t>
            </a:r>
          </a:p>
        </p:txBody>
      </p:sp>
      <p:sp>
        <p:nvSpPr>
          <p:cNvPr id="15" name="TextBox 14"/>
          <p:cNvSpPr txBox="1"/>
          <p:nvPr/>
        </p:nvSpPr>
        <p:spPr>
          <a:xfrm>
            <a:off x="6995160" y="2423160"/>
            <a:ext cx="2011680" cy="320040"/>
          </a:xfrm>
          <a:prstGeom prst="rect">
            <a:avLst/>
          </a:prstGeom>
          <a:noFill/>
        </p:spPr>
        <p:txBody>
          <a:bodyPr wrap="square" anchor="t" lIns="0" rIns="0" tIns="0" bIns="0">
            <a:spAutoFit/>
          </a:bodyPr>
          <a:lstStyle/>
          <a:p>
            <a:pPr algn="l">
              <a:lnSpc>
                <a:spcPct val="110000"/>
              </a:lnSpc>
              <a:spcAft>
                <a:spcPts val="300"/>
              </a:spcAft>
            </a:pPr>
            <a:r>
              <a:rPr sz="1000" b="1" i="0">
                <a:solidFill>
                  <a:srgbClr val="178A73"/>
                </a:solidFill>
                <a:latin typeface="Consolas"/>
              </a:rPr>
              <a:t>du -sh lab2</a:t>
            </a:r>
          </a:p>
        </p:txBody>
      </p:sp>
      <p:sp>
        <p:nvSpPr>
          <p:cNvPr id="16" name="Rounded Rectangle 15"/>
          <p:cNvSpPr/>
          <p:nvPr/>
        </p:nvSpPr>
        <p:spPr>
          <a:xfrm>
            <a:off x="9235440" y="1600200"/>
            <a:ext cx="2286000" cy="118872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35440" y="1600200"/>
            <a:ext cx="64008" cy="11887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20" y="1691640"/>
            <a:ext cx="1920240" cy="365760"/>
          </a:xfrm>
          <a:prstGeom prst="rect">
            <a:avLst/>
          </a:prstGeom>
          <a:noFill/>
        </p:spPr>
        <p:txBody>
          <a:bodyPr wrap="square" anchor="t" lIns="0" rIns="0" tIns="0" bIns="0">
            <a:spAutoFit/>
          </a:bodyPr>
          <a:lstStyle/>
          <a:p>
            <a:pPr algn="l">
              <a:lnSpc>
                <a:spcPct val="110000"/>
              </a:lnSpc>
              <a:spcAft>
                <a:spcPts val="300"/>
              </a:spcAft>
            </a:pPr>
            <a:r>
              <a:rPr sz="1900" b="1" i="0">
                <a:solidFill>
                  <a:srgbClr val="1F3864"/>
                </a:solidFill>
                <a:latin typeface="Consolas"/>
              </a:rPr>
              <a:t>tree</a:t>
            </a:r>
          </a:p>
        </p:txBody>
      </p:sp>
      <p:sp>
        <p:nvSpPr>
          <p:cNvPr id="19" name="TextBox 18"/>
          <p:cNvSpPr txBox="1"/>
          <p:nvPr/>
        </p:nvSpPr>
        <p:spPr>
          <a:xfrm>
            <a:off x="9418320" y="2103120"/>
            <a:ext cx="1920240" cy="320040"/>
          </a:xfrm>
          <a:prstGeom prst="rect">
            <a:avLst/>
          </a:prstGeom>
          <a:noFill/>
        </p:spPr>
        <p:txBody>
          <a:bodyPr wrap="square" anchor="t" lIns="0" rIns="0" tIns="0" bIns="0">
            <a:spAutoFit/>
          </a:bodyPr>
          <a:lstStyle/>
          <a:p>
            <a:pPr algn="l">
              <a:lnSpc>
                <a:spcPct val="110000"/>
              </a:lnSpc>
              <a:spcAft>
                <a:spcPts val="300"/>
              </a:spcAft>
            </a:pPr>
            <a:r>
              <a:rPr sz="1150" b="1" i="0">
                <a:solidFill>
                  <a:srgbClr val="1F3864"/>
                </a:solidFill>
                <a:latin typeface="Times New Roman"/>
              </a:rPr>
              <a:t>tree view</a:t>
            </a:r>
          </a:p>
        </p:txBody>
      </p:sp>
      <p:sp>
        <p:nvSpPr>
          <p:cNvPr id="20" name="TextBox 19"/>
          <p:cNvSpPr txBox="1"/>
          <p:nvPr/>
        </p:nvSpPr>
        <p:spPr>
          <a:xfrm>
            <a:off x="9418320" y="2423160"/>
            <a:ext cx="2011680" cy="320040"/>
          </a:xfrm>
          <a:prstGeom prst="rect">
            <a:avLst/>
          </a:prstGeom>
          <a:noFill/>
        </p:spPr>
        <p:txBody>
          <a:bodyPr wrap="square" anchor="t" lIns="0" rIns="0" tIns="0" bIns="0">
            <a:spAutoFit/>
          </a:bodyPr>
          <a:lstStyle/>
          <a:p>
            <a:pPr algn="l">
              <a:lnSpc>
                <a:spcPct val="110000"/>
              </a:lnSpc>
              <a:spcAft>
                <a:spcPts val="300"/>
              </a:spcAft>
            </a:pPr>
            <a:r>
              <a:rPr sz="1000" b="1" i="0">
                <a:solidFill>
                  <a:srgbClr val="178A73"/>
                </a:solidFill>
                <a:latin typeface="Consolas"/>
              </a:rPr>
              <a:t>tree lab2</a:t>
            </a:r>
          </a:p>
        </p:txBody>
      </p:sp>
      <p:sp>
        <p:nvSpPr>
          <p:cNvPr id="21" name="TextBox 20"/>
          <p:cNvSpPr txBox="1"/>
          <p:nvPr/>
        </p:nvSpPr>
        <p:spPr>
          <a:xfrm>
            <a:off x="6812280" y="2971800"/>
            <a:ext cx="4800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F3864"/>
                </a:solidFill>
                <a:latin typeface="Times New Roman"/>
              </a:rPr>
              <a:t>du options</a:t>
            </a:r>
          </a:p>
        </p:txBody>
      </p:sp>
      <p:sp>
        <p:nvSpPr>
          <p:cNvPr id="22" name="Rounded Rectangle 21"/>
          <p:cNvSpPr/>
          <p:nvPr/>
        </p:nvSpPr>
        <p:spPr>
          <a:xfrm>
            <a:off x="6812280" y="3310128"/>
            <a:ext cx="548640" cy="365760"/>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-s</a:t>
            </a:r>
          </a:p>
        </p:txBody>
      </p:sp>
      <p:sp>
        <p:nvSpPr>
          <p:cNvPr id="23" name="TextBox 22"/>
          <p:cNvSpPr txBox="1"/>
          <p:nvPr/>
        </p:nvSpPr>
        <p:spPr>
          <a:xfrm>
            <a:off x="7498079" y="3310128"/>
            <a:ext cx="4023360" cy="365760"/>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total (summary)</a:t>
            </a:r>
          </a:p>
        </p:txBody>
      </p:sp>
      <p:sp>
        <p:nvSpPr>
          <p:cNvPr id="24" name="Rounded Rectangle 23"/>
          <p:cNvSpPr/>
          <p:nvPr/>
        </p:nvSpPr>
        <p:spPr>
          <a:xfrm>
            <a:off x="6812280" y="3749039"/>
            <a:ext cx="548640" cy="365760"/>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-h</a:t>
            </a:r>
          </a:p>
        </p:txBody>
      </p:sp>
      <p:sp>
        <p:nvSpPr>
          <p:cNvPr id="25" name="TextBox 24"/>
          <p:cNvSpPr txBox="1"/>
          <p:nvPr/>
        </p:nvSpPr>
        <p:spPr>
          <a:xfrm>
            <a:off x="7498079" y="3749039"/>
            <a:ext cx="4023360" cy="365760"/>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human-readable (K, M, G)</a:t>
            </a:r>
          </a:p>
        </p:txBody>
      </p:sp>
      <p:sp>
        <p:nvSpPr>
          <p:cNvPr id="26" name="Rounded Rectangle 25"/>
          <p:cNvSpPr/>
          <p:nvPr/>
        </p:nvSpPr>
        <p:spPr>
          <a:xfrm>
            <a:off x="6812280" y="4187952"/>
            <a:ext cx="548640" cy="365760"/>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-a</a:t>
            </a:r>
          </a:p>
        </p:txBody>
      </p:sp>
      <p:sp>
        <p:nvSpPr>
          <p:cNvPr id="27" name="TextBox 26"/>
          <p:cNvSpPr txBox="1"/>
          <p:nvPr/>
        </p:nvSpPr>
        <p:spPr>
          <a:xfrm>
            <a:off x="7498079" y="4187952"/>
            <a:ext cx="4023360" cy="365760"/>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shows files too</a:t>
            </a:r>
          </a:p>
        </p:txBody>
      </p:sp>
      <p:sp>
        <p:nvSpPr>
          <p:cNvPr id="28" name="Rounded Rectangle 27"/>
          <p:cNvSpPr/>
          <p:nvPr/>
        </p:nvSpPr>
        <p:spPr>
          <a:xfrm>
            <a:off x="566928" y="4160520"/>
            <a:ext cx="6035040" cy="868680"/>
          </a:xfrm>
          <a:prstGeom prst="roundRect">
            <a:avLst>
              <a:gd name="adj" fmla="val 8000"/>
            </a:avLst>
          </a:prstGeom>
          <a:solidFill>
            <a:srgbClr val="E3F3EE"/>
          </a:solidFill>
          <a:ln w="15875">
            <a:solidFill>
              <a:srgbClr val="178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check_178A73.png"/>
          <p:cNvPicPr>
            <a:picLocks noChangeAspect="1"/>
          </p:cNvPicPr>
          <p:nvPr/>
        </p:nvPicPr>
        <p:blipFill>
          <a:blip r:embed="rId3"/>
          <a:stretch>
            <a:fillRect/>
          </a:stretch>
        </p:blipFill>
        <p:spPr>
          <a:xfrm>
            <a:off x="694944" y="4430268"/>
            <a:ext cx="329184" cy="329184"/>
          </a:xfrm>
          <a:prstGeom prst="rect">
            <a:avLst/>
          </a:prstGeom>
        </p:spPr>
      </p:pic>
      <p:sp>
        <p:nvSpPr>
          <p:cNvPr id="30" name="TextBox 29"/>
          <p:cNvSpPr txBox="1"/>
          <p:nvPr/>
        </p:nvSpPr>
        <p:spPr>
          <a:xfrm>
            <a:off x="1133856" y="4160520"/>
            <a:ext cx="5349240" cy="868680"/>
          </a:xfrm>
          <a:prstGeom prst="rect">
            <a:avLst/>
          </a:prstGeom>
          <a:noFill/>
        </p:spPr>
        <p:txBody>
          <a:bodyPr wrap="square" anchor="ctr" lIns="0" rIns="0" tIns="0" bIns="0">
            <a:spAutoFit/>
          </a:bodyPr>
          <a:lstStyle/>
          <a:p>
            <a:pPr algn="l">
              <a:lnSpc>
                <a:spcPct val="110000"/>
              </a:lnSpc>
              <a:spcAft>
                <a:spcPts val="300"/>
              </a:spcAft>
            </a:pPr>
            <a:r>
              <a:rPr sz="1150" b="0" i="0">
                <a:solidFill>
                  <a:srgbClr val="202A38"/>
                </a:solidFill>
                <a:latin typeface="Times New Roman"/>
              </a:rPr>
              <a:t>In an investigation “which directory is filling the disk?” is answered quickly by </a:t>
            </a:r>
            <a:r>
              <a:rPr sz="1100" b="1" i="0">
                <a:solidFill>
                  <a:srgbClr val="178A73"/>
                </a:solidFill>
                <a:latin typeface="Consolas"/>
              </a:rPr>
              <a:t>du -sh *</a:t>
            </a:r>
            <a:r>
              <a:rPr sz="1150" b="0" i="0">
                <a:solidFill>
                  <a:srgbClr val="202A38"/>
                </a:solidFill>
                <a:latin typeface="Times New Roman"/>
              </a:rPr>
              <a:t>.</a:t>
            </a:r>
          </a:p>
        </p:txBody>
      </p:sp>
      <p:sp>
        <p:nvSpPr>
          <p:cNvPr id="31" name="Rounded Rectangle 30"/>
          <p:cNvSpPr/>
          <p:nvPr/>
        </p:nvSpPr>
        <p:spPr>
          <a:xfrm>
            <a:off x="6812280" y="4754880"/>
            <a:ext cx="4800600" cy="822960"/>
          </a:xfrm>
          <a:prstGeom prst="roundRect">
            <a:avLst>
              <a:gd name="adj" fmla="val 8000"/>
            </a:avLst>
          </a:prstGeom>
          <a:solidFill>
            <a:srgbClr val="F5F8FC"/>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search_1F3864.png"/>
          <p:cNvPicPr>
            <a:picLocks noChangeAspect="1"/>
          </p:cNvPicPr>
          <p:nvPr/>
        </p:nvPicPr>
        <p:blipFill>
          <a:blip r:embed="rId4"/>
          <a:stretch>
            <a:fillRect/>
          </a:stretch>
        </p:blipFill>
        <p:spPr>
          <a:xfrm>
            <a:off x="6940296" y="5001768"/>
            <a:ext cx="329184" cy="329184"/>
          </a:xfrm>
          <a:prstGeom prst="rect">
            <a:avLst/>
          </a:prstGeom>
        </p:spPr>
      </p:pic>
      <p:sp>
        <p:nvSpPr>
          <p:cNvPr id="33" name="TextBox 32"/>
          <p:cNvSpPr txBox="1"/>
          <p:nvPr/>
        </p:nvSpPr>
        <p:spPr>
          <a:xfrm>
            <a:off x="7379208" y="4754880"/>
            <a:ext cx="4114800" cy="822960"/>
          </a:xfrm>
          <a:prstGeom prst="rect">
            <a:avLst/>
          </a:prstGeom>
          <a:noFill/>
        </p:spPr>
        <p:txBody>
          <a:bodyPr wrap="square" anchor="ctr" lIns="0" rIns="0" tIns="0" bIns="0">
            <a:spAutoFit/>
          </a:bodyPr>
          <a:lstStyle/>
          <a:p>
            <a:pPr algn="l">
              <a:lnSpc>
                <a:spcPct val="110000"/>
              </a:lnSpc>
              <a:spcAft>
                <a:spcPts val="300"/>
              </a:spcAft>
            </a:pPr>
            <a:r>
              <a:rPr sz="1100" b="0" i="0">
                <a:solidFill>
                  <a:srgbClr val="202A38"/>
                </a:solidFill>
                <a:latin typeface="Times New Roman"/>
              </a:rPr>
              <a:t>If </a:t>
            </a:r>
            <a:r>
              <a:rPr sz="1050" b="1" i="0">
                <a:solidFill>
                  <a:srgbClr val="178A73"/>
                </a:solidFill>
                <a:latin typeface="Consolas"/>
              </a:rPr>
              <a:t>tree</a:t>
            </a:r>
            <a:r>
              <a:rPr sz="1100" b="0" i="0">
                <a:solidFill>
                  <a:srgbClr val="202A38"/>
                </a:solidFill>
                <a:latin typeface="Times New Roman"/>
              </a:rPr>
              <a:t> is not installed — install with </a:t>
            </a:r>
            <a:r>
              <a:rPr sz="1050" b="1" i="0">
                <a:solidFill>
                  <a:srgbClr val="178A73"/>
                </a:solidFill>
                <a:latin typeface="Consolas"/>
              </a:rPr>
              <a:t>apt</a:t>
            </a:r>
            <a:r>
              <a:rPr sz="1100" b="0" i="0">
                <a:solidFill>
                  <a:srgbClr val="202A38"/>
                </a:solidFill>
                <a:latin typeface="Times New Roman"/>
              </a:rPr>
              <a:t> in Lesson 2; for now </a:t>
            </a:r>
            <a:r>
              <a:rPr sz="1050" b="1" i="0">
                <a:solidFill>
                  <a:srgbClr val="178A73"/>
                </a:solidFill>
                <a:latin typeface="Consolas"/>
              </a:rPr>
              <a:t>ls -R</a:t>
            </a:r>
            <a:r>
              <a:rPr sz="1100" b="0" i="0">
                <a:solidFill>
                  <a:srgbClr val="202A38"/>
                </a:solidFill>
                <a:latin typeface="Times New Roman"/>
              </a:rPr>
              <a:t>.</a:t>
            </a:r>
          </a:p>
        </p:txBody>
      </p:sp>
      <p:sp>
        <p:nvSpPr>
          <p:cNvPr id="34" name="TextBox 33"/>
          <p:cNvSpPr txBox="1"/>
          <p:nvPr/>
        </p:nvSpPr>
        <p:spPr>
          <a:xfrm>
            <a:off x="566928" y="5166360"/>
            <a:ext cx="6035040" cy="320040"/>
          </a:xfrm>
          <a:prstGeom prst="rect">
            <a:avLst/>
          </a:prstGeom>
          <a:noFill/>
        </p:spPr>
        <p:txBody>
          <a:bodyPr wrap="square" anchor="t" lIns="0" rIns="0" tIns="0" bIns="0">
            <a:spAutoFit/>
          </a:bodyPr>
          <a:lstStyle/>
          <a:p>
            <a:pPr algn="l">
              <a:lnSpc>
                <a:spcPct val="110000"/>
              </a:lnSpc>
              <a:spcAft>
                <a:spcPts val="300"/>
              </a:spcAft>
            </a:pPr>
            <a:r>
              <a:rPr sz="1150" b="0" i="1">
                <a:solidFill>
                  <a:srgbClr val="54647A"/>
                </a:solidFill>
                <a:latin typeface="Times New Roman"/>
              </a:rPr>
              <a:t>Screenshot 2.9: </a:t>
            </a:r>
            <a:r>
              <a:rPr sz="1100" b="1" i="0">
                <a:solidFill>
                  <a:srgbClr val="178A73"/>
                </a:solidFill>
                <a:latin typeface="Consolas"/>
              </a:rPr>
              <a:t>du -sh lab2</a:t>
            </a:r>
            <a:r>
              <a:rPr sz="1150" b="0" i="1">
                <a:solidFill>
                  <a:srgbClr val="54647A"/>
                </a:solidFill>
                <a:latin typeface="Times New Roman"/>
              </a:rPr>
              <a:t> and </a:t>
            </a:r>
            <a:r>
              <a:rPr sz="1100" b="1" i="0">
                <a:solidFill>
                  <a:srgbClr val="178A73"/>
                </a:solidFill>
                <a:latin typeface="Consolas"/>
              </a:rPr>
              <a:t>tree lab2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ADDITIONAL KEY INFORMATION</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Windows (cmd) commands and their Linux equivalents</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30</a:t>
            </a:r>
          </a:p>
        </p:txBody>
      </p:sp>
      <p:graphicFrame>
        <p:nvGraphicFramePr>
          <p:cNvPr id="8" name="Table 7"/>
          <p:cNvGraphicFramePr>
            <a:graphicFrameLocks noGrp="1"/>
          </p:cNvGraphicFramePr>
          <p:nvPr/>
        </p:nvGraphicFramePr>
        <p:xfrm>
          <a:off x="566928" y="1600200"/>
          <a:ext cx="11045952" cy="4224528"/>
        </p:xfrm>
        <a:graphic>
          <a:graphicData uri="http://schemas.openxmlformats.org/drawingml/2006/table">
            <a:tbl>
              <a:tblPr firstRow="1" bandRow="1">
                <a:tableStyleId>{5940675A-B579-460E-94D1-54222C63F5DA}</a:tableStyleId>
              </a:tblPr>
              <a:tblGrid>
                <a:gridCol w="3657600"/>
                <a:gridCol w="3657600"/>
                <a:gridCol w="3730752"/>
              </a:tblGrid>
              <a:tr h="384048">
                <a:tc>
                  <a:txBody>
                    <a:bodyPr wrap="square"/>
                    <a:lstStyle/>
                    <a:p>
                      <a:pPr algn="l"/>
                      <a:r>
                        <a:rPr sz="1300" b="1" i="0">
                          <a:solidFill>
                            <a:srgbClr val="FFFFFF"/>
                          </a:solidFill>
                          <a:latin typeface="Times New Roman"/>
                        </a:rPr>
                        <a:t>Task</a:t>
                      </a:r>
                    </a:p>
                  </a:txBody>
                  <a:tcPr marL="63500" marR="63500" marT="25400" marB="25400" anchor="ctr">
                    <a:solidFill>
                      <a:srgbClr val="1F3864"/>
                    </a:solidFill>
                  </a:tcPr>
                </a:tc>
                <a:tc>
                  <a:txBody>
                    <a:bodyPr wrap="square"/>
                    <a:lstStyle/>
                    <a:p>
                      <a:pPr algn="l"/>
                      <a:r>
                        <a:rPr sz="1300" b="1" i="0">
                          <a:solidFill>
                            <a:srgbClr val="FFFFFF"/>
                          </a:solidFill>
                          <a:latin typeface="Times New Roman"/>
                        </a:rPr>
                        <a:t>Windows (cmd)</a:t>
                      </a:r>
                    </a:p>
                  </a:txBody>
                  <a:tcPr marL="63500" marR="63500" marT="25400" marB="25400" anchor="ctr">
                    <a:solidFill>
                      <a:srgbClr val="1F3864"/>
                    </a:solidFill>
                  </a:tcPr>
                </a:tc>
                <a:tc>
                  <a:txBody>
                    <a:bodyPr wrap="square"/>
                    <a:lstStyle/>
                    <a:p>
                      <a:pPr algn="l"/>
                      <a:r>
                        <a:rPr sz="1300" b="1" i="0">
                          <a:solidFill>
                            <a:srgbClr val="FFFFFF"/>
                          </a:solidFill>
                          <a:latin typeface="Times New Roman"/>
                        </a:rPr>
                        <a:t>Linux</a:t>
                      </a:r>
                    </a:p>
                  </a:txBody>
                  <a:tcPr marL="63500" marR="63500" marT="25400" marB="25400" anchor="ctr">
                    <a:solidFill>
                      <a:srgbClr val="1F3864"/>
                    </a:solidFill>
                  </a:tcPr>
                </a:tc>
              </a:tr>
              <a:tr h="384048">
                <a:tc>
                  <a:txBody>
                    <a:bodyPr wrap="square"/>
                    <a:lstStyle/>
                    <a:p>
                      <a:pPr algn="l"/>
                      <a:r>
                        <a:rPr sz="1300" b="1" i="0">
                          <a:solidFill>
                            <a:srgbClr val="202A38"/>
                          </a:solidFill>
                          <a:latin typeface="Times New Roman"/>
                        </a:rPr>
                        <a:t>Directory contents</a:t>
                      </a:r>
                    </a:p>
                  </a:txBody>
                  <a:tcPr marL="63500" marR="63500" marT="25400" marB="25400" anchor="ctr">
                    <a:solidFill>
                      <a:srgbClr val="FFFFFF"/>
                    </a:solidFill>
                  </a:tcPr>
                </a:tc>
                <a:tc>
                  <a:txBody>
                    <a:bodyPr wrap="square"/>
                    <a:lstStyle/>
                    <a:p>
                      <a:pPr algn="l"/>
                      <a:r>
                        <a:rPr sz="1250" b="1" i="0">
                          <a:solidFill>
                            <a:srgbClr val="178A73"/>
                          </a:solidFill>
                          <a:latin typeface="Consolas"/>
                        </a:rPr>
                        <a:t>dir</a:t>
                      </a:r>
                    </a:p>
                  </a:txBody>
                  <a:tcPr marL="63500" marR="63500" marT="25400" marB="25400" anchor="ctr">
                    <a:solidFill>
                      <a:srgbClr val="FFFFFF"/>
                    </a:solidFill>
                  </a:tcPr>
                </a:tc>
                <a:tc>
                  <a:txBody>
                    <a:bodyPr wrap="square"/>
                    <a:lstStyle/>
                    <a:p>
                      <a:pPr algn="l"/>
                      <a:r>
                        <a:rPr sz="1250" b="1" i="0">
                          <a:solidFill>
                            <a:srgbClr val="178A73"/>
                          </a:solidFill>
                          <a:latin typeface="Consolas"/>
                        </a:rPr>
                        <a:t>ls -l</a:t>
                      </a:r>
                    </a:p>
                  </a:txBody>
                  <a:tcPr marL="63500" marR="63500" marT="25400" marB="25400" anchor="ctr">
                    <a:solidFill>
                      <a:srgbClr val="FFFFFF"/>
                    </a:solidFill>
                  </a:tcPr>
                </a:tc>
              </a:tr>
              <a:tr h="384048">
                <a:tc>
                  <a:txBody>
                    <a:bodyPr wrap="square"/>
                    <a:lstStyle/>
                    <a:p>
                      <a:pPr algn="l"/>
                      <a:r>
                        <a:rPr sz="1300" b="1" i="0">
                          <a:solidFill>
                            <a:srgbClr val="202A38"/>
                          </a:solidFill>
                          <a:latin typeface="Times New Roman"/>
                        </a:rPr>
                        <a:t>Current directory</a:t>
                      </a:r>
                    </a:p>
                  </a:txBody>
                  <a:tcPr marL="63500" marR="63500" marT="25400" marB="25400" anchor="ctr">
                    <a:solidFill>
                      <a:srgbClr val="F5F8FC"/>
                    </a:solidFill>
                  </a:tcPr>
                </a:tc>
                <a:tc>
                  <a:txBody>
                    <a:bodyPr wrap="square"/>
                    <a:lstStyle/>
                    <a:p>
                      <a:pPr algn="l"/>
                      <a:r>
                        <a:rPr sz="1250" b="1" i="0">
                          <a:solidFill>
                            <a:srgbClr val="178A73"/>
                          </a:solidFill>
                          <a:latin typeface="Consolas"/>
                        </a:rPr>
                        <a:t>cd</a:t>
                      </a:r>
                    </a:p>
                  </a:txBody>
                  <a:tcPr marL="63500" marR="63500" marT="25400" marB="25400" anchor="ctr">
                    <a:solidFill>
                      <a:srgbClr val="F5F8FC"/>
                    </a:solidFill>
                  </a:tcPr>
                </a:tc>
                <a:tc>
                  <a:txBody>
                    <a:bodyPr wrap="square"/>
                    <a:lstStyle/>
                    <a:p>
                      <a:pPr algn="l"/>
                      <a:r>
                        <a:rPr sz="1250" b="1" i="0">
                          <a:solidFill>
                            <a:srgbClr val="178A73"/>
                          </a:solidFill>
                          <a:latin typeface="Consolas"/>
                        </a:rPr>
                        <a:t>pwd</a:t>
                      </a:r>
                    </a:p>
                  </a:txBody>
                  <a:tcPr marL="63500" marR="63500" marT="25400" marB="25400" anchor="ctr">
                    <a:solidFill>
                      <a:srgbClr val="F5F8FC"/>
                    </a:solidFill>
                  </a:tcPr>
                </a:tc>
              </a:tr>
              <a:tr h="384048">
                <a:tc>
                  <a:txBody>
                    <a:bodyPr wrap="square"/>
                    <a:lstStyle/>
                    <a:p>
                      <a:pPr algn="l"/>
                      <a:r>
                        <a:rPr sz="1300" b="1" i="0">
                          <a:solidFill>
                            <a:srgbClr val="202A38"/>
                          </a:solidFill>
                          <a:latin typeface="Times New Roman"/>
                        </a:rPr>
                        <a:t>Create / delete a directory</a:t>
                      </a:r>
                    </a:p>
                  </a:txBody>
                  <a:tcPr marL="63500" marR="63500" marT="25400" marB="25400" anchor="ctr">
                    <a:solidFill>
                      <a:srgbClr val="FFFFFF"/>
                    </a:solidFill>
                  </a:tcPr>
                </a:tc>
                <a:tc>
                  <a:txBody>
                    <a:bodyPr wrap="square"/>
                    <a:lstStyle/>
                    <a:p>
                      <a:pPr algn="l"/>
                      <a:r>
                        <a:rPr sz="1250" b="1" i="0">
                          <a:solidFill>
                            <a:srgbClr val="178A73"/>
                          </a:solidFill>
                          <a:latin typeface="Consolas"/>
                        </a:rPr>
                        <a:t>mkdir</a:t>
                      </a:r>
                      <a:r>
                        <a:rPr sz="1300" b="0" i="0">
                          <a:solidFill>
                            <a:srgbClr val="202A38"/>
                          </a:solidFill>
                          <a:latin typeface="Times New Roman"/>
                        </a:rPr>
                        <a:t> / </a:t>
                      </a:r>
                      <a:r>
                        <a:rPr sz="1250" b="1" i="0">
                          <a:solidFill>
                            <a:srgbClr val="178A73"/>
                          </a:solidFill>
                          <a:latin typeface="Consolas"/>
                        </a:rPr>
                        <a:t>rmdir /s</a:t>
                      </a:r>
                    </a:p>
                  </a:txBody>
                  <a:tcPr marL="63500" marR="63500" marT="25400" marB="25400" anchor="ctr">
                    <a:solidFill>
                      <a:srgbClr val="FFFFFF"/>
                    </a:solidFill>
                  </a:tcPr>
                </a:tc>
                <a:tc>
                  <a:txBody>
                    <a:bodyPr wrap="square"/>
                    <a:lstStyle/>
                    <a:p>
                      <a:pPr algn="l"/>
                      <a:r>
                        <a:rPr sz="1250" b="1" i="0">
                          <a:solidFill>
                            <a:srgbClr val="178A73"/>
                          </a:solidFill>
                          <a:latin typeface="Consolas"/>
                        </a:rPr>
                        <a:t>mkdir -p</a:t>
                      </a:r>
                      <a:r>
                        <a:rPr sz="1300" b="0" i="0">
                          <a:solidFill>
                            <a:srgbClr val="202A38"/>
                          </a:solidFill>
                          <a:latin typeface="Times New Roman"/>
                        </a:rPr>
                        <a:t> / </a:t>
                      </a:r>
                      <a:r>
                        <a:rPr sz="1250" b="1" i="0">
                          <a:solidFill>
                            <a:srgbClr val="178A73"/>
                          </a:solidFill>
                          <a:latin typeface="Consolas"/>
                        </a:rPr>
                        <a:t>rm -r</a:t>
                      </a:r>
                    </a:p>
                  </a:txBody>
                  <a:tcPr marL="63500" marR="63500" marT="25400" marB="25400" anchor="ctr">
                    <a:solidFill>
                      <a:srgbClr val="FFFFFF"/>
                    </a:solidFill>
                  </a:tcPr>
                </a:tc>
              </a:tr>
              <a:tr h="384048">
                <a:tc>
                  <a:txBody>
                    <a:bodyPr wrap="square"/>
                    <a:lstStyle/>
                    <a:p>
                      <a:pPr algn="l"/>
                      <a:r>
                        <a:rPr sz="1300" b="1" i="0">
                          <a:solidFill>
                            <a:srgbClr val="202A38"/>
                          </a:solidFill>
                          <a:latin typeface="Times New Roman"/>
                        </a:rPr>
                        <a:t>Copy / move</a:t>
                      </a:r>
                    </a:p>
                  </a:txBody>
                  <a:tcPr marL="63500" marR="63500" marT="25400" marB="25400" anchor="ctr">
                    <a:solidFill>
                      <a:srgbClr val="F5F8FC"/>
                    </a:solidFill>
                  </a:tcPr>
                </a:tc>
                <a:tc>
                  <a:txBody>
                    <a:bodyPr wrap="square"/>
                    <a:lstStyle/>
                    <a:p>
                      <a:pPr algn="l"/>
                      <a:r>
                        <a:rPr sz="1250" b="1" i="0">
                          <a:solidFill>
                            <a:srgbClr val="178A73"/>
                          </a:solidFill>
                          <a:latin typeface="Consolas"/>
                        </a:rPr>
                        <a:t>copy</a:t>
                      </a:r>
                      <a:r>
                        <a:rPr sz="1300" b="0" i="0">
                          <a:solidFill>
                            <a:srgbClr val="202A38"/>
                          </a:solidFill>
                          <a:latin typeface="Times New Roman"/>
                        </a:rPr>
                        <a:t>, </a:t>
                      </a:r>
                      <a:r>
                        <a:rPr sz="1250" b="1" i="0">
                          <a:solidFill>
                            <a:srgbClr val="178A73"/>
                          </a:solidFill>
                          <a:latin typeface="Consolas"/>
                        </a:rPr>
                        <a:t>xcopy</a:t>
                      </a:r>
                      <a:r>
                        <a:rPr sz="1300" b="0" i="0">
                          <a:solidFill>
                            <a:srgbClr val="202A38"/>
                          </a:solidFill>
                          <a:latin typeface="Times New Roman"/>
                        </a:rPr>
                        <a:t> / </a:t>
                      </a:r>
                      <a:r>
                        <a:rPr sz="1250" b="1" i="0">
                          <a:solidFill>
                            <a:srgbClr val="178A73"/>
                          </a:solidFill>
                          <a:latin typeface="Consolas"/>
                        </a:rPr>
                        <a:t>move</a:t>
                      </a:r>
                    </a:p>
                  </a:txBody>
                  <a:tcPr marL="63500" marR="63500" marT="25400" marB="25400" anchor="ctr">
                    <a:solidFill>
                      <a:srgbClr val="F5F8FC"/>
                    </a:solidFill>
                  </a:tcPr>
                </a:tc>
                <a:tc>
                  <a:txBody>
                    <a:bodyPr wrap="square"/>
                    <a:lstStyle/>
                    <a:p>
                      <a:pPr algn="l"/>
                      <a:r>
                        <a:rPr sz="1250" b="1" i="0">
                          <a:solidFill>
                            <a:srgbClr val="178A73"/>
                          </a:solidFill>
                          <a:latin typeface="Consolas"/>
                        </a:rPr>
                        <a:t>cp -r</a:t>
                      </a:r>
                      <a:r>
                        <a:rPr sz="1300" b="0" i="0">
                          <a:solidFill>
                            <a:srgbClr val="202A38"/>
                          </a:solidFill>
                          <a:latin typeface="Times New Roman"/>
                        </a:rPr>
                        <a:t> / </a:t>
                      </a:r>
                      <a:r>
                        <a:rPr sz="1250" b="1" i="0">
                          <a:solidFill>
                            <a:srgbClr val="178A73"/>
                          </a:solidFill>
                          <a:latin typeface="Consolas"/>
                        </a:rPr>
                        <a:t>mv</a:t>
                      </a:r>
                    </a:p>
                  </a:txBody>
                  <a:tcPr marL="63500" marR="63500" marT="25400" marB="25400" anchor="ctr">
                    <a:solidFill>
                      <a:srgbClr val="F5F8FC"/>
                    </a:solidFill>
                  </a:tcPr>
                </a:tc>
              </a:tr>
              <a:tr h="384048">
                <a:tc>
                  <a:txBody>
                    <a:bodyPr wrap="square"/>
                    <a:lstStyle/>
                    <a:p>
                      <a:pPr algn="l"/>
                      <a:r>
                        <a:rPr sz="1300" b="1" i="0">
                          <a:solidFill>
                            <a:srgbClr val="202A38"/>
                          </a:solidFill>
                          <a:latin typeface="Times New Roman"/>
                        </a:rPr>
                        <a:t>Delete</a:t>
                      </a:r>
                    </a:p>
                  </a:txBody>
                  <a:tcPr marL="63500" marR="63500" marT="25400" marB="25400" anchor="ctr">
                    <a:solidFill>
                      <a:srgbClr val="FFFFFF"/>
                    </a:solidFill>
                  </a:tcPr>
                </a:tc>
                <a:tc>
                  <a:txBody>
                    <a:bodyPr wrap="square"/>
                    <a:lstStyle/>
                    <a:p>
                      <a:pPr algn="l"/>
                      <a:r>
                        <a:rPr sz="1250" b="1" i="0">
                          <a:solidFill>
                            <a:srgbClr val="178A73"/>
                          </a:solidFill>
                          <a:latin typeface="Consolas"/>
                        </a:rPr>
                        <a:t>del</a:t>
                      </a:r>
                    </a:p>
                  </a:txBody>
                  <a:tcPr marL="63500" marR="63500" marT="25400" marB="25400" anchor="ctr">
                    <a:solidFill>
                      <a:srgbClr val="FFFFFF"/>
                    </a:solidFill>
                  </a:tcPr>
                </a:tc>
                <a:tc>
                  <a:txBody>
                    <a:bodyPr wrap="square"/>
                    <a:lstStyle/>
                    <a:p>
                      <a:pPr algn="l"/>
                      <a:r>
                        <a:rPr sz="1250" b="1" i="0">
                          <a:solidFill>
                            <a:srgbClr val="178A73"/>
                          </a:solidFill>
                          <a:latin typeface="Consolas"/>
                        </a:rPr>
                        <a:t>rm</a:t>
                      </a:r>
                    </a:p>
                  </a:txBody>
                  <a:tcPr marL="63500" marR="63500" marT="25400" marB="25400" anchor="ctr">
                    <a:solidFill>
                      <a:srgbClr val="FFFFFF"/>
                    </a:solidFill>
                  </a:tcPr>
                </a:tc>
              </a:tr>
              <a:tr h="384048">
                <a:tc>
                  <a:txBody>
                    <a:bodyPr wrap="square"/>
                    <a:lstStyle/>
                    <a:p>
                      <a:pPr algn="l"/>
                      <a:r>
                        <a:rPr sz="1300" b="1" i="0">
                          <a:solidFill>
                            <a:srgbClr val="202A38"/>
                          </a:solidFill>
                          <a:latin typeface="Times New Roman"/>
                        </a:rPr>
                        <a:t>View a file</a:t>
                      </a:r>
                    </a:p>
                  </a:txBody>
                  <a:tcPr marL="63500" marR="63500" marT="25400" marB="25400" anchor="ctr">
                    <a:solidFill>
                      <a:srgbClr val="F5F8FC"/>
                    </a:solidFill>
                  </a:tcPr>
                </a:tc>
                <a:tc>
                  <a:txBody>
                    <a:bodyPr wrap="square"/>
                    <a:lstStyle/>
                    <a:p>
                      <a:pPr algn="l"/>
                      <a:r>
                        <a:rPr sz="1250" b="1" i="0">
                          <a:solidFill>
                            <a:srgbClr val="178A73"/>
                          </a:solidFill>
                          <a:latin typeface="Consolas"/>
                        </a:rPr>
                        <a:t>type</a:t>
                      </a:r>
                      <a:r>
                        <a:rPr sz="1300" b="0" i="0">
                          <a:solidFill>
                            <a:srgbClr val="202A38"/>
                          </a:solidFill>
                          <a:latin typeface="Times New Roman"/>
                        </a:rPr>
                        <a:t>, </a:t>
                      </a:r>
                      <a:r>
                        <a:rPr sz="1250" b="1" i="0">
                          <a:solidFill>
                            <a:srgbClr val="178A73"/>
                          </a:solidFill>
                          <a:latin typeface="Consolas"/>
                        </a:rPr>
                        <a:t>more</a:t>
                      </a:r>
                    </a:p>
                  </a:txBody>
                  <a:tcPr marL="63500" marR="63500" marT="25400" marB="25400" anchor="ctr">
                    <a:solidFill>
                      <a:srgbClr val="F5F8FC"/>
                    </a:solidFill>
                  </a:tcPr>
                </a:tc>
                <a:tc>
                  <a:txBody>
                    <a:bodyPr wrap="square"/>
                    <a:lstStyle/>
                    <a:p>
                      <a:pPr algn="l"/>
                      <a:r>
                        <a:rPr sz="1250" b="1" i="0">
                          <a:solidFill>
                            <a:srgbClr val="178A73"/>
                          </a:solidFill>
                          <a:latin typeface="Consolas"/>
                        </a:rPr>
                        <a:t>cat</a:t>
                      </a:r>
                      <a:r>
                        <a:rPr sz="1300" b="0" i="0">
                          <a:solidFill>
                            <a:srgbClr val="202A38"/>
                          </a:solidFill>
                          <a:latin typeface="Times New Roman"/>
                        </a:rPr>
                        <a:t>, </a:t>
                      </a:r>
                      <a:r>
                        <a:rPr sz="1250" b="1" i="0">
                          <a:solidFill>
                            <a:srgbClr val="178A73"/>
                          </a:solidFill>
                          <a:latin typeface="Consolas"/>
                        </a:rPr>
                        <a:t>less</a:t>
                      </a:r>
                    </a:p>
                  </a:txBody>
                  <a:tcPr marL="63500" marR="63500" marT="25400" marB="25400" anchor="ctr">
                    <a:solidFill>
                      <a:srgbClr val="F5F8FC"/>
                    </a:solidFill>
                  </a:tcPr>
                </a:tc>
              </a:tr>
              <a:tr h="384048">
                <a:tc>
                  <a:txBody>
                    <a:bodyPr wrap="square"/>
                    <a:lstStyle/>
                    <a:p>
                      <a:pPr algn="l"/>
                      <a:r>
                        <a:rPr sz="1300" b="1" i="0">
                          <a:solidFill>
                            <a:srgbClr val="202A38"/>
                          </a:solidFill>
                          <a:latin typeface="Times New Roman"/>
                        </a:rPr>
                        <a:t>Rename</a:t>
                      </a:r>
                    </a:p>
                  </a:txBody>
                  <a:tcPr marL="63500" marR="63500" marT="25400" marB="25400" anchor="ctr">
                    <a:solidFill>
                      <a:srgbClr val="FFFFFF"/>
                    </a:solidFill>
                  </a:tcPr>
                </a:tc>
                <a:tc>
                  <a:txBody>
                    <a:bodyPr wrap="square"/>
                    <a:lstStyle/>
                    <a:p>
                      <a:pPr algn="l"/>
                      <a:r>
                        <a:rPr sz="1250" b="1" i="0">
                          <a:solidFill>
                            <a:srgbClr val="178A73"/>
                          </a:solidFill>
                          <a:latin typeface="Consolas"/>
                        </a:rPr>
                        <a:t>ren</a:t>
                      </a:r>
                    </a:p>
                  </a:txBody>
                  <a:tcPr marL="63500" marR="63500" marT="25400" marB="25400" anchor="ctr">
                    <a:solidFill>
                      <a:srgbClr val="FFFFFF"/>
                    </a:solidFill>
                  </a:tcPr>
                </a:tc>
                <a:tc>
                  <a:txBody>
                    <a:bodyPr wrap="square"/>
                    <a:lstStyle/>
                    <a:p>
                      <a:pPr algn="l"/>
                      <a:r>
                        <a:rPr sz="1250" b="1" i="0">
                          <a:solidFill>
                            <a:srgbClr val="178A73"/>
                          </a:solidFill>
                          <a:latin typeface="Consolas"/>
                        </a:rPr>
                        <a:t>mv</a:t>
                      </a:r>
                    </a:p>
                  </a:txBody>
                  <a:tcPr marL="63500" marR="63500" marT="25400" marB="25400" anchor="ctr">
                    <a:solidFill>
                      <a:srgbClr val="FFFFFF"/>
                    </a:solidFill>
                  </a:tcPr>
                </a:tc>
              </a:tr>
              <a:tr h="384048">
                <a:tc>
                  <a:txBody>
                    <a:bodyPr wrap="square"/>
                    <a:lstStyle/>
                    <a:p>
                      <a:pPr algn="l"/>
                      <a:r>
                        <a:rPr sz="1300" b="1" i="0">
                          <a:solidFill>
                            <a:srgbClr val="202A38"/>
                          </a:solidFill>
                          <a:latin typeface="Times New Roman"/>
                        </a:rPr>
                        <a:t>Search for a file</a:t>
                      </a:r>
                    </a:p>
                  </a:txBody>
                  <a:tcPr marL="63500" marR="63500" marT="25400" marB="25400" anchor="ctr">
                    <a:solidFill>
                      <a:srgbClr val="F5F8FC"/>
                    </a:solidFill>
                  </a:tcPr>
                </a:tc>
                <a:tc>
                  <a:txBody>
                    <a:bodyPr wrap="square"/>
                    <a:lstStyle/>
                    <a:p>
                      <a:pPr algn="l"/>
                      <a:r>
                        <a:rPr sz="1250" b="1" i="0">
                          <a:solidFill>
                            <a:srgbClr val="178A73"/>
                          </a:solidFill>
                          <a:latin typeface="Consolas"/>
                        </a:rPr>
                        <a:t>dir /s file</a:t>
                      </a:r>
                    </a:p>
                  </a:txBody>
                  <a:tcPr marL="63500" marR="63500" marT="25400" marB="25400" anchor="ctr">
                    <a:solidFill>
                      <a:srgbClr val="F5F8FC"/>
                    </a:solidFill>
                  </a:tcPr>
                </a:tc>
                <a:tc>
                  <a:txBody>
                    <a:bodyPr wrap="square"/>
                    <a:lstStyle/>
                    <a:p>
                      <a:pPr algn="l"/>
                      <a:r>
                        <a:rPr sz="1250" b="1" i="0">
                          <a:solidFill>
                            <a:srgbClr val="178A73"/>
                          </a:solidFill>
                          <a:latin typeface="Consolas"/>
                        </a:rPr>
                        <a:t>find / -name file</a:t>
                      </a:r>
                    </a:p>
                  </a:txBody>
                  <a:tcPr marL="63500" marR="63500" marT="25400" marB="25400" anchor="ctr">
                    <a:solidFill>
                      <a:srgbClr val="F5F8FC"/>
                    </a:solidFill>
                  </a:tcPr>
                </a:tc>
              </a:tr>
              <a:tr h="384048">
                <a:tc>
                  <a:txBody>
                    <a:bodyPr wrap="square"/>
                    <a:lstStyle/>
                    <a:p>
                      <a:pPr algn="l"/>
                      <a:r>
                        <a:rPr sz="1300" b="1" i="0">
                          <a:solidFill>
                            <a:srgbClr val="202A38"/>
                          </a:solidFill>
                          <a:latin typeface="Times New Roman"/>
                        </a:rPr>
                        <a:t>Clear the screen</a:t>
                      </a:r>
                    </a:p>
                  </a:txBody>
                  <a:tcPr marL="63500" marR="63500" marT="25400" marB="25400" anchor="ctr">
                    <a:solidFill>
                      <a:srgbClr val="FFFFFF"/>
                    </a:solidFill>
                  </a:tcPr>
                </a:tc>
                <a:tc>
                  <a:txBody>
                    <a:bodyPr wrap="square"/>
                    <a:lstStyle/>
                    <a:p>
                      <a:pPr algn="l"/>
                      <a:r>
                        <a:rPr sz="1250" b="1" i="0">
                          <a:solidFill>
                            <a:srgbClr val="178A73"/>
                          </a:solidFill>
                          <a:latin typeface="Consolas"/>
                        </a:rPr>
                        <a:t>cls</a:t>
                      </a:r>
                    </a:p>
                  </a:txBody>
                  <a:tcPr marL="63500" marR="63500" marT="25400" marB="25400" anchor="ctr">
                    <a:solidFill>
                      <a:srgbClr val="FFFFFF"/>
                    </a:solidFill>
                  </a:tcPr>
                </a:tc>
                <a:tc>
                  <a:txBody>
                    <a:bodyPr wrap="square"/>
                    <a:lstStyle/>
                    <a:p>
                      <a:pPr algn="l"/>
                      <a:r>
                        <a:rPr sz="1250" b="1" i="0">
                          <a:solidFill>
                            <a:srgbClr val="178A73"/>
                          </a:solidFill>
                          <a:latin typeface="Consolas"/>
                        </a:rPr>
                        <a:t>clear</a:t>
                      </a:r>
                      <a:r>
                        <a:rPr sz="1300" b="0" i="0">
                          <a:solidFill>
                            <a:srgbClr val="202A38"/>
                          </a:solidFill>
                          <a:latin typeface="Times New Roman"/>
                        </a:rPr>
                        <a:t> · </a:t>
                      </a:r>
                      <a:r>
                        <a:rPr sz="1300" b="1" i="0">
                          <a:solidFill>
                            <a:srgbClr val="1F3864"/>
                          </a:solidFill>
                          <a:latin typeface="Cambria Math"/>
                        </a:rPr>
                        <a:t> Ctrl </a:t>
                      </a:r>
                      <a:r>
                        <a:rPr sz="1300" b="0" i="0">
                          <a:solidFill>
                            <a:srgbClr val="202A38"/>
                          </a:solidFill>
                          <a:latin typeface="Times New Roman"/>
                        </a:rPr>
                        <a:t> + </a:t>
                      </a:r>
                      <a:r>
                        <a:rPr sz="1300" b="1" i="0">
                          <a:solidFill>
                            <a:srgbClr val="1F3864"/>
                          </a:solidFill>
                          <a:latin typeface="Cambria Math"/>
                        </a:rPr>
                        <a:t> L </a:t>
                      </a:r>
                    </a:p>
                  </a:txBody>
                  <a:tcPr marL="63500" marR="63500" marT="25400" marB="25400" anchor="ctr">
                    <a:solidFill>
                      <a:srgbClr val="FFFFFF"/>
                    </a:solidFill>
                  </a:tcPr>
                </a:tc>
              </a:tr>
              <a:tr h="384048">
                <a:tc>
                  <a:txBody>
                    <a:bodyPr wrap="square"/>
                    <a:lstStyle/>
                    <a:p>
                      <a:pPr algn="l"/>
                      <a:r>
                        <a:rPr sz="1300" b="1" i="0">
                          <a:solidFill>
                            <a:srgbClr val="202A38"/>
                          </a:solidFill>
                          <a:latin typeface="Times New Roman"/>
                        </a:rPr>
                        <a:t>System information</a:t>
                      </a:r>
                    </a:p>
                  </a:txBody>
                  <a:tcPr marL="63500" marR="63500" marT="25400" marB="25400" anchor="ctr">
                    <a:solidFill>
                      <a:srgbClr val="F5F8FC"/>
                    </a:solidFill>
                  </a:tcPr>
                </a:tc>
                <a:tc>
                  <a:txBody>
                    <a:bodyPr wrap="square"/>
                    <a:lstStyle/>
                    <a:p>
                      <a:pPr algn="l"/>
                      <a:r>
                        <a:rPr sz="1250" b="1" i="0">
                          <a:solidFill>
                            <a:srgbClr val="178A73"/>
                          </a:solidFill>
                          <a:latin typeface="Consolas"/>
                        </a:rPr>
                        <a:t>systeminfo</a:t>
                      </a:r>
                      <a:r>
                        <a:rPr sz="1300" b="0" i="0">
                          <a:solidFill>
                            <a:srgbClr val="202A38"/>
                          </a:solidFill>
                          <a:latin typeface="Times New Roman"/>
                        </a:rPr>
                        <a:t>, </a:t>
                      </a:r>
                      <a:r>
                        <a:rPr sz="1250" b="1" i="0">
                          <a:solidFill>
                            <a:srgbClr val="178A73"/>
                          </a:solidFill>
                          <a:latin typeface="Consolas"/>
                        </a:rPr>
                        <a:t>winver</a:t>
                      </a:r>
                    </a:p>
                  </a:txBody>
                  <a:tcPr marL="63500" marR="63500" marT="25400" marB="25400" anchor="ctr">
                    <a:solidFill>
                      <a:srgbClr val="F5F8FC"/>
                    </a:solidFill>
                  </a:tcPr>
                </a:tc>
                <a:tc>
                  <a:txBody>
                    <a:bodyPr wrap="square"/>
                    <a:lstStyle/>
                    <a:p>
                      <a:pPr algn="l"/>
                      <a:r>
                        <a:rPr sz="1250" b="1" i="0">
                          <a:solidFill>
                            <a:srgbClr val="178A73"/>
                          </a:solidFill>
                          <a:latin typeface="Consolas"/>
                        </a:rPr>
                        <a:t>hostnamectl</a:t>
                      </a:r>
                      <a:r>
                        <a:rPr sz="1300" b="0" i="0">
                          <a:solidFill>
                            <a:srgbClr val="202A38"/>
                          </a:solidFill>
                          <a:latin typeface="Times New Roman"/>
                        </a:rPr>
                        <a:t>, </a:t>
                      </a:r>
                      <a:r>
                        <a:rPr sz="1250" b="1" i="0">
                          <a:solidFill>
                            <a:srgbClr val="178A73"/>
                          </a:solidFill>
                          <a:latin typeface="Consolas"/>
                        </a:rPr>
                        <a:t>uname -a</a:t>
                      </a:r>
                    </a:p>
                  </a:txBody>
                  <a:tcPr marL="63500" marR="63500" marT="25400" marB="25400" anchor="ctr">
                    <a:solidFill>
                      <a:srgbClr val="F5F8FC"/>
                    </a:solidFill>
                  </a:tcPr>
                </a:tc>
              </a:tr>
            </a:tbl>
          </a:graphicData>
        </a:graphic>
      </p:graphicFrame>
      <p:sp>
        <p:nvSpPr>
          <p:cNvPr id="9" name="Rounded Rectangle 8"/>
          <p:cNvSpPr/>
          <p:nvPr/>
        </p:nvSpPr>
        <p:spPr>
          <a:xfrm>
            <a:off x="566928" y="5943600"/>
            <a:ext cx="11045952" cy="384048"/>
          </a:xfrm>
          <a:prstGeom prst="roundRect">
            <a:avLst>
              <a:gd name="adj" fmla="val 8000"/>
            </a:avLst>
          </a:prstGeom>
          <a:solidFill>
            <a:srgbClr val="F5F8FC"/>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earch_1F3864.png"/>
          <p:cNvPicPr>
            <a:picLocks noChangeAspect="1"/>
          </p:cNvPicPr>
          <p:nvPr/>
        </p:nvPicPr>
        <p:blipFill>
          <a:blip r:embed="rId3"/>
          <a:stretch>
            <a:fillRect/>
          </a:stretch>
        </p:blipFill>
        <p:spPr>
          <a:xfrm>
            <a:off x="694944" y="5971032"/>
            <a:ext cx="329184" cy="329184"/>
          </a:xfrm>
          <a:prstGeom prst="rect">
            <a:avLst/>
          </a:prstGeom>
        </p:spPr>
      </p:pic>
      <p:sp>
        <p:nvSpPr>
          <p:cNvPr id="11" name="TextBox 10"/>
          <p:cNvSpPr txBox="1"/>
          <p:nvPr/>
        </p:nvSpPr>
        <p:spPr>
          <a:xfrm>
            <a:off x="1133856" y="5943600"/>
            <a:ext cx="10360152" cy="384048"/>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Linux needs no separate “rename” command — </a:t>
            </a:r>
            <a:r>
              <a:rPr sz="1150" b="1" i="0">
                <a:solidFill>
                  <a:srgbClr val="178A73"/>
                </a:solidFill>
                <a:latin typeface="Consolas"/>
              </a:rPr>
              <a:t>mv</a:t>
            </a:r>
            <a:r>
              <a:rPr sz="1200" b="0" i="0">
                <a:solidFill>
                  <a:srgbClr val="202A38"/>
                </a:solidFill>
                <a:latin typeface="Times New Roman"/>
              </a:rPr>
              <a:t> also renames.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WRAP-UP</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Restoring the lab to its original state</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31</a:t>
            </a:r>
          </a:p>
        </p:txBody>
      </p:sp>
      <p:sp>
        <p:nvSpPr>
          <p:cNvPr id="8" name="Rounded Rectangle 7"/>
          <p:cNvSpPr/>
          <p:nvPr/>
        </p:nvSpPr>
        <p:spPr>
          <a:xfrm>
            <a:off x="566928" y="1600200"/>
            <a:ext cx="7315200" cy="68580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787652"/>
            <a:ext cx="310896" cy="310896"/>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FFFFFF"/>
                </a:solidFill>
                <a:latin typeface="Times New Roman"/>
              </a:rPr>
              <a:t>1</a:t>
            </a:r>
          </a:p>
        </p:txBody>
      </p:sp>
      <p:sp>
        <p:nvSpPr>
          <p:cNvPr id="10" name="TextBox 9"/>
          <p:cNvSpPr txBox="1"/>
          <p:nvPr/>
        </p:nvSpPr>
        <p:spPr>
          <a:xfrm>
            <a:off x="1069848" y="1600200"/>
            <a:ext cx="6720840" cy="685800"/>
          </a:xfrm>
          <a:prstGeom prst="rect">
            <a:avLst/>
          </a:prstGeom>
          <a:noFill/>
        </p:spPr>
        <p:txBody>
          <a:bodyPr wrap="square" anchor="ctr" lIns="0" rIns="0" tIns="0" bIns="0">
            <a:spAutoFit/>
          </a:bodyPr>
          <a:lstStyle/>
          <a:p>
            <a:pPr algn="l">
              <a:lnSpc>
                <a:spcPct val="110000"/>
              </a:lnSpc>
              <a:spcAft>
                <a:spcPts val="300"/>
              </a:spcAft>
            </a:pPr>
            <a:r>
              <a:rPr sz="1300" b="0" i="0">
                <a:solidFill>
                  <a:srgbClr val="202A38"/>
                </a:solidFill>
                <a:latin typeface="Times New Roman"/>
              </a:rPr>
              <a:t>Created files: </a:t>
            </a:r>
            <a:r>
              <a:rPr sz="1250" b="1" i="0">
                <a:solidFill>
                  <a:srgbClr val="178A73"/>
                </a:solidFill>
                <a:latin typeface="Consolas"/>
              </a:rPr>
              <a:t>rm -r ~/lab2 ~/lab2.tar ~/lab2.tar.gz ~/lab2.zip /tmp/extract</a:t>
            </a:r>
          </a:p>
        </p:txBody>
      </p:sp>
      <p:sp>
        <p:nvSpPr>
          <p:cNvPr id="11" name="Rounded Rectangle 10"/>
          <p:cNvSpPr/>
          <p:nvPr/>
        </p:nvSpPr>
        <p:spPr>
          <a:xfrm>
            <a:off x="566928" y="2377440"/>
            <a:ext cx="7315200" cy="68580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2564892"/>
            <a:ext cx="310896" cy="310896"/>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FFFFFF"/>
                </a:solidFill>
                <a:latin typeface="Times New Roman"/>
              </a:rPr>
              <a:t>2</a:t>
            </a:r>
          </a:p>
        </p:txBody>
      </p:sp>
      <p:sp>
        <p:nvSpPr>
          <p:cNvPr id="13" name="TextBox 12"/>
          <p:cNvSpPr txBox="1"/>
          <p:nvPr/>
        </p:nvSpPr>
        <p:spPr>
          <a:xfrm>
            <a:off x="1069848" y="2377440"/>
            <a:ext cx="6720840" cy="685800"/>
          </a:xfrm>
          <a:prstGeom prst="rect">
            <a:avLst/>
          </a:prstGeom>
          <a:noFill/>
        </p:spPr>
        <p:txBody>
          <a:bodyPr wrap="square" anchor="ctr" lIns="0" rIns="0" tIns="0" bIns="0">
            <a:spAutoFit/>
          </a:bodyPr>
          <a:lstStyle/>
          <a:p>
            <a:pPr algn="l">
              <a:lnSpc>
                <a:spcPct val="110000"/>
              </a:lnSpc>
              <a:spcAft>
                <a:spcPts val="300"/>
              </a:spcAft>
            </a:pPr>
            <a:r>
              <a:rPr sz="1300" b="0" i="0">
                <a:solidFill>
                  <a:srgbClr val="202A38"/>
                </a:solidFill>
                <a:latin typeface="Times New Roman"/>
              </a:rPr>
              <a:t>List copies: </a:t>
            </a:r>
            <a:r>
              <a:rPr sz="1250" b="1" i="0">
                <a:solidFill>
                  <a:srgbClr val="178A73"/>
                </a:solidFill>
                <a:latin typeface="Consolas"/>
              </a:rPr>
              <a:t>rm ~/rockyou.txt ~/rockyou.txt.gz</a:t>
            </a:r>
            <a:r>
              <a:rPr sz="1300" b="0" i="0">
                <a:solidFill>
                  <a:srgbClr val="202A38"/>
                </a:solidFill>
                <a:latin typeface="Times New Roman"/>
              </a:rPr>
              <a:t> (the original stays in </a:t>
            </a:r>
            <a:r>
              <a:rPr sz="1250" b="1" i="0">
                <a:solidFill>
                  <a:srgbClr val="178A73"/>
                </a:solidFill>
                <a:latin typeface="Consolas"/>
              </a:rPr>
              <a:t>/usr/share/wordlists</a:t>
            </a:r>
            <a:r>
              <a:rPr sz="1300" b="0" i="0">
                <a:solidFill>
                  <a:srgbClr val="202A38"/>
                </a:solidFill>
                <a:latin typeface="Times New Roman"/>
              </a:rPr>
              <a:t>)</a:t>
            </a:r>
          </a:p>
        </p:txBody>
      </p:sp>
      <p:sp>
        <p:nvSpPr>
          <p:cNvPr id="14" name="Rounded Rectangle 13"/>
          <p:cNvSpPr/>
          <p:nvPr/>
        </p:nvSpPr>
        <p:spPr>
          <a:xfrm>
            <a:off x="566928" y="3154680"/>
            <a:ext cx="7315200" cy="68580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3342132"/>
            <a:ext cx="310896" cy="310896"/>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FFFFFF"/>
                </a:solidFill>
                <a:latin typeface="Times New Roman"/>
              </a:rPr>
              <a:t>3</a:t>
            </a:r>
          </a:p>
        </p:txBody>
      </p:sp>
      <p:sp>
        <p:nvSpPr>
          <p:cNvPr id="16" name="TextBox 15"/>
          <p:cNvSpPr txBox="1"/>
          <p:nvPr/>
        </p:nvSpPr>
        <p:spPr>
          <a:xfrm>
            <a:off x="1069848" y="3154680"/>
            <a:ext cx="6720840" cy="685800"/>
          </a:xfrm>
          <a:prstGeom prst="rect">
            <a:avLst/>
          </a:prstGeom>
          <a:noFill/>
        </p:spPr>
        <p:txBody>
          <a:bodyPr wrap="square" anchor="ctr" lIns="0" rIns="0" tIns="0" bIns="0">
            <a:spAutoFit/>
          </a:bodyPr>
          <a:lstStyle/>
          <a:p>
            <a:pPr algn="l">
              <a:lnSpc>
                <a:spcPct val="110000"/>
              </a:lnSpc>
              <a:spcAft>
                <a:spcPts val="300"/>
              </a:spcAft>
            </a:pPr>
            <a:r>
              <a:rPr sz="1300" b="0" i="0">
                <a:solidFill>
                  <a:srgbClr val="202A38"/>
                </a:solidFill>
                <a:latin typeface="Times New Roman"/>
              </a:rPr>
              <a:t>Check: </a:t>
            </a:r>
            <a:r>
              <a:rPr sz="1250" b="1" i="0">
                <a:solidFill>
                  <a:srgbClr val="178A73"/>
                </a:solidFill>
                <a:latin typeface="Consolas"/>
              </a:rPr>
              <a:t>ls ~</a:t>
            </a:r>
            <a:r>
              <a:rPr sz="1300" b="0" i="0">
                <a:solidFill>
                  <a:srgbClr val="202A38"/>
                </a:solidFill>
                <a:latin typeface="Times New Roman"/>
              </a:rPr>
              <a:t> — only the standard directories should remain</a:t>
            </a:r>
          </a:p>
        </p:txBody>
      </p:sp>
      <p:sp>
        <p:nvSpPr>
          <p:cNvPr id="17" name="Rounded Rectangle 16"/>
          <p:cNvSpPr/>
          <p:nvPr/>
        </p:nvSpPr>
        <p:spPr>
          <a:xfrm>
            <a:off x="566928" y="3931920"/>
            <a:ext cx="7315200" cy="68580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4119372"/>
            <a:ext cx="310896" cy="310896"/>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FFFFFF"/>
                </a:solidFill>
                <a:latin typeface="Times New Roman"/>
              </a:rPr>
              <a:t>4</a:t>
            </a:r>
          </a:p>
        </p:txBody>
      </p:sp>
      <p:sp>
        <p:nvSpPr>
          <p:cNvPr id="19" name="TextBox 18"/>
          <p:cNvSpPr txBox="1"/>
          <p:nvPr/>
        </p:nvSpPr>
        <p:spPr>
          <a:xfrm>
            <a:off x="1069848" y="3931920"/>
            <a:ext cx="6720840" cy="685800"/>
          </a:xfrm>
          <a:prstGeom prst="rect">
            <a:avLst/>
          </a:prstGeom>
          <a:noFill/>
        </p:spPr>
        <p:txBody>
          <a:bodyPr wrap="square" anchor="ctr" lIns="0" rIns="0" tIns="0" bIns="0">
            <a:spAutoFit/>
          </a:bodyPr>
          <a:lstStyle/>
          <a:p>
            <a:pPr algn="l">
              <a:lnSpc>
                <a:spcPct val="110000"/>
              </a:lnSpc>
              <a:spcAft>
                <a:spcPts val="300"/>
              </a:spcAft>
            </a:pPr>
            <a:r>
              <a:rPr sz="1300" b="0" i="0">
                <a:solidFill>
                  <a:srgbClr val="202A38"/>
                </a:solidFill>
                <a:latin typeface="Times New Roman"/>
              </a:rPr>
              <a:t>The easiest way — restore the snapshot (Restore)</a:t>
            </a:r>
          </a:p>
        </p:txBody>
      </p:sp>
      <p:sp>
        <p:nvSpPr>
          <p:cNvPr id="20" name="Rounded Rectangle 19"/>
          <p:cNvSpPr/>
          <p:nvPr/>
        </p:nvSpPr>
        <p:spPr>
          <a:xfrm>
            <a:off x="8138160" y="1600200"/>
            <a:ext cx="3474720" cy="3017520"/>
          </a:xfrm>
          <a:prstGeom prst="roundRect">
            <a:avLst>
              <a:gd name="adj" fmla="val 6000"/>
            </a:avLst>
          </a:prstGeom>
          <a:solidFill>
            <a:srgbClr val="1F3864"/>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26880" y="1828800"/>
            <a:ext cx="1051560" cy="105156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history_FFFFFF.png"/>
          <p:cNvPicPr>
            <a:picLocks noChangeAspect="1"/>
          </p:cNvPicPr>
          <p:nvPr/>
        </p:nvPicPr>
        <p:blipFill>
          <a:blip r:embed="rId3"/>
          <a:stretch>
            <a:fillRect/>
          </a:stretch>
        </p:blipFill>
        <p:spPr>
          <a:xfrm>
            <a:off x="9589770" y="2091690"/>
            <a:ext cx="525780" cy="525780"/>
          </a:xfrm>
          <a:prstGeom prst="rect">
            <a:avLst/>
          </a:prstGeom>
        </p:spPr>
      </p:pic>
      <p:sp>
        <p:nvSpPr>
          <p:cNvPr id="23" name="TextBox 22"/>
          <p:cNvSpPr txBox="1"/>
          <p:nvPr/>
        </p:nvSpPr>
        <p:spPr>
          <a:xfrm>
            <a:off x="8275320" y="3063240"/>
            <a:ext cx="3200400" cy="457200"/>
          </a:xfrm>
          <a:prstGeom prst="rect">
            <a:avLst/>
          </a:prstGeom>
          <a:noFill/>
        </p:spPr>
        <p:txBody>
          <a:bodyPr wrap="square" anchor="t" lIns="0" rIns="0" tIns="0" bIns="0">
            <a:spAutoFit/>
          </a:bodyPr>
          <a:lstStyle/>
          <a:p>
            <a:pPr algn="ctr">
              <a:lnSpc>
                <a:spcPct val="110000"/>
              </a:lnSpc>
              <a:spcAft>
                <a:spcPts val="300"/>
              </a:spcAft>
            </a:pPr>
            <a:r>
              <a:rPr sz="2200" b="1" i="0">
                <a:solidFill>
                  <a:srgbClr val="FFFFFF"/>
                </a:solidFill>
                <a:latin typeface="Consolas"/>
              </a:rPr>
              <a:t>Snapshot</a:t>
            </a:r>
          </a:p>
        </p:txBody>
      </p:sp>
      <p:sp>
        <p:nvSpPr>
          <p:cNvPr id="24" name="TextBox 23"/>
          <p:cNvSpPr txBox="1"/>
          <p:nvPr/>
        </p:nvSpPr>
        <p:spPr>
          <a:xfrm>
            <a:off x="8275320" y="3611880"/>
            <a:ext cx="3200400" cy="822960"/>
          </a:xfrm>
          <a:prstGeom prst="rect">
            <a:avLst/>
          </a:prstGeom>
          <a:noFill/>
        </p:spPr>
        <p:txBody>
          <a:bodyPr wrap="square" anchor="t" lIns="0" rIns="0" tIns="0" bIns="0">
            <a:spAutoFit/>
          </a:bodyPr>
          <a:lstStyle/>
          <a:p>
            <a:pPr algn="ctr">
              <a:lnSpc>
                <a:spcPct val="110000"/>
              </a:lnSpc>
              <a:spcAft>
                <a:spcPts val="300"/>
              </a:spcAft>
            </a:pPr>
            <a:r>
              <a:rPr sz="1300" b="0" i="0">
                <a:solidFill>
                  <a:srgbClr val="DDE6F2"/>
                </a:solidFill>
                <a:latin typeface="Times New Roman"/>
              </a:rPr>
              <a:t>Restore — undoes all changes in one action</a:t>
            </a:r>
          </a:p>
        </p:txBody>
      </p:sp>
      <p:sp>
        <p:nvSpPr>
          <p:cNvPr id="25" name="Rounded Rectangle 24"/>
          <p:cNvSpPr/>
          <p:nvPr/>
        </p:nvSpPr>
        <p:spPr>
          <a:xfrm>
            <a:off x="566928" y="4892040"/>
            <a:ext cx="11045952" cy="731520"/>
          </a:xfrm>
          <a:prstGeom prst="roundRect">
            <a:avLst>
              <a:gd name="adj" fmla="val 8000"/>
            </a:avLst>
          </a:prstGeom>
          <a:solidFill>
            <a:srgbClr val="FFF6E5"/>
          </a:solidFill>
          <a:ln w="15875">
            <a:solidFill>
              <a:srgbClr val="E08E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warning_E08E1D.png"/>
          <p:cNvPicPr>
            <a:picLocks noChangeAspect="1"/>
          </p:cNvPicPr>
          <p:nvPr/>
        </p:nvPicPr>
        <p:blipFill>
          <a:blip r:embed="rId4"/>
          <a:stretch>
            <a:fillRect/>
          </a:stretch>
        </p:blipFill>
        <p:spPr>
          <a:xfrm>
            <a:off x="694944" y="5093208"/>
            <a:ext cx="329184" cy="329184"/>
          </a:xfrm>
          <a:prstGeom prst="rect">
            <a:avLst/>
          </a:prstGeom>
        </p:spPr>
      </p:pic>
      <p:sp>
        <p:nvSpPr>
          <p:cNvPr id="27" name="TextBox 26"/>
          <p:cNvSpPr txBox="1"/>
          <p:nvPr/>
        </p:nvSpPr>
        <p:spPr>
          <a:xfrm>
            <a:off x="1133856" y="4892040"/>
            <a:ext cx="10360152" cy="731520"/>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Before a templated </a:t>
            </a:r>
            <a:r>
              <a:rPr sz="1200" b="1" i="0">
                <a:solidFill>
                  <a:srgbClr val="178A73"/>
                </a:solidFill>
                <a:latin typeface="Consolas"/>
              </a:rPr>
              <a:t>rm -r</a:t>
            </a:r>
            <a:r>
              <a:rPr sz="1250" b="0" i="0">
                <a:solidFill>
                  <a:srgbClr val="202A38"/>
                </a:solidFill>
                <a:latin typeface="Times New Roman"/>
              </a:rPr>
              <a:t>, review the same paths with </a:t>
            </a:r>
            <a:r>
              <a:rPr sz="1200" b="1" i="0">
                <a:solidFill>
                  <a:srgbClr val="178A73"/>
                </a:solidFill>
                <a:latin typeface="Consolas"/>
              </a:rPr>
              <a:t>ls</a:t>
            </a:r>
            <a:r>
              <a:rPr sz="1250" b="0" i="0">
                <a:solidFill>
                  <a:srgbClr val="202A38"/>
                </a:solidFill>
                <a:latin typeface="Times New Roman"/>
              </a:rPr>
              <a:t> — one extra space can delete other files.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FINAL LAB ASSIGNMENT</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Do it yourself and prepare a report with screenshots</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32</a:t>
            </a:r>
          </a:p>
        </p:txBody>
      </p:sp>
      <p:graphicFrame>
        <p:nvGraphicFramePr>
          <p:cNvPr id="8" name="Table 7"/>
          <p:cNvGraphicFramePr>
            <a:graphicFrameLocks noGrp="1"/>
          </p:cNvGraphicFramePr>
          <p:nvPr/>
        </p:nvGraphicFramePr>
        <p:xfrm>
          <a:off x="566928" y="1600200"/>
          <a:ext cx="11045952" cy="3401568"/>
        </p:xfrm>
        <a:graphic>
          <a:graphicData uri="http://schemas.openxmlformats.org/drawingml/2006/table">
            <a:tbl>
              <a:tblPr firstRow="1" bandRow="1">
                <a:tableStyleId>{5940675A-B579-460E-94D1-54222C63F5DA}</a:tableStyleId>
              </a:tblPr>
              <a:tblGrid>
                <a:gridCol w="457200"/>
                <a:gridCol w="6400800"/>
                <a:gridCol w="4187952"/>
              </a:tblGrid>
              <a:tr h="566928">
                <a:tc>
                  <a:txBody>
                    <a:bodyPr wrap="square"/>
                    <a:lstStyle/>
                    <a:p>
                      <a:pPr algn="l"/>
                      <a:r>
                        <a:rPr sz="1200" b="1" i="0">
                          <a:solidFill>
                            <a:srgbClr val="FFFFFF"/>
                          </a:solidFill>
                          <a:latin typeface="Times New Roman"/>
                        </a:rPr>
                        <a:t>#</a:t>
                      </a:r>
                    </a:p>
                  </a:txBody>
                  <a:tcPr marL="63500" marR="63500" marT="25400" marB="25400" anchor="ctr">
                    <a:solidFill>
                      <a:srgbClr val="1F3864"/>
                    </a:solidFill>
                  </a:tcPr>
                </a:tc>
                <a:tc>
                  <a:txBody>
                    <a:bodyPr wrap="square"/>
                    <a:lstStyle/>
                    <a:p>
                      <a:pPr algn="l"/>
                      <a:r>
                        <a:rPr sz="1200" b="1" i="0">
                          <a:solidFill>
                            <a:srgbClr val="FFFFFF"/>
                          </a:solidFill>
                          <a:latin typeface="Times New Roman"/>
                        </a:rPr>
                        <a:t>Assignment</a:t>
                      </a:r>
                    </a:p>
                  </a:txBody>
                  <a:tcPr marL="63500" marR="63500" marT="25400" marB="25400" anchor="ctr">
                    <a:solidFill>
                      <a:srgbClr val="1F3864"/>
                    </a:solidFill>
                  </a:tcPr>
                </a:tc>
                <a:tc>
                  <a:txBody>
                    <a:bodyPr wrap="square"/>
                    <a:lstStyle/>
                    <a:p>
                      <a:pPr algn="l"/>
                      <a:r>
                        <a:rPr sz="1200" b="1" i="0">
                          <a:solidFill>
                            <a:srgbClr val="FFFFFF"/>
                          </a:solidFill>
                          <a:latin typeface="Times New Roman"/>
                        </a:rPr>
                        <a:t>Evidence in the report</a:t>
                      </a:r>
                    </a:p>
                  </a:txBody>
                  <a:tcPr marL="63500" marR="63500" marT="25400" marB="25400" anchor="ctr">
                    <a:solidFill>
                      <a:srgbClr val="1F3864"/>
                    </a:solidFill>
                  </a:tcPr>
                </a:tc>
              </a:tr>
              <a:tr h="566928">
                <a:tc>
                  <a:txBody>
                    <a:bodyPr wrap="square"/>
                    <a:lstStyle/>
                    <a:p>
                      <a:pPr algn="l"/>
                      <a:r>
                        <a:rPr sz="1200" b="1" i="0">
                          <a:solidFill>
                            <a:srgbClr val="202A38"/>
                          </a:solidFill>
                          <a:latin typeface="Times New Roman"/>
                        </a:rPr>
                        <a:t>1</a:t>
                      </a:r>
                    </a:p>
                  </a:txBody>
                  <a:tcPr marL="63500" marR="63500" marT="25400" marB="25400" anchor="ctr">
                    <a:solidFill>
                      <a:srgbClr val="FFFFFF"/>
                    </a:solidFill>
                  </a:tcPr>
                </a:tc>
                <a:tc>
                  <a:txBody>
                    <a:bodyPr wrap="square"/>
                    <a:lstStyle/>
                    <a:p>
                      <a:pPr algn="l"/>
                      <a:r>
                        <a:rPr sz="1200" b="0" i="0">
                          <a:solidFill>
                            <a:srgbClr val="202A38"/>
                          </a:solidFill>
                          <a:latin typeface="Times New Roman"/>
                        </a:rPr>
                        <a:t>System passport: distribution and family, kernel, architecture, CPU, RAM, disk</a:t>
                      </a:r>
                    </a:p>
                  </a:txBody>
                  <a:tcPr marL="63500" marR="63500" marT="25400" marB="25400" anchor="ctr">
                    <a:solidFill>
                      <a:srgbClr val="FFFFFF"/>
                    </a:solidFill>
                  </a:tcPr>
                </a:tc>
                <a:tc>
                  <a:txBody>
                    <a:bodyPr wrap="square"/>
                    <a:lstStyle/>
                    <a:p>
                      <a:pPr algn="l"/>
                      <a:r>
                        <a:rPr sz="1150" b="1" i="0">
                          <a:solidFill>
                            <a:srgbClr val="178A73"/>
                          </a:solidFill>
                          <a:latin typeface="Consolas"/>
                        </a:rPr>
                        <a:t>/etc/os-release</a:t>
                      </a:r>
                      <a:r>
                        <a:rPr sz="1200" b="0" i="0">
                          <a:solidFill>
                            <a:srgbClr val="202A38"/>
                          </a:solidFill>
                          <a:latin typeface="Times New Roman"/>
                        </a:rPr>
                        <a:t>, </a:t>
                      </a:r>
                      <a:r>
                        <a:rPr sz="1150" b="1" i="0">
                          <a:solidFill>
                            <a:srgbClr val="178A73"/>
                          </a:solidFill>
                          <a:latin typeface="Consolas"/>
                        </a:rPr>
                        <a:t>uname</a:t>
                      </a:r>
                      <a:r>
                        <a:rPr sz="1200" b="0" i="0">
                          <a:solidFill>
                            <a:srgbClr val="202A38"/>
                          </a:solidFill>
                          <a:latin typeface="Times New Roman"/>
                        </a:rPr>
                        <a:t>, </a:t>
                      </a:r>
                      <a:r>
                        <a:rPr sz="1150" b="1" i="0">
                          <a:solidFill>
                            <a:srgbClr val="178A73"/>
                          </a:solidFill>
                          <a:latin typeface="Consolas"/>
                        </a:rPr>
                        <a:t>lscpu</a:t>
                      </a:r>
                      <a:r>
                        <a:rPr sz="1200" b="0" i="0">
                          <a:solidFill>
                            <a:srgbClr val="202A38"/>
                          </a:solidFill>
                          <a:latin typeface="Times New Roman"/>
                        </a:rPr>
                        <a:t>, </a:t>
                      </a:r>
                      <a:r>
                        <a:rPr sz="1150" b="1" i="0">
                          <a:solidFill>
                            <a:srgbClr val="178A73"/>
                          </a:solidFill>
                          <a:latin typeface="Consolas"/>
                        </a:rPr>
                        <a:t>free -h</a:t>
                      </a:r>
                      <a:r>
                        <a:rPr sz="1200" b="0" i="0">
                          <a:solidFill>
                            <a:srgbClr val="202A38"/>
                          </a:solidFill>
                          <a:latin typeface="Times New Roman"/>
                        </a:rPr>
                        <a:t>, </a:t>
                      </a:r>
                      <a:r>
                        <a:rPr sz="1150" b="1" i="0">
                          <a:solidFill>
                            <a:srgbClr val="178A73"/>
                          </a:solidFill>
                          <a:latin typeface="Consolas"/>
                        </a:rPr>
                        <a:t>df -h</a:t>
                      </a:r>
                    </a:p>
                  </a:txBody>
                  <a:tcPr marL="63500" marR="63500" marT="25400" marB="25400" anchor="ctr">
                    <a:solidFill>
                      <a:srgbClr val="FFFFFF"/>
                    </a:solidFill>
                  </a:tcPr>
                </a:tc>
              </a:tr>
              <a:tr h="566928">
                <a:tc>
                  <a:txBody>
                    <a:bodyPr wrap="square"/>
                    <a:lstStyle/>
                    <a:p>
                      <a:pPr algn="l"/>
                      <a:r>
                        <a:rPr sz="1200" b="1" i="0">
                          <a:solidFill>
                            <a:srgbClr val="202A38"/>
                          </a:solidFill>
                          <a:latin typeface="Times New Roman"/>
                        </a:rPr>
                        <a:t>2</a:t>
                      </a:r>
                    </a:p>
                  </a:txBody>
                  <a:tcPr marL="63500" marR="63500" marT="25400" marB="25400" anchor="ctr">
                    <a:solidFill>
                      <a:srgbClr val="F5F8FC"/>
                    </a:solidFill>
                  </a:tcPr>
                </a:tc>
                <a:tc>
                  <a:txBody>
                    <a:bodyPr wrap="square"/>
                    <a:lstStyle/>
                    <a:p>
                      <a:pPr algn="l"/>
                      <a:r>
                        <a:rPr sz="1200" b="0" i="0">
                          <a:solidFill>
                            <a:srgbClr val="202A38"/>
                          </a:solidFill>
                          <a:latin typeface="Times New Roman"/>
                        </a:rPr>
                        <a:t>Create the structure </a:t>
                      </a:r>
                      <a:r>
                        <a:rPr sz="1150" b="1" i="0">
                          <a:solidFill>
                            <a:srgbClr val="178A73"/>
                          </a:solidFill>
                          <a:latin typeface="Consolas"/>
                        </a:rPr>
                        <a:t>~/inspection/{evidence,report,tmp}</a:t>
                      </a:r>
                    </a:p>
                  </a:txBody>
                  <a:tcPr marL="63500" marR="63500" marT="25400" marB="25400" anchor="ctr">
                    <a:solidFill>
                      <a:srgbClr val="F5F8FC"/>
                    </a:solidFill>
                  </a:tcPr>
                </a:tc>
                <a:tc>
                  <a:txBody>
                    <a:bodyPr wrap="square"/>
                    <a:lstStyle/>
                    <a:p>
                      <a:pPr algn="l"/>
                      <a:r>
                        <a:rPr sz="1150" b="1" i="0">
                          <a:solidFill>
                            <a:srgbClr val="178A73"/>
                          </a:solidFill>
                          <a:latin typeface="Consolas"/>
                        </a:rPr>
                        <a:t>ls -R ~/inspection</a:t>
                      </a:r>
                    </a:p>
                  </a:txBody>
                  <a:tcPr marL="63500" marR="63500" marT="25400" marB="25400" anchor="ctr">
                    <a:solidFill>
                      <a:srgbClr val="F5F8FC"/>
                    </a:solidFill>
                  </a:tcPr>
                </a:tc>
              </a:tr>
              <a:tr h="566928">
                <a:tc>
                  <a:txBody>
                    <a:bodyPr wrap="square"/>
                    <a:lstStyle/>
                    <a:p>
                      <a:pPr algn="l"/>
                      <a:r>
                        <a:rPr sz="1200" b="1" i="0">
                          <a:solidFill>
                            <a:srgbClr val="202A38"/>
                          </a:solidFill>
                          <a:latin typeface="Times New Roman"/>
                        </a:rPr>
                        <a:t>3</a:t>
                      </a:r>
                    </a:p>
                  </a:txBody>
                  <a:tcPr marL="63500" marR="63500" marT="25400" marB="25400" anchor="ctr">
                    <a:solidFill>
                      <a:srgbClr val="FFFFFF"/>
                    </a:solidFill>
                  </a:tcPr>
                </a:tc>
                <a:tc>
                  <a:txBody>
                    <a:bodyPr wrap="square"/>
                    <a:lstStyle/>
                    <a:p>
                      <a:pPr algn="l"/>
                      <a:r>
                        <a:rPr sz="1200" b="0" i="0">
                          <a:solidFill>
                            <a:srgbClr val="202A38"/>
                          </a:solidFill>
                          <a:latin typeface="Times New Roman"/>
                        </a:rPr>
                        <a:t>Find the ports of 5 services in </a:t>
                      </a:r>
                      <a:r>
                        <a:rPr sz="1150" b="1" i="0">
                          <a:solidFill>
                            <a:srgbClr val="178A73"/>
                          </a:solidFill>
                          <a:latin typeface="Consolas"/>
                        </a:rPr>
                        <a:t>/etc/services</a:t>
                      </a:r>
                    </a:p>
                  </a:txBody>
                  <a:tcPr marL="63500" marR="63500" marT="25400" marB="25400" anchor="ctr">
                    <a:solidFill>
                      <a:srgbClr val="FFFFFF"/>
                    </a:solidFill>
                  </a:tcPr>
                </a:tc>
                <a:tc>
                  <a:txBody>
                    <a:bodyPr wrap="square"/>
                    <a:lstStyle/>
                    <a:p>
                      <a:pPr algn="l"/>
                      <a:r>
                        <a:rPr sz="1150" b="1" i="0">
                          <a:solidFill>
                            <a:srgbClr val="178A73"/>
                          </a:solidFill>
                          <a:latin typeface="Consolas"/>
                        </a:rPr>
                        <a:t>less</a:t>
                      </a:r>
                      <a:r>
                        <a:rPr sz="1200" b="0" i="0">
                          <a:solidFill>
                            <a:srgbClr val="202A38"/>
                          </a:solidFill>
                          <a:latin typeface="Times New Roman"/>
                        </a:rPr>
                        <a:t> search, a table</a:t>
                      </a:r>
                    </a:p>
                  </a:txBody>
                  <a:tcPr marL="63500" marR="63500" marT="25400" marB="25400" anchor="ctr">
                    <a:solidFill>
                      <a:srgbClr val="FFFFFF"/>
                    </a:solidFill>
                  </a:tcPr>
                </a:tc>
              </a:tr>
              <a:tr h="566928">
                <a:tc>
                  <a:txBody>
                    <a:bodyPr wrap="square"/>
                    <a:lstStyle/>
                    <a:p>
                      <a:pPr algn="l"/>
                      <a:r>
                        <a:rPr sz="1200" b="1" i="0">
                          <a:solidFill>
                            <a:srgbClr val="202A38"/>
                          </a:solidFill>
                          <a:latin typeface="Times New Roman"/>
                        </a:rPr>
                        <a:t>4</a:t>
                      </a:r>
                    </a:p>
                  </a:txBody>
                  <a:tcPr marL="63500" marR="63500" marT="25400" marB="25400" anchor="ctr">
                    <a:solidFill>
                      <a:srgbClr val="F5F8FC"/>
                    </a:solidFill>
                  </a:tcPr>
                </a:tc>
                <a:tc>
                  <a:txBody>
                    <a:bodyPr wrap="square"/>
                    <a:lstStyle/>
                    <a:p>
                      <a:pPr algn="l"/>
                      <a:r>
                        <a:rPr sz="1200" b="0" i="0">
                          <a:solidFill>
                            <a:srgbClr val="202A38"/>
                          </a:solidFill>
                          <a:latin typeface="Times New Roman"/>
                        </a:rPr>
                        <a:t>Copy </a:t>
                      </a:r>
                      <a:r>
                        <a:rPr sz="1150" b="1" i="0">
                          <a:solidFill>
                            <a:srgbClr val="178A73"/>
                          </a:solidFill>
                          <a:latin typeface="Consolas"/>
                        </a:rPr>
                        <a:t>/usr/bin/ls</a:t>
                      </a:r>
                      <a:r>
                        <a:rPr sz="1200" b="0" i="0">
                          <a:solidFill>
                            <a:srgbClr val="202A38"/>
                          </a:solidFill>
                          <a:latin typeface="Times New Roman"/>
                        </a:rPr>
                        <a:t> as </a:t>
                      </a:r>
                      <a:r>
                        <a:rPr sz="1150" b="1" i="0">
                          <a:solidFill>
                            <a:srgbClr val="178A73"/>
                          </a:solidFill>
                          <a:latin typeface="Consolas"/>
                        </a:rPr>
                        <a:t>report.pdf</a:t>
                      </a:r>
                      <a:r>
                        <a:rPr sz="1200" b="0" i="0">
                          <a:solidFill>
                            <a:srgbClr val="202A38"/>
                          </a:solidFill>
                          <a:latin typeface="Times New Roman"/>
                        </a:rPr>
                        <a:t>; prove its type; change its date to 2019 and show the tampering</a:t>
                      </a:r>
                    </a:p>
                  </a:txBody>
                  <a:tcPr marL="63500" marR="63500" marT="25400" marB="25400" anchor="ctr">
                    <a:solidFill>
                      <a:srgbClr val="F5F8FC"/>
                    </a:solidFill>
                  </a:tcPr>
                </a:tc>
                <a:tc>
                  <a:txBody>
                    <a:bodyPr wrap="square"/>
                    <a:lstStyle/>
                    <a:p>
                      <a:pPr algn="l"/>
                      <a:r>
                        <a:rPr sz="1150" b="1" i="0">
                          <a:solidFill>
                            <a:srgbClr val="178A73"/>
                          </a:solidFill>
                          <a:latin typeface="Consolas"/>
                        </a:rPr>
                        <a:t>file</a:t>
                      </a:r>
                      <a:r>
                        <a:rPr sz="1200" b="0" i="0">
                          <a:solidFill>
                            <a:srgbClr val="202A38"/>
                          </a:solidFill>
                          <a:latin typeface="Times New Roman"/>
                        </a:rPr>
                        <a:t>, </a:t>
                      </a:r>
                      <a:r>
                        <a:rPr sz="1150" b="1" i="0">
                          <a:solidFill>
                            <a:srgbClr val="178A73"/>
                          </a:solidFill>
                          <a:latin typeface="Consolas"/>
                        </a:rPr>
                        <a:t>xxd</a:t>
                      </a:r>
                      <a:r>
                        <a:rPr sz="1200" b="0" i="0">
                          <a:solidFill>
                            <a:srgbClr val="202A38"/>
                          </a:solidFill>
                          <a:latin typeface="Times New Roman"/>
                        </a:rPr>
                        <a:t>, </a:t>
                      </a:r>
                      <a:r>
                        <a:rPr sz="1150" b="1" i="0">
                          <a:solidFill>
                            <a:srgbClr val="178A73"/>
                          </a:solidFill>
                          <a:latin typeface="Consolas"/>
                        </a:rPr>
                        <a:t>touch -d</a:t>
                      </a:r>
                      <a:r>
                        <a:rPr sz="1200" b="0" i="0">
                          <a:solidFill>
                            <a:srgbClr val="202A38"/>
                          </a:solidFill>
                          <a:latin typeface="Times New Roman"/>
                        </a:rPr>
                        <a:t>, </a:t>
                      </a:r>
                      <a:r>
                        <a:rPr sz="1150" b="1" i="0">
                          <a:solidFill>
                            <a:srgbClr val="178A73"/>
                          </a:solidFill>
                          <a:latin typeface="Consolas"/>
                        </a:rPr>
                        <a:t>stat</a:t>
                      </a:r>
                    </a:p>
                  </a:txBody>
                  <a:tcPr marL="63500" marR="63500" marT="25400" marB="25400" anchor="ctr">
                    <a:solidFill>
                      <a:srgbClr val="F5F8FC"/>
                    </a:solidFill>
                  </a:tcPr>
                </a:tc>
              </a:tr>
              <a:tr h="566928">
                <a:tc>
                  <a:txBody>
                    <a:bodyPr wrap="square"/>
                    <a:lstStyle/>
                    <a:p>
                      <a:pPr algn="l"/>
                      <a:r>
                        <a:rPr sz="1200" b="1" i="0">
                          <a:solidFill>
                            <a:srgbClr val="202A38"/>
                          </a:solidFill>
                          <a:latin typeface="Times New Roman"/>
                        </a:rPr>
                        <a:t>5</a:t>
                      </a:r>
                    </a:p>
                  </a:txBody>
                  <a:tcPr marL="63500" marR="63500" marT="25400" marB="25400" anchor="ctr">
                    <a:solidFill>
                      <a:srgbClr val="FFFFFF"/>
                    </a:solidFill>
                  </a:tcPr>
                </a:tc>
                <a:tc>
                  <a:txBody>
                    <a:bodyPr wrap="square"/>
                    <a:lstStyle/>
                    <a:p>
                      <a:pPr algn="l"/>
                      <a:r>
                        <a:rPr sz="1200" b="0" i="0">
                          <a:solidFill>
                            <a:srgbClr val="202A38"/>
                          </a:solidFill>
                          <a:latin typeface="Times New Roman"/>
                        </a:rPr>
                        <a:t>Files changed in the last 20 minutes; archive </a:t>
                      </a:r>
                      <a:r>
                        <a:rPr sz="1150" b="1" i="0">
                          <a:solidFill>
                            <a:srgbClr val="178A73"/>
                          </a:solidFill>
                          <a:latin typeface="Consolas"/>
                        </a:rPr>
                        <a:t>inspection</a:t>
                      </a:r>
                    </a:p>
                  </a:txBody>
                  <a:tcPr marL="63500" marR="63500" marT="25400" marB="25400" anchor="ctr">
                    <a:solidFill>
                      <a:srgbClr val="FFFFFF"/>
                    </a:solidFill>
                  </a:tcPr>
                </a:tc>
                <a:tc>
                  <a:txBody>
                    <a:bodyPr wrap="square"/>
                    <a:lstStyle/>
                    <a:p>
                      <a:pPr algn="l"/>
                      <a:r>
                        <a:rPr sz="1150" b="1" i="0">
                          <a:solidFill>
                            <a:srgbClr val="178A73"/>
                          </a:solidFill>
                          <a:latin typeface="Consolas"/>
                        </a:rPr>
                        <a:t>find ~ -mmin -20</a:t>
                      </a:r>
                      <a:r>
                        <a:rPr sz="1200" b="0" i="0">
                          <a:solidFill>
                            <a:srgbClr val="202A38"/>
                          </a:solidFill>
                          <a:latin typeface="Times New Roman"/>
                        </a:rPr>
                        <a:t>, </a:t>
                      </a:r>
                      <a:r>
                        <a:rPr sz="1150" b="1" i="0">
                          <a:solidFill>
                            <a:srgbClr val="178A73"/>
                          </a:solidFill>
                          <a:latin typeface="Consolas"/>
                        </a:rPr>
                        <a:t>tar -tzvf</a:t>
                      </a:r>
                    </a:p>
                  </a:txBody>
                  <a:tcPr marL="63500" marR="63500" marT="25400" marB="25400" anchor="ctr">
                    <a:solidFill>
                      <a:srgbClr val="FFFFFF"/>
                    </a:solidFill>
                  </a:tcPr>
                </a:tc>
              </a:tr>
            </a:tbl>
          </a:graphicData>
        </a:graphic>
      </p:graphicFrame>
      <p:sp>
        <p:nvSpPr>
          <p:cNvPr id="9" name="Rounded Rectangle 8"/>
          <p:cNvSpPr/>
          <p:nvPr/>
        </p:nvSpPr>
        <p:spPr>
          <a:xfrm>
            <a:off x="566928" y="5303520"/>
            <a:ext cx="11045952" cy="566928"/>
          </a:xfrm>
          <a:prstGeom prst="roundRect">
            <a:avLst>
              <a:gd name="adj" fmla="val 8000"/>
            </a:avLst>
          </a:prstGeom>
          <a:solidFill>
            <a:srgbClr val="F5F8FC"/>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earch_1F3864.png"/>
          <p:cNvPicPr>
            <a:picLocks noChangeAspect="1"/>
          </p:cNvPicPr>
          <p:nvPr/>
        </p:nvPicPr>
        <p:blipFill>
          <a:blip r:embed="rId3"/>
          <a:stretch>
            <a:fillRect/>
          </a:stretch>
        </p:blipFill>
        <p:spPr>
          <a:xfrm>
            <a:off x="694944" y="5422392"/>
            <a:ext cx="329184" cy="329184"/>
          </a:xfrm>
          <a:prstGeom prst="rect">
            <a:avLst/>
          </a:prstGeom>
        </p:spPr>
      </p:pic>
      <p:sp>
        <p:nvSpPr>
          <p:cNvPr id="11" name="TextBox 10"/>
          <p:cNvSpPr txBox="1"/>
          <p:nvPr/>
        </p:nvSpPr>
        <p:spPr>
          <a:xfrm>
            <a:off x="1133856" y="5303520"/>
            <a:ext cx="10360152" cy="566928"/>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Under each screenshot, write in one sentence what it proves.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WRAP-UP</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Summary</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33</a:t>
            </a:r>
          </a:p>
        </p:txBody>
      </p:sp>
      <p:sp>
        <p:nvSpPr>
          <p:cNvPr id="8" name="Rounded Rectangle 7"/>
          <p:cNvSpPr/>
          <p:nvPr/>
        </p:nvSpPr>
        <p:spPr>
          <a:xfrm>
            <a:off x="566928" y="1600200"/>
            <a:ext cx="5440680" cy="132588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49808" y="1947672"/>
            <a:ext cx="640080" cy="64008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yers_FFFFFF.png"/>
          <p:cNvPicPr>
            <a:picLocks noChangeAspect="1"/>
          </p:cNvPicPr>
          <p:nvPr/>
        </p:nvPicPr>
        <p:blipFill>
          <a:blip r:embed="rId3"/>
          <a:stretch>
            <a:fillRect/>
          </a:stretch>
        </p:blipFill>
        <p:spPr>
          <a:xfrm>
            <a:off x="909828" y="2107692"/>
            <a:ext cx="320040" cy="320040"/>
          </a:xfrm>
          <a:prstGeom prst="rect">
            <a:avLst/>
          </a:prstGeom>
        </p:spPr>
      </p:pic>
      <p:sp>
        <p:nvSpPr>
          <p:cNvPr id="11" name="TextBox 10"/>
          <p:cNvSpPr txBox="1"/>
          <p:nvPr/>
        </p:nvSpPr>
        <p:spPr>
          <a:xfrm>
            <a:off x="1572768" y="1600200"/>
            <a:ext cx="4297680" cy="1325880"/>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Linux — the kernel; distribution = kernel + GNU + packages + GUI. Kali — from the Debian family.</a:t>
            </a:r>
          </a:p>
        </p:txBody>
      </p:sp>
      <p:sp>
        <p:nvSpPr>
          <p:cNvPr id="12" name="Rounded Rectangle 11"/>
          <p:cNvSpPr/>
          <p:nvPr/>
        </p:nvSpPr>
        <p:spPr>
          <a:xfrm>
            <a:off x="6144768" y="1600200"/>
            <a:ext cx="5440680" cy="132588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27648" y="1947672"/>
            <a:ext cx="640080" cy="6400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monitor_FFFFFF.png"/>
          <p:cNvPicPr>
            <a:picLocks noChangeAspect="1"/>
          </p:cNvPicPr>
          <p:nvPr/>
        </p:nvPicPr>
        <p:blipFill>
          <a:blip r:embed="rId4"/>
          <a:stretch>
            <a:fillRect/>
          </a:stretch>
        </p:blipFill>
        <p:spPr>
          <a:xfrm>
            <a:off x="6487668" y="2107692"/>
            <a:ext cx="320040" cy="320040"/>
          </a:xfrm>
          <a:prstGeom prst="rect">
            <a:avLst/>
          </a:prstGeom>
        </p:spPr>
      </p:pic>
      <p:sp>
        <p:nvSpPr>
          <p:cNvPr id="15" name="TextBox 14"/>
          <p:cNvSpPr txBox="1"/>
          <p:nvPr/>
        </p:nvSpPr>
        <p:spPr>
          <a:xfrm>
            <a:off x="7150608" y="1600200"/>
            <a:ext cx="4297680" cy="1325880"/>
          </a:xfrm>
          <a:prstGeom prst="rect">
            <a:avLst/>
          </a:prstGeom>
          <a:noFill/>
        </p:spPr>
        <p:txBody>
          <a:bodyPr wrap="square" anchor="ctr" lIns="0" rIns="0" tIns="0" bIns="0">
            <a:spAutoFit/>
          </a:bodyPr>
          <a:lstStyle/>
          <a:p>
            <a:pPr algn="l">
              <a:lnSpc>
                <a:spcPct val="110000"/>
              </a:lnSpc>
              <a:spcAft>
                <a:spcPts val="300"/>
              </a:spcAft>
            </a:pPr>
            <a:r>
              <a:rPr sz="1200" b="1" i="0">
                <a:solidFill>
                  <a:srgbClr val="178A73"/>
                </a:solidFill>
                <a:latin typeface="Consolas"/>
              </a:rPr>
              <a:t>/etc/os-release</a:t>
            </a:r>
            <a:r>
              <a:rPr sz="1250" b="0" i="0">
                <a:solidFill>
                  <a:srgbClr val="202A38"/>
                </a:solidFill>
                <a:latin typeface="Times New Roman"/>
              </a:rPr>
              <a:t>, </a:t>
            </a:r>
            <a:r>
              <a:rPr sz="1200" b="1" i="0">
                <a:solidFill>
                  <a:srgbClr val="178A73"/>
                </a:solidFill>
                <a:latin typeface="Consolas"/>
              </a:rPr>
              <a:t>uname</a:t>
            </a:r>
            <a:r>
              <a:rPr sz="1250" b="0" i="0">
                <a:solidFill>
                  <a:srgbClr val="202A38"/>
                </a:solidFill>
                <a:latin typeface="Times New Roman"/>
              </a:rPr>
              <a:t>, </a:t>
            </a:r>
            <a:r>
              <a:rPr sz="1200" b="1" i="0">
                <a:solidFill>
                  <a:srgbClr val="178A73"/>
                </a:solidFill>
                <a:latin typeface="Consolas"/>
              </a:rPr>
              <a:t>hostnamectl</a:t>
            </a:r>
            <a:r>
              <a:rPr sz="1250" b="0" i="0">
                <a:solidFill>
                  <a:srgbClr val="202A38"/>
                </a:solidFill>
                <a:latin typeface="Times New Roman"/>
              </a:rPr>
              <a:t> — the system passport; </a:t>
            </a:r>
            <a:r>
              <a:rPr sz="1200" b="1" i="0">
                <a:solidFill>
                  <a:srgbClr val="178A73"/>
                </a:solidFill>
                <a:latin typeface="Consolas"/>
              </a:rPr>
              <a:t>/proc</a:t>
            </a:r>
            <a:r>
              <a:rPr sz="1250" b="0" i="0">
                <a:solidFill>
                  <a:srgbClr val="202A38"/>
                </a:solidFill>
                <a:latin typeface="Times New Roman"/>
              </a:rPr>
              <a:t>, </a:t>
            </a:r>
            <a:r>
              <a:rPr sz="1200" b="1" i="0">
                <a:solidFill>
                  <a:srgbClr val="178A73"/>
                </a:solidFill>
                <a:latin typeface="Consolas"/>
              </a:rPr>
              <a:t>/dev</a:t>
            </a:r>
            <a:r>
              <a:rPr sz="1250" b="0" i="0">
                <a:solidFill>
                  <a:srgbClr val="202A38"/>
                </a:solidFill>
                <a:latin typeface="Times New Roman"/>
              </a:rPr>
              <a:t> — “everything is a file”.</a:t>
            </a:r>
          </a:p>
        </p:txBody>
      </p:sp>
      <p:sp>
        <p:nvSpPr>
          <p:cNvPr id="16" name="Rounded Rectangle 15"/>
          <p:cNvSpPr/>
          <p:nvPr/>
        </p:nvSpPr>
        <p:spPr>
          <a:xfrm>
            <a:off x="566928" y="3063240"/>
            <a:ext cx="5440680" cy="132588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9808" y="3410712"/>
            <a:ext cx="640080" cy="64008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older_FFFFFF.png"/>
          <p:cNvPicPr>
            <a:picLocks noChangeAspect="1"/>
          </p:cNvPicPr>
          <p:nvPr/>
        </p:nvPicPr>
        <p:blipFill>
          <a:blip r:embed="rId5"/>
          <a:stretch>
            <a:fillRect/>
          </a:stretch>
        </p:blipFill>
        <p:spPr>
          <a:xfrm>
            <a:off x="909828" y="3570732"/>
            <a:ext cx="320040" cy="320040"/>
          </a:xfrm>
          <a:prstGeom prst="rect">
            <a:avLst/>
          </a:prstGeom>
        </p:spPr>
      </p:pic>
      <p:sp>
        <p:nvSpPr>
          <p:cNvPr id="19" name="TextBox 18"/>
          <p:cNvSpPr txBox="1"/>
          <p:nvPr/>
        </p:nvSpPr>
        <p:spPr>
          <a:xfrm>
            <a:off x="1572768" y="3063240"/>
            <a:ext cx="4297680" cy="1325880"/>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FHS: a single </a:t>
            </a:r>
            <a:r>
              <a:rPr sz="1200" b="1" i="0">
                <a:solidFill>
                  <a:srgbClr val="178A73"/>
                </a:solidFill>
                <a:latin typeface="Consolas"/>
              </a:rPr>
              <a:t>/</a:t>
            </a:r>
            <a:r>
              <a:rPr sz="1250" b="0" i="0">
                <a:solidFill>
                  <a:srgbClr val="202A38"/>
                </a:solidFill>
                <a:latin typeface="Times New Roman"/>
              </a:rPr>
              <a:t> tree; </a:t>
            </a:r>
            <a:r>
              <a:rPr sz="1200" b="1" i="0">
                <a:solidFill>
                  <a:srgbClr val="178A73"/>
                </a:solidFill>
                <a:latin typeface="Consolas"/>
              </a:rPr>
              <a:t>/etc</a:t>
            </a:r>
            <a:r>
              <a:rPr sz="1250" b="0" i="0">
                <a:solidFill>
                  <a:srgbClr val="202A38"/>
                </a:solidFill>
                <a:latin typeface="Times New Roman"/>
              </a:rPr>
              <a:t>, </a:t>
            </a:r>
            <a:r>
              <a:rPr sz="1200" b="1" i="0">
                <a:solidFill>
                  <a:srgbClr val="178A73"/>
                </a:solidFill>
                <a:latin typeface="Consolas"/>
              </a:rPr>
              <a:t>/home</a:t>
            </a:r>
            <a:r>
              <a:rPr sz="1250" b="0" i="0">
                <a:solidFill>
                  <a:srgbClr val="202A38"/>
                </a:solidFill>
                <a:latin typeface="Times New Roman"/>
              </a:rPr>
              <a:t>, </a:t>
            </a:r>
            <a:r>
              <a:rPr sz="1200" b="1" i="0">
                <a:solidFill>
                  <a:srgbClr val="178A73"/>
                </a:solidFill>
                <a:latin typeface="Consolas"/>
              </a:rPr>
              <a:t>/tmp</a:t>
            </a:r>
            <a:r>
              <a:rPr sz="1250" b="0" i="0">
                <a:solidFill>
                  <a:srgbClr val="202A38"/>
                </a:solidFill>
                <a:latin typeface="Times New Roman"/>
              </a:rPr>
              <a:t>, </a:t>
            </a:r>
            <a:r>
              <a:rPr sz="1200" b="1" i="0">
                <a:solidFill>
                  <a:srgbClr val="178A73"/>
                </a:solidFill>
                <a:latin typeface="Consolas"/>
              </a:rPr>
              <a:t>/var/log</a:t>
            </a:r>
            <a:r>
              <a:rPr sz="1250" b="0" i="0">
                <a:solidFill>
                  <a:srgbClr val="202A38"/>
                </a:solidFill>
                <a:latin typeface="Times New Roman"/>
              </a:rPr>
              <a:t> — directories important in security.</a:t>
            </a:r>
          </a:p>
        </p:txBody>
      </p:sp>
      <p:sp>
        <p:nvSpPr>
          <p:cNvPr id="20" name="Rounded Rectangle 19"/>
          <p:cNvSpPr/>
          <p:nvPr/>
        </p:nvSpPr>
        <p:spPr>
          <a:xfrm>
            <a:off x="6144768" y="3063240"/>
            <a:ext cx="5440680" cy="132588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27648" y="3410712"/>
            <a:ext cx="640080" cy="6400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opy_FFFFFF.png"/>
          <p:cNvPicPr>
            <a:picLocks noChangeAspect="1"/>
          </p:cNvPicPr>
          <p:nvPr/>
        </p:nvPicPr>
        <p:blipFill>
          <a:blip r:embed="rId6"/>
          <a:stretch>
            <a:fillRect/>
          </a:stretch>
        </p:blipFill>
        <p:spPr>
          <a:xfrm>
            <a:off x="6487668" y="3570732"/>
            <a:ext cx="320040" cy="320040"/>
          </a:xfrm>
          <a:prstGeom prst="rect">
            <a:avLst/>
          </a:prstGeom>
        </p:spPr>
      </p:pic>
      <p:sp>
        <p:nvSpPr>
          <p:cNvPr id="23" name="TextBox 22"/>
          <p:cNvSpPr txBox="1"/>
          <p:nvPr/>
        </p:nvSpPr>
        <p:spPr>
          <a:xfrm>
            <a:off x="7150608" y="3063240"/>
            <a:ext cx="4297680" cy="1325880"/>
          </a:xfrm>
          <a:prstGeom prst="rect">
            <a:avLst/>
          </a:prstGeom>
          <a:noFill/>
        </p:spPr>
        <p:txBody>
          <a:bodyPr wrap="square" anchor="ctr" lIns="0" rIns="0" tIns="0" bIns="0">
            <a:spAutoFit/>
          </a:bodyPr>
          <a:lstStyle/>
          <a:p>
            <a:pPr algn="l">
              <a:lnSpc>
                <a:spcPct val="110000"/>
              </a:lnSpc>
              <a:spcAft>
                <a:spcPts val="300"/>
              </a:spcAft>
            </a:pPr>
            <a:r>
              <a:rPr sz="1200" b="1" i="0">
                <a:solidFill>
                  <a:srgbClr val="178A73"/>
                </a:solidFill>
                <a:latin typeface="Consolas"/>
              </a:rPr>
              <a:t>ls</a:t>
            </a:r>
            <a:r>
              <a:rPr sz="1250" b="0" i="0">
                <a:solidFill>
                  <a:srgbClr val="202A38"/>
                </a:solidFill>
                <a:latin typeface="Times New Roman"/>
              </a:rPr>
              <a:t>, </a:t>
            </a:r>
            <a:r>
              <a:rPr sz="1200" b="1" i="0">
                <a:solidFill>
                  <a:srgbClr val="178A73"/>
                </a:solidFill>
                <a:latin typeface="Consolas"/>
              </a:rPr>
              <a:t>cd</a:t>
            </a:r>
            <a:r>
              <a:rPr sz="1250" b="0" i="0">
                <a:solidFill>
                  <a:srgbClr val="202A38"/>
                </a:solidFill>
                <a:latin typeface="Times New Roman"/>
              </a:rPr>
              <a:t>, </a:t>
            </a:r>
            <a:r>
              <a:rPr sz="1200" b="1" i="0">
                <a:solidFill>
                  <a:srgbClr val="178A73"/>
                </a:solidFill>
                <a:latin typeface="Consolas"/>
              </a:rPr>
              <a:t>mkdir</a:t>
            </a:r>
            <a:r>
              <a:rPr sz="1250" b="0" i="0">
                <a:solidFill>
                  <a:srgbClr val="202A38"/>
                </a:solidFill>
                <a:latin typeface="Times New Roman"/>
              </a:rPr>
              <a:t>, </a:t>
            </a:r>
            <a:r>
              <a:rPr sz="1200" b="1" i="0">
                <a:solidFill>
                  <a:srgbClr val="178A73"/>
                </a:solidFill>
                <a:latin typeface="Consolas"/>
              </a:rPr>
              <a:t>cp</a:t>
            </a:r>
            <a:r>
              <a:rPr sz="1250" b="0" i="0">
                <a:solidFill>
                  <a:srgbClr val="202A38"/>
                </a:solidFill>
                <a:latin typeface="Times New Roman"/>
              </a:rPr>
              <a:t>, </a:t>
            </a:r>
            <a:r>
              <a:rPr sz="1200" b="1" i="0">
                <a:solidFill>
                  <a:srgbClr val="178A73"/>
                </a:solidFill>
                <a:latin typeface="Consolas"/>
              </a:rPr>
              <a:t>mv</a:t>
            </a:r>
            <a:r>
              <a:rPr sz="1250" b="0" i="0">
                <a:solidFill>
                  <a:srgbClr val="202A38"/>
                </a:solidFill>
                <a:latin typeface="Times New Roman"/>
              </a:rPr>
              <a:t>, </a:t>
            </a:r>
            <a:r>
              <a:rPr sz="1200" b="1" i="0">
                <a:solidFill>
                  <a:srgbClr val="178A73"/>
                </a:solidFill>
                <a:latin typeface="Consolas"/>
              </a:rPr>
              <a:t>rm</a:t>
            </a:r>
            <a:r>
              <a:rPr sz="1250" b="0" i="0">
                <a:solidFill>
                  <a:srgbClr val="202A38"/>
                </a:solidFill>
                <a:latin typeface="Times New Roman"/>
              </a:rPr>
              <a:t>: </a:t>
            </a:r>
            <a:r>
              <a:rPr sz="1200" b="1" i="0">
                <a:solidFill>
                  <a:srgbClr val="178A73"/>
                </a:solidFill>
                <a:latin typeface="Consolas"/>
              </a:rPr>
              <a:t>-r</a:t>
            </a:r>
            <a:r>
              <a:rPr sz="1250" b="0" i="0">
                <a:solidFill>
                  <a:srgbClr val="202A38"/>
                </a:solidFill>
                <a:latin typeface="Times New Roman"/>
              </a:rPr>
              <a:t>, </a:t>
            </a:r>
            <a:r>
              <a:rPr sz="1200" b="1" i="0">
                <a:solidFill>
                  <a:srgbClr val="178A73"/>
                </a:solidFill>
                <a:latin typeface="Consolas"/>
              </a:rPr>
              <a:t>-i</a:t>
            </a:r>
            <a:r>
              <a:rPr sz="1250" b="0" i="0">
                <a:solidFill>
                  <a:srgbClr val="202A38"/>
                </a:solidFill>
                <a:latin typeface="Times New Roman"/>
              </a:rPr>
              <a:t> options; </a:t>
            </a:r>
            <a:r>
              <a:rPr sz="1200" b="1" i="0">
                <a:solidFill>
                  <a:srgbClr val="178A73"/>
                </a:solidFill>
                <a:latin typeface="Consolas"/>
              </a:rPr>
              <a:t>rm</a:t>
            </a:r>
            <a:r>
              <a:rPr sz="1250" b="0" i="0">
                <a:solidFill>
                  <a:srgbClr val="202A38"/>
                </a:solidFill>
                <a:latin typeface="Times New Roman"/>
              </a:rPr>
              <a:t> has no undo.</a:t>
            </a:r>
          </a:p>
        </p:txBody>
      </p:sp>
      <p:sp>
        <p:nvSpPr>
          <p:cNvPr id="24" name="Rounded Rectangle 23"/>
          <p:cNvSpPr/>
          <p:nvPr/>
        </p:nvSpPr>
        <p:spPr>
          <a:xfrm>
            <a:off x="566928" y="4526280"/>
            <a:ext cx="5440680" cy="132588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873752"/>
            <a:ext cx="640080" cy="64008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search_FFFFFF.png"/>
          <p:cNvPicPr>
            <a:picLocks noChangeAspect="1"/>
          </p:cNvPicPr>
          <p:nvPr/>
        </p:nvPicPr>
        <p:blipFill>
          <a:blip r:embed="rId7"/>
          <a:stretch>
            <a:fillRect/>
          </a:stretch>
        </p:blipFill>
        <p:spPr>
          <a:xfrm>
            <a:off x="909828" y="5033772"/>
            <a:ext cx="320040" cy="320040"/>
          </a:xfrm>
          <a:prstGeom prst="rect">
            <a:avLst/>
          </a:prstGeom>
        </p:spPr>
      </p:pic>
      <p:sp>
        <p:nvSpPr>
          <p:cNvPr id="27" name="TextBox 26"/>
          <p:cNvSpPr txBox="1"/>
          <p:nvPr/>
        </p:nvSpPr>
        <p:spPr>
          <a:xfrm>
            <a:off x="1572768" y="4526280"/>
            <a:ext cx="4297680" cy="1325880"/>
          </a:xfrm>
          <a:prstGeom prst="rect">
            <a:avLst/>
          </a:prstGeom>
          <a:noFill/>
        </p:spPr>
        <p:txBody>
          <a:bodyPr wrap="square" anchor="ctr" lIns="0" rIns="0" tIns="0" bIns="0">
            <a:spAutoFit/>
          </a:bodyPr>
          <a:lstStyle/>
          <a:p>
            <a:pPr algn="l">
              <a:lnSpc>
                <a:spcPct val="110000"/>
              </a:lnSpc>
              <a:spcAft>
                <a:spcPts val="300"/>
              </a:spcAft>
            </a:pPr>
            <a:r>
              <a:rPr sz="1200" b="1" i="0">
                <a:solidFill>
                  <a:srgbClr val="178A73"/>
                </a:solidFill>
                <a:latin typeface="Consolas"/>
              </a:rPr>
              <a:t>file</a:t>
            </a:r>
            <a:r>
              <a:rPr sz="1250" b="0" i="0">
                <a:solidFill>
                  <a:srgbClr val="202A38"/>
                </a:solidFill>
                <a:latin typeface="Times New Roman"/>
              </a:rPr>
              <a:t> — real type (magic bytes); </a:t>
            </a:r>
            <a:r>
              <a:rPr sz="1200" b="1" i="0">
                <a:solidFill>
                  <a:srgbClr val="178A73"/>
                </a:solidFill>
                <a:latin typeface="Consolas"/>
              </a:rPr>
              <a:t>stat</a:t>
            </a:r>
            <a:r>
              <a:rPr sz="1250" b="0" i="0">
                <a:solidFill>
                  <a:srgbClr val="202A38"/>
                </a:solidFill>
                <a:latin typeface="Times New Roman"/>
              </a:rPr>
              <a:t> — timestamps and tamper detection; </a:t>
            </a:r>
            <a:r>
              <a:rPr sz="1200" b="1" i="0">
                <a:solidFill>
                  <a:srgbClr val="178A73"/>
                </a:solidFill>
                <a:latin typeface="Consolas"/>
              </a:rPr>
              <a:t>find</a:t>
            </a:r>
            <a:r>
              <a:rPr sz="1250" b="0" i="0">
                <a:solidFill>
                  <a:srgbClr val="202A38"/>
                </a:solidFill>
                <a:latin typeface="Times New Roman"/>
              </a:rPr>
              <a:t> — searching.</a:t>
            </a:r>
          </a:p>
        </p:txBody>
      </p:sp>
      <p:sp>
        <p:nvSpPr>
          <p:cNvPr id="28" name="Rounded Rectangle 27"/>
          <p:cNvSpPr/>
          <p:nvPr/>
        </p:nvSpPr>
        <p:spPr>
          <a:xfrm>
            <a:off x="6144768" y="4526280"/>
            <a:ext cx="5440680" cy="132588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327648" y="4873752"/>
            <a:ext cx="640080" cy="6400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link_FFFFFF.png"/>
          <p:cNvPicPr>
            <a:picLocks noChangeAspect="1"/>
          </p:cNvPicPr>
          <p:nvPr/>
        </p:nvPicPr>
        <p:blipFill>
          <a:blip r:embed="rId8"/>
          <a:stretch>
            <a:fillRect/>
          </a:stretch>
        </p:blipFill>
        <p:spPr>
          <a:xfrm>
            <a:off x="6487668" y="5033772"/>
            <a:ext cx="320040" cy="320040"/>
          </a:xfrm>
          <a:prstGeom prst="rect">
            <a:avLst/>
          </a:prstGeom>
        </p:spPr>
      </p:pic>
      <p:sp>
        <p:nvSpPr>
          <p:cNvPr id="31" name="TextBox 30"/>
          <p:cNvSpPr txBox="1"/>
          <p:nvPr/>
        </p:nvSpPr>
        <p:spPr>
          <a:xfrm>
            <a:off x="7150608" y="4526280"/>
            <a:ext cx="4297680" cy="1325880"/>
          </a:xfrm>
          <a:prstGeom prst="rect">
            <a:avLst/>
          </a:prstGeom>
          <a:noFill/>
        </p:spPr>
        <p:txBody>
          <a:bodyPr wrap="square" anchor="ctr" lIns="0" rIns="0" tIns="0" bIns="0">
            <a:spAutoFit/>
          </a:bodyPr>
          <a:lstStyle/>
          <a:p>
            <a:pPr algn="l">
              <a:lnSpc>
                <a:spcPct val="110000"/>
              </a:lnSpc>
              <a:spcAft>
                <a:spcPts val="300"/>
              </a:spcAft>
            </a:pPr>
            <a:r>
              <a:rPr sz="1250" b="0" i="0">
                <a:solidFill>
                  <a:srgbClr val="202A38"/>
                </a:solidFill>
                <a:latin typeface="Times New Roman"/>
              </a:rPr>
              <a:t>Links (symbolic/hard, inode) and archives (</a:t>
            </a:r>
            <a:r>
              <a:rPr sz="1200" b="1" i="0">
                <a:solidFill>
                  <a:srgbClr val="178A73"/>
                </a:solidFill>
                <a:latin typeface="Consolas"/>
              </a:rPr>
              <a:t>tar</a:t>
            </a:r>
            <a:r>
              <a:rPr sz="1250" b="0" i="0">
                <a:solidFill>
                  <a:srgbClr val="202A38"/>
                </a:solidFill>
                <a:latin typeface="Times New Roman"/>
              </a:rPr>
              <a:t>, </a:t>
            </a:r>
            <a:r>
              <a:rPr sz="1200" b="1" i="0">
                <a:solidFill>
                  <a:srgbClr val="178A73"/>
                </a:solidFill>
                <a:latin typeface="Consolas"/>
              </a:rPr>
              <a:t>gzip</a:t>
            </a:r>
            <a:r>
              <a:rPr sz="1250" b="0" i="0">
                <a:solidFill>
                  <a:srgbClr val="202A38"/>
                </a:solidFill>
                <a:latin typeface="Times New Roman"/>
              </a:rPr>
              <a:t>, </a:t>
            </a:r>
            <a:r>
              <a:rPr sz="1200" b="1" i="0">
                <a:solidFill>
                  <a:srgbClr val="178A73"/>
                </a:solidFill>
                <a:latin typeface="Consolas"/>
              </a:rPr>
              <a:t>zip</a:t>
            </a:r>
            <a:r>
              <a:rPr sz="1250" b="0" i="0">
                <a:solidFill>
                  <a:srgbClr val="202A38"/>
                </a:solidFill>
                <a:latin typeface="Times New Roman"/>
              </a:rPr>
              <a:t>), directory size (</a:t>
            </a:r>
            <a:r>
              <a:rPr sz="1200" b="1" i="0">
                <a:solidFill>
                  <a:srgbClr val="178A73"/>
                </a:solidFill>
                <a:latin typeface="Consolas"/>
              </a:rPr>
              <a:t>du</a:t>
            </a:r>
            <a:r>
              <a:rPr sz="1250" b="0" i="0">
                <a:solidFill>
                  <a:srgbClr val="202A38"/>
                </a:solidFill>
                <a:latin typeface="Times New Roman"/>
              </a:rPr>
              <a:t>, </a:t>
            </a:r>
            <a:r>
              <a:rPr sz="1200" b="1" i="0">
                <a:solidFill>
                  <a:srgbClr val="178A73"/>
                </a:solidFill>
                <a:latin typeface="Consolas"/>
              </a:rPr>
              <a:t>tree</a:t>
            </a:r>
            <a:r>
              <a:rPr sz="1250" b="0" i="0">
                <a:solidFill>
                  <a:srgbClr val="202A38"/>
                </a:solidFill>
                <a:latin typeface="Times New Roman"/>
              </a:rPr>
              <a:t>).</a:t>
            </a:r>
          </a:p>
        </p:txBody>
      </p:sp>
      <p:sp>
        <p:nvSpPr>
          <p:cNvPr id="32" name="Rounded Rectangle 31"/>
          <p:cNvSpPr/>
          <p:nvPr/>
        </p:nvSpPr>
        <p:spPr>
          <a:xfrm>
            <a:off x="566928" y="5989320"/>
            <a:ext cx="11045952" cy="347472"/>
          </a:xfrm>
          <a:prstGeom prst="roundRect">
            <a:avLst>
              <a:gd name="adj" fmla="val 8000"/>
            </a:avLst>
          </a:prstGeom>
          <a:solidFill>
            <a:srgbClr val="E3F3EE"/>
          </a:solidFill>
          <a:ln w="15875">
            <a:solidFill>
              <a:srgbClr val="178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check_178A73.png"/>
          <p:cNvPicPr>
            <a:picLocks noChangeAspect="1"/>
          </p:cNvPicPr>
          <p:nvPr/>
        </p:nvPicPr>
        <p:blipFill>
          <a:blip r:embed="rId9"/>
          <a:stretch>
            <a:fillRect/>
          </a:stretch>
        </p:blipFill>
        <p:spPr>
          <a:xfrm>
            <a:off x="694944" y="5998464"/>
            <a:ext cx="329184" cy="329184"/>
          </a:xfrm>
          <a:prstGeom prst="rect">
            <a:avLst/>
          </a:prstGeom>
        </p:spPr>
      </p:pic>
      <p:sp>
        <p:nvSpPr>
          <p:cNvPr id="34" name="TextBox 33"/>
          <p:cNvSpPr txBox="1"/>
          <p:nvPr/>
        </p:nvSpPr>
        <p:spPr>
          <a:xfrm>
            <a:off x="1133856" y="5989320"/>
            <a:ext cx="10360152" cy="347472"/>
          </a:xfrm>
          <a:prstGeom prst="rect">
            <a:avLst/>
          </a:prstGeom>
          <a:noFill/>
        </p:spPr>
        <p:txBody>
          <a:bodyPr wrap="square" anchor="ctr" lIns="0" rIns="0" tIns="0" bIns="0">
            <a:spAutoFit/>
          </a:bodyPr>
          <a:lstStyle/>
          <a:p>
            <a:pPr algn="l">
              <a:lnSpc>
                <a:spcPct val="110000"/>
              </a:lnSpc>
              <a:spcAft>
                <a:spcPts val="300"/>
              </a:spcAft>
            </a:pPr>
            <a:r>
              <a:rPr sz="1150" b="0" i="0">
                <a:solidFill>
                  <a:srgbClr val="202A38"/>
                </a:solidFill>
                <a:latin typeface="Times New Roman"/>
              </a:rPr>
              <a:t>Next lesson: working with the terminal — combining commands, filtering, processes and packages.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WRAP-UP</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Review questions — Topic 2, Lesson 1</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34</a:t>
            </a:r>
          </a:p>
        </p:txBody>
      </p:sp>
      <p:sp>
        <p:nvSpPr>
          <p:cNvPr id="8" name="Rounded Rectangle 7"/>
          <p:cNvSpPr/>
          <p:nvPr/>
        </p:nvSpPr>
        <p:spPr>
          <a:xfrm>
            <a:off x="566928" y="1600200"/>
            <a:ext cx="5440680" cy="78638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810512"/>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Times New Roman"/>
              </a:rPr>
              <a:t>1</a:t>
            </a:r>
          </a:p>
        </p:txBody>
      </p:sp>
      <p:sp>
        <p:nvSpPr>
          <p:cNvPr id="10" name="TextBox 9"/>
          <p:cNvSpPr txBox="1"/>
          <p:nvPr/>
        </p:nvSpPr>
        <p:spPr>
          <a:xfrm>
            <a:off x="1161288" y="1600200"/>
            <a:ext cx="4754880" cy="786384"/>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What is the difference between kernel and distribution? What is the role of the GNU project?</a:t>
            </a:r>
          </a:p>
        </p:txBody>
      </p:sp>
      <p:sp>
        <p:nvSpPr>
          <p:cNvPr id="11" name="Rounded Rectangle 10"/>
          <p:cNvSpPr/>
          <p:nvPr/>
        </p:nvSpPr>
        <p:spPr>
          <a:xfrm>
            <a:off x="566928" y="2496312"/>
            <a:ext cx="5440680" cy="78638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76656" y="2706624"/>
            <a:ext cx="365760" cy="36576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Times New Roman"/>
              </a:rPr>
              <a:t>2</a:t>
            </a:r>
          </a:p>
        </p:txBody>
      </p:sp>
      <p:sp>
        <p:nvSpPr>
          <p:cNvPr id="13" name="TextBox 12"/>
          <p:cNvSpPr txBox="1"/>
          <p:nvPr/>
        </p:nvSpPr>
        <p:spPr>
          <a:xfrm>
            <a:off x="1161288" y="2496312"/>
            <a:ext cx="4754880" cy="786384"/>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How do the Debian and Red Hat families differ? Which family is Kali in and from which file do we know?</a:t>
            </a:r>
          </a:p>
        </p:txBody>
      </p:sp>
      <p:sp>
        <p:nvSpPr>
          <p:cNvPr id="14" name="Rounded Rectangle 13"/>
          <p:cNvSpPr/>
          <p:nvPr/>
        </p:nvSpPr>
        <p:spPr>
          <a:xfrm>
            <a:off x="566928" y="3392424"/>
            <a:ext cx="5440680" cy="78638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76656" y="3602736"/>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Times New Roman"/>
              </a:rPr>
              <a:t>3</a:t>
            </a:r>
          </a:p>
        </p:txBody>
      </p:sp>
      <p:sp>
        <p:nvSpPr>
          <p:cNvPr id="16" name="TextBox 15"/>
          <p:cNvSpPr txBox="1"/>
          <p:nvPr/>
        </p:nvSpPr>
        <p:spPr>
          <a:xfrm>
            <a:off x="1161288" y="3392424"/>
            <a:ext cx="4754880" cy="786384"/>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What does “everything is a file” mean? Give an example of </a:t>
            </a:r>
            <a:r>
              <a:rPr sz="1150" b="1" i="0">
                <a:solidFill>
                  <a:srgbClr val="178A73"/>
                </a:solidFill>
                <a:latin typeface="Consolas"/>
              </a:rPr>
              <a:t>/proc</a:t>
            </a:r>
            <a:r>
              <a:rPr sz="1200" b="0" i="0">
                <a:solidFill>
                  <a:srgbClr val="202A38"/>
                </a:solidFill>
                <a:latin typeface="Times New Roman"/>
              </a:rPr>
              <a:t> and </a:t>
            </a:r>
            <a:r>
              <a:rPr sz="1150" b="1" i="0">
                <a:solidFill>
                  <a:srgbClr val="178A73"/>
                </a:solidFill>
                <a:latin typeface="Consolas"/>
              </a:rPr>
              <a:t>/dev</a:t>
            </a:r>
            <a:r>
              <a:rPr sz="1200" b="0" i="0">
                <a:solidFill>
                  <a:srgbClr val="202A38"/>
                </a:solidFill>
                <a:latin typeface="Times New Roman"/>
              </a:rPr>
              <a:t>.</a:t>
            </a:r>
          </a:p>
        </p:txBody>
      </p:sp>
      <p:sp>
        <p:nvSpPr>
          <p:cNvPr id="17" name="Rounded Rectangle 16"/>
          <p:cNvSpPr/>
          <p:nvPr/>
        </p:nvSpPr>
        <p:spPr>
          <a:xfrm>
            <a:off x="566928" y="4288536"/>
            <a:ext cx="5440680" cy="78638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76656" y="4498848"/>
            <a:ext cx="365760" cy="36576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Times New Roman"/>
              </a:rPr>
              <a:t>4</a:t>
            </a:r>
          </a:p>
        </p:txBody>
      </p:sp>
      <p:sp>
        <p:nvSpPr>
          <p:cNvPr id="19" name="TextBox 18"/>
          <p:cNvSpPr txBox="1"/>
          <p:nvPr/>
        </p:nvSpPr>
        <p:spPr>
          <a:xfrm>
            <a:off x="1161288" y="4288536"/>
            <a:ext cx="4754880" cy="786384"/>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Purpose of </a:t>
            </a:r>
            <a:r>
              <a:rPr sz="1150" b="1" i="0">
                <a:solidFill>
                  <a:srgbClr val="178A73"/>
                </a:solidFill>
                <a:latin typeface="Consolas"/>
              </a:rPr>
              <a:t>/etc</a:t>
            </a:r>
            <a:r>
              <a:rPr sz="1200" b="0" i="0">
                <a:solidFill>
                  <a:srgbClr val="202A38"/>
                </a:solidFill>
                <a:latin typeface="Times New Roman"/>
              </a:rPr>
              <a:t>, </a:t>
            </a:r>
            <a:r>
              <a:rPr sz="1150" b="1" i="0">
                <a:solidFill>
                  <a:srgbClr val="178A73"/>
                </a:solidFill>
                <a:latin typeface="Consolas"/>
              </a:rPr>
              <a:t>/tmp</a:t>
            </a:r>
            <a:r>
              <a:rPr sz="1200" b="0" i="0">
                <a:solidFill>
                  <a:srgbClr val="202A38"/>
                </a:solidFill>
                <a:latin typeface="Times New Roman"/>
              </a:rPr>
              <a:t>, </a:t>
            </a:r>
            <a:r>
              <a:rPr sz="1150" b="1" i="0">
                <a:solidFill>
                  <a:srgbClr val="178A73"/>
                </a:solidFill>
                <a:latin typeface="Consolas"/>
              </a:rPr>
              <a:t>/var/log</a:t>
            </a:r>
            <a:r>
              <a:rPr sz="1200" b="0" i="0">
                <a:solidFill>
                  <a:srgbClr val="202A38"/>
                </a:solidFill>
                <a:latin typeface="Times New Roman"/>
              </a:rPr>
              <a:t>, </a:t>
            </a:r>
            <a:r>
              <a:rPr sz="1150" b="1" i="0">
                <a:solidFill>
                  <a:srgbClr val="178A73"/>
                </a:solidFill>
                <a:latin typeface="Consolas"/>
              </a:rPr>
              <a:t>/home</a:t>
            </a:r>
            <a:r>
              <a:rPr sz="1200" b="0" i="0">
                <a:solidFill>
                  <a:srgbClr val="202A38"/>
                </a:solidFill>
                <a:latin typeface="Times New Roman"/>
              </a:rPr>
              <a:t>, </a:t>
            </a:r>
            <a:r>
              <a:rPr sz="1150" b="1" i="0">
                <a:solidFill>
                  <a:srgbClr val="178A73"/>
                </a:solidFill>
                <a:latin typeface="Consolas"/>
              </a:rPr>
              <a:t>/root</a:t>
            </a:r>
            <a:r>
              <a:rPr sz="1200" b="0" i="0">
                <a:solidFill>
                  <a:srgbClr val="202A38"/>
                </a:solidFill>
                <a:latin typeface="Times New Roman"/>
              </a:rPr>
              <a:t>? Which is convenient for an attacker?</a:t>
            </a:r>
          </a:p>
        </p:txBody>
      </p:sp>
      <p:sp>
        <p:nvSpPr>
          <p:cNvPr id="20" name="Rounded Rectangle 19"/>
          <p:cNvSpPr/>
          <p:nvPr/>
        </p:nvSpPr>
        <p:spPr>
          <a:xfrm>
            <a:off x="566928" y="5184648"/>
            <a:ext cx="5440680" cy="78638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76656" y="539496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Times New Roman"/>
              </a:rPr>
              <a:t>5</a:t>
            </a:r>
          </a:p>
        </p:txBody>
      </p:sp>
      <p:sp>
        <p:nvSpPr>
          <p:cNvPr id="22" name="TextBox 21"/>
          <p:cNvSpPr txBox="1"/>
          <p:nvPr/>
        </p:nvSpPr>
        <p:spPr>
          <a:xfrm>
            <a:off x="1161288" y="5184648"/>
            <a:ext cx="4754880" cy="786384"/>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Difference between absolute and relative path? Where does </a:t>
            </a:r>
            <a:r>
              <a:rPr sz="1150" b="1" i="0">
                <a:solidFill>
                  <a:srgbClr val="178A73"/>
                </a:solidFill>
                <a:latin typeface="Consolas"/>
              </a:rPr>
              <a:t>cd ../../etc</a:t>
            </a:r>
            <a:r>
              <a:rPr sz="1200" b="0" i="0">
                <a:solidFill>
                  <a:srgbClr val="202A38"/>
                </a:solidFill>
                <a:latin typeface="Times New Roman"/>
              </a:rPr>
              <a:t> lead from </a:t>
            </a:r>
            <a:r>
              <a:rPr sz="1150" b="1" i="0">
                <a:solidFill>
                  <a:srgbClr val="178A73"/>
                </a:solidFill>
                <a:latin typeface="Consolas"/>
              </a:rPr>
              <a:t>/home/kali</a:t>
            </a:r>
            <a:r>
              <a:rPr sz="1200" b="0" i="0">
                <a:solidFill>
                  <a:srgbClr val="202A38"/>
                </a:solidFill>
                <a:latin typeface="Times New Roman"/>
              </a:rPr>
              <a:t>?</a:t>
            </a:r>
          </a:p>
        </p:txBody>
      </p:sp>
      <p:sp>
        <p:nvSpPr>
          <p:cNvPr id="23" name="Rounded Rectangle 22"/>
          <p:cNvSpPr/>
          <p:nvPr/>
        </p:nvSpPr>
        <p:spPr>
          <a:xfrm>
            <a:off x="6144768" y="1600200"/>
            <a:ext cx="5440680" cy="78638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254496" y="1810512"/>
            <a:ext cx="365760" cy="36576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Times New Roman"/>
              </a:rPr>
              <a:t>6</a:t>
            </a:r>
          </a:p>
        </p:txBody>
      </p:sp>
      <p:sp>
        <p:nvSpPr>
          <p:cNvPr id="25" name="TextBox 24"/>
          <p:cNvSpPr txBox="1"/>
          <p:nvPr/>
        </p:nvSpPr>
        <p:spPr>
          <a:xfrm>
            <a:off x="6739128" y="1600200"/>
            <a:ext cx="4754880" cy="786384"/>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What do </a:t>
            </a:r>
            <a:r>
              <a:rPr sz="1150" b="1" i="0">
                <a:solidFill>
                  <a:srgbClr val="178A73"/>
                </a:solidFill>
                <a:latin typeface="Consolas"/>
              </a:rPr>
              <a:t>-r</a:t>
            </a:r>
            <a:r>
              <a:rPr sz="1200" b="0" i="0">
                <a:solidFill>
                  <a:srgbClr val="202A38"/>
                </a:solidFill>
                <a:latin typeface="Times New Roman"/>
              </a:rPr>
              <a:t>, </a:t>
            </a:r>
            <a:r>
              <a:rPr sz="1150" b="1" i="0">
                <a:solidFill>
                  <a:srgbClr val="178A73"/>
                </a:solidFill>
                <a:latin typeface="Consolas"/>
              </a:rPr>
              <a:t>-i</a:t>
            </a:r>
            <a:r>
              <a:rPr sz="1200" b="0" i="0">
                <a:solidFill>
                  <a:srgbClr val="202A38"/>
                </a:solidFill>
                <a:latin typeface="Times New Roman"/>
              </a:rPr>
              <a:t>, </a:t>
            </a:r>
            <a:r>
              <a:rPr sz="1150" b="1" i="0">
                <a:solidFill>
                  <a:srgbClr val="178A73"/>
                </a:solidFill>
                <a:latin typeface="Consolas"/>
              </a:rPr>
              <a:t>-v</a:t>
            </a:r>
            <a:r>
              <a:rPr sz="1200" b="0" i="0">
                <a:solidFill>
                  <a:srgbClr val="202A38"/>
                </a:solidFill>
                <a:latin typeface="Times New Roman"/>
              </a:rPr>
              <a:t>, </a:t>
            </a:r>
            <a:r>
              <a:rPr sz="1150" b="1" i="0">
                <a:solidFill>
                  <a:srgbClr val="178A73"/>
                </a:solidFill>
                <a:latin typeface="Consolas"/>
              </a:rPr>
              <a:t>-f</a:t>
            </a:r>
            <a:r>
              <a:rPr sz="1200" b="0" i="0">
                <a:solidFill>
                  <a:srgbClr val="202A38"/>
                </a:solidFill>
                <a:latin typeface="Times New Roman"/>
              </a:rPr>
              <a:t> mean? What is the dangerous side of </a:t>
            </a:r>
            <a:r>
              <a:rPr sz="1150" b="1" i="0">
                <a:solidFill>
                  <a:srgbClr val="178A73"/>
                </a:solidFill>
                <a:latin typeface="Consolas"/>
              </a:rPr>
              <a:t>mv</a:t>
            </a:r>
            <a:r>
              <a:rPr sz="1200" b="0" i="0">
                <a:solidFill>
                  <a:srgbClr val="202A38"/>
                </a:solidFill>
                <a:latin typeface="Times New Roman"/>
              </a:rPr>
              <a:t>?</a:t>
            </a:r>
          </a:p>
        </p:txBody>
      </p:sp>
      <p:sp>
        <p:nvSpPr>
          <p:cNvPr id="26" name="Rounded Rectangle 25"/>
          <p:cNvSpPr/>
          <p:nvPr/>
        </p:nvSpPr>
        <p:spPr>
          <a:xfrm>
            <a:off x="6144768" y="2496312"/>
            <a:ext cx="5440680" cy="78638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254496" y="2706624"/>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Times New Roman"/>
              </a:rPr>
              <a:t>7</a:t>
            </a:r>
          </a:p>
        </p:txBody>
      </p:sp>
      <p:sp>
        <p:nvSpPr>
          <p:cNvPr id="28" name="TextBox 27"/>
          <p:cNvSpPr txBox="1"/>
          <p:nvPr/>
        </p:nvSpPr>
        <p:spPr>
          <a:xfrm>
            <a:off x="6739128" y="2496312"/>
            <a:ext cx="4754880" cy="786384"/>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Which commands suit a small file, a large file and a log being written?</a:t>
            </a:r>
          </a:p>
        </p:txBody>
      </p:sp>
      <p:sp>
        <p:nvSpPr>
          <p:cNvPr id="29" name="Rounded Rectangle 28"/>
          <p:cNvSpPr/>
          <p:nvPr/>
        </p:nvSpPr>
        <p:spPr>
          <a:xfrm>
            <a:off x="6144768" y="3392424"/>
            <a:ext cx="5440680" cy="78638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254496" y="3602736"/>
            <a:ext cx="365760" cy="36576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Times New Roman"/>
              </a:rPr>
              <a:t>8</a:t>
            </a:r>
          </a:p>
        </p:txBody>
      </p:sp>
      <p:sp>
        <p:nvSpPr>
          <p:cNvPr id="31" name="TextBox 30"/>
          <p:cNvSpPr txBox="1"/>
          <p:nvPr/>
        </p:nvSpPr>
        <p:spPr>
          <a:xfrm>
            <a:off x="6739128" y="3392424"/>
            <a:ext cx="4754880" cy="786384"/>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What are magic bytes? What are the ELF and PE signatures?</a:t>
            </a:r>
          </a:p>
        </p:txBody>
      </p:sp>
      <p:sp>
        <p:nvSpPr>
          <p:cNvPr id="32" name="Rounded Rectangle 31"/>
          <p:cNvSpPr/>
          <p:nvPr/>
        </p:nvSpPr>
        <p:spPr>
          <a:xfrm>
            <a:off x="6144768" y="4288536"/>
            <a:ext cx="5440680" cy="78638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254496" y="4498848"/>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Times New Roman"/>
              </a:rPr>
              <a:t>9</a:t>
            </a:r>
          </a:p>
        </p:txBody>
      </p:sp>
      <p:sp>
        <p:nvSpPr>
          <p:cNvPr id="34" name="TextBox 33"/>
          <p:cNvSpPr txBox="1"/>
          <p:nvPr/>
        </p:nvSpPr>
        <p:spPr>
          <a:xfrm>
            <a:off x="6739128" y="4288536"/>
            <a:ext cx="4754880" cy="786384"/>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Difference between atime, mtime, ctime? How is a tampered timestamp detected?</a:t>
            </a:r>
          </a:p>
        </p:txBody>
      </p:sp>
      <p:sp>
        <p:nvSpPr>
          <p:cNvPr id="35" name="Rounded Rectangle 34"/>
          <p:cNvSpPr/>
          <p:nvPr/>
        </p:nvSpPr>
        <p:spPr>
          <a:xfrm>
            <a:off x="6144768" y="5184648"/>
            <a:ext cx="5440680" cy="786384"/>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254496" y="5394960"/>
            <a:ext cx="365760" cy="36576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Times New Roman"/>
              </a:rPr>
              <a:t>10</a:t>
            </a:r>
          </a:p>
        </p:txBody>
      </p:sp>
      <p:sp>
        <p:nvSpPr>
          <p:cNvPr id="37" name="TextBox 36"/>
          <p:cNvSpPr txBox="1"/>
          <p:nvPr/>
        </p:nvSpPr>
        <p:spPr>
          <a:xfrm>
            <a:off x="6739128" y="5184648"/>
            <a:ext cx="4754880" cy="786384"/>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Difference between a symbolic and a hard link? What happens if the original is deleted?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ankyou.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png"/>
          <p:cNvPicPr>
            <a:picLocks noChangeAspect="1"/>
          </p:cNvPicPr>
          <p:nvPr/>
        </p:nvPicPr>
        <p:blipFill>
          <a:blip r:embed="rId3"/>
          <a:stretch>
            <a:fillRect/>
          </a:stretch>
        </p:blipFill>
        <p:spPr>
          <a:xfrm>
            <a:off x="5394960" y="822960"/>
            <a:ext cx="1371600" cy="1389888"/>
          </a:xfrm>
          <a:prstGeom prst="rect">
            <a:avLst/>
          </a:prstGeom>
        </p:spPr>
      </p:pic>
      <p:sp>
        <p:nvSpPr>
          <p:cNvPr id="4" name="TextBox 3"/>
          <p:cNvSpPr txBox="1"/>
          <p:nvPr/>
        </p:nvSpPr>
        <p:spPr>
          <a:xfrm>
            <a:off x="914400" y="2743200"/>
            <a:ext cx="10332720" cy="914400"/>
          </a:xfrm>
          <a:prstGeom prst="rect">
            <a:avLst/>
          </a:prstGeom>
          <a:noFill/>
        </p:spPr>
        <p:txBody>
          <a:bodyPr wrap="square" anchor="t" lIns="0" rIns="0" tIns="0" bIns="0">
            <a:spAutoFit/>
          </a:bodyPr>
          <a:lstStyle/>
          <a:p>
            <a:pPr algn="ctr">
              <a:lnSpc>
                <a:spcPct val="110000"/>
              </a:lnSpc>
              <a:spcAft>
                <a:spcPts val="300"/>
              </a:spcAft>
            </a:pPr>
            <a:r>
              <a:rPr sz="4000" b="1" i="0">
                <a:solidFill>
                  <a:srgbClr val="FFFFFF"/>
                </a:solidFill>
                <a:latin typeface="Times New Roman"/>
              </a:rPr>
              <a:t>THANK YOU FOR YOUR ATTENTION!</a:t>
            </a:r>
          </a:p>
        </p:txBody>
      </p:sp>
      <p:sp>
        <p:nvSpPr>
          <p:cNvPr id="5" name="TextBox 4"/>
          <p:cNvSpPr txBox="1"/>
          <p:nvPr/>
        </p:nvSpPr>
        <p:spPr>
          <a:xfrm>
            <a:off x="914400" y="3931920"/>
            <a:ext cx="10332720" cy="914400"/>
          </a:xfrm>
          <a:prstGeom prst="rect">
            <a:avLst/>
          </a:prstGeom>
          <a:noFill/>
        </p:spPr>
        <p:txBody>
          <a:bodyPr wrap="square" anchor="t" lIns="0" rIns="0" tIns="0" bIns="0">
            <a:spAutoFit/>
          </a:bodyPr>
          <a:lstStyle/>
          <a:p>
            <a:pPr algn="ctr">
              <a:lnSpc>
                <a:spcPct val="110000"/>
              </a:lnSpc>
              <a:spcAft>
                <a:spcPts val="300"/>
              </a:spcAft>
            </a:pPr>
            <a:r>
              <a:rPr sz="2000" b="0" i="0">
                <a:solidFill>
                  <a:srgbClr val="DDE6F2"/>
                </a:solidFill>
                <a:latin typeface="Times New Roman"/>
              </a:rPr>
              <a:t>Questions are welcome.</a:t>
            </a:r>
          </a:p>
          <a:p>
            <a:pPr algn="ctr">
              <a:lnSpc>
                <a:spcPct val="110000"/>
              </a:lnSpc>
              <a:spcAft>
                <a:spcPts val="300"/>
              </a:spcAft>
            </a:pPr>
            <a:r>
              <a:rPr sz="2000" b="0" i="0">
                <a:solidFill>
                  <a:srgbClr val="DDE6F2"/>
                </a:solidFill>
                <a:latin typeface="Times New Roman"/>
              </a:rPr>
              <a:t>Next section — glossary of terms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GLOSSARY</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Glossary — this section explains the following</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36</a:t>
            </a:r>
          </a:p>
        </p:txBody>
      </p:sp>
      <p:sp>
        <p:nvSpPr>
          <p:cNvPr id="8" name="Rounded Rectangle 7"/>
          <p:cNvSpPr/>
          <p:nvPr/>
        </p:nvSpPr>
        <p:spPr>
          <a:xfrm>
            <a:off x="566928" y="1645920"/>
            <a:ext cx="3566160" cy="141732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68096" y="1874520"/>
            <a:ext cx="640080" cy="64008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pu_FFFFFF.png"/>
          <p:cNvPicPr>
            <a:picLocks noChangeAspect="1"/>
          </p:cNvPicPr>
          <p:nvPr/>
        </p:nvPicPr>
        <p:blipFill>
          <a:blip r:embed="rId3"/>
          <a:stretch>
            <a:fillRect/>
          </a:stretch>
        </p:blipFill>
        <p:spPr>
          <a:xfrm>
            <a:off x="928116" y="2034540"/>
            <a:ext cx="320040" cy="320040"/>
          </a:xfrm>
          <a:prstGeom prst="rect">
            <a:avLst/>
          </a:prstGeom>
        </p:spPr>
      </p:pic>
      <p:sp>
        <p:nvSpPr>
          <p:cNvPr id="11" name="TextBox 10">
            <a:hlinkClick action="ppaction://hlinksldjump" r:id="rId9"/>
          </p:cNvPr>
          <p:cNvSpPr txBox="1"/>
          <p:nvPr/>
        </p:nvSpPr>
        <p:spPr>
          <a:xfrm>
            <a:off x="1572768" y="1920240"/>
            <a:ext cx="2468880" cy="365760"/>
          </a:xfrm>
          <a:prstGeom prst="rect">
            <a:avLst/>
          </a:prstGeom>
          <a:noFill/>
        </p:spPr>
        <p:txBody>
          <a:bodyPr wrap="square" anchor="t" lIns="0" rIns="0" tIns="0" bIns="0">
            <a:spAutoFit/>
          </a:bodyPr>
          <a:lstStyle/>
          <a:p>
            <a:pPr algn="l">
              <a:lnSpc>
                <a:spcPct val="110000"/>
              </a:lnSpc>
              <a:spcAft>
                <a:spcPts val="300"/>
              </a:spcAft>
            </a:pPr>
            <a:r>
              <a:rPr sz="1500" b="1" i="0">
                <a:solidFill>
                  <a:srgbClr val="1F3864"/>
                </a:solidFill>
                <a:latin typeface="Times New Roman"/>
              </a:rPr>
              <a:t>Kernel</a:t>
            </a:r>
          </a:p>
        </p:txBody>
      </p:sp>
      <p:sp>
        <p:nvSpPr>
          <p:cNvPr id="12" name="TextBox 11"/>
          <p:cNvSpPr txBox="1"/>
          <p:nvPr/>
        </p:nvSpPr>
        <p:spPr>
          <a:xfrm>
            <a:off x="795528" y="2606040"/>
            <a:ext cx="3200400" cy="320040"/>
          </a:xfrm>
          <a:prstGeom prst="rect">
            <a:avLst/>
          </a:prstGeom>
          <a:noFill/>
        </p:spPr>
        <p:txBody>
          <a:bodyPr wrap="square" anchor="t" lIns="0" rIns="0" tIns="0" bIns="0">
            <a:spAutoFit/>
          </a:bodyPr>
          <a:lstStyle/>
          <a:p>
            <a:pPr algn="l">
              <a:lnSpc>
                <a:spcPct val="110000"/>
              </a:lnSpc>
              <a:spcAft>
                <a:spcPts val="300"/>
              </a:spcAft>
            </a:pPr>
            <a:r>
              <a:rPr sz="1200" b="0" i="1">
                <a:solidFill>
                  <a:srgbClr val="54647A"/>
                </a:solidFill>
                <a:latin typeface="Times New Roman"/>
              </a:rPr>
              <a:t>the “heart” of the OS</a:t>
            </a:r>
          </a:p>
        </p:txBody>
      </p:sp>
      <p:sp>
        <p:nvSpPr>
          <p:cNvPr id="13" name="Rounded Rectangle 12"/>
          <p:cNvSpPr/>
          <p:nvPr/>
        </p:nvSpPr>
        <p:spPr>
          <a:xfrm>
            <a:off x="4297680" y="1645920"/>
            <a:ext cx="3566160" cy="141732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498848" y="1874520"/>
            <a:ext cx="640080" cy="640080"/>
          </a:xfrm>
          <a:prstGeom prst="ellipse">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layers_FFFFFF.png"/>
          <p:cNvPicPr>
            <a:picLocks noChangeAspect="1"/>
          </p:cNvPicPr>
          <p:nvPr/>
        </p:nvPicPr>
        <p:blipFill>
          <a:blip r:embed="rId4"/>
          <a:stretch>
            <a:fillRect/>
          </a:stretch>
        </p:blipFill>
        <p:spPr>
          <a:xfrm>
            <a:off x="4658868" y="2034540"/>
            <a:ext cx="320040" cy="320040"/>
          </a:xfrm>
          <a:prstGeom prst="rect">
            <a:avLst/>
          </a:prstGeom>
        </p:spPr>
      </p:pic>
      <p:sp>
        <p:nvSpPr>
          <p:cNvPr id="16" name="TextBox 15">
            <a:hlinkClick action="ppaction://hlinksldjump" r:id="rId10"/>
          </p:cNvPr>
          <p:cNvSpPr txBox="1"/>
          <p:nvPr/>
        </p:nvSpPr>
        <p:spPr>
          <a:xfrm>
            <a:off x="5303520" y="1920240"/>
            <a:ext cx="2468880" cy="365760"/>
          </a:xfrm>
          <a:prstGeom prst="rect">
            <a:avLst/>
          </a:prstGeom>
          <a:noFill/>
        </p:spPr>
        <p:txBody>
          <a:bodyPr wrap="square" anchor="t" lIns="0" rIns="0" tIns="0" bIns="0">
            <a:spAutoFit/>
          </a:bodyPr>
          <a:lstStyle/>
          <a:p>
            <a:pPr algn="l">
              <a:lnSpc>
                <a:spcPct val="110000"/>
              </a:lnSpc>
              <a:spcAft>
                <a:spcPts val="300"/>
              </a:spcAft>
            </a:pPr>
            <a:r>
              <a:rPr sz="1500" b="1" i="0">
                <a:solidFill>
                  <a:srgbClr val="1F3864"/>
                </a:solidFill>
                <a:latin typeface="Times New Roman"/>
              </a:rPr>
              <a:t>Distribution</a:t>
            </a:r>
          </a:p>
        </p:txBody>
      </p:sp>
      <p:sp>
        <p:nvSpPr>
          <p:cNvPr id="17" name="TextBox 16"/>
          <p:cNvSpPr txBox="1"/>
          <p:nvPr/>
        </p:nvSpPr>
        <p:spPr>
          <a:xfrm>
            <a:off x="4526280" y="2606040"/>
            <a:ext cx="3200400" cy="320040"/>
          </a:xfrm>
          <a:prstGeom prst="rect">
            <a:avLst/>
          </a:prstGeom>
          <a:noFill/>
        </p:spPr>
        <p:txBody>
          <a:bodyPr wrap="square" anchor="t" lIns="0" rIns="0" tIns="0" bIns="0">
            <a:spAutoFit/>
          </a:bodyPr>
          <a:lstStyle/>
          <a:p>
            <a:pPr algn="l">
              <a:lnSpc>
                <a:spcPct val="110000"/>
              </a:lnSpc>
              <a:spcAft>
                <a:spcPts val="300"/>
              </a:spcAft>
            </a:pPr>
            <a:r>
              <a:rPr sz="1200" b="0" i="1">
                <a:solidFill>
                  <a:srgbClr val="54647A"/>
                </a:solidFill>
                <a:latin typeface="Times New Roman"/>
              </a:rPr>
              <a:t>kernel + “wrapping”</a:t>
            </a:r>
          </a:p>
        </p:txBody>
      </p:sp>
      <p:sp>
        <p:nvSpPr>
          <p:cNvPr id="18" name="Rounded Rectangle 17"/>
          <p:cNvSpPr/>
          <p:nvPr/>
        </p:nvSpPr>
        <p:spPr>
          <a:xfrm>
            <a:off x="8028431" y="1645920"/>
            <a:ext cx="3566160" cy="141732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29599" y="1874520"/>
            <a:ext cx="640080" cy="6400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folder_FFFFFF.png"/>
          <p:cNvPicPr>
            <a:picLocks noChangeAspect="1"/>
          </p:cNvPicPr>
          <p:nvPr/>
        </p:nvPicPr>
        <p:blipFill>
          <a:blip r:embed="rId5"/>
          <a:stretch>
            <a:fillRect/>
          </a:stretch>
        </p:blipFill>
        <p:spPr>
          <a:xfrm>
            <a:off x="8389619" y="2034540"/>
            <a:ext cx="320040" cy="320040"/>
          </a:xfrm>
          <a:prstGeom prst="rect">
            <a:avLst/>
          </a:prstGeom>
        </p:spPr>
      </p:pic>
      <p:sp>
        <p:nvSpPr>
          <p:cNvPr id="21" name="TextBox 20">
            <a:hlinkClick action="ppaction://hlinksldjump" r:id="rId11"/>
          </p:cNvPr>
          <p:cNvSpPr txBox="1"/>
          <p:nvPr/>
        </p:nvSpPr>
        <p:spPr>
          <a:xfrm>
            <a:off x="9034271" y="1920240"/>
            <a:ext cx="2468880" cy="365760"/>
          </a:xfrm>
          <a:prstGeom prst="rect">
            <a:avLst/>
          </a:prstGeom>
          <a:noFill/>
        </p:spPr>
        <p:txBody>
          <a:bodyPr wrap="square" anchor="t" lIns="0" rIns="0" tIns="0" bIns="0">
            <a:spAutoFit/>
          </a:bodyPr>
          <a:lstStyle/>
          <a:p>
            <a:pPr algn="l">
              <a:lnSpc>
                <a:spcPct val="110000"/>
              </a:lnSpc>
              <a:spcAft>
                <a:spcPts val="300"/>
              </a:spcAft>
            </a:pPr>
            <a:r>
              <a:rPr sz="1500" b="1" i="0">
                <a:solidFill>
                  <a:srgbClr val="1F3864"/>
                </a:solidFill>
                <a:latin typeface="Times New Roman"/>
              </a:rPr>
              <a:t>FHS</a:t>
            </a:r>
          </a:p>
        </p:txBody>
      </p:sp>
      <p:sp>
        <p:nvSpPr>
          <p:cNvPr id="22" name="TextBox 21"/>
          <p:cNvSpPr txBox="1"/>
          <p:nvPr/>
        </p:nvSpPr>
        <p:spPr>
          <a:xfrm>
            <a:off x="8257031" y="2606040"/>
            <a:ext cx="3200400" cy="320040"/>
          </a:xfrm>
          <a:prstGeom prst="rect">
            <a:avLst/>
          </a:prstGeom>
          <a:noFill/>
        </p:spPr>
        <p:txBody>
          <a:bodyPr wrap="square" anchor="t" lIns="0" rIns="0" tIns="0" bIns="0">
            <a:spAutoFit/>
          </a:bodyPr>
          <a:lstStyle/>
          <a:p>
            <a:pPr algn="l">
              <a:lnSpc>
                <a:spcPct val="110000"/>
              </a:lnSpc>
              <a:spcAft>
                <a:spcPts val="300"/>
              </a:spcAft>
            </a:pPr>
            <a:r>
              <a:rPr sz="1200" b="0" i="1">
                <a:solidFill>
                  <a:srgbClr val="54647A"/>
                </a:solidFill>
                <a:latin typeface="Times New Roman"/>
              </a:rPr>
              <a:t>directory standard</a:t>
            </a:r>
          </a:p>
        </p:txBody>
      </p:sp>
      <p:sp>
        <p:nvSpPr>
          <p:cNvPr id="23" name="Rounded Rectangle 22"/>
          <p:cNvSpPr/>
          <p:nvPr/>
        </p:nvSpPr>
        <p:spPr>
          <a:xfrm>
            <a:off x="566928" y="3246120"/>
            <a:ext cx="3566160" cy="141732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68096" y="3474720"/>
            <a:ext cx="640080" cy="64008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hash_FFFFFF.png"/>
          <p:cNvPicPr>
            <a:picLocks noChangeAspect="1"/>
          </p:cNvPicPr>
          <p:nvPr/>
        </p:nvPicPr>
        <p:blipFill>
          <a:blip r:embed="rId6"/>
          <a:stretch>
            <a:fillRect/>
          </a:stretch>
        </p:blipFill>
        <p:spPr>
          <a:xfrm>
            <a:off x="928116" y="3634740"/>
            <a:ext cx="320040" cy="320040"/>
          </a:xfrm>
          <a:prstGeom prst="rect">
            <a:avLst/>
          </a:prstGeom>
        </p:spPr>
      </p:pic>
      <p:sp>
        <p:nvSpPr>
          <p:cNvPr id="26" name="TextBox 25">
            <a:hlinkClick action="ppaction://hlinksldjump" r:id="rId12"/>
          </p:cNvPr>
          <p:cNvSpPr txBox="1"/>
          <p:nvPr/>
        </p:nvSpPr>
        <p:spPr>
          <a:xfrm>
            <a:off x="1572768" y="3520440"/>
            <a:ext cx="2468880" cy="365760"/>
          </a:xfrm>
          <a:prstGeom prst="rect">
            <a:avLst/>
          </a:prstGeom>
          <a:noFill/>
        </p:spPr>
        <p:txBody>
          <a:bodyPr wrap="square" anchor="t" lIns="0" rIns="0" tIns="0" bIns="0">
            <a:spAutoFit/>
          </a:bodyPr>
          <a:lstStyle/>
          <a:p>
            <a:pPr algn="l">
              <a:lnSpc>
                <a:spcPct val="110000"/>
              </a:lnSpc>
              <a:spcAft>
                <a:spcPts val="300"/>
              </a:spcAft>
            </a:pPr>
            <a:r>
              <a:rPr sz="1500" b="1" i="0">
                <a:solidFill>
                  <a:srgbClr val="1F3864"/>
                </a:solidFill>
                <a:latin typeface="Times New Roman"/>
              </a:rPr>
              <a:t>Magic bytes</a:t>
            </a:r>
          </a:p>
        </p:txBody>
      </p:sp>
      <p:sp>
        <p:nvSpPr>
          <p:cNvPr id="27" name="TextBox 26"/>
          <p:cNvSpPr txBox="1"/>
          <p:nvPr/>
        </p:nvSpPr>
        <p:spPr>
          <a:xfrm>
            <a:off x="795528" y="4206240"/>
            <a:ext cx="3200400" cy="320040"/>
          </a:xfrm>
          <a:prstGeom prst="rect">
            <a:avLst/>
          </a:prstGeom>
          <a:noFill/>
        </p:spPr>
        <p:txBody>
          <a:bodyPr wrap="square" anchor="t" lIns="0" rIns="0" tIns="0" bIns="0">
            <a:spAutoFit/>
          </a:bodyPr>
          <a:lstStyle/>
          <a:p>
            <a:pPr algn="l">
              <a:lnSpc>
                <a:spcPct val="110000"/>
              </a:lnSpc>
              <a:spcAft>
                <a:spcPts val="300"/>
              </a:spcAft>
            </a:pPr>
            <a:r>
              <a:rPr sz="1200" b="0" i="1">
                <a:solidFill>
                  <a:srgbClr val="54647A"/>
                </a:solidFill>
                <a:latin typeface="Times New Roman"/>
              </a:rPr>
              <a:t>the file’s real signature</a:t>
            </a:r>
          </a:p>
        </p:txBody>
      </p:sp>
      <p:sp>
        <p:nvSpPr>
          <p:cNvPr id="28" name="Rounded Rectangle 27"/>
          <p:cNvSpPr/>
          <p:nvPr/>
        </p:nvSpPr>
        <p:spPr>
          <a:xfrm>
            <a:off x="4297680" y="3246120"/>
            <a:ext cx="3566160" cy="141732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498848" y="3474720"/>
            <a:ext cx="640080" cy="64008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lock_FFFFFF.png"/>
          <p:cNvPicPr>
            <a:picLocks noChangeAspect="1"/>
          </p:cNvPicPr>
          <p:nvPr/>
        </p:nvPicPr>
        <p:blipFill>
          <a:blip r:embed="rId7"/>
          <a:stretch>
            <a:fillRect/>
          </a:stretch>
        </p:blipFill>
        <p:spPr>
          <a:xfrm>
            <a:off x="4658868" y="3634740"/>
            <a:ext cx="320040" cy="320040"/>
          </a:xfrm>
          <a:prstGeom prst="rect">
            <a:avLst/>
          </a:prstGeom>
        </p:spPr>
      </p:pic>
      <p:sp>
        <p:nvSpPr>
          <p:cNvPr id="31" name="TextBox 30">
            <a:hlinkClick action="ppaction://hlinksldjump" r:id="rId13"/>
          </p:cNvPr>
          <p:cNvSpPr txBox="1"/>
          <p:nvPr/>
        </p:nvSpPr>
        <p:spPr>
          <a:xfrm>
            <a:off x="5303520" y="3520440"/>
            <a:ext cx="2468880" cy="365760"/>
          </a:xfrm>
          <a:prstGeom prst="rect">
            <a:avLst/>
          </a:prstGeom>
          <a:noFill/>
        </p:spPr>
        <p:txBody>
          <a:bodyPr wrap="square" anchor="t" lIns="0" rIns="0" tIns="0" bIns="0">
            <a:spAutoFit/>
          </a:bodyPr>
          <a:lstStyle/>
          <a:p>
            <a:pPr algn="l">
              <a:lnSpc>
                <a:spcPct val="110000"/>
              </a:lnSpc>
              <a:spcAft>
                <a:spcPts val="300"/>
              </a:spcAft>
            </a:pPr>
            <a:r>
              <a:rPr sz="1500" b="1" i="0">
                <a:solidFill>
                  <a:srgbClr val="1F3864"/>
                </a:solidFill>
                <a:latin typeface="Times New Roman"/>
              </a:rPr>
              <a:t>MAC times</a:t>
            </a:r>
          </a:p>
        </p:txBody>
      </p:sp>
      <p:sp>
        <p:nvSpPr>
          <p:cNvPr id="32" name="TextBox 31"/>
          <p:cNvSpPr txBox="1"/>
          <p:nvPr/>
        </p:nvSpPr>
        <p:spPr>
          <a:xfrm>
            <a:off x="4526280" y="4206240"/>
            <a:ext cx="3200400" cy="320040"/>
          </a:xfrm>
          <a:prstGeom prst="rect">
            <a:avLst/>
          </a:prstGeom>
          <a:noFill/>
        </p:spPr>
        <p:txBody>
          <a:bodyPr wrap="square" anchor="t" lIns="0" rIns="0" tIns="0" bIns="0">
            <a:spAutoFit/>
          </a:bodyPr>
          <a:lstStyle/>
          <a:p>
            <a:pPr algn="l">
              <a:lnSpc>
                <a:spcPct val="110000"/>
              </a:lnSpc>
              <a:spcAft>
                <a:spcPts val="300"/>
              </a:spcAft>
            </a:pPr>
            <a:r>
              <a:rPr sz="1200" b="0" i="1">
                <a:solidFill>
                  <a:srgbClr val="54647A"/>
                </a:solidFill>
                <a:latin typeface="Times New Roman"/>
              </a:rPr>
              <a:t>a file’s four timestamps</a:t>
            </a:r>
          </a:p>
        </p:txBody>
      </p:sp>
      <p:sp>
        <p:nvSpPr>
          <p:cNvPr id="33" name="Rounded Rectangle 32"/>
          <p:cNvSpPr/>
          <p:nvPr/>
        </p:nvSpPr>
        <p:spPr>
          <a:xfrm>
            <a:off x="8028431" y="3246120"/>
            <a:ext cx="3566160" cy="141732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229599" y="3474720"/>
            <a:ext cx="640080" cy="6400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link_FFFFFF.png"/>
          <p:cNvPicPr>
            <a:picLocks noChangeAspect="1"/>
          </p:cNvPicPr>
          <p:nvPr/>
        </p:nvPicPr>
        <p:blipFill>
          <a:blip r:embed="rId8"/>
          <a:stretch>
            <a:fillRect/>
          </a:stretch>
        </p:blipFill>
        <p:spPr>
          <a:xfrm>
            <a:off x="8389619" y="3634740"/>
            <a:ext cx="320040" cy="320040"/>
          </a:xfrm>
          <a:prstGeom prst="rect">
            <a:avLst/>
          </a:prstGeom>
        </p:spPr>
      </p:pic>
      <p:sp>
        <p:nvSpPr>
          <p:cNvPr id="36" name="TextBox 35">
            <a:hlinkClick action="ppaction://hlinksldjump" r:id="rId14"/>
          </p:cNvPr>
          <p:cNvSpPr txBox="1"/>
          <p:nvPr/>
        </p:nvSpPr>
        <p:spPr>
          <a:xfrm>
            <a:off x="9034271" y="3520440"/>
            <a:ext cx="2468880" cy="365760"/>
          </a:xfrm>
          <a:prstGeom prst="rect">
            <a:avLst/>
          </a:prstGeom>
          <a:noFill/>
        </p:spPr>
        <p:txBody>
          <a:bodyPr wrap="square" anchor="t" lIns="0" rIns="0" tIns="0" bIns="0">
            <a:spAutoFit/>
          </a:bodyPr>
          <a:lstStyle/>
          <a:p>
            <a:pPr algn="l">
              <a:lnSpc>
                <a:spcPct val="110000"/>
              </a:lnSpc>
              <a:spcAft>
                <a:spcPts val="300"/>
              </a:spcAft>
            </a:pPr>
            <a:r>
              <a:rPr sz="1500" b="1" i="0">
                <a:solidFill>
                  <a:srgbClr val="1F3864"/>
                </a:solidFill>
                <a:latin typeface="Times New Roman"/>
              </a:rPr>
              <a:t>Inode</a:t>
            </a:r>
          </a:p>
        </p:txBody>
      </p:sp>
      <p:sp>
        <p:nvSpPr>
          <p:cNvPr id="37" name="TextBox 36"/>
          <p:cNvSpPr txBox="1"/>
          <p:nvPr/>
        </p:nvSpPr>
        <p:spPr>
          <a:xfrm>
            <a:off x="8257031" y="4206240"/>
            <a:ext cx="3200400" cy="320040"/>
          </a:xfrm>
          <a:prstGeom prst="rect">
            <a:avLst/>
          </a:prstGeom>
          <a:noFill/>
        </p:spPr>
        <p:txBody>
          <a:bodyPr wrap="square" anchor="t" lIns="0" rIns="0" tIns="0" bIns="0">
            <a:spAutoFit/>
          </a:bodyPr>
          <a:lstStyle/>
          <a:p>
            <a:pPr algn="l">
              <a:lnSpc>
                <a:spcPct val="110000"/>
              </a:lnSpc>
              <a:spcAft>
                <a:spcPts val="300"/>
              </a:spcAft>
            </a:pPr>
            <a:r>
              <a:rPr sz="1200" b="0" i="1">
                <a:solidFill>
                  <a:srgbClr val="54647A"/>
                </a:solidFill>
                <a:latin typeface="Times New Roman"/>
              </a:rPr>
              <a:t>the file’s “passport”</a:t>
            </a:r>
          </a:p>
        </p:txBody>
      </p:sp>
      <p:sp>
        <p:nvSpPr>
          <p:cNvPr id="38" name="TextBox 37"/>
          <p:cNvSpPr txBox="1"/>
          <p:nvPr/>
        </p:nvSpPr>
        <p:spPr>
          <a:xfrm>
            <a:off x="566928" y="5029200"/>
            <a:ext cx="10972800" cy="365760"/>
          </a:xfrm>
          <a:prstGeom prst="rect">
            <a:avLst/>
          </a:prstGeom>
          <a:noFill/>
        </p:spPr>
        <p:txBody>
          <a:bodyPr wrap="square" anchor="t" lIns="0" rIns="0" tIns="0" bIns="0">
            <a:spAutoFit/>
          </a:bodyPr>
          <a:lstStyle/>
          <a:p>
            <a:pPr algn="l">
              <a:lnSpc>
                <a:spcPct val="110000"/>
              </a:lnSpc>
              <a:spcAft>
                <a:spcPts val="300"/>
              </a:spcAft>
            </a:pPr>
            <a:r>
              <a:rPr sz="1200" b="0" i="1">
                <a:solidFill>
                  <a:srgbClr val="54647A"/>
                </a:solidFill>
                <a:latin typeface="Times New Roman"/>
              </a:rPr>
              <a:t>Each term is explained at a beginner level with an example and a diagram. Click a term — you jump to its slide.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GLOSSARY · TERM</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Kernel</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37</a:t>
            </a:r>
          </a:p>
        </p:txBody>
      </p:sp>
      <p:sp>
        <p:nvSpPr>
          <p:cNvPr id="8" name="TextBox 7"/>
          <p:cNvSpPr txBox="1"/>
          <p:nvPr/>
        </p:nvSpPr>
        <p:spPr>
          <a:xfrm>
            <a:off x="566928" y="1554480"/>
            <a:ext cx="457200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178A73"/>
                </a:solidFill>
                <a:latin typeface="Times New Roman"/>
              </a:rPr>
              <a:t>In simple terms:</a:t>
            </a:r>
          </a:p>
        </p:txBody>
      </p:sp>
      <p:sp>
        <p:nvSpPr>
          <p:cNvPr id="9" name="TextBox 8"/>
          <p:cNvSpPr txBox="1"/>
          <p:nvPr/>
        </p:nvSpPr>
        <p:spPr>
          <a:xfrm>
            <a:off x="566928" y="1874519"/>
            <a:ext cx="4572000" cy="1737360"/>
          </a:xfrm>
          <a:prstGeom prst="rect">
            <a:avLst/>
          </a:prstGeom>
          <a:noFill/>
        </p:spPr>
        <p:txBody>
          <a:bodyPr wrap="square" anchor="t" lIns="0" rIns="0" tIns="0" bIns="0">
            <a:spAutoFit/>
          </a:bodyPr>
          <a:lstStyle/>
          <a:p>
            <a:pPr algn="l">
              <a:lnSpc>
                <a:spcPct val="110000"/>
              </a:lnSpc>
              <a:spcAft>
                <a:spcPts val="500"/>
              </a:spcAft>
            </a:pPr>
            <a:r>
              <a:rPr sz="1250" b="0" i="0">
                <a:solidFill>
                  <a:srgbClr val="202A38"/>
                </a:solidFill>
                <a:latin typeface="Times New Roman"/>
              </a:rPr>
              <a:t>The central part of the OS: the intermediary between programs and the hardware.</a:t>
            </a:r>
          </a:p>
          <a:p>
            <a:pPr algn="l">
              <a:lnSpc>
                <a:spcPct val="110000"/>
              </a:lnSpc>
              <a:spcAft>
                <a:spcPts val="500"/>
              </a:spcAft>
            </a:pPr>
            <a:r>
              <a:rPr sz="1250" b="0" i="0">
                <a:solidFill>
                  <a:srgbClr val="202A38"/>
                </a:solidFill>
                <a:latin typeface="Times New Roman"/>
              </a:rPr>
              <a:t>Linux — actually the name of this very kernel (1991, Linus Torvalds).</a:t>
            </a:r>
          </a:p>
        </p:txBody>
      </p:sp>
      <p:sp>
        <p:nvSpPr>
          <p:cNvPr id="10" name="TextBox 9"/>
          <p:cNvSpPr txBox="1"/>
          <p:nvPr/>
        </p:nvSpPr>
        <p:spPr>
          <a:xfrm>
            <a:off x="566928" y="3703320"/>
            <a:ext cx="457200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E08E1D"/>
                </a:solidFill>
                <a:latin typeface="Times New Roman"/>
              </a:rPr>
              <a:t>Why it matters:</a:t>
            </a:r>
          </a:p>
        </p:txBody>
      </p:sp>
      <p:sp>
        <p:nvSpPr>
          <p:cNvPr id="11" name="TextBox 10"/>
          <p:cNvSpPr txBox="1"/>
          <p:nvPr/>
        </p:nvSpPr>
        <p:spPr>
          <a:xfrm>
            <a:off x="566928" y="4023360"/>
            <a:ext cx="4572000" cy="1737360"/>
          </a:xfrm>
          <a:prstGeom prst="rect">
            <a:avLst/>
          </a:prstGeom>
          <a:noFill/>
        </p:spPr>
        <p:txBody>
          <a:bodyPr wrap="square" anchor="t" lIns="0" rIns="0" tIns="0" bIns="0">
            <a:spAutoFit/>
          </a:bodyPr>
          <a:lstStyle/>
          <a:p>
            <a:pPr algn="l">
              <a:lnSpc>
                <a:spcPct val="110000"/>
              </a:lnSpc>
              <a:spcAft>
                <a:spcPts val="500"/>
              </a:spcAft>
            </a:pPr>
            <a:r>
              <a:rPr sz="1250" b="0" i="0">
                <a:solidFill>
                  <a:srgbClr val="202A38"/>
                </a:solidFill>
                <a:latin typeface="Times New Roman"/>
              </a:rPr>
              <a:t>A program accesses disk, memory or network only through the kernel.</a:t>
            </a:r>
          </a:p>
          <a:p>
            <a:pPr algn="l">
              <a:lnSpc>
                <a:spcPct val="110000"/>
              </a:lnSpc>
              <a:spcAft>
                <a:spcPts val="500"/>
              </a:spcAft>
            </a:pPr>
            <a:r>
              <a:rPr sz="1250" b="0" i="0">
                <a:solidFill>
                  <a:srgbClr val="202A38"/>
                </a:solidFill>
                <a:latin typeface="Times New Roman"/>
              </a:rPr>
              <a:t>A flaw in the kernel can give an attacker control over the whole system — so knowing the version with </a:t>
            </a:r>
            <a:r>
              <a:rPr sz="1200" b="1" i="0">
                <a:solidFill>
                  <a:srgbClr val="178A73"/>
                </a:solidFill>
                <a:latin typeface="Consolas"/>
              </a:rPr>
              <a:t>uname -r</a:t>
            </a:r>
            <a:r>
              <a:rPr sz="1250" b="0" i="0">
                <a:solidFill>
                  <a:srgbClr val="202A38"/>
                </a:solidFill>
                <a:latin typeface="Times New Roman"/>
              </a:rPr>
              <a:t> matters.</a:t>
            </a:r>
          </a:p>
        </p:txBody>
      </p:sp>
      <p:sp>
        <p:nvSpPr>
          <p:cNvPr id="12" name="Rounded Rectangle 11"/>
          <p:cNvSpPr/>
          <p:nvPr/>
        </p:nvSpPr>
        <p:spPr>
          <a:xfrm>
            <a:off x="5440680" y="1645920"/>
            <a:ext cx="1920240" cy="548640"/>
          </a:xfrm>
          <a:prstGeom prst="roundRect">
            <a:avLst>
              <a:gd name="adj" fmla="val 12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i="0">
                <a:solidFill>
                  <a:srgbClr val="FFFFFF"/>
                </a:solidFill>
                <a:latin typeface="Times New Roman"/>
              </a:rPr>
              <a:t>browser</a:t>
            </a:r>
          </a:p>
        </p:txBody>
      </p:sp>
      <p:sp>
        <p:nvSpPr>
          <p:cNvPr id="13" name="Down Arrow 12"/>
          <p:cNvSpPr/>
          <p:nvPr/>
        </p:nvSpPr>
        <p:spPr>
          <a:xfrm>
            <a:off x="6263640" y="2267712"/>
            <a:ext cx="274320" cy="292608"/>
          </a:xfrm>
          <a:prstGeom prst="downArrow">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543800" y="1645920"/>
            <a:ext cx="1920240" cy="548640"/>
          </a:xfrm>
          <a:prstGeom prst="roundRect">
            <a:avLst>
              <a:gd name="adj" fmla="val 12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i="0">
                <a:solidFill>
                  <a:srgbClr val="FFFFFF"/>
                </a:solidFill>
                <a:latin typeface="Times New Roman"/>
              </a:rPr>
              <a:t>nmap</a:t>
            </a:r>
          </a:p>
        </p:txBody>
      </p:sp>
      <p:sp>
        <p:nvSpPr>
          <p:cNvPr id="15" name="Down Arrow 14"/>
          <p:cNvSpPr/>
          <p:nvPr/>
        </p:nvSpPr>
        <p:spPr>
          <a:xfrm>
            <a:off x="8366759" y="2267712"/>
            <a:ext cx="274320" cy="292608"/>
          </a:xfrm>
          <a:prstGeom prst="downArrow">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646920" y="1645920"/>
            <a:ext cx="1920240" cy="548640"/>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i="0">
                <a:solidFill>
                  <a:srgbClr val="FFFFFF"/>
                </a:solidFill>
                <a:latin typeface="Times New Roman"/>
              </a:rPr>
              <a:t>bash</a:t>
            </a:r>
          </a:p>
        </p:txBody>
      </p:sp>
      <p:sp>
        <p:nvSpPr>
          <p:cNvPr id="17" name="Down Arrow 16"/>
          <p:cNvSpPr/>
          <p:nvPr/>
        </p:nvSpPr>
        <p:spPr>
          <a:xfrm>
            <a:off x="10469880" y="2267712"/>
            <a:ext cx="274320" cy="292608"/>
          </a:xfrm>
          <a:prstGeom prst="downArrow">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40680" y="2606040"/>
            <a:ext cx="6172200" cy="274320"/>
          </a:xfrm>
          <a:prstGeom prst="rect">
            <a:avLst/>
          </a:prstGeom>
          <a:noFill/>
        </p:spPr>
        <p:txBody>
          <a:bodyPr wrap="square" anchor="t" lIns="0" rIns="0" tIns="0" bIns="0">
            <a:spAutoFit/>
          </a:bodyPr>
          <a:lstStyle/>
          <a:p>
            <a:pPr algn="ctr">
              <a:lnSpc>
                <a:spcPct val="110000"/>
              </a:lnSpc>
              <a:spcAft>
                <a:spcPts val="300"/>
              </a:spcAft>
            </a:pPr>
            <a:r>
              <a:rPr sz="1100" b="0" i="1">
                <a:solidFill>
                  <a:srgbClr val="54647A"/>
                </a:solidFill>
                <a:latin typeface="Times New Roman"/>
              </a:rPr>
              <a:t>system calls: “read a file”, “give memory”</a:t>
            </a:r>
          </a:p>
        </p:txBody>
      </p:sp>
      <p:sp>
        <p:nvSpPr>
          <p:cNvPr id="19" name="Rounded Rectangle 18"/>
          <p:cNvSpPr/>
          <p:nvPr/>
        </p:nvSpPr>
        <p:spPr>
          <a:xfrm>
            <a:off x="5440680" y="2926080"/>
            <a:ext cx="6172200" cy="777240"/>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700" b="1" i="0">
                <a:solidFill>
                  <a:srgbClr val="FFFFFF"/>
                </a:solidFill>
                <a:latin typeface="Times New Roman"/>
              </a:rPr>
              <a:t>LINUX KERNEL</a:t>
            </a:r>
          </a:p>
          <a:p>
            <a:pPr algn="ctr"/>
            <a:r>
              <a:rPr sz="1050" b="0" i="0">
                <a:solidFill>
                  <a:srgbClr val="FFFFFF"/>
                </a:solidFill>
                <a:latin typeface="Times New Roman"/>
              </a:rPr>
              <a:t>processes · memory · file system · drivers</a:t>
            </a:r>
          </a:p>
        </p:txBody>
      </p:sp>
      <p:sp>
        <p:nvSpPr>
          <p:cNvPr id="20" name="Rounded Rectangle 19"/>
          <p:cNvSpPr/>
          <p:nvPr/>
        </p:nvSpPr>
        <p:spPr>
          <a:xfrm>
            <a:off x="5440680" y="4023360"/>
            <a:ext cx="1417320" cy="548640"/>
          </a:xfrm>
          <a:prstGeom prst="roundRect">
            <a:avLst>
              <a:gd name="adj" fmla="val 12000"/>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i="0">
                <a:solidFill>
                  <a:srgbClr val="FFFFFF"/>
                </a:solidFill>
                <a:latin typeface="Times New Roman"/>
              </a:rPr>
              <a:t>CPU</a:t>
            </a:r>
          </a:p>
        </p:txBody>
      </p:sp>
      <p:sp>
        <p:nvSpPr>
          <p:cNvPr id="21" name="Rounded Rectangle 20"/>
          <p:cNvSpPr/>
          <p:nvPr/>
        </p:nvSpPr>
        <p:spPr>
          <a:xfrm>
            <a:off x="7013448" y="4023360"/>
            <a:ext cx="1417320" cy="548640"/>
          </a:xfrm>
          <a:prstGeom prst="roundRect">
            <a:avLst>
              <a:gd name="adj" fmla="val 12000"/>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i="0">
                <a:solidFill>
                  <a:srgbClr val="FFFFFF"/>
                </a:solidFill>
                <a:latin typeface="Times New Roman"/>
              </a:rPr>
              <a:t>RAM</a:t>
            </a:r>
          </a:p>
        </p:txBody>
      </p:sp>
      <p:sp>
        <p:nvSpPr>
          <p:cNvPr id="22" name="Rounded Rectangle 21"/>
          <p:cNvSpPr/>
          <p:nvPr/>
        </p:nvSpPr>
        <p:spPr>
          <a:xfrm>
            <a:off x="8586216" y="4023360"/>
            <a:ext cx="1417320" cy="548640"/>
          </a:xfrm>
          <a:prstGeom prst="roundRect">
            <a:avLst>
              <a:gd name="adj" fmla="val 12000"/>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i="0">
                <a:solidFill>
                  <a:srgbClr val="FFFFFF"/>
                </a:solidFill>
                <a:latin typeface="Times New Roman"/>
              </a:rPr>
              <a:t>Disk</a:t>
            </a:r>
          </a:p>
        </p:txBody>
      </p:sp>
      <p:sp>
        <p:nvSpPr>
          <p:cNvPr id="23" name="Rounded Rectangle 22"/>
          <p:cNvSpPr/>
          <p:nvPr/>
        </p:nvSpPr>
        <p:spPr>
          <a:xfrm>
            <a:off x="10158984" y="4023360"/>
            <a:ext cx="1417320" cy="548640"/>
          </a:xfrm>
          <a:prstGeom prst="roundRect">
            <a:avLst>
              <a:gd name="adj" fmla="val 12000"/>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i="0">
                <a:solidFill>
                  <a:srgbClr val="FFFFFF"/>
                </a:solidFill>
                <a:latin typeface="Times New Roman"/>
              </a:rPr>
              <a:t>Network</a:t>
            </a:r>
          </a:p>
        </p:txBody>
      </p:sp>
      <p:sp>
        <p:nvSpPr>
          <p:cNvPr id="24" name="Rounded Rectangle 23"/>
          <p:cNvSpPr/>
          <p:nvPr/>
        </p:nvSpPr>
        <p:spPr>
          <a:xfrm>
            <a:off x="5440680" y="5074920"/>
            <a:ext cx="6172200" cy="868680"/>
          </a:xfrm>
          <a:prstGeom prst="roundRect">
            <a:avLst>
              <a:gd name="adj" fmla="val 8000"/>
            </a:avLst>
          </a:prstGeom>
          <a:solidFill>
            <a:srgbClr val="E3F3EE"/>
          </a:solidFill>
          <a:ln w="15875">
            <a:solidFill>
              <a:srgbClr val="178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heck_178A73.png"/>
          <p:cNvPicPr>
            <a:picLocks noChangeAspect="1"/>
          </p:cNvPicPr>
          <p:nvPr/>
        </p:nvPicPr>
        <p:blipFill>
          <a:blip r:embed="rId3"/>
          <a:stretch>
            <a:fillRect/>
          </a:stretch>
        </p:blipFill>
        <p:spPr>
          <a:xfrm>
            <a:off x="5568696" y="5344668"/>
            <a:ext cx="329184" cy="329184"/>
          </a:xfrm>
          <a:prstGeom prst="rect">
            <a:avLst/>
          </a:prstGeom>
        </p:spPr>
      </p:pic>
      <p:sp>
        <p:nvSpPr>
          <p:cNvPr id="26" name="TextBox 25"/>
          <p:cNvSpPr txBox="1"/>
          <p:nvPr/>
        </p:nvSpPr>
        <p:spPr>
          <a:xfrm>
            <a:off x="6007608" y="5074920"/>
            <a:ext cx="5486400" cy="868680"/>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Example: </a:t>
            </a:r>
            <a:r>
              <a:rPr sz="1150" b="1" i="0">
                <a:solidFill>
                  <a:srgbClr val="178A73"/>
                </a:solidFill>
                <a:latin typeface="Consolas"/>
              </a:rPr>
              <a:t>uname -r</a:t>
            </a:r>
            <a:r>
              <a:rPr sz="1200" b="0" i="0">
                <a:solidFill>
                  <a:srgbClr val="202A38"/>
                </a:solidFill>
                <a:latin typeface="Times New Roman"/>
              </a:rPr>
              <a:t> → </a:t>
            </a:r>
            <a:r>
              <a:rPr sz="1150" b="1" i="0">
                <a:solidFill>
                  <a:srgbClr val="178A73"/>
                </a:solidFill>
                <a:latin typeface="Consolas"/>
              </a:rPr>
              <a:t>6.19.0-amd64</a:t>
            </a:r>
            <a:r>
              <a:rPr sz="1200" b="0" i="0">
                <a:solidFill>
                  <a:srgbClr val="202A38"/>
                </a:solidFill>
                <a:latin typeface="Times New Roman"/>
              </a:rPr>
              <a:t> — the system runs on kernel 6.19.</a:t>
            </a:r>
          </a:p>
        </p:txBody>
      </p:sp>
      <p:sp>
        <p:nvSpPr>
          <p:cNvPr id="27" name="Rounded Rectangle 26">
            <a:hlinkClick action="ppaction://hlinksldjump" r:id="rId4"/>
          </p:cNvPr>
          <p:cNvSpPr/>
          <p:nvPr/>
        </p:nvSpPr>
        <p:spPr>
          <a:xfrm>
            <a:off x="566928" y="5989320"/>
            <a:ext cx="1783080" cy="329184"/>
          </a:xfrm>
          <a:prstGeom prst="roundRect">
            <a:avLst>
              <a:gd name="adj" fmla="val 50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i="0">
                <a:solidFill>
                  <a:srgbClr val="FFFFFF"/>
                </a:solidFill>
                <a:latin typeface="Times New Roman"/>
              </a:rPr>
              <a:t>← Back to topic</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GLOSSARY · TERM</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Distribution (“distro”)</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38</a:t>
            </a:r>
          </a:p>
        </p:txBody>
      </p:sp>
      <p:sp>
        <p:nvSpPr>
          <p:cNvPr id="8" name="TextBox 7"/>
          <p:cNvSpPr txBox="1"/>
          <p:nvPr/>
        </p:nvSpPr>
        <p:spPr>
          <a:xfrm>
            <a:off x="566928" y="1554480"/>
            <a:ext cx="457200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178A73"/>
                </a:solidFill>
                <a:latin typeface="Times New Roman"/>
              </a:rPr>
              <a:t>In simple terms:</a:t>
            </a:r>
          </a:p>
        </p:txBody>
      </p:sp>
      <p:sp>
        <p:nvSpPr>
          <p:cNvPr id="9" name="TextBox 8"/>
          <p:cNvSpPr txBox="1"/>
          <p:nvPr/>
        </p:nvSpPr>
        <p:spPr>
          <a:xfrm>
            <a:off x="566928" y="1874519"/>
            <a:ext cx="4572000" cy="1737360"/>
          </a:xfrm>
          <a:prstGeom prst="rect">
            <a:avLst/>
          </a:prstGeom>
          <a:noFill/>
        </p:spPr>
        <p:txBody>
          <a:bodyPr wrap="square" anchor="t" lIns="0" rIns="0" tIns="0" bIns="0">
            <a:spAutoFit/>
          </a:bodyPr>
          <a:lstStyle/>
          <a:p>
            <a:pPr algn="l">
              <a:lnSpc>
                <a:spcPct val="110000"/>
              </a:lnSpc>
              <a:spcAft>
                <a:spcPts val="500"/>
              </a:spcAft>
            </a:pPr>
            <a:r>
              <a:rPr sz="1250" b="0" i="0">
                <a:solidFill>
                  <a:srgbClr val="202A38"/>
                </a:solidFill>
                <a:latin typeface="Times New Roman"/>
              </a:rPr>
              <a:t>A complete OS assembled from kernel + GNU tools + package manager + GUI + ready programs.</a:t>
            </a:r>
          </a:p>
          <a:p>
            <a:pPr algn="l">
              <a:lnSpc>
                <a:spcPct val="110000"/>
              </a:lnSpc>
              <a:spcAft>
                <a:spcPts val="500"/>
              </a:spcAft>
            </a:pPr>
            <a:r>
              <a:rPr sz="1250" b="0" i="0">
                <a:solidFill>
                  <a:srgbClr val="202A38"/>
                </a:solidFill>
                <a:latin typeface="Times New Roman"/>
              </a:rPr>
              <a:t>Kali, Ubuntu, Debian, Fedora — all distributions.</a:t>
            </a:r>
          </a:p>
        </p:txBody>
      </p:sp>
      <p:sp>
        <p:nvSpPr>
          <p:cNvPr id="10" name="TextBox 9"/>
          <p:cNvSpPr txBox="1"/>
          <p:nvPr/>
        </p:nvSpPr>
        <p:spPr>
          <a:xfrm>
            <a:off x="566928" y="3703320"/>
            <a:ext cx="457200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E08E1D"/>
                </a:solidFill>
                <a:latin typeface="Times New Roman"/>
              </a:rPr>
              <a:t>Why it matters:</a:t>
            </a:r>
          </a:p>
        </p:txBody>
      </p:sp>
      <p:sp>
        <p:nvSpPr>
          <p:cNvPr id="11" name="TextBox 10"/>
          <p:cNvSpPr txBox="1"/>
          <p:nvPr/>
        </p:nvSpPr>
        <p:spPr>
          <a:xfrm>
            <a:off x="566928" y="4023360"/>
            <a:ext cx="4572000" cy="1737360"/>
          </a:xfrm>
          <a:prstGeom prst="rect">
            <a:avLst/>
          </a:prstGeom>
          <a:noFill/>
        </p:spPr>
        <p:txBody>
          <a:bodyPr wrap="square" anchor="t" lIns="0" rIns="0" tIns="0" bIns="0">
            <a:spAutoFit/>
          </a:bodyPr>
          <a:lstStyle/>
          <a:p>
            <a:pPr algn="l">
              <a:lnSpc>
                <a:spcPct val="110000"/>
              </a:lnSpc>
              <a:spcAft>
                <a:spcPts val="500"/>
              </a:spcAft>
            </a:pPr>
            <a:r>
              <a:rPr sz="1250" b="0" i="0">
                <a:solidFill>
                  <a:srgbClr val="202A38"/>
                </a:solidFill>
                <a:latin typeface="Times New Roman"/>
              </a:rPr>
              <a:t>The distribution family decides which commands and package manager work (</a:t>
            </a:r>
            <a:r>
              <a:rPr sz="1200" b="1" i="0">
                <a:solidFill>
                  <a:srgbClr val="178A73"/>
                </a:solidFill>
                <a:latin typeface="Consolas"/>
              </a:rPr>
              <a:t>apt</a:t>
            </a:r>
            <a:r>
              <a:rPr sz="1250" b="0" i="0">
                <a:solidFill>
                  <a:srgbClr val="202A38"/>
                </a:solidFill>
                <a:latin typeface="Times New Roman"/>
              </a:rPr>
              <a:t> or </a:t>
            </a:r>
            <a:r>
              <a:rPr sz="1200" b="1" i="0">
                <a:solidFill>
                  <a:srgbClr val="178A73"/>
                </a:solidFill>
                <a:latin typeface="Consolas"/>
              </a:rPr>
              <a:t>dnf</a:t>
            </a:r>
            <a:r>
              <a:rPr sz="1250" b="0" i="0">
                <a:solidFill>
                  <a:srgbClr val="202A38"/>
                </a:solidFill>
                <a:latin typeface="Times New Roman"/>
              </a:rPr>
              <a:t>).</a:t>
            </a:r>
          </a:p>
          <a:p>
            <a:pPr algn="l">
              <a:lnSpc>
                <a:spcPct val="110000"/>
              </a:lnSpc>
              <a:spcAft>
                <a:spcPts val="500"/>
              </a:spcAft>
            </a:pPr>
            <a:r>
              <a:rPr sz="1250" b="0" i="0">
                <a:solidFill>
                  <a:srgbClr val="202A38"/>
                </a:solidFill>
                <a:latin typeface="Times New Roman"/>
              </a:rPr>
              <a:t>The first thing found on login: </a:t>
            </a:r>
            <a:r>
              <a:rPr sz="1200" b="1" i="0">
                <a:solidFill>
                  <a:srgbClr val="178A73"/>
                </a:solidFill>
                <a:latin typeface="Consolas"/>
              </a:rPr>
              <a:t>cat /etc/os-release</a:t>
            </a:r>
            <a:r>
              <a:rPr sz="1250" b="0" i="0">
                <a:solidFill>
                  <a:srgbClr val="202A38"/>
                </a:solidFill>
                <a:latin typeface="Times New Roman"/>
              </a:rPr>
              <a:t>.</a:t>
            </a:r>
          </a:p>
        </p:txBody>
      </p:sp>
      <p:sp>
        <p:nvSpPr>
          <p:cNvPr id="12" name="Rounded Rectangle 11"/>
          <p:cNvSpPr/>
          <p:nvPr/>
        </p:nvSpPr>
        <p:spPr>
          <a:xfrm>
            <a:off x="5440680" y="1691640"/>
            <a:ext cx="1920240" cy="2011680"/>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i="0">
                <a:solidFill>
                  <a:srgbClr val="FFFFFF"/>
                </a:solidFill>
                <a:latin typeface="Times New Roman"/>
              </a:rPr>
              <a:t>Linux kernel</a:t>
            </a:r>
          </a:p>
          <a:p>
            <a:pPr algn="ctr"/>
            <a:r>
              <a:rPr sz="1050" b="0" i="0">
                <a:solidFill>
                  <a:srgbClr val="FFFFFF"/>
                </a:solidFill>
                <a:latin typeface="Times New Roman"/>
              </a:rPr>
              <a:t>same in all</a:t>
            </a:r>
          </a:p>
        </p:txBody>
      </p:sp>
      <p:sp>
        <p:nvSpPr>
          <p:cNvPr id="13" name="Right Arrow 12"/>
          <p:cNvSpPr/>
          <p:nvPr/>
        </p:nvSpPr>
        <p:spPr>
          <a:xfrm>
            <a:off x="7452360" y="2514600"/>
            <a:ext cx="365760" cy="365760"/>
          </a:xfrm>
          <a:prstGeom prst="rightArrow">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955279" y="1691640"/>
            <a:ext cx="3657600" cy="594360"/>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i="0">
                <a:solidFill>
                  <a:srgbClr val="FFFFFF"/>
                </a:solidFill>
                <a:latin typeface="Times New Roman"/>
              </a:rPr>
              <a:t>Kali</a:t>
            </a:r>
          </a:p>
          <a:p>
            <a:pPr algn="ctr"/>
            <a:r>
              <a:rPr sz="1050" b="0" i="0">
                <a:solidFill>
                  <a:srgbClr val="FFFFFF"/>
                </a:solidFill>
                <a:latin typeface="Times New Roman"/>
              </a:rPr>
              <a:t>+ 600 security tools</a:t>
            </a:r>
          </a:p>
        </p:txBody>
      </p:sp>
      <p:sp>
        <p:nvSpPr>
          <p:cNvPr id="15" name="Rounded Rectangle 14"/>
          <p:cNvSpPr/>
          <p:nvPr/>
        </p:nvSpPr>
        <p:spPr>
          <a:xfrm>
            <a:off x="7955279" y="2404872"/>
            <a:ext cx="3657600" cy="594360"/>
          </a:xfrm>
          <a:prstGeom prst="roundRect">
            <a:avLst>
              <a:gd name="adj" fmla="val 12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i="0">
                <a:solidFill>
                  <a:srgbClr val="FFFFFF"/>
                </a:solidFill>
                <a:latin typeface="Times New Roman"/>
              </a:rPr>
              <a:t>Ubuntu</a:t>
            </a:r>
          </a:p>
          <a:p>
            <a:pPr algn="ctr"/>
            <a:r>
              <a:rPr sz="1050" b="0" i="0">
                <a:solidFill>
                  <a:srgbClr val="FFFFFF"/>
                </a:solidFill>
                <a:latin typeface="Times New Roman"/>
              </a:rPr>
              <a:t>+ convenient desktop</a:t>
            </a:r>
          </a:p>
        </p:txBody>
      </p:sp>
      <p:sp>
        <p:nvSpPr>
          <p:cNvPr id="16" name="Rounded Rectangle 15"/>
          <p:cNvSpPr/>
          <p:nvPr/>
        </p:nvSpPr>
        <p:spPr>
          <a:xfrm>
            <a:off x="7955279" y="3118104"/>
            <a:ext cx="3657600" cy="594360"/>
          </a:xfrm>
          <a:prstGeom prst="roundRect">
            <a:avLst>
              <a:gd name="adj" fmla="val 1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i="0">
                <a:solidFill>
                  <a:srgbClr val="FFFFFF"/>
                </a:solidFill>
                <a:latin typeface="Times New Roman"/>
              </a:rPr>
              <a:t>Rocky</a:t>
            </a:r>
          </a:p>
          <a:p>
            <a:pPr algn="ctr"/>
            <a:r>
              <a:rPr sz="1050" b="0" i="0">
                <a:solidFill>
                  <a:srgbClr val="FFFFFF"/>
                </a:solidFill>
                <a:latin typeface="Times New Roman"/>
              </a:rPr>
              <a:t>+ enterprise server settings</a:t>
            </a:r>
          </a:p>
        </p:txBody>
      </p:sp>
      <p:sp>
        <p:nvSpPr>
          <p:cNvPr id="17" name="TextBox 16"/>
          <p:cNvSpPr txBox="1"/>
          <p:nvPr/>
        </p:nvSpPr>
        <p:spPr>
          <a:xfrm>
            <a:off x="5440680" y="3931920"/>
            <a:ext cx="6172200" cy="731520"/>
          </a:xfrm>
          <a:prstGeom prst="rect">
            <a:avLst/>
          </a:prstGeom>
          <a:noFill/>
        </p:spPr>
        <p:txBody>
          <a:bodyPr wrap="square" anchor="t" lIns="0" rIns="0" tIns="0" bIns="0">
            <a:spAutoFit/>
          </a:bodyPr>
          <a:lstStyle/>
          <a:p>
            <a:pPr algn="l">
              <a:lnSpc>
                <a:spcPct val="110000"/>
              </a:lnSpc>
              <a:spcAft>
                <a:spcPts val="300"/>
              </a:spcAft>
            </a:pPr>
            <a:r>
              <a:rPr sz="1200" b="0" i="1">
                <a:solidFill>
                  <a:srgbClr val="54647A"/>
                </a:solidFill>
                <a:latin typeface="Times New Roman"/>
              </a:rPr>
              <a:t>Same “engine”, different “car”: one kernel, but each distribution comes with its own programs and settings.</a:t>
            </a:r>
          </a:p>
        </p:txBody>
      </p:sp>
      <p:sp>
        <p:nvSpPr>
          <p:cNvPr id="18" name="Rounded Rectangle 17"/>
          <p:cNvSpPr/>
          <p:nvPr/>
        </p:nvSpPr>
        <p:spPr>
          <a:xfrm>
            <a:off x="5440680" y="5074920"/>
            <a:ext cx="6172200" cy="868680"/>
          </a:xfrm>
          <a:prstGeom prst="roundRect">
            <a:avLst>
              <a:gd name="adj" fmla="val 8000"/>
            </a:avLst>
          </a:prstGeom>
          <a:solidFill>
            <a:srgbClr val="E3F3EE"/>
          </a:solidFill>
          <a:ln w="15875">
            <a:solidFill>
              <a:srgbClr val="178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178A73.png"/>
          <p:cNvPicPr>
            <a:picLocks noChangeAspect="1"/>
          </p:cNvPicPr>
          <p:nvPr/>
        </p:nvPicPr>
        <p:blipFill>
          <a:blip r:embed="rId3"/>
          <a:stretch>
            <a:fillRect/>
          </a:stretch>
        </p:blipFill>
        <p:spPr>
          <a:xfrm>
            <a:off x="5568696" y="5344668"/>
            <a:ext cx="329184" cy="329184"/>
          </a:xfrm>
          <a:prstGeom prst="rect">
            <a:avLst/>
          </a:prstGeom>
        </p:spPr>
      </p:pic>
      <p:sp>
        <p:nvSpPr>
          <p:cNvPr id="20" name="TextBox 19"/>
          <p:cNvSpPr txBox="1"/>
          <p:nvPr/>
        </p:nvSpPr>
        <p:spPr>
          <a:xfrm>
            <a:off x="6007608" y="5074920"/>
            <a:ext cx="5486400" cy="868680"/>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Kali is from the Debian family: the </a:t>
            </a:r>
            <a:r>
              <a:rPr sz="1150" b="1" i="0">
                <a:solidFill>
                  <a:srgbClr val="178A73"/>
                </a:solidFill>
                <a:latin typeface="Consolas"/>
              </a:rPr>
              <a:t>ID_LIKE=debian</a:t>
            </a:r>
            <a:r>
              <a:rPr sz="1200" b="0" i="0">
                <a:solidFill>
                  <a:srgbClr val="202A38"/>
                </a:solidFill>
                <a:latin typeface="Times New Roman"/>
              </a:rPr>
              <a:t> line shows it.</a:t>
            </a:r>
          </a:p>
        </p:txBody>
      </p:sp>
      <p:sp>
        <p:nvSpPr>
          <p:cNvPr id="21" name="Rounded Rectangle 20">
            <a:hlinkClick action="ppaction://hlinksldjump" r:id="rId4"/>
          </p:cNvPr>
          <p:cNvSpPr/>
          <p:nvPr/>
        </p:nvSpPr>
        <p:spPr>
          <a:xfrm>
            <a:off x="566928" y="5989320"/>
            <a:ext cx="1783080" cy="329184"/>
          </a:xfrm>
          <a:prstGeom prst="roundRect">
            <a:avLst>
              <a:gd name="adj" fmla="val 50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i="0">
                <a:solidFill>
                  <a:srgbClr val="FFFFFF"/>
                </a:solidFill>
                <a:latin typeface="Times New Roman"/>
              </a:rPr>
              <a:t>← Back to topic</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GLOSSARY · TERM</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FHS (Filesystem Hierarchy Standard)</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39</a:t>
            </a:r>
          </a:p>
        </p:txBody>
      </p:sp>
      <p:sp>
        <p:nvSpPr>
          <p:cNvPr id="8" name="TextBox 7"/>
          <p:cNvSpPr txBox="1"/>
          <p:nvPr/>
        </p:nvSpPr>
        <p:spPr>
          <a:xfrm>
            <a:off x="566928" y="1554480"/>
            <a:ext cx="457200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178A73"/>
                </a:solidFill>
                <a:latin typeface="Times New Roman"/>
              </a:rPr>
              <a:t>In simple terms:</a:t>
            </a:r>
          </a:p>
        </p:txBody>
      </p:sp>
      <p:sp>
        <p:nvSpPr>
          <p:cNvPr id="9" name="TextBox 8"/>
          <p:cNvSpPr txBox="1"/>
          <p:nvPr/>
        </p:nvSpPr>
        <p:spPr>
          <a:xfrm>
            <a:off x="566928" y="1874519"/>
            <a:ext cx="4572000" cy="1737360"/>
          </a:xfrm>
          <a:prstGeom prst="rect">
            <a:avLst/>
          </a:prstGeom>
          <a:noFill/>
        </p:spPr>
        <p:txBody>
          <a:bodyPr wrap="square" anchor="t" lIns="0" rIns="0" tIns="0" bIns="0">
            <a:spAutoFit/>
          </a:bodyPr>
          <a:lstStyle/>
          <a:p>
            <a:pPr algn="l">
              <a:lnSpc>
                <a:spcPct val="110000"/>
              </a:lnSpc>
              <a:spcAft>
                <a:spcPts val="500"/>
              </a:spcAft>
            </a:pPr>
            <a:r>
              <a:rPr sz="1250" b="0" i="0">
                <a:solidFill>
                  <a:srgbClr val="202A38"/>
                </a:solidFill>
                <a:latin typeface="Times New Roman"/>
              </a:rPr>
              <a:t>A standard defining the names and purposes of Linux directories.</a:t>
            </a:r>
          </a:p>
          <a:p>
            <a:pPr algn="l">
              <a:lnSpc>
                <a:spcPct val="110000"/>
              </a:lnSpc>
              <a:spcAft>
                <a:spcPts val="500"/>
              </a:spcAft>
            </a:pPr>
            <a:r>
              <a:rPr sz="1250" b="0" i="0">
                <a:solidFill>
                  <a:srgbClr val="202A38"/>
                </a:solidFill>
                <a:latin typeface="Times New Roman"/>
              </a:rPr>
              <a:t>Thanks to it, settings are in </a:t>
            </a:r>
            <a:r>
              <a:rPr sz="1200" b="1" i="0">
                <a:solidFill>
                  <a:srgbClr val="178A73"/>
                </a:solidFill>
                <a:latin typeface="Consolas"/>
              </a:rPr>
              <a:t>/etc</a:t>
            </a:r>
            <a:r>
              <a:rPr sz="1250" b="0" i="0">
                <a:solidFill>
                  <a:srgbClr val="202A38"/>
                </a:solidFill>
                <a:latin typeface="Times New Roman"/>
              </a:rPr>
              <a:t> and logs in </a:t>
            </a:r>
            <a:r>
              <a:rPr sz="1200" b="1" i="0">
                <a:solidFill>
                  <a:srgbClr val="178A73"/>
                </a:solidFill>
                <a:latin typeface="Consolas"/>
              </a:rPr>
              <a:t>/var/log</a:t>
            </a:r>
            <a:r>
              <a:rPr sz="1250" b="0" i="0">
                <a:solidFill>
                  <a:srgbClr val="202A38"/>
                </a:solidFill>
                <a:latin typeface="Times New Roman"/>
              </a:rPr>
              <a:t> on all distributions.</a:t>
            </a:r>
          </a:p>
        </p:txBody>
      </p:sp>
      <p:sp>
        <p:nvSpPr>
          <p:cNvPr id="10" name="TextBox 9"/>
          <p:cNvSpPr txBox="1"/>
          <p:nvPr/>
        </p:nvSpPr>
        <p:spPr>
          <a:xfrm>
            <a:off x="566928" y="3703320"/>
            <a:ext cx="457200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E08E1D"/>
                </a:solidFill>
                <a:latin typeface="Times New Roman"/>
              </a:rPr>
              <a:t>Why it matters:</a:t>
            </a:r>
          </a:p>
        </p:txBody>
      </p:sp>
      <p:sp>
        <p:nvSpPr>
          <p:cNvPr id="11" name="TextBox 10"/>
          <p:cNvSpPr txBox="1"/>
          <p:nvPr/>
        </p:nvSpPr>
        <p:spPr>
          <a:xfrm>
            <a:off x="566928" y="4023360"/>
            <a:ext cx="4572000" cy="1737360"/>
          </a:xfrm>
          <a:prstGeom prst="rect">
            <a:avLst/>
          </a:prstGeom>
          <a:noFill/>
        </p:spPr>
        <p:txBody>
          <a:bodyPr wrap="square" anchor="t" lIns="0" rIns="0" tIns="0" bIns="0">
            <a:spAutoFit/>
          </a:bodyPr>
          <a:lstStyle/>
          <a:p>
            <a:pPr algn="l">
              <a:lnSpc>
                <a:spcPct val="110000"/>
              </a:lnSpc>
              <a:spcAft>
                <a:spcPts val="500"/>
              </a:spcAft>
            </a:pPr>
            <a:r>
              <a:rPr sz="1250" b="0" i="0">
                <a:solidFill>
                  <a:srgbClr val="202A38"/>
                </a:solidFill>
                <a:latin typeface="Times New Roman"/>
              </a:rPr>
              <a:t>A forensic analyst or administrator knows in advance where to look for what.</a:t>
            </a:r>
          </a:p>
          <a:p>
            <a:pPr algn="l">
              <a:lnSpc>
                <a:spcPct val="110000"/>
              </a:lnSpc>
              <a:spcAft>
                <a:spcPts val="500"/>
              </a:spcAft>
            </a:pPr>
            <a:r>
              <a:rPr sz="1250" b="0" i="0">
                <a:solidFill>
                  <a:srgbClr val="202A38"/>
                </a:solidFill>
                <a:latin typeface="Times New Roman"/>
              </a:rPr>
              <a:t>A file in an unexpected place (e.g. a program in </a:t>
            </a:r>
            <a:r>
              <a:rPr sz="1200" b="1" i="0">
                <a:solidFill>
                  <a:srgbClr val="178A73"/>
                </a:solidFill>
                <a:latin typeface="Consolas"/>
              </a:rPr>
              <a:t>/tmp</a:t>
            </a:r>
            <a:r>
              <a:rPr sz="1250" b="0" i="0">
                <a:solidFill>
                  <a:srgbClr val="202A38"/>
                </a:solidFill>
                <a:latin typeface="Times New Roman"/>
              </a:rPr>
              <a:t>) is a sign of suspicion.</a:t>
            </a:r>
          </a:p>
        </p:txBody>
      </p:sp>
      <p:sp>
        <p:nvSpPr>
          <p:cNvPr id="12" name="Rounded Rectangle 11"/>
          <p:cNvSpPr/>
          <p:nvPr/>
        </p:nvSpPr>
        <p:spPr>
          <a:xfrm>
            <a:off x="7863840" y="1600200"/>
            <a:ext cx="1280160" cy="457200"/>
          </a:xfrm>
          <a:prstGeom prst="roundRect">
            <a:avLst>
              <a:gd name="adj" fmla="val 12000"/>
            </a:avLst>
          </a:prstGeom>
          <a:solidFill>
            <a:srgbClr val="122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800" b="1" i="0">
                <a:solidFill>
                  <a:srgbClr val="FFFFFF"/>
                </a:solidFill>
                <a:latin typeface="Times New Roman"/>
              </a:rPr>
              <a:t>/</a:t>
            </a:r>
          </a:p>
        </p:txBody>
      </p:sp>
      <p:sp>
        <p:nvSpPr>
          <p:cNvPr id="13" name="Rectangle 12"/>
          <p:cNvSpPr/>
          <p:nvPr/>
        </p:nvSpPr>
        <p:spPr>
          <a:xfrm>
            <a:off x="6144768" y="2194560"/>
            <a:ext cx="27432" cy="274320"/>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40680" y="2468880"/>
            <a:ext cx="1417320" cy="777240"/>
          </a:xfrm>
          <a:prstGeom prst="roundRect">
            <a:avLst>
              <a:gd name="adj" fmla="val 1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50" b="1" i="0">
                <a:solidFill>
                  <a:srgbClr val="FFFFFF"/>
                </a:solidFill>
                <a:latin typeface="Times New Roman"/>
              </a:rPr>
              <a:t>/etc</a:t>
            </a:r>
          </a:p>
          <a:p>
            <a:pPr algn="ctr"/>
            <a:r>
              <a:rPr sz="1050" b="0" i="0">
                <a:solidFill>
                  <a:srgbClr val="FFFFFF"/>
                </a:solidFill>
                <a:latin typeface="Times New Roman"/>
              </a:rPr>
              <a:t>settings</a:t>
            </a:r>
          </a:p>
        </p:txBody>
      </p:sp>
      <p:sp>
        <p:nvSpPr>
          <p:cNvPr id="15" name="Rectangle 14"/>
          <p:cNvSpPr/>
          <p:nvPr/>
        </p:nvSpPr>
        <p:spPr>
          <a:xfrm>
            <a:off x="7717536" y="2194560"/>
            <a:ext cx="27432" cy="274320"/>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013448" y="2468880"/>
            <a:ext cx="1417320" cy="777240"/>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50" b="1" i="0">
                <a:solidFill>
                  <a:srgbClr val="FFFFFF"/>
                </a:solidFill>
                <a:latin typeface="Times New Roman"/>
              </a:rPr>
              <a:t>/home</a:t>
            </a:r>
          </a:p>
          <a:p>
            <a:pPr algn="ctr"/>
            <a:r>
              <a:rPr sz="1050" b="0" i="0">
                <a:solidFill>
                  <a:srgbClr val="FFFFFF"/>
                </a:solidFill>
                <a:latin typeface="Times New Roman"/>
              </a:rPr>
              <a:t>users</a:t>
            </a:r>
          </a:p>
        </p:txBody>
      </p:sp>
      <p:sp>
        <p:nvSpPr>
          <p:cNvPr id="17" name="Rectangle 16"/>
          <p:cNvSpPr/>
          <p:nvPr/>
        </p:nvSpPr>
        <p:spPr>
          <a:xfrm>
            <a:off x="9290304" y="2194560"/>
            <a:ext cx="27432" cy="274320"/>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586216" y="2468880"/>
            <a:ext cx="1417320" cy="777240"/>
          </a:xfrm>
          <a:prstGeom prst="roundRect">
            <a:avLst>
              <a:gd name="adj" fmla="val 12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50" b="1" i="0">
                <a:solidFill>
                  <a:srgbClr val="FFFFFF"/>
                </a:solidFill>
                <a:latin typeface="Times New Roman"/>
              </a:rPr>
              <a:t>/tmp</a:t>
            </a:r>
          </a:p>
          <a:p>
            <a:pPr algn="ctr"/>
            <a:r>
              <a:rPr sz="1050" b="0" i="0">
                <a:solidFill>
                  <a:srgbClr val="FFFFFF"/>
                </a:solidFill>
                <a:latin typeface="Times New Roman"/>
              </a:rPr>
              <a:t>temporary</a:t>
            </a:r>
          </a:p>
        </p:txBody>
      </p:sp>
      <p:sp>
        <p:nvSpPr>
          <p:cNvPr id="19" name="Rectangle 18"/>
          <p:cNvSpPr/>
          <p:nvPr/>
        </p:nvSpPr>
        <p:spPr>
          <a:xfrm>
            <a:off x="10863072" y="2194560"/>
            <a:ext cx="27432" cy="274320"/>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58984" y="2468880"/>
            <a:ext cx="1417320" cy="777240"/>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50" b="1" i="0">
                <a:solidFill>
                  <a:srgbClr val="FFFFFF"/>
                </a:solidFill>
                <a:latin typeface="Times New Roman"/>
              </a:rPr>
              <a:t>/var/log</a:t>
            </a:r>
          </a:p>
          <a:p>
            <a:pPr algn="ctr"/>
            <a:r>
              <a:rPr sz="1050" b="0" i="0">
                <a:solidFill>
                  <a:srgbClr val="FFFFFF"/>
                </a:solidFill>
                <a:latin typeface="Times New Roman"/>
              </a:rPr>
              <a:t>logs</a:t>
            </a:r>
          </a:p>
        </p:txBody>
      </p:sp>
      <p:sp>
        <p:nvSpPr>
          <p:cNvPr id="21" name="Rectangle 20"/>
          <p:cNvSpPr/>
          <p:nvPr/>
        </p:nvSpPr>
        <p:spPr>
          <a:xfrm>
            <a:off x="6172200" y="2194560"/>
            <a:ext cx="4754880" cy="27432"/>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485632" y="2057400"/>
            <a:ext cx="27432" cy="155448"/>
          </a:xfrm>
          <a:prstGeom prst="rect">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40680" y="3520440"/>
            <a:ext cx="6172200" cy="1097280"/>
          </a:xfrm>
          <a:prstGeom prst="rect">
            <a:avLst/>
          </a:prstGeom>
          <a:noFill/>
        </p:spPr>
        <p:txBody>
          <a:bodyPr wrap="square" anchor="t" lIns="0" rIns="0" tIns="0" bIns="0">
            <a:spAutoFit/>
          </a:bodyPr>
          <a:lstStyle/>
          <a:p>
            <a:pPr algn="l">
              <a:lnSpc>
                <a:spcPct val="110000"/>
              </a:lnSpc>
              <a:spcAft>
                <a:spcPts val="300"/>
              </a:spcAft>
            </a:pPr>
            <a:r>
              <a:rPr sz="1200" b="0" i="1">
                <a:solidFill>
                  <a:srgbClr val="54647A"/>
                </a:solidFill>
                <a:latin typeface="Times New Roman"/>
              </a:rPr>
              <a:t>Ubuntu, Kali, Rocky, Debian — </a:t>
            </a:r>
            <a:r>
              <a:rPr sz="1150" b="1" i="0">
                <a:solidFill>
                  <a:srgbClr val="178A73"/>
                </a:solidFill>
                <a:latin typeface="Consolas"/>
              </a:rPr>
              <a:t>/etc/hostname</a:t>
            </a:r>
            <a:r>
              <a:rPr sz="1200" b="0" i="1">
                <a:solidFill>
                  <a:srgbClr val="54647A"/>
                </a:solidFill>
                <a:latin typeface="Times New Roman"/>
              </a:rPr>
              <a:t> is in the same place on all. Know one system and you won’t get lost in the others.</a:t>
            </a:r>
          </a:p>
        </p:txBody>
      </p:sp>
      <p:sp>
        <p:nvSpPr>
          <p:cNvPr id="24" name="Rounded Rectangle 23"/>
          <p:cNvSpPr/>
          <p:nvPr/>
        </p:nvSpPr>
        <p:spPr>
          <a:xfrm>
            <a:off x="5440680" y="5074920"/>
            <a:ext cx="6172200" cy="868680"/>
          </a:xfrm>
          <a:prstGeom prst="roundRect">
            <a:avLst>
              <a:gd name="adj" fmla="val 8000"/>
            </a:avLst>
          </a:prstGeom>
          <a:solidFill>
            <a:srgbClr val="E3F3EE"/>
          </a:solidFill>
          <a:ln w="15875">
            <a:solidFill>
              <a:srgbClr val="178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heck_178A73.png"/>
          <p:cNvPicPr>
            <a:picLocks noChangeAspect="1"/>
          </p:cNvPicPr>
          <p:nvPr/>
        </p:nvPicPr>
        <p:blipFill>
          <a:blip r:embed="rId3"/>
          <a:stretch>
            <a:fillRect/>
          </a:stretch>
        </p:blipFill>
        <p:spPr>
          <a:xfrm>
            <a:off x="5568696" y="5344668"/>
            <a:ext cx="329184" cy="329184"/>
          </a:xfrm>
          <a:prstGeom prst="rect">
            <a:avLst/>
          </a:prstGeom>
        </p:spPr>
      </p:pic>
      <p:sp>
        <p:nvSpPr>
          <p:cNvPr id="26" name="TextBox 25"/>
          <p:cNvSpPr txBox="1"/>
          <p:nvPr/>
        </p:nvSpPr>
        <p:spPr>
          <a:xfrm>
            <a:off x="6007608" y="5074920"/>
            <a:ext cx="5486400" cy="868680"/>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Example: on an unknown server — password policy in </a:t>
            </a:r>
            <a:r>
              <a:rPr sz="1150" b="1" i="0">
                <a:solidFill>
                  <a:srgbClr val="178A73"/>
                </a:solidFill>
                <a:latin typeface="Consolas"/>
              </a:rPr>
              <a:t>/etc</a:t>
            </a:r>
            <a:r>
              <a:rPr sz="1200" b="0" i="0">
                <a:solidFill>
                  <a:srgbClr val="202A38"/>
                </a:solidFill>
                <a:latin typeface="Times New Roman"/>
              </a:rPr>
              <a:t>, login traces in </a:t>
            </a:r>
            <a:r>
              <a:rPr sz="1150" b="1" i="0">
                <a:solidFill>
                  <a:srgbClr val="178A73"/>
                </a:solidFill>
                <a:latin typeface="Consolas"/>
              </a:rPr>
              <a:t>/var/log</a:t>
            </a:r>
            <a:r>
              <a:rPr sz="1200" b="0" i="0">
                <a:solidFill>
                  <a:srgbClr val="202A38"/>
                </a:solidFill>
                <a:latin typeface="Times New Roman"/>
              </a:rPr>
              <a:t>.</a:t>
            </a:r>
          </a:p>
        </p:txBody>
      </p:sp>
      <p:sp>
        <p:nvSpPr>
          <p:cNvPr id="27" name="Rounded Rectangle 26">
            <a:hlinkClick action="ppaction://hlinksldjump" r:id="rId4"/>
          </p:cNvPr>
          <p:cNvSpPr/>
          <p:nvPr/>
        </p:nvSpPr>
        <p:spPr>
          <a:xfrm>
            <a:off x="566928" y="5989320"/>
            <a:ext cx="1783080" cy="329184"/>
          </a:xfrm>
          <a:prstGeom prst="roundRect">
            <a:avLst>
              <a:gd name="adj" fmla="val 50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i="0">
                <a:solidFill>
                  <a:srgbClr val="FFFFFF"/>
                </a:solidFill>
                <a:latin typeface="Times New Roman"/>
              </a:rPr>
              <a:t>← Back to topic</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GLOSSARY · TERM</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Magic bytes (file signature)</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40</a:t>
            </a:r>
          </a:p>
        </p:txBody>
      </p:sp>
      <p:sp>
        <p:nvSpPr>
          <p:cNvPr id="8" name="TextBox 7"/>
          <p:cNvSpPr txBox="1"/>
          <p:nvPr/>
        </p:nvSpPr>
        <p:spPr>
          <a:xfrm>
            <a:off x="566928" y="1554480"/>
            <a:ext cx="457200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178A73"/>
                </a:solidFill>
                <a:latin typeface="Times New Roman"/>
              </a:rPr>
              <a:t>In simple terms:</a:t>
            </a:r>
          </a:p>
        </p:txBody>
      </p:sp>
      <p:sp>
        <p:nvSpPr>
          <p:cNvPr id="9" name="TextBox 8"/>
          <p:cNvSpPr txBox="1"/>
          <p:nvPr/>
        </p:nvSpPr>
        <p:spPr>
          <a:xfrm>
            <a:off x="566928" y="1874519"/>
            <a:ext cx="4572000" cy="1737360"/>
          </a:xfrm>
          <a:prstGeom prst="rect">
            <a:avLst/>
          </a:prstGeom>
          <a:noFill/>
        </p:spPr>
        <p:txBody>
          <a:bodyPr wrap="square" anchor="t" lIns="0" rIns="0" tIns="0" bIns="0">
            <a:spAutoFit/>
          </a:bodyPr>
          <a:lstStyle/>
          <a:p>
            <a:pPr algn="l">
              <a:lnSpc>
                <a:spcPct val="110000"/>
              </a:lnSpc>
              <a:spcAft>
                <a:spcPts val="500"/>
              </a:spcAft>
            </a:pPr>
            <a:r>
              <a:rPr sz="1250" b="0" i="0">
                <a:solidFill>
                  <a:srgbClr val="202A38"/>
                </a:solidFill>
                <a:latin typeface="Times New Roman"/>
              </a:rPr>
              <a:t>The first few bytes of a file — the “passport” of its real type.</a:t>
            </a:r>
          </a:p>
          <a:p>
            <a:pPr algn="l">
              <a:lnSpc>
                <a:spcPct val="110000"/>
              </a:lnSpc>
              <a:spcAft>
                <a:spcPts val="500"/>
              </a:spcAft>
            </a:pPr>
            <a:r>
              <a:rPr sz="1250" b="0" i="0">
                <a:solidFill>
                  <a:srgbClr val="202A38"/>
                </a:solidFill>
                <a:latin typeface="Times New Roman"/>
              </a:rPr>
              <a:t>An extension can be changed freely, but the signature cannot (the file would break).</a:t>
            </a:r>
          </a:p>
        </p:txBody>
      </p:sp>
      <p:sp>
        <p:nvSpPr>
          <p:cNvPr id="10" name="TextBox 9"/>
          <p:cNvSpPr txBox="1"/>
          <p:nvPr/>
        </p:nvSpPr>
        <p:spPr>
          <a:xfrm>
            <a:off x="566928" y="3703320"/>
            <a:ext cx="457200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E08E1D"/>
                </a:solidFill>
                <a:latin typeface="Times New Roman"/>
              </a:rPr>
              <a:t>Why it matters:</a:t>
            </a:r>
          </a:p>
        </p:txBody>
      </p:sp>
      <p:sp>
        <p:nvSpPr>
          <p:cNvPr id="11" name="TextBox 10"/>
          <p:cNvSpPr txBox="1"/>
          <p:nvPr/>
        </p:nvSpPr>
        <p:spPr>
          <a:xfrm>
            <a:off x="566928" y="4023360"/>
            <a:ext cx="4572000" cy="1737360"/>
          </a:xfrm>
          <a:prstGeom prst="rect">
            <a:avLst/>
          </a:prstGeom>
          <a:noFill/>
        </p:spPr>
        <p:txBody>
          <a:bodyPr wrap="square" anchor="t" lIns="0" rIns="0" tIns="0" bIns="0">
            <a:spAutoFit/>
          </a:bodyPr>
          <a:lstStyle/>
          <a:p>
            <a:pPr algn="l">
              <a:lnSpc>
                <a:spcPct val="110000"/>
              </a:lnSpc>
              <a:spcAft>
                <a:spcPts val="500"/>
              </a:spcAft>
            </a:pPr>
            <a:r>
              <a:rPr sz="1250" b="0" i="0">
                <a:solidFill>
                  <a:srgbClr val="202A38"/>
                </a:solidFill>
                <a:latin typeface="Times New Roman"/>
              </a:rPr>
              <a:t>The </a:t>
            </a:r>
            <a:r>
              <a:rPr sz="1200" b="1" i="0">
                <a:solidFill>
                  <a:srgbClr val="178A73"/>
                </a:solidFill>
                <a:latin typeface="Consolas"/>
              </a:rPr>
              <a:t>file</a:t>
            </a:r>
            <a:r>
              <a:rPr sz="1250" b="0" i="0">
                <a:solidFill>
                  <a:srgbClr val="202A38"/>
                </a:solidFill>
                <a:latin typeface="Times New Roman"/>
              </a:rPr>
              <a:t> command reads exactly this signature.</a:t>
            </a:r>
          </a:p>
          <a:p>
            <a:pPr algn="l">
              <a:lnSpc>
                <a:spcPct val="110000"/>
              </a:lnSpc>
              <a:spcAft>
                <a:spcPts val="500"/>
              </a:spcAft>
            </a:pPr>
            <a:r>
              <a:rPr sz="1250" b="0" i="0">
                <a:solidFill>
                  <a:srgbClr val="202A38"/>
                </a:solidFill>
                <a:latin typeface="Times New Roman"/>
              </a:rPr>
              <a:t>It exposes a disguised malicious file (</a:t>
            </a:r>
            <a:r>
              <a:rPr sz="1200" b="1" i="0">
                <a:solidFill>
                  <a:srgbClr val="178A73"/>
                </a:solidFill>
                <a:latin typeface="Consolas"/>
              </a:rPr>
              <a:t>image.jpg</a:t>
            </a:r>
            <a:r>
              <a:rPr sz="1250" b="0" i="0">
                <a:solidFill>
                  <a:srgbClr val="202A38"/>
                </a:solidFill>
                <a:latin typeface="Times New Roman"/>
              </a:rPr>
              <a:t> → actually a program).</a:t>
            </a:r>
          </a:p>
        </p:txBody>
      </p:sp>
      <p:sp>
        <p:nvSpPr>
          <p:cNvPr id="12" name="Rounded Rectangle 11"/>
          <p:cNvSpPr/>
          <p:nvPr/>
        </p:nvSpPr>
        <p:spPr>
          <a:xfrm>
            <a:off x="5440680" y="1691640"/>
            <a:ext cx="1874519" cy="868680"/>
          </a:xfrm>
          <a:prstGeom prst="roundRect">
            <a:avLst>
              <a:gd name="adj" fmla="val 12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50" b="1" i="0">
                <a:solidFill>
                  <a:srgbClr val="FFFFFF"/>
                </a:solidFill>
                <a:latin typeface="Times New Roman"/>
              </a:rPr>
              <a:t>document.pdf</a:t>
            </a:r>
          </a:p>
          <a:p>
            <a:pPr algn="ctr"/>
            <a:r>
              <a:rPr sz="1050" b="0" i="0">
                <a:solidFill>
                  <a:srgbClr val="FFFFFF"/>
                </a:solidFill>
                <a:latin typeface="Times New Roman"/>
              </a:rPr>
              <a:t>name: PDF</a:t>
            </a:r>
          </a:p>
        </p:txBody>
      </p:sp>
      <p:sp>
        <p:nvSpPr>
          <p:cNvPr id="13" name="Right Arrow 12"/>
          <p:cNvSpPr/>
          <p:nvPr/>
        </p:nvSpPr>
        <p:spPr>
          <a:xfrm>
            <a:off x="7342631" y="1984248"/>
            <a:ext cx="201168" cy="274320"/>
          </a:xfrm>
          <a:prstGeom prst="rightArrow">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543800" y="1691640"/>
            <a:ext cx="1874519" cy="868680"/>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50" b="1" i="0">
                <a:solidFill>
                  <a:srgbClr val="FFFFFF"/>
                </a:solidFill>
                <a:latin typeface="Times New Roman"/>
              </a:rPr>
              <a:t>4d 5a ...</a:t>
            </a:r>
          </a:p>
          <a:p>
            <a:pPr algn="ctr"/>
            <a:r>
              <a:rPr sz="1050" b="0" i="0">
                <a:solidFill>
                  <a:srgbClr val="FFFFFF"/>
                </a:solidFill>
                <a:latin typeface="Times New Roman"/>
              </a:rPr>
              <a:t>first bytes: MZ</a:t>
            </a:r>
          </a:p>
        </p:txBody>
      </p:sp>
      <p:sp>
        <p:nvSpPr>
          <p:cNvPr id="15" name="Right Arrow 14"/>
          <p:cNvSpPr/>
          <p:nvPr/>
        </p:nvSpPr>
        <p:spPr>
          <a:xfrm>
            <a:off x="9445751" y="1984248"/>
            <a:ext cx="201168" cy="274320"/>
          </a:xfrm>
          <a:prstGeom prst="rightArrow">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646920" y="1691640"/>
            <a:ext cx="1874519" cy="868680"/>
          </a:xfrm>
          <a:prstGeom prst="roundRect">
            <a:avLst>
              <a:gd name="adj" fmla="val 1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50" b="1" i="0">
                <a:solidFill>
                  <a:srgbClr val="FFFFFF"/>
                </a:solidFill>
                <a:latin typeface="Times New Roman"/>
              </a:rPr>
              <a:t>Windows program!</a:t>
            </a:r>
          </a:p>
          <a:p>
            <a:pPr algn="ctr"/>
            <a:r>
              <a:rPr sz="1050" b="0" i="0">
                <a:solidFill>
                  <a:srgbClr val="FFFFFF"/>
                </a:solidFill>
                <a:latin typeface="Times New Roman"/>
              </a:rPr>
              <a:t>the real type</a:t>
            </a:r>
          </a:p>
        </p:txBody>
      </p:sp>
      <p:graphicFrame>
        <p:nvGraphicFramePr>
          <p:cNvPr id="17" name="Table 16"/>
          <p:cNvGraphicFramePr>
            <a:graphicFrameLocks noGrp="1"/>
          </p:cNvGraphicFramePr>
          <p:nvPr/>
        </p:nvGraphicFramePr>
        <p:xfrm>
          <a:off x="5440680" y="2788920"/>
          <a:ext cx="6172200" cy="1920240"/>
        </p:xfrm>
        <a:graphic>
          <a:graphicData uri="http://schemas.openxmlformats.org/drawingml/2006/table">
            <a:tbl>
              <a:tblPr firstRow="1" bandRow="1">
                <a:tableStyleId>{5940675A-B579-460E-94D1-54222C63F5DA}</a:tableStyleId>
              </a:tblPr>
              <a:tblGrid>
                <a:gridCol w="3108960"/>
                <a:gridCol w="3063240"/>
              </a:tblGrid>
              <a:tr h="384048">
                <a:tc>
                  <a:txBody>
                    <a:bodyPr wrap="square"/>
                    <a:lstStyle/>
                    <a:p>
                      <a:pPr algn="l"/>
                      <a:r>
                        <a:rPr sz="1150" b="1" i="0">
                          <a:solidFill>
                            <a:srgbClr val="FFFFFF"/>
                          </a:solidFill>
                          <a:latin typeface="Times New Roman"/>
                        </a:rPr>
                        <a:t>Signature</a:t>
                      </a:r>
                    </a:p>
                  </a:txBody>
                  <a:tcPr marL="63500" marR="63500" marT="25400" marB="25400" anchor="ctr">
                    <a:solidFill>
                      <a:srgbClr val="1F3864"/>
                    </a:solidFill>
                  </a:tcPr>
                </a:tc>
                <a:tc>
                  <a:txBody>
                    <a:bodyPr wrap="square"/>
                    <a:lstStyle/>
                    <a:p>
                      <a:pPr algn="l"/>
                      <a:r>
                        <a:rPr sz="1150" b="1" i="0">
                          <a:solidFill>
                            <a:srgbClr val="FFFFFF"/>
                          </a:solidFill>
                          <a:latin typeface="Times New Roman"/>
                        </a:rPr>
                        <a:t>Type</a:t>
                      </a:r>
                    </a:p>
                  </a:txBody>
                  <a:tcPr marL="63500" marR="63500" marT="25400" marB="25400" anchor="ctr">
                    <a:solidFill>
                      <a:srgbClr val="1F3864"/>
                    </a:solidFill>
                  </a:tcPr>
                </a:tc>
              </a:tr>
              <a:tr h="384048">
                <a:tc>
                  <a:txBody>
                    <a:bodyPr wrap="square"/>
                    <a:lstStyle/>
                    <a:p>
                      <a:pPr algn="l"/>
                      <a:r>
                        <a:rPr sz="1100" b="1" i="0">
                          <a:solidFill>
                            <a:srgbClr val="178A73"/>
                          </a:solidFill>
                          <a:latin typeface="Consolas"/>
                        </a:rPr>
                        <a:t>7f 45 4c 46</a:t>
                      </a:r>
                      <a:r>
                        <a:rPr sz="1150" b="1" i="0">
                          <a:solidFill>
                            <a:srgbClr val="202A38"/>
                          </a:solidFill>
                          <a:latin typeface="Times New Roman"/>
                        </a:rPr>
                        <a:t> (.ELF)</a:t>
                      </a:r>
                    </a:p>
                  </a:txBody>
                  <a:tcPr marL="63500" marR="63500" marT="25400" marB="25400" anchor="ctr">
                    <a:solidFill>
                      <a:srgbClr val="FFFFFF"/>
                    </a:solidFill>
                  </a:tcPr>
                </a:tc>
                <a:tc>
                  <a:txBody>
                    <a:bodyPr wrap="square"/>
                    <a:lstStyle/>
                    <a:p>
                      <a:pPr algn="l"/>
                      <a:r>
                        <a:rPr sz="1150" b="0" i="0">
                          <a:solidFill>
                            <a:srgbClr val="202A38"/>
                          </a:solidFill>
                          <a:latin typeface="Times New Roman"/>
                        </a:rPr>
                        <a:t>Linux program</a:t>
                      </a:r>
                    </a:p>
                  </a:txBody>
                  <a:tcPr marL="63500" marR="63500" marT="25400" marB="25400" anchor="ctr">
                    <a:solidFill>
                      <a:srgbClr val="FFFFFF"/>
                    </a:solidFill>
                  </a:tcPr>
                </a:tc>
              </a:tr>
              <a:tr h="384048">
                <a:tc>
                  <a:txBody>
                    <a:bodyPr wrap="square"/>
                    <a:lstStyle/>
                    <a:p>
                      <a:pPr algn="l"/>
                      <a:r>
                        <a:rPr sz="1100" b="1" i="0">
                          <a:solidFill>
                            <a:srgbClr val="178A73"/>
                          </a:solidFill>
                          <a:latin typeface="Consolas"/>
                        </a:rPr>
                        <a:t>4d 5a</a:t>
                      </a:r>
                      <a:r>
                        <a:rPr sz="1150" b="1" i="0">
                          <a:solidFill>
                            <a:srgbClr val="202A38"/>
                          </a:solidFill>
                          <a:latin typeface="Times New Roman"/>
                        </a:rPr>
                        <a:t> (MZ)</a:t>
                      </a:r>
                    </a:p>
                  </a:txBody>
                  <a:tcPr marL="63500" marR="63500" marT="25400" marB="25400" anchor="ctr">
                    <a:solidFill>
                      <a:srgbClr val="F5F8FC"/>
                    </a:solidFill>
                  </a:tcPr>
                </a:tc>
                <a:tc>
                  <a:txBody>
                    <a:bodyPr wrap="square"/>
                    <a:lstStyle/>
                    <a:p>
                      <a:pPr algn="l"/>
                      <a:r>
                        <a:rPr sz="1150" b="0" i="0">
                          <a:solidFill>
                            <a:srgbClr val="202A38"/>
                          </a:solidFill>
                          <a:latin typeface="Times New Roman"/>
                        </a:rPr>
                        <a:t>Windows program</a:t>
                      </a:r>
                    </a:p>
                  </a:txBody>
                  <a:tcPr marL="63500" marR="63500" marT="25400" marB="25400" anchor="ctr">
                    <a:solidFill>
                      <a:srgbClr val="F5F8FC"/>
                    </a:solidFill>
                  </a:tcPr>
                </a:tc>
              </a:tr>
              <a:tr h="384048">
                <a:tc>
                  <a:txBody>
                    <a:bodyPr wrap="square"/>
                    <a:lstStyle/>
                    <a:p>
                      <a:pPr algn="l"/>
                      <a:r>
                        <a:rPr sz="1100" b="1" i="0">
                          <a:solidFill>
                            <a:srgbClr val="178A73"/>
                          </a:solidFill>
                          <a:latin typeface="Consolas"/>
                        </a:rPr>
                        <a:t>25 50 44 46</a:t>
                      </a:r>
                      <a:r>
                        <a:rPr sz="1150" b="1" i="0">
                          <a:solidFill>
                            <a:srgbClr val="202A38"/>
                          </a:solidFill>
                          <a:latin typeface="Times New Roman"/>
                        </a:rPr>
                        <a:t> (%PDF)</a:t>
                      </a:r>
                    </a:p>
                  </a:txBody>
                  <a:tcPr marL="63500" marR="63500" marT="25400" marB="25400" anchor="ctr">
                    <a:solidFill>
                      <a:srgbClr val="FFFFFF"/>
                    </a:solidFill>
                  </a:tcPr>
                </a:tc>
                <a:tc>
                  <a:txBody>
                    <a:bodyPr wrap="square"/>
                    <a:lstStyle/>
                    <a:p>
                      <a:pPr algn="l"/>
                      <a:r>
                        <a:rPr sz="1150" b="0" i="0">
                          <a:solidFill>
                            <a:srgbClr val="202A38"/>
                          </a:solidFill>
                          <a:latin typeface="Times New Roman"/>
                        </a:rPr>
                        <a:t>PDF</a:t>
                      </a:r>
                    </a:p>
                  </a:txBody>
                  <a:tcPr marL="63500" marR="63500" marT="25400" marB="25400" anchor="ctr">
                    <a:solidFill>
                      <a:srgbClr val="FFFFFF"/>
                    </a:solidFill>
                  </a:tcPr>
                </a:tc>
              </a:tr>
              <a:tr h="384048">
                <a:tc>
                  <a:txBody>
                    <a:bodyPr wrap="square"/>
                    <a:lstStyle/>
                    <a:p>
                      <a:pPr algn="l"/>
                      <a:r>
                        <a:rPr sz="1100" b="1" i="0">
                          <a:solidFill>
                            <a:srgbClr val="178A73"/>
                          </a:solidFill>
                          <a:latin typeface="Consolas"/>
                        </a:rPr>
                        <a:t>50 4b 03 04</a:t>
                      </a:r>
                      <a:r>
                        <a:rPr sz="1150" b="1" i="0">
                          <a:solidFill>
                            <a:srgbClr val="202A38"/>
                          </a:solidFill>
                          <a:latin typeface="Times New Roman"/>
                        </a:rPr>
                        <a:t> (PK)</a:t>
                      </a:r>
                    </a:p>
                  </a:txBody>
                  <a:tcPr marL="63500" marR="63500" marT="25400" marB="25400" anchor="ctr">
                    <a:solidFill>
                      <a:srgbClr val="F5F8FC"/>
                    </a:solidFill>
                  </a:tcPr>
                </a:tc>
                <a:tc>
                  <a:txBody>
                    <a:bodyPr wrap="square"/>
                    <a:lstStyle/>
                    <a:p>
                      <a:pPr algn="l"/>
                      <a:r>
                        <a:rPr sz="1150" b="0" i="0">
                          <a:solidFill>
                            <a:srgbClr val="202A38"/>
                          </a:solidFill>
                          <a:latin typeface="Times New Roman"/>
                        </a:rPr>
                        <a:t>ZIP, .docx</a:t>
                      </a:r>
                    </a:p>
                  </a:txBody>
                  <a:tcPr marL="63500" marR="63500" marT="25400" marB="25400" anchor="ctr">
                    <a:solidFill>
                      <a:srgbClr val="F5F8FC"/>
                    </a:solidFill>
                  </a:tcPr>
                </a:tc>
              </a:tr>
            </a:tbl>
          </a:graphicData>
        </a:graphic>
      </p:graphicFrame>
      <p:sp>
        <p:nvSpPr>
          <p:cNvPr id="18" name="Rounded Rectangle 17"/>
          <p:cNvSpPr/>
          <p:nvPr/>
        </p:nvSpPr>
        <p:spPr>
          <a:xfrm>
            <a:off x="5440680" y="5074920"/>
            <a:ext cx="6172200" cy="868680"/>
          </a:xfrm>
          <a:prstGeom prst="roundRect">
            <a:avLst>
              <a:gd name="adj" fmla="val 8000"/>
            </a:avLst>
          </a:prstGeom>
          <a:solidFill>
            <a:srgbClr val="FFF6E5"/>
          </a:solidFill>
          <a:ln w="15875">
            <a:solidFill>
              <a:srgbClr val="E08E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warning_E08E1D.png"/>
          <p:cNvPicPr>
            <a:picLocks noChangeAspect="1"/>
          </p:cNvPicPr>
          <p:nvPr/>
        </p:nvPicPr>
        <p:blipFill>
          <a:blip r:embed="rId3"/>
          <a:stretch>
            <a:fillRect/>
          </a:stretch>
        </p:blipFill>
        <p:spPr>
          <a:xfrm>
            <a:off x="5568696" y="5344668"/>
            <a:ext cx="329184" cy="329184"/>
          </a:xfrm>
          <a:prstGeom prst="rect">
            <a:avLst/>
          </a:prstGeom>
        </p:spPr>
      </p:pic>
      <p:sp>
        <p:nvSpPr>
          <p:cNvPr id="20" name="TextBox 19"/>
          <p:cNvSpPr txBox="1"/>
          <p:nvPr/>
        </p:nvSpPr>
        <p:spPr>
          <a:xfrm>
            <a:off x="6007608" y="5074920"/>
            <a:ext cx="5486400" cy="868680"/>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Check: </a:t>
            </a:r>
            <a:r>
              <a:rPr sz="1150" b="1" i="0">
                <a:solidFill>
                  <a:srgbClr val="178A73"/>
                </a:solidFill>
                <a:latin typeface="Consolas"/>
              </a:rPr>
              <a:t>file image.jpg</a:t>
            </a:r>
            <a:r>
              <a:rPr sz="1200" b="0" i="0">
                <a:solidFill>
                  <a:srgbClr val="202A38"/>
                </a:solidFill>
                <a:latin typeface="Times New Roman"/>
              </a:rPr>
              <a:t> or </a:t>
            </a:r>
            <a:r>
              <a:rPr sz="1150" b="1" i="0">
                <a:solidFill>
                  <a:srgbClr val="178A73"/>
                </a:solidFill>
                <a:latin typeface="Consolas"/>
              </a:rPr>
              <a:t>xxd -l 16 image.jpg</a:t>
            </a:r>
            <a:r>
              <a:rPr sz="1200" b="0" i="0">
                <a:solidFill>
                  <a:srgbClr val="202A38"/>
                </a:solidFill>
                <a:latin typeface="Times New Roman"/>
              </a:rPr>
              <a:t>.</a:t>
            </a:r>
          </a:p>
        </p:txBody>
      </p:sp>
      <p:sp>
        <p:nvSpPr>
          <p:cNvPr id="21" name="Rounded Rectangle 20">
            <a:hlinkClick action="ppaction://hlinksldjump" r:id="rId4"/>
          </p:cNvPr>
          <p:cNvSpPr/>
          <p:nvPr/>
        </p:nvSpPr>
        <p:spPr>
          <a:xfrm>
            <a:off x="566928" y="5989320"/>
            <a:ext cx="1783080" cy="329184"/>
          </a:xfrm>
          <a:prstGeom prst="roundRect">
            <a:avLst>
              <a:gd name="adj" fmla="val 50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i="0">
                <a:solidFill>
                  <a:srgbClr val="FFFFFF"/>
                </a:solidFill>
                <a:latin typeface="Times New Roman"/>
              </a:rPr>
              <a:t>← Back to topic</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GLOSSARY · TERM</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MAC times (file timestamps)</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41</a:t>
            </a:r>
          </a:p>
        </p:txBody>
      </p:sp>
      <p:sp>
        <p:nvSpPr>
          <p:cNvPr id="8" name="TextBox 7"/>
          <p:cNvSpPr txBox="1"/>
          <p:nvPr/>
        </p:nvSpPr>
        <p:spPr>
          <a:xfrm>
            <a:off x="566928" y="1554480"/>
            <a:ext cx="457200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178A73"/>
                </a:solidFill>
                <a:latin typeface="Times New Roman"/>
              </a:rPr>
              <a:t>In simple terms:</a:t>
            </a:r>
          </a:p>
        </p:txBody>
      </p:sp>
      <p:sp>
        <p:nvSpPr>
          <p:cNvPr id="9" name="TextBox 8"/>
          <p:cNvSpPr txBox="1"/>
          <p:nvPr/>
        </p:nvSpPr>
        <p:spPr>
          <a:xfrm>
            <a:off x="566928" y="1874519"/>
            <a:ext cx="4572000" cy="1737360"/>
          </a:xfrm>
          <a:prstGeom prst="rect">
            <a:avLst/>
          </a:prstGeom>
          <a:noFill/>
        </p:spPr>
        <p:txBody>
          <a:bodyPr wrap="square" anchor="t" lIns="0" rIns="0" tIns="0" bIns="0">
            <a:spAutoFit/>
          </a:bodyPr>
          <a:lstStyle/>
          <a:p>
            <a:pPr algn="l">
              <a:lnSpc>
                <a:spcPct val="110000"/>
              </a:lnSpc>
              <a:spcAft>
                <a:spcPts val="500"/>
              </a:spcAft>
            </a:pPr>
            <a:r>
              <a:rPr sz="1250" b="0" i="0">
                <a:solidFill>
                  <a:srgbClr val="202A38"/>
                </a:solidFill>
                <a:latin typeface="Times New Roman"/>
              </a:rPr>
              <a:t>The times stored for each file: </a:t>
            </a:r>
            <a:r>
              <a:rPr sz="1250" b="1" i="0">
                <a:solidFill>
                  <a:srgbClr val="1F3864"/>
                </a:solidFill>
                <a:latin typeface="Times New Roman"/>
              </a:rPr>
              <a:t>M</a:t>
            </a:r>
            <a:r>
              <a:rPr sz="1250" b="0" i="0">
                <a:solidFill>
                  <a:srgbClr val="202A38"/>
                </a:solidFill>
                <a:latin typeface="Times New Roman"/>
              </a:rPr>
              <a:t>odify, </a:t>
            </a:r>
            <a:r>
              <a:rPr sz="1250" b="1" i="0">
                <a:solidFill>
                  <a:srgbClr val="1F3864"/>
                </a:solidFill>
                <a:latin typeface="Times New Roman"/>
              </a:rPr>
              <a:t>A</a:t>
            </a:r>
            <a:r>
              <a:rPr sz="1250" b="0" i="0">
                <a:solidFill>
                  <a:srgbClr val="202A38"/>
                </a:solidFill>
                <a:latin typeface="Times New Roman"/>
              </a:rPr>
              <a:t>ccess, </a:t>
            </a:r>
            <a:r>
              <a:rPr sz="1250" b="1" i="0">
                <a:solidFill>
                  <a:srgbClr val="1F3864"/>
                </a:solidFill>
                <a:latin typeface="Times New Roman"/>
              </a:rPr>
              <a:t>C</a:t>
            </a:r>
            <a:r>
              <a:rPr sz="1250" b="0" i="0">
                <a:solidFill>
                  <a:srgbClr val="202A38"/>
                </a:solidFill>
                <a:latin typeface="Times New Roman"/>
              </a:rPr>
              <a:t>hange (+ Birth).</a:t>
            </a:r>
          </a:p>
          <a:p>
            <a:pPr algn="l">
              <a:lnSpc>
                <a:spcPct val="110000"/>
              </a:lnSpc>
              <a:spcAft>
                <a:spcPts val="500"/>
              </a:spcAft>
            </a:pPr>
            <a:r>
              <a:rPr sz="1200" b="1" i="0">
                <a:solidFill>
                  <a:srgbClr val="178A73"/>
                </a:solidFill>
                <a:latin typeface="Consolas"/>
              </a:rPr>
              <a:t>stat</a:t>
            </a:r>
            <a:r>
              <a:rPr sz="1250" b="0" i="0">
                <a:solidFill>
                  <a:srgbClr val="202A38"/>
                </a:solidFill>
                <a:latin typeface="Times New Roman"/>
              </a:rPr>
              <a:t> shows them; </a:t>
            </a:r>
            <a:r>
              <a:rPr sz="1200" b="1" i="0">
                <a:solidFill>
                  <a:srgbClr val="178A73"/>
                </a:solidFill>
                <a:latin typeface="Consolas"/>
              </a:rPr>
              <a:t>ls -l</a:t>
            </a:r>
            <a:r>
              <a:rPr sz="1250" b="0" i="0">
                <a:solidFill>
                  <a:srgbClr val="202A38"/>
                </a:solidFill>
                <a:latin typeface="Times New Roman"/>
              </a:rPr>
              <a:t> shows only Modify.</a:t>
            </a:r>
          </a:p>
        </p:txBody>
      </p:sp>
      <p:sp>
        <p:nvSpPr>
          <p:cNvPr id="10" name="TextBox 9"/>
          <p:cNvSpPr txBox="1"/>
          <p:nvPr/>
        </p:nvSpPr>
        <p:spPr>
          <a:xfrm>
            <a:off x="566928" y="3703320"/>
            <a:ext cx="457200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E08E1D"/>
                </a:solidFill>
                <a:latin typeface="Times New Roman"/>
              </a:rPr>
              <a:t>Why it matters:</a:t>
            </a:r>
          </a:p>
        </p:txBody>
      </p:sp>
      <p:sp>
        <p:nvSpPr>
          <p:cNvPr id="11" name="TextBox 10"/>
          <p:cNvSpPr txBox="1"/>
          <p:nvPr/>
        </p:nvSpPr>
        <p:spPr>
          <a:xfrm>
            <a:off x="566928" y="4023360"/>
            <a:ext cx="4572000" cy="1737360"/>
          </a:xfrm>
          <a:prstGeom prst="rect">
            <a:avLst/>
          </a:prstGeom>
          <a:noFill/>
        </p:spPr>
        <p:txBody>
          <a:bodyPr wrap="square" anchor="t" lIns="0" rIns="0" tIns="0" bIns="0">
            <a:spAutoFit/>
          </a:bodyPr>
          <a:lstStyle/>
          <a:p>
            <a:pPr algn="l">
              <a:lnSpc>
                <a:spcPct val="110000"/>
              </a:lnSpc>
              <a:spcAft>
                <a:spcPts val="500"/>
              </a:spcAft>
            </a:pPr>
            <a:r>
              <a:rPr sz="1250" b="0" i="0">
                <a:solidFill>
                  <a:srgbClr val="202A38"/>
                </a:solidFill>
                <a:latin typeface="Times New Roman"/>
              </a:rPr>
              <a:t>A forensic timeline is built from these: “which file changed when?”.</a:t>
            </a:r>
          </a:p>
          <a:p>
            <a:pPr algn="l">
              <a:lnSpc>
                <a:spcPct val="110000"/>
              </a:lnSpc>
              <a:spcAft>
                <a:spcPts val="500"/>
              </a:spcAft>
            </a:pPr>
            <a:r>
              <a:rPr sz="1250" b="0" i="0">
                <a:solidFill>
                  <a:srgbClr val="202A38"/>
                </a:solidFill>
                <a:latin typeface="Times New Roman"/>
              </a:rPr>
              <a:t>If an attacker fakes the time, Change exposes it.</a:t>
            </a:r>
          </a:p>
        </p:txBody>
      </p:sp>
      <p:sp>
        <p:nvSpPr>
          <p:cNvPr id="12" name="Rounded Rectangle 11"/>
          <p:cNvSpPr/>
          <p:nvPr/>
        </p:nvSpPr>
        <p:spPr>
          <a:xfrm>
            <a:off x="5440680" y="1691640"/>
            <a:ext cx="1417320" cy="868680"/>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50" b="1" i="0">
                <a:solidFill>
                  <a:srgbClr val="FFFFFF"/>
                </a:solidFill>
                <a:latin typeface="Times New Roman"/>
              </a:rPr>
              <a:t>Access</a:t>
            </a:r>
          </a:p>
          <a:p>
            <a:pPr algn="ctr"/>
            <a:r>
              <a:rPr sz="1000" b="0" i="0">
                <a:solidFill>
                  <a:srgbClr val="FFFFFF"/>
                </a:solidFill>
                <a:latin typeface="Times New Roman"/>
              </a:rPr>
              <a:t>read</a:t>
            </a:r>
          </a:p>
        </p:txBody>
      </p:sp>
      <p:sp>
        <p:nvSpPr>
          <p:cNvPr id="13" name="Rounded Rectangle 12"/>
          <p:cNvSpPr/>
          <p:nvPr/>
        </p:nvSpPr>
        <p:spPr>
          <a:xfrm>
            <a:off x="7013448" y="1691640"/>
            <a:ext cx="1417320" cy="868680"/>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50" b="1" i="0">
                <a:solidFill>
                  <a:srgbClr val="FFFFFF"/>
                </a:solidFill>
                <a:latin typeface="Times New Roman"/>
              </a:rPr>
              <a:t>Modify</a:t>
            </a:r>
          </a:p>
          <a:p>
            <a:pPr algn="ctr"/>
            <a:r>
              <a:rPr sz="1000" b="0" i="0">
                <a:solidFill>
                  <a:srgbClr val="FFFFFF"/>
                </a:solidFill>
                <a:latin typeface="Times New Roman"/>
              </a:rPr>
              <a:t>content changed</a:t>
            </a:r>
          </a:p>
        </p:txBody>
      </p:sp>
      <p:sp>
        <p:nvSpPr>
          <p:cNvPr id="14" name="Rounded Rectangle 13"/>
          <p:cNvSpPr/>
          <p:nvPr/>
        </p:nvSpPr>
        <p:spPr>
          <a:xfrm>
            <a:off x="8586216" y="1691640"/>
            <a:ext cx="1417320" cy="868680"/>
          </a:xfrm>
          <a:prstGeom prst="roundRect">
            <a:avLst>
              <a:gd name="adj" fmla="val 12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50" b="1" i="0">
                <a:solidFill>
                  <a:srgbClr val="FFFFFF"/>
                </a:solidFill>
                <a:latin typeface="Times New Roman"/>
              </a:rPr>
              <a:t>Change</a:t>
            </a:r>
          </a:p>
          <a:p>
            <a:pPr algn="ctr"/>
            <a:r>
              <a:rPr sz="1000" b="0" i="0">
                <a:solidFill>
                  <a:srgbClr val="FFFFFF"/>
                </a:solidFill>
                <a:latin typeface="Times New Roman"/>
              </a:rPr>
              <a:t>metadata changed</a:t>
            </a:r>
          </a:p>
        </p:txBody>
      </p:sp>
      <p:sp>
        <p:nvSpPr>
          <p:cNvPr id="15" name="Rounded Rectangle 14"/>
          <p:cNvSpPr/>
          <p:nvPr/>
        </p:nvSpPr>
        <p:spPr>
          <a:xfrm>
            <a:off x="10158984" y="1691640"/>
            <a:ext cx="1417320" cy="868680"/>
          </a:xfrm>
          <a:prstGeom prst="roundRect">
            <a:avLst>
              <a:gd name="adj" fmla="val 12000"/>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50" b="1" i="0">
                <a:solidFill>
                  <a:srgbClr val="FFFFFF"/>
                </a:solidFill>
                <a:latin typeface="Times New Roman"/>
              </a:rPr>
              <a:t>Birth</a:t>
            </a:r>
          </a:p>
          <a:p>
            <a:pPr algn="ctr"/>
            <a:r>
              <a:rPr sz="1000" b="0" i="0">
                <a:solidFill>
                  <a:srgbClr val="FFFFFF"/>
                </a:solidFill>
                <a:latin typeface="Times New Roman"/>
              </a:rPr>
              <a:t>created</a:t>
            </a:r>
          </a:p>
        </p:txBody>
      </p:sp>
      <p:sp>
        <p:nvSpPr>
          <p:cNvPr id="16" name="TextBox 15"/>
          <p:cNvSpPr txBox="1"/>
          <p:nvPr/>
        </p:nvSpPr>
        <p:spPr>
          <a:xfrm>
            <a:off x="5440680" y="2743200"/>
            <a:ext cx="617220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C0392B"/>
                </a:solidFill>
                <a:latin typeface="Times New Roman"/>
              </a:rPr>
              <a:t>Timestomping (</a:t>
            </a:r>
            <a:r>
              <a:rPr sz="1250" b="1" i="0">
                <a:solidFill>
                  <a:srgbClr val="178A73"/>
                </a:solidFill>
                <a:latin typeface="Consolas"/>
              </a:rPr>
              <a:t>touch -d "2020-01-01"</a:t>
            </a:r>
            <a:r>
              <a:rPr sz="1300" b="1" i="0">
                <a:solidFill>
                  <a:srgbClr val="C0392B"/>
                </a:solidFill>
                <a:latin typeface="Times New Roman"/>
              </a:rPr>
              <a:t>)</a:t>
            </a:r>
          </a:p>
        </p:txBody>
      </p:sp>
      <p:sp>
        <p:nvSpPr>
          <p:cNvPr id="17" name="Rounded Rectangle 16"/>
          <p:cNvSpPr/>
          <p:nvPr/>
        </p:nvSpPr>
        <p:spPr>
          <a:xfrm>
            <a:off x="5440680" y="3108960"/>
            <a:ext cx="2651760" cy="457200"/>
          </a:xfrm>
          <a:prstGeom prst="roundRect">
            <a:avLst>
              <a:gd name="adj" fmla="val 1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Modify: 2020-01-01</a:t>
            </a:r>
          </a:p>
        </p:txBody>
      </p:sp>
      <p:sp>
        <p:nvSpPr>
          <p:cNvPr id="18" name="TextBox 17"/>
          <p:cNvSpPr txBox="1"/>
          <p:nvPr/>
        </p:nvSpPr>
        <p:spPr>
          <a:xfrm>
            <a:off x="8229600" y="3108960"/>
            <a:ext cx="3383280" cy="457200"/>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fake — changed</a:t>
            </a:r>
          </a:p>
        </p:txBody>
      </p:sp>
      <p:sp>
        <p:nvSpPr>
          <p:cNvPr id="19" name="Rounded Rectangle 18"/>
          <p:cNvSpPr/>
          <p:nvPr/>
        </p:nvSpPr>
        <p:spPr>
          <a:xfrm>
            <a:off x="5440680" y="3657600"/>
            <a:ext cx="2651760" cy="457200"/>
          </a:xfrm>
          <a:prstGeom prst="roundRect">
            <a:avLst>
              <a:gd name="adj" fmla="val 12000"/>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i="0">
                <a:solidFill>
                  <a:srgbClr val="FFFFFF"/>
                </a:solidFill>
                <a:latin typeface="Times New Roman"/>
              </a:rPr>
              <a:t>Change: today</a:t>
            </a:r>
          </a:p>
        </p:txBody>
      </p:sp>
      <p:sp>
        <p:nvSpPr>
          <p:cNvPr id="20" name="TextBox 19"/>
          <p:cNvSpPr txBox="1"/>
          <p:nvPr/>
        </p:nvSpPr>
        <p:spPr>
          <a:xfrm>
            <a:off x="8229600" y="3657600"/>
            <a:ext cx="3383280" cy="457200"/>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real — cannot be changed</a:t>
            </a:r>
          </a:p>
        </p:txBody>
      </p:sp>
      <p:sp>
        <p:nvSpPr>
          <p:cNvPr id="21" name="Rounded Rectangle 20"/>
          <p:cNvSpPr/>
          <p:nvPr/>
        </p:nvSpPr>
        <p:spPr>
          <a:xfrm>
            <a:off x="5440680" y="5074920"/>
            <a:ext cx="6172200" cy="868680"/>
          </a:xfrm>
          <a:prstGeom prst="roundRect">
            <a:avLst>
              <a:gd name="adj" fmla="val 8000"/>
            </a:avLst>
          </a:prstGeom>
          <a:solidFill>
            <a:srgbClr val="FDEDEC"/>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x_C0392B.png"/>
          <p:cNvPicPr>
            <a:picLocks noChangeAspect="1"/>
          </p:cNvPicPr>
          <p:nvPr/>
        </p:nvPicPr>
        <p:blipFill>
          <a:blip r:embed="rId3"/>
          <a:stretch>
            <a:fillRect/>
          </a:stretch>
        </p:blipFill>
        <p:spPr>
          <a:xfrm>
            <a:off x="5568696" y="5344668"/>
            <a:ext cx="329184" cy="329184"/>
          </a:xfrm>
          <a:prstGeom prst="rect">
            <a:avLst/>
          </a:prstGeom>
        </p:spPr>
      </p:pic>
      <p:sp>
        <p:nvSpPr>
          <p:cNvPr id="23" name="TextBox 22"/>
          <p:cNvSpPr txBox="1"/>
          <p:nvPr/>
        </p:nvSpPr>
        <p:spPr>
          <a:xfrm>
            <a:off x="6007608" y="5074920"/>
            <a:ext cx="5486400" cy="868680"/>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Sign: Modify very old, Change new — the time was changed by hand.</a:t>
            </a:r>
          </a:p>
        </p:txBody>
      </p:sp>
      <p:sp>
        <p:nvSpPr>
          <p:cNvPr id="24" name="Rounded Rectangle 23">
            <a:hlinkClick action="ppaction://hlinksldjump" r:id="rId4"/>
          </p:cNvPr>
          <p:cNvSpPr/>
          <p:nvPr/>
        </p:nvSpPr>
        <p:spPr>
          <a:xfrm>
            <a:off x="566928" y="5989320"/>
            <a:ext cx="1783080" cy="329184"/>
          </a:xfrm>
          <a:prstGeom prst="roundRect">
            <a:avLst>
              <a:gd name="adj" fmla="val 50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i="0">
                <a:solidFill>
                  <a:srgbClr val="FFFFFF"/>
                </a:solidFill>
                <a:latin typeface="Times New Roman"/>
              </a:rPr>
              <a:t>← Back to topic</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65760"/>
            <a:ext cx="10515600" cy="274320"/>
          </a:xfrm>
          <a:prstGeom prst="rect">
            <a:avLst/>
          </a:prstGeom>
          <a:noFill/>
        </p:spPr>
        <p:txBody>
          <a:bodyPr wrap="square" anchor="t" lIns="0" rIns="0" tIns="0" bIns="0">
            <a:spAutoFit/>
          </a:bodyPr>
          <a:lstStyle/>
          <a:p>
            <a:pPr algn="l">
              <a:lnSpc>
                <a:spcPct val="110000"/>
              </a:lnSpc>
              <a:spcAft>
                <a:spcPts val="300"/>
              </a:spcAft>
            </a:pPr>
            <a:r>
              <a:rPr sz="1250" b="1" i="0">
                <a:solidFill>
                  <a:srgbClr val="178A73"/>
                </a:solidFill>
                <a:latin typeface="Times New Roman"/>
              </a:rPr>
              <a:t>GLOSSARY · TERM</a:t>
            </a:r>
          </a:p>
        </p:txBody>
      </p:sp>
      <p:sp>
        <p:nvSpPr>
          <p:cNvPr id="4" name="TextBox 3"/>
          <p:cNvSpPr txBox="1"/>
          <p:nvPr/>
        </p:nvSpPr>
        <p:spPr>
          <a:xfrm>
            <a:off x="566928" y="640080"/>
            <a:ext cx="11155680" cy="731520"/>
          </a:xfrm>
          <a:prstGeom prst="rect">
            <a:avLst/>
          </a:prstGeom>
          <a:noFill/>
        </p:spPr>
        <p:txBody>
          <a:bodyPr wrap="square" anchor="t" lIns="0" rIns="0" tIns="0" bIns="0">
            <a:spAutoFit/>
          </a:bodyPr>
          <a:lstStyle/>
          <a:p>
            <a:pPr algn="l">
              <a:lnSpc>
                <a:spcPct val="100000"/>
              </a:lnSpc>
              <a:spcAft>
                <a:spcPts val="300"/>
              </a:spcAft>
            </a:pPr>
            <a:r>
              <a:rPr sz="2600" b="1" i="0">
                <a:solidFill>
                  <a:srgbClr val="1F3864"/>
                </a:solidFill>
                <a:latin typeface="Times New Roman"/>
              </a:rPr>
              <a:t>Inode (index node)</a:t>
            </a:r>
          </a:p>
        </p:txBody>
      </p:sp>
      <p:sp>
        <p:nvSpPr>
          <p:cNvPr id="5" name="Rectangle 4"/>
          <p:cNvSpPr/>
          <p:nvPr/>
        </p:nvSpPr>
        <p:spPr>
          <a:xfrm>
            <a:off x="585216" y="1298448"/>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92240"/>
            <a:ext cx="8229600" cy="274320"/>
          </a:xfrm>
          <a:prstGeom prst="rect">
            <a:avLst/>
          </a:prstGeom>
          <a:noFill/>
        </p:spPr>
        <p:txBody>
          <a:bodyPr wrap="square" anchor="t" lIns="0" rIns="0" tIns="0" bIns="0">
            <a:spAutoFit/>
          </a:bodyPr>
          <a:lstStyle/>
          <a:p>
            <a:pPr algn="l">
              <a:lnSpc>
                <a:spcPct val="110000"/>
              </a:lnSpc>
              <a:spcAft>
                <a:spcPts val="300"/>
              </a:spcAft>
            </a:pPr>
            <a:r>
              <a:rPr sz="950" b="0" i="1">
                <a:solidFill>
                  <a:srgbClr val="54647A"/>
                </a:solidFill>
                <a:latin typeface="Times New Roman"/>
              </a:rPr>
              <a:t>CFEH · Topic 2 · Linux OS · Lesson 1</a:t>
            </a:r>
          </a:p>
        </p:txBody>
      </p:sp>
      <p:sp>
        <p:nvSpPr>
          <p:cNvPr id="7" name="Oval 6"/>
          <p:cNvSpPr/>
          <p:nvPr/>
        </p:nvSpPr>
        <p:spPr>
          <a:xfrm>
            <a:off x="11430000" y="6400800"/>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Times New Roman"/>
              </a:rPr>
              <a:t>42</a:t>
            </a:r>
          </a:p>
        </p:txBody>
      </p:sp>
      <p:sp>
        <p:nvSpPr>
          <p:cNvPr id="8" name="TextBox 7"/>
          <p:cNvSpPr txBox="1"/>
          <p:nvPr/>
        </p:nvSpPr>
        <p:spPr>
          <a:xfrm>
            <a:off x="566928" y="1554480"/>
            <a:ext cx="457200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178A73"/>
                </a:solidFill>
                <a:latin typeface="Times New Roman"/>
              </a:rPr>
              <a:t>In simple terms:</a:t>
            </a:r>
          </a:p>
        </p:txBody>
      </p:sp>
      <p:sp>
        <p:nvSpPr>
          <p:cNvPr id="9" name="TextBox 8"/>
          <p:cNvSpPr txBox="1"/>
          <p:nvPr/>
        </p:nvSpPr>
        <p:spPr>
          <a:xfrm>
            <a:off x="566928" y="1874519"/>
            <a:ext cx="4572000" cy="1737360"/>
          </a:xfrm>
          <a:prstGeom prst="rect">
            <a:avLst/>
          </a:prstGeom>
          <a:noFill/>
        </p:spPr>
        <p:txBody>
          <a:bodyPr wrap="square" anchor="t" lIns="0" rIns="0" tIns="0" bIns="0">
            <a:spAutoFit/>
          </a:bodyPr>
          <a:lstStyle/>
          <a:p>
            <a:pPr algn="l">
              <a:lnSpc>
                <a:spcPct val="110000"/>
              </a:lnSpc>
              <a:spcAft>
                <a:spcPts val="500"/>
              </a:spcAft>
            </a:pPr>
            <a:r>
              <a:rPr sz="1250" b="0" i="0">
                <a:solidFill>
                  <a:srgbClr val="202A38"/>
                </a:solidFill>
                <a:latin typeface="Times New Roman"/>
              </a:rPr>
              <a:t>A file’s “passport”: size, owner, times and on-disk location. The name is not in the inode — it is kept in the directory.</a:t>
            </a:r>
          </a:p>
          <a:p>
            <a:pPr algn="l">
              <a:lnSpc>
                <a:spcPct val="110000"/>
              </a:lnSpc>
              <a:spcAft>
                <a:spcPts val="500"/>
              </a:spcAft>
            </a:pPr>
            <a:r>
              <a:rPr sz="1200" b="1" i="0">
                <a:solidFill>
                  <a:srgbClr val="178A73"/>
                </a:solidFill>
                <a:latin typeface="Consolas"/>
              </a:rPr>
              <a:t>ls -i</a:t>
            </a:r>
            <a:r>
              <a:rPr sz="1250" b="0" i="0">
                <a:solidFill>
                  <a:srgbClr val="202A38"/>
                </a:solidFill>
                <a:latin typeface="Times New Roman"/>
              </a:rPr>
              <a:t> shows the inode number.</a:t>
            </a:r>
          </a:p>
        </p:txBody>
      </p:sp>
      <p:sp>
        <p:nvSpPr>
          <p:cNvPr id="10" name="TextBox 9"/>
          <p:cNvSpPr txBox="1"/>
          <p:nvPr/>
        </p:nvSpPr>
        <p:spPr>
          <a:xfrm>
            <a:off x="566928" y="3703320"/>
            <a:ext cx="4572000" cy="274320"/>
          </a:xfrm>
          <a:prstGeom prst="rect">
            <a:avLst/>
          </a:prstGeom>
          <a:noFill/>
        </p:spPr>
        <p:txBody>
          <a:bodyPr wrap="square" anchor="t" lIns="0" rIns="0" tIns="0" bIns="0">
            <a:spAutoFit/>
          </a:bodyPr>
          <a:lstStyle/>
          <a:p>
            <a:pPr algn="l">
              <a:lnSpc>
                <a:spcPct val="110000"/>
              </a:lnSpc>
              <a:spcAft>
                <a:spcPts val="300"/>
              </a:spcAft>
            </a:pPr>
            <a:r>
              <a:rPr sz="1300" b="1" i="0">
                <a:solidFill>
                  <a:srgbClr val="E08E1D"/>
                </a:solidFill>
                <a:latin typeface="Times New Roman"/>
              </a:rPr>
              <a:t>Why it matters:</a:t>
            </a:r>
          </a:p>
        </p:txBody>
      </p:sp>
      <p:sp>
        <p:nvSpPr>
          <p:cNvPr id="11" name="TextBox 10"/>
          <p:cNvSpPr txBox="1"/>
          <p:nvPr/>
        </p:nvSpPr>
        <p:spPr>
          <a:xfrm>
            <a:off x="566928" y="4023360"/>
            <a:ext cx="4572000" cy="1737360"/>
          </a:xfrm>
          <a:prstGeom prst="rect">
            <a:avLst/>
          </a:prstGeom>
          <a:noFill/>
        </p:spPr>
        <p:txBody>
          <a:bodyPr wrap="square" anchor="t" lIns="0" rIns="0" tIns="0" bIns="0">
            <a:spAutoFit/>
          </a:bodyPr>
          <a:lstStyle/>
          <a:p>
            <a:pPr algn="l">
              <a:lnSpc>
                <a:spcPct val="110000"/>
              </a:lnSpc>
              <a:spcAft>
                <a:spcPts val="500"/>
              </a:spcAft>
            </a:pPr>
            <a:r>
              <a:rPr sz="1250" b="0" i="0">
                <a:solidFill>
                  <a:srgbClr val="202A38"/>
                </a:solidFill>
                <a:latin typeface="Times New Roman"/>
              </a:rPr>
              <a:t>A hard link is a second name for one inode; a symbolic link points to another name.</a:t>
            </a:r>
          </a:p>
          <a:p>
            <a:pPr algn="l">
              <a:lnSpc>
                <a:spcPct val="110000"/>
              </a:lnSpc>
              <a:spcAft>
                <a:spcPts val="500"/>
              </a:spcAft>
            </a:pPr>
            <a:r>
              <a:rPr sz="1250" b="0" i="0">
                <a:solidFill>
                  <a:srgbClr val="202A38"/>
                </a:solidFill>
                <a:latin typeface="Times New Roman"/>
              </a:rPr>
              <a:t>Forensic analysts work with inodes to recover deleted but still-open files.</a:t>
            </a:r>
          </a:p>
        </p:txBody>
      </p:sp>
      <p:sp>
        <p:nvSpPr>
          <p:cNvPr id="12" name="Rounded Rectangle 11"/>
          <p:cNvSpPr/>
          <p:nvPr/>
        </p:nvSpPr>
        <p:spPr>
          <a:xfrm>
            <a:off x="5440680" y="1691640"/>
            <a:ext cx="1828800" cy="502920"/>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i="0">
                <a:solidFill>
                  <a:srgbClr val="FFFFFF"/>
                </a:solidFill>
                <a:latin typeface="Times New Roman"/>
              </a:rPr>
              <a:t>original.txt</a:t>
            </a:r>
          </a:p>
        </p:txBody>
      </p:sp>
      <p:sp>
        <p:nvSpPr>
          <p:cNvPr id="13" name="Rounded Rectangle 12"/>
          <p:cNvSpPr/>
          <p:nvPr/>
        </p:nvSpPr>
        <p:spPr>
          <a:xfrm>
            <a:off x="5440680" y="2377440"/>
            <a:ext cx="1828800" cy="502920"/>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i="0">
                <a:solidFill>
                  <a:srgbClr val="FFFFFF"/>
                </a:solidFill>
                <a:latin typeface="Times New Roman"/>
              </a:rPr>
              <a:t>hard.lnk</a:t>
            </a:r>
          </a:p>
        </p:txBody>
      </p:sp>
      <p:sp>
        <p:nvSpPr>
          <p:cNvPr id="14" name="Rounded Rectangle 13"/>
          <p:cNvSpPr/>
          <p:nvPr/>
        </p:nvSpPr>
        <p:spPr>
          <a:xfrm>
            <a:off x="5440680" y="3291840"/>
            <a:ext cx="1828800" cy="502920"/>
          </a:xfrm>
          <a:prstGeom prst="roundRect">
            <a:avLst>
              <a:gd name="adj" fmla="val 12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i="0">
                <a:solidFill>
                  <a:srgbClr val="FFFFFF"/>
                </a:solidFill>
                <a:latin typeface="Times New Roman"/>
              </a:rPr>
              <a:t>symbolic.lnk</a:t>
            </a:r>
          </a:p>
        </p:txBody>
      </p:sp>
      <p:sp>
        <p:nvSpPr>
          <p:cNvPr id="15" name="Rounded Rectangle 14"/>
          <p:cNvSpPr/>
          <p:nvPr/>
        </p:nvSpPr>
        <p:spPr>
          <a:xfrm>
            <a:off x="8595360" y="1828800"/>
            <a:ext cx="3017520" cy="1005840"/>
          </a:xfrm>
          <a:prstGeom prst="roundRect">
            <a:avLst>
              <a:gd name="adj" fmla="val 12000"/>
            </a:avLst>
          </a:prstGeom>
          <a:solidFill>
            <a:srgbClr val="122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i="0">
                <a:solidFill>
                  <a:srgbClr val="FFFFFF"/>
                </a:solidFill>
                <a:latin typeface="Times New Roman"/>
              </a:rPr>
              <a:t>inode 1234</a:t>
            </a:r>
          </a:p>
          <a:p>
            <a:pPr algn="ctr"/>
            <a:r>
              <a:rPr sz="1000" b="0" i="0">
                <a:solidFill>
                  <a:srgbClr val="FFFFFF"/>
                </a:solidFill>
                <a:latin typeface="Times New Roman"/>
              </a:rPr>
              <a:t>size · owner · times · block address</a:t>
            </a:r>
          </a:p>
        </p:txBody>
      </p:sp>
      <p:sp>
        <p:nvSpPr>
          <p:cNvPr id="16" name="Right Arrow 15"/>
          <p:cNvSpPr/>
          <p:nvPr/>
        </p:nvSpPr>
        <p:spPr>
          <a:xfrm>
            <a:off x="7360920" y="1810512"/>
            <a:ext cx="1143000" cy="256032"/>
          </a:xfrm>
          <a:prstGeom prst="rightArrow">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ight Arrow 16"/>
          <p:cNvSpPr/>
          <p:nvPr/>
        </p:nvSpPr>
        <p:spPr>
          <a:xfrm>
            <a:off x="7360920" y="2496312"/>
            <a:ext cx="1143000" cy="256032"/>
          </a:xfrm>
          <a:prstGeom prst="rightArrow">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0920" y="3383280"/>
            <a:ext cx="4206240" cy="365760"/>
          </a:xfrm>
          <a:prstGeom prst="rect">
            <a:avLst/>
          </a:prstGeom>
          <a:noFill/>
        </p:spPr>
        <p:txBody>
          <a:bodyPr wrap="square" anchor="t" lIns="0" rIns="0" tIns="0" bIns="0">
            <a:spAutoFit/>
          </a:bodyPr>
          <a:lstStyle/>
          <a:p>
            <a:pPr algn="l">
              <a:lnSpc>
                <a:spcPct val="110000"/>
              </a:lnSpc>
              <a:spcAft>
                <a:spcPts val="300"/>
              </a:spcAft>
            </a:pPr>
            <a:r>
              <a:rPr sz="1150" b="0" i="1">
                <a:solidFill>
                  <a:srgbClr val="E08E1D"/>
                </a:solidFill>
                <a:latin typeface="Times New Roman"/>
              </a:rPr>
              <a:t>→ points to the name “original.txt” (has its own inode)</a:t>
            </a:r>
          </a:p>
        </p:txBody>
      </p:sp>
      <p:sp>
        <p:nvSpPr>
          <p:cNvPr id="19" name="TextBox 18"/>
          <p:cNvSpPr txBox="1"/>
          <p:nvPr/>
        </p:nvSpPr>
        <p:spPr>
          <a:xfrm>
            <a:off x="5440680" y="4023360"/>
            <a:ext cx="6172200" cy="822960"/>
          </a:xfrm>
          <a:prstGeom prst="rect">
            <a:avLst/>
          </a:prstGeom>
          <a:noFill/>
        </p:spPr>
        <p:txBody>
          <a:bodyPr wrap="square" anchor="t" lIns="0" rIns="0" tIns="0" bIns="0">
            <a:spAutoFit/>
          </a:bodyPr>
          <a:lstStyle/>
          <a:p>
            <a:pPr algn="l">
              <a:lnSpc>
                <a:spcPct val="110000"/>
              </a:lnSpc>
              <a:spcAft>
                <a:spcPts val="300"/>
              </a:spcAft>
            </a:pPr>
            <a:r>
              <a:rPr sz="1200" b="0" i="1">
                <a:solidFill>
                  <a:srgbClr val="54647A"/>
                </a:solidFill>
                <a:latin typeface="Times New Roman"/>
              </a:rPr>
              <a:t>A file name is only a “label” to an inode. Data is lost only when the last name is deleted.</a:t>
            </a:r>
          </a:p>
        </p:txBody>
      </p:sp>
      <p:sp>
        <p:nvSpPr>
          <p:cNvPr id="20" name="Rounded Rectangle 19"/>
          <p:cNvSpPr/>
          <p:nvPr/>
        </p:nvSpPr>
        <p:spPr>
          <a:xfrm>
            <a:off x="5440680" y="5074920"/>
            <a:ext cx="6172200" cy="868680"/>
          </a:xfrm>
          <a:prstGeom prst="roundRect">
            <a:avLst>
              <a:gd name="adj" fmla="val 8000"/>
            </a:avLst>
          </a:prstGeom>
          <a:solidFill>
            <a:srgbClr val="E3F3EE"/>
          </a:solidFill>
          <a:ln w="15875">
            <a:solidFill>
              <a:srgbClr val="178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eck_178A73.png"/>
          <p:cNvPicPr>
            <a:picLocks noChangeAspect="1"/>
          </p:cNvPicPr>
          <p:nvPr/>
        </p:nvPicPr>
        <p:blipFill>
          <a:blip r:embed="rId3"/>
          <a:stretch>
            <a:fillRect/>
          </a:stretch>
        </p:blipFill>
        <p:spPr>
          <a:xfrm>
            <a:off x="5568696" y="5344668"/>
            <a:ext cx="329184" cy="329184"/>
          </a:xfrm>
          <a:prstGeom prst="rect">
            <a:avLst/>
          </a:prstGeom>
        </p:spPr>
      </p:pic>
      <p:sp>
        <p:nvSpPr>
          <p:cNvPr id="22" name="TextBox 21"/>
          <p:cNvSpPr txBox="1"/>
          <p:nvPr/>
        </p:nvSpPr>
        <p:spPr>
          <a:xfrm>
            <a:off x="6007608" y="5074920"/>
            <a:ext cx="5486400" cy="868680"/>
          </a:xfrm>
          <a:prstGeom prst="rect">
            <a:avLst/>
          </a:prstGeom>
          <a:noFill/>
        </p:spPr>
        <p:txBody>
          <a:bodyPr wrap="square" anchor="ctr" lIns="0" rIns="0" tIns="0" bIns="0">
            <a:spAutoFit/>
          </a:bodyPr>
          <a:lstStyle/>
          <a:p>
            <a:pPr algn="l">
              <a:lnSpc>
                <a:spcPct val="110000"/>
              </a:lnSpc>
              <a:spcAft>
                <a:spcPts val="300"/>
              </a:spcAft>
            </a:pPr>
            <a:r>
              <a:rPr sz="1200" b="0" i="0">
                <a:solidFill>
                  <a:srgbClr val="202A38"/>
                </a:solidFill>
                <a:latin typeface="Times New Roman"/>
              </a:rPr>
              <a:t>Example: </a:t>
            </a:r>
            <a:r>
              <a:rPr sz="1150" b="1" i="0">
                <a:solidFill>
                  <a:srgbClr val="178A73"/>
                </a:solidFill>
                <a:latin typeface="Consolas"/>
              </a:rPr>
              <a:t>ls -li</a:t>
            </a:r>
            <a:r>
              <a:rPr sz="1200" b="0" i="0">
                <a:solidFill>
                  <a:srgbClr val="202A38"/>
                </a:solidFill>
                <a:latin typeface="Times New Roman"/>
              </a:rPr>
              <a:t> → </a:t>
            </a:r>
            <a:r>
              <a:rPr sz="1150" b="1" i="0">
                <a:solidFill>
                  <a:srgbClr val="178A73"/>
                </a:solidFill>
                <a:latin typeface="Consolas"/>
              </a:rPr>
              <a:t>original.txt</a:t>
            </a:r>
            <a:r>
              <a:rPr sz="1200" b="0" i="0">
                <a:solidFill>
                  <a:srgbClr val="202A38"/>
                </a:solidFill>
                <a:latin typeface="Times New Roman"/>
              </a:rPr>
              <a:t> and </a:t>
            </a:r>
            <a:r>
              <a:rPr sz="1150" b="1" i="0">
                <a:solidFill>
                  <a:srgbClr val="178A73"/>
                </a:solidFill>
                <a:latin typeface="Consolas"/>
              </a:rPr>
              <a:t>hard.lnk</a:t>
            </a:r>
            <a:r>
              <a:rPr sz="1200" b="0" i="0">
                <a:solidFill>
                  <a:srgbClr val="202A38"/>
                </a:solidFill>
                <a:latin typeface="Times New Roman"/>
              </a:rPr>
              <a:t> have the same number.</a:t>
            </a:r>
          </a:p>
        </p:txBody>
      </p:sp>
      <p:sp>
        <p:nvSpPr>
          <p:cNvPr id="23" name="Rounded Rectangle 22">
            <a:hlinkClick action="ppaction://hlinksldjump" r:id="rId4"/>
          </p:cNvPr>
          <p:cNvSpPr/>
          <p:nvPr/>
        </p:nvSpPr>
        <p:spPr>
          <a:xfrm>
            <a:off x="566928" y="5989320"/>
            <a:ext cx="1783080" cy="329184"/>
          </a:xfrm>
          <a:prstGeom prst="roundRect">
            <a:avLst>
              <a:gd name="adj" fmla="val 50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i="0">
                <a:solidFill>
                  <a:srgbClr val="FFFFFF"/>
                </a:solidFill>
                <a:latin typeface="Times New Roman"/>
              </a:rPr>
              <a:t>← Back to topic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