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3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39.xml"/><Relationship Id="rId6" Type="http://schemas.openxmlformats.org/officeDocument/2006/relationships/slide" Target="slide4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3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slide" Target="slide4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20.png"/><Relationship Id="rId10" Type="http://schemas.openxmlformats.org/officeDocument/2006/relationships/image" Target="../media/image30.png"/><Relationship Id="rId11" Type="http://schemas.openxmlformats.org/officeDocument/2006/relationships/image" Target="../media/image9.png"/><Relationship Id="rId12" Type="http://schemas.openxmlformats.org/officeDocument/2006/relationships/slide" Target="slide41.xml"/><Relationship Id="rId13" Type="http://schemas.openxmlformats.org/officeDocument/2006/relationships/slide" Target="slide4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mage15.png"/><Relationship Id="rId5" Type="http://schemas.openxmlformats.org/officeDocument/2006/relationships/slide" Target="slide41.xml"/><Relationship Id="rId6" Type="http://schemas.openxmlformats.org/officeDocument/2006/relationships/slide" Target="slide4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4.png"/><Relationship Id="rId4" Type="http://schemas.openxmlformats.org/officeDocument/2006/relationships/image" Target="../media/image29.png"/><Relationship Id="rId5" Type="http://schemas.openxmlformats.org/officeDocument/2006/relationships/slide" Target="slide44.xml"/><Relationship Id="rId6" Type="http://schemas.openxmlformats.org/officeDocument/2006/relationships/slide" Target="slide45.xml"/><Relationship Id="rId7" Type="http://schemas.openxmlformats.org/officeDocument/2006/relationships/slide" Target="slide4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43.xml"/><Relationship Id="rId5" Type="http://schemas.openxmlformats.org/officeDocument/2006/relationships/slide" Target="slide4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4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2.png"/><Relationship Id="rId4" Type="http://schemas.openxmlformats.org/officeDocument/2006/relationships/image" Target="../media/image9.png"/><Relationship Id="rId5" Type="http://schemas.openxmlformats.org/officeDocument/2006/relationships/slide" Target="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3.png"/><Relationship Id="rId4" Type="http://schemas.openxmlformats.org/officeDocument/2006/relationships/slide" Target="slide4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9.png"/><Relationship Id="rId4" Type="http://schemas.openxmlformats.org/officeDocument/2006/relationships/image" Target="../media/image15.png"/><Relationship Id="rId5" Type="http://schemas.openxmlformats.org/officeDocument/2006/relationships/slide" Target="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29.png"/><Relationship Id="rId6" Type="http://schemas.openxmlformats.org/officeDocument/2006/relationships/image" Target="../media/image4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50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5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3.png"/><Relationship Id="rId5" Type="http://schemas.openxmlformats.org/officeDocument/2006/relationships/image" Target="../media/image50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40.png"/><Relationship Id="rId9" Type="http://schemas.openxmlformats.org/officeDocument/2006/relationships/image" Target="../media/image28.png"/><Relationship Id="rId10" Type="http://schemas.openxmlformats.org/officeDocument/2006/relationships/image" Target="../media/image54.png"/><Relationship Id="rId11" Type="http://schemas.openxmlformats.org/officeDocument/2006/relationships/image" Target="../media/image51.png"/><Relationship Id="rId12" Type="http://schemas.openxmlformats.org/officeDocument/2006/relationships/slide" Target="slide38.xml"/><Relationship Id="rId13" Type="http://schemas.openxmlformats.org/officeDocument/2006/relationships/slide" Target="slide39.xml"/><Relationship Id="rId14" Type="http://schemas.openxmlformats.org/officeDocument/2006/relationships/slide" Target="slide40.xml"/><Relationship Id="rId15" Type="http://schemas.openxmlformats.org/officeDocument/2006/relationships/slide" Target="slide41.xml"/><Relationship Id="rId16" Type="http://schemas.openxmlformats.org/officeDocument/2006/relationships/slide" Target="slide42.xml"/><Relationship Id="rId17" Type="http://schemas.openxmlformats.org/officeDocument/2006/relationships/slide" Target="slide43.xml"/><Relationship Id="rId18" Type="http://schemas.openxmlformats.org/officeDocument/2006/relationships/slide" Target="slide44.xml"/><Relationship Id="rId19" Type="http://schemas.openxmlformats.org/officeDocument/2006/relationships/slide" Target="slide45.xml"/><Relationship Id="rId20" Type="http://schemas.openxmlformats.org/officeDocument/2006/relationships/slide" Target="slide4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1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2468880" cy="2505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8920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C9D6E6"/>
                </a:solidFill>
                <a:latin typeface="Times New Roman"/>
              </a:rPr>
              <a:t>O‘ZBEKISTON RESPUBLIKASI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C9D6E6"/>
                </a:solidFill>
                <a:latin typeface="Times New Roman"/>
              </a:rPr>
              <a:t>HARBIY XAVFSIZLIK VA MUDOFAA UNIVERSITETI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C9D6E6"/>
                </a:solidFill>
                <a:latin typeface="Times New Roman"/>
              </a:rPr>
              <a:t>Axborot-kommunikatsiya texnologiyalari va harbiy aloqa instituti · Kiberxavfsizlik kafedrasi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43B02A"/>
                </a:solidFill>
                <a:latin typeface="Times New Roman"/>
              </a:rPr>
              <a:t>FAN: “KIBER KRIMINALISTIKA VA ETIKAL HAKING”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9659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1-MAVZU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514600"/>
            <a:ext cx="8321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WINDOWS OT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XAVFSIZLIGI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343400"/>
            <a:ext cx="128016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457200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0" i="0">
                <a:solidFill>
                  <a:srgbClr val="DDE6F0"/>
                </a:solidFill>
                <a:latin typeface="Times New Roman"/>
              </a:rPr>
              <a:t>3-mashg‘ulot · Windows OT servislari  |  Amaliy, 4 soat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98932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B8C6D8"/>
                </a:solidFill>
                <a:latin typeface="Times New Roman"/>
              </a:rPr>
              <a:t>Ma’ruzachi: Kiberxavfsizlik kafedrasi katta o‘qituvchisi — kapitan M. Isakov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1-MAVZU · WINDOWS OT XAVFSIZLIGI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3-mashg‘ulot: Windows OT servislari (amaliy)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" y="2114092"/>
            <a:ext cx="380392" cy="38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Mavzu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Windows OT xavfsizligi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9164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692" y="2114092"/>
            <a:ext cx="380392" cy="3803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21808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Mashg‘ulot turi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Amaliy (laboratoriya)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169164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10727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291" y="2114092"/>
            <a:ext cx="380392" cy="3803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79407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Davomiyligi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4 soat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6949440" cy="30632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O‘quv savollari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3977639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77639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User Account Control (UAC) — amalda sozlash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38911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B8D8CC"/>
                </a:solidFill>
                <a:latin typeface="Times New Roman"/>
              </a:rPr>
              <a:t>daraja · registr · ikki token · integrity level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4983479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83479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AppLocker va SmartScreen xavfsizlik tizimlari — amalda sozlash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9495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B8D8CC"/>
                </a:solidFill>
                <a:latin typeface="Times New Roman"/>
              </a:rPr>
              <a:t>qoidalar · A–E mashqlar · SmartScreen sinovi · Mark of the Web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3154680"/>
            <a:ext cx="3904487" cy="3063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55279" y="3364992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ist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1341" y="3501054"/>
            <a:ext cx="294804" cy="2948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41080" y="338328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Boshlashdan oldin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069080"/>
            <a:ext cx="3566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Windows 11 Pro / Enterprise</a:t>
            </a:r>
            <a:r>
              <a:rPr sz="1250">
                <a:solidFill>
                  <a:srgbClr val="202A38"/>
                </a:solidFill>
                <a:latin typeface="Times New Roman"/>
              </a:rPr>
              <a:t> virtual mashinasi (Home emas).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Ishni boshlashdan oldin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snapshot</a:t>
            </a:r>
            <a:r>
              <a:rPr sz="1250">
                <a:solidFill>
                  <a:srgbClr val="202A38"/>
                </a:solidFill>
                <a:latin typeface="Times New Roman"/>
              </a:rPr>
              <a:t> oling.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Administrators guruhidagi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oddiy</a:t>
            </a:r>
            <a:r>
              <a:rPr sz="1250">
                <a:solidFill>
                  <a:srgbClr val="202A38"/>
                </a:solidFill>
                <a:latin typeface="Times New Roman"/>
              </a:rPr>
              <a:t> hisob bilan kiring (built-in Administrator emas).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Hech qachon ish yoki shaxsiy kompyuterda mashq qilmang.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AMALIY MASHG‘ULOT · TASHKIL ETISH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4 soatlik laboratoriya rejasi va laboratoriya muhiti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6459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UAC darajasini o‘zgartirish va sinab ko‘rish (msconfig)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4592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15 daq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9456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19456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1945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UACni PowerShell orqali tekshirish (EnableLUA)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945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10 daq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74320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74320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74320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Ikki token va integrity level’ni amalda ko‘rish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4320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15 daq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91839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291839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291839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Slayderning to‘rt holati va registr qiymatlari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291839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15 daq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84048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384048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84048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servis → qoidalar → sinov + A–E mashqlar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84048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75 daq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8912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43891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38912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SmartScreen: 5 ta sozlama va xavfsiz sinov sayti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38912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25 daq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937759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4937759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937759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Mark of the Web: o‘qish, olib tashlash, sinash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937759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20 daq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48640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Lab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548640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548640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Yakuniy topshiriq + skrinshotli hisobot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48640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45 daq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1712214"/>
            <a:ext cx="5257800" cy="13304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12214"/>
            <a:ext cx="5257800" cy="133045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55080" y="315468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1-rasm. O‘quv laboratoriyasi tuzilishi: virtual mashina va snapshotlar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6118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37960" y="3840480"/>
            <a:ext cx="566928" cy="5669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022" y="3976542"/>
            <a:ext cx="294804" cy="29480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269480" y="3675887"/>
            <a:ext cx="42062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Xavfsizlik qoidalari:</a:t>
            </a:r>
            <a:r>
              <a:rPr sz="1200">
                <a:solidFill>
                  <a:srgbClr val="202A38"/>
                </a:solidFill>
                <a:latin typeface="Times New Roman"/>
              </a:rPr>
              <a:t> faqat VMda ishlang · har bir topshiriqdan oldin snapshot oling · biror narsa buzilsa — tizimni “tuzatish” o‘rniga snapshotni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Restore</a:t>
            </a:r>
            <a:r>
              <a:rPr sz="1200">
                <a:solidFill>
                  <a:srgbClr val="202A38"/>
                </a:solidFill>
                <a:latin typeface="Times New Roman"/>
              </a:rPr>
              <a:t> qiling. Mashqlar oxirida laboratoriyani avvalgi holatga qaytaring.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12064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175504"/>
            <a:ext cx="49377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Jami: 240 daqiqa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215 daqiqa laboratoriya ishi + 25 daqiqa kirish, takrorlash va yakun. Har bir topshiriq oxirida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“Natija”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 qutisi: nima qildik va nimaga erishdik.</a:t>
            </a:r>
          </a:p>
        </p:txBody>
      </p:sp>
      <p:sp>
        <p:nvSpPr>
          <p:cNvPr id="49" name="Rounded Rectangle 48">
            <a:hlinkClick action="ppaction://hlinksldjump" r:id="rId5"/>
          </p:cNvPr>
          <p:cNvSpPr/>
          <p:nvPr/>
        </p:nvSpPr>
        <p:spPr>
          <a:xfrm>
            <a:off x="3657600" y="6373368"/>
            <a:ext cx="11750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Snapshot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43B02A"/>
                </a:solidFill>
                <a:latin typeface="Times New Roman"/>
              </a:rPr>
              <a:t>1-SAVOL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User Account Control (UAC) — amalda sozlash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2-MASHG‘ULOTDAN QISQA TAKRORLASH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Nimani o‘zgartiramiz — UAC darajalari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09830"/>
            <a:ext cx="6309360" cy="19811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09830"/>
            <a:ext cx="6309360" cy="19811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75488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2-rasm. UAC slayderi holatlari va ularning registrdagi qiymatlari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9164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91640"/>
            <a:ext cx="82296" cy="713232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69164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Always notify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eng xavfsiz — harbiy tarmoqlarda ishlating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51460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514600"/>
            <a:ext cx="82296" cy="71323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51460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Notify… (default)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faqat dasturlar uchun ogohlantiradi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33756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3337560"/>
            <a:ext cx="82296" cy="71323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333756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Do not dim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Secure Desktop yo‘q — kuchsizroq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416052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4160520"/>
            <a:ext cx="82296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416052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Never notify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so‘ramaydi — hech qachon ishlatmang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4068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y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77840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52728" y="5440680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Bugungi maqsad: </a:t>
            </a:r>
            <a:r>
              <a:rPr sz="1250">
                <a:solidFill>
                  <a:srgbClr val="202A38"/>
                </a:solidFill>
                <a:latin typeface="Times New Roman"/>
              </a:rPr>
              <a:t>slayderni suring, natijani ekranda ko‘ring (msconfig), so‘ng uni PowerShell yordamida registrda isbotlang, oxirida esa ikki token va integrity level’ni o‘z ko‘zingiz bilan ko‘ring.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3657600" y="6373368"/>
            <a:ext cx="16413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Registry value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5408676" y="637336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Integrity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1.1-topshiriq — UACni “Always notify” holatiga o‘rnatish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Start menyusi qidiruviga </a:t>
            </a:r>
            <a:r>
              <a:rPr sz="1162" b="1">
                <a:solidFill>
                  <a:srgbClr val="178A73"/>
                </a:solidFill>
                <a:latin typeface="Consolas"/>
              </a:rPr>
              <a:t>User Account Control</a:t>
            </a:r>
            <a:r>
              <a:rPr sz="1250">
                <a:solidFill>
                  <a:srgbClr val="202A38"/>
                </a:solidFill>
                <a:latin typeface="Times New Roman"/>
              </a:rPr>
              <a:t> deb yozing.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95728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4203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Change User Account Control settings</a:t>
            </a:r>
            <a:r>
              <a:rPr sz="1250">
                <a:solidFill>
                  <a:srgbClr val="202A38"/>
                </a:solidFill>
                <a:latin typeface="Times New Roman"/>
              </a:rPr>
              <a:t> bo‘limini oching.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45536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918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45536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Oynada slayder bor — u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to‘rtta darajani</a:t>
            </a:r>
            <a:r>
              <a:rPr sz="1250">
                <a:solidFill>
                  <a:srgbClr val="202A38"/>
                </a:solidFill>
                <a:latin typeface="Times New Roman"/>
              </a:rPr>
              <a:t> ko‘rsatadi.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95344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4164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95344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Slayderni eng yuqoriga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Always notify</a:t>
            </a:r>
            <a:r>
              <a:rPr sz="1250">
                <a:solidFill>
                  <a:srgbClr val="202A38"/>
                </a:solidFill>
                <a:latin typeface="Times New Roman"/>
              </a:rPr>
              <a:t> holatiga suring va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OK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bosing.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45152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9145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45152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Tizimning o‘zi tasdiq so‘raydi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Yes</a:t>
            </a:r>
            <a:r>
              <a:rPr sz="1250">
                <a:solidFill>
                  <a:srgbClr val="202A38"/>
                </a:solidFill>
                <a:latin typeface="Times New Roman"/>
              </a:rPr>
              <a:t> (“Ha”) deb javob bering.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1976595"/>
            <a:ext cx="2926080" cy="153320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76595"/>
            <a:ext cx="2926080" cy="15332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23560" y="3886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3-rasm. Start menyusida UAC sozlamasini qidirish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656706"/>
            <a:ext cx="2926080" cy="2172987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656706"/>
            <a:ext cx="2926080" cy="21729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0" y="3886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4-rasm. Slayder “Always notify” holatida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4251960"/>
            <a:ext cx="5989320" cy="11887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297680"/>
            <a:ext cx="5669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Tez yo‘llar:</a:t>
            </a:r>
            <a:r>
              <a:rPr sz="1200">
                <a:solidFill>
                  <a:srgbClr val="202A38"/>
                </a:solidFill>
                <a:latin typeface="Times New Roman"/>
              </a:rPr>
              <a:t> </a:t>
            </a:r>
            <a:r>
              <a:rPr sz="1116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UserAccountControlSettings</a:t>
            </a:r>
            <a:r>
              <a:rPr sz="1200">
                <a:solidFill>
                  <a:srgbClr val="202A38"/>
                </a:solidFill>
                <a:latin typeface="Times New Roman"/>
              </a:rPr>
              <a:t> (eng tez) yoki </a:t>
            </a:r>
            <a:r>
              <a:rPr sz="1116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control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User Accounts → User Accounts → “Change User Account Control settings”.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-circle_178A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oyna qayta ochilganda ham slayder eng yuqorida turadi; o‘zgartirishning o‘zi ham UAC tasdig‘ini talab qildi.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1.1-topshiriq — yangi darajani msconfig bilan sinash, so‘ng qaytarish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oynasida </a:t>
            </a:r>
            <a:r>
              <a:rPr sz="1162" b="1">
                <a:solidFill>
                  <a:srgbClr val="178A73"/>
                </a:solidFill>
                <a:latin typeface="Consolas"/>
              </a:rPr>
              <a:t>msconfig</a:t>
            </a:r>
            <a:r>
              <a:rPr sz="1250">
                <a:solidFill>
                  <a:srgbClr val="202A38"/>
                </a:solidFill>
                <a:latin typeface="Times New Roman"/>
              </a:rPr>
              <a:t> buyrug‘ini kiriting.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95728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4203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Kuzating: standart darajada bu oyna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so‘rovsiz</a:t>
            </a:r>
            <a:r>
              <a:rPr sz="1250">
                <a:solidFill>
                  <a:srgbClr val="202A38"/>
                </a:solidFill>
                <a:latin typeface="Times New Roman"/>
              </a:rPr>
              <a:t> ochilar edi — endi Windowsning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o‘z dasturi</a:t>
            </a:r>
            <a:r>
              <a:rPr sz="1250">
                <a:solidFill>
                  <a:srgbClr val="202A38"/>
                </a:solidFill>
                <a:latin typeface="Times New Roman"/>
              </a:rPr>
              <a:t> uchun ham UAC tasdiq so‘rayapti.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45536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918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45536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So‘rovni o‘qing: dastur nomi (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System Configuration Utility</a:t>
            </a:r>
            <a:r>
              <a:rPr sz="1250">
                <a:solidFill>
                  <a:srgbClr val="202A38"/>
                </a:solidFill>
                <a:latin typeface="Times New Roman"/>
              </a:rPr>
              <a:t>), nashriyotchi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Microsoft Windows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95344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4164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95344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Slayderni standart holatga qaytaring (“Notify only when apps try to make changes”).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45152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9145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45152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msconfig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qayta ishga tushiring — endi oyna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so‘rovsiz</a:t>
            </a:r>
            <a:r>
              <a:rPr sz="1250">
                <a:solidFill>
                  <a:srgbClr val="202A38"/>
                </a:solidFill>
                <a:latin typeface="Times New Roman"/>
              </a:rPr>
              <a:t> ochiladi.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0340" y="1645920"/>
            <a:ext cx="48158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340" y="1645920"/>
            <a:ext cx="4815840" cy="3611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3640" y="53035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5-rasm. “Always notify” holatida msconfig uchun ham tasdiq so‘ralmoqda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“Always notify” darajasida Windows hatto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o‘z sozlama dasturlari</a:t>
            </a:r>
            <a:r>
              <a:rPr sz="1250">
                <a:solidFill>
                  <a:srgbClr val="202A38"/>
                </a:solidFill>
                <a:latin typeface="Times New Roman"/>
              </a:rPr>
              <a:t> uchun ham tasdiq so‘raydi. Slayder qanchalik yuqori bo‘lsa, nazorat shunchalik qattiq.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1.2-topshiriq — UACni PowerShell orqali tekshirish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PowerShellni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administrator huquqida</a:t>
            </a:r>
            <a:r>
              <a:rPr sz="1250">
                <a:solidFill>
                  <a:srgbClr val="202A38"/>
                </a:solidFill>
                <a:latin typeface="Times New Roman"/>
              </a:rPr>
              <a:t> oching (o‘ng tugma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Run as administrator</a:t>
            </a:r>
            <a:r>
              <a:rPr sz="125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Bajaring: </a:t>
            </a:r>
            <a:r>
              <a:rPr sz="1162" b="1">
                <a:solidFill>
                  <a:srgbClr val="178A73"/>
                </a:solidFill>
                <a:latin typeface="Consolas"/>
              </a:rPr>
              <a:t>Get-ItemProperty HKLM:\Software\Microsoft\Windows\CurrentVersion\Policies\System -Name EnableLUA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EnableLUA : 1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UAC yoqilgan; </a:t>
            </a:r>
            <a:r>
              <a:rPr sz="1162" b="1">
                <a:solidFill>
                  <a:srgbClr val="178A73"/>
                </a:solidFill>
                <a:latin typeface="Consolas"/>
              </a:rPr>
              <a:t>0</a:t>
            </a:r>
            <a:r>
              <a:rPr sz="1250">
                <a:solidFill>
                  <a:srgbClr val="202A38"/>
                </a:solidFill>
                <a:latin typeface="Times New Roman"/>
              </a:rPr>
              <a:t> bo‘lsa — o‘chirilgan (jiddiy kamchilik).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Xuddi shunday </a:t>
            </a:r>
            <a:r>
              <a:rPr sz="1162" b="1">
                <a:solidFill>
                  <a:srgbClr val="178A73"/>
                </a:solidFill>
                <a:latin typeface="Consolas"/>
              </a:rPr>
              <a:t>-Name ConsentPromptBehaviorAdmin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o‘qing — administrator uchun so‘rov turi.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1467" y="1645920"/>
            <a:ext cx="305350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467" y="1645920"/>
            <a:ext cx="3053506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23560" y="32918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6-rasm. PowerShell — UAC holatini (EnableLUA) tekshirish natijasi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2738" y="3611880"/>
            <a:ext cx="305096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738" y="3611880"/>
            <a:ext cx="3050964" cy="1600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23560" y="525780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7-rasm. PowerShell — ConsentPromptBehaviorAdmin qiymati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Kutilayotgan natija: </a:t>
            </a:r>
            <a:r>
              <a:rPr sz="1162" b="1">
                <a:solidFill>
                  <a:srgbClr val="178A73"/>
                </a:solidFill>
                <a:latin typeface="Consolas"/>
              </a:rPr>
              <a:t>EnableLUA : 1</a:t>
            </a:r>
            <a:r>
              <a:rPr sz="1250">
                <a:solidFill>
                  <a:srgbClr val="202A38"/>
                </a:solidFill>
                <a:latin typeface="Times New Roman"/>
              </a:rPr>
              <a:t> va </a:t>
            </a:r>
            <a:r>
              <a:rPr sz="1162" b="1">
                <a:solidFill>
                  <a:srgbClr val="178A73"/>
                </a:solidFill>
                <a:latin typeface="Consolas"/>
              </a:rPr>
              <a:t>ConsentPromptBehaviorAdmin : 5</a:t>
            </a:r>
            <a:r>
              <a:rPr sz="1250">
                <a:solidFill>
                  <a:srgbClr val="202A38"/>
                </a:solidFill>
                <a:latin typeface="Times New Roman"/>
              </a:rPr>
              <a:t> (standart) — GUI slayderi aslida shu registr qiymatlarini o‘zgartiradi.</a:t>
            </a:r>
          </a:p>
        </p:txBody>
      </p:sp>
      <p:sp>
        <p:nvSpPr>
          <p:cNvPr id="29" name="Rounded Rectangle 28">
            <a:hlinkClick action="ppaction://hlinksldjump" r:id="rId6"/>
          </p:cNvPr>
          <p:cNvSpPr/>
          <p:nvPr/>
        </p:nvSpPr>
        <p:spPr>
          <a:xfrm>
            <a:off x="3657600" y="6355080"/>
            <a:ext cx="16413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Registry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Qiymatlarni qanday o‘qish kerak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ConsentPromptBehaviorAdmin qiymatlari: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011680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Elevate without prompting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xavfli — admin huquqi jimgina beriladi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15184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615184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615184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credentials on the Secure Desktop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juda qat’iy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18688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18688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218688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consent on the Secure Desktop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= “Always notify”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22191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822191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22191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credentials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qat’iy, ekran xiralashmaydi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25696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425696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425696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consent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ekran xiralashmaydi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29200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029200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029200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Consent for non-Windows programs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= standart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1645920"/>
            <a:ext cx="509320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1645920"/>
            <a:ext cx="82296" cy="2103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66560" y="17739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883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33488" y="1773936"/>
            <a:ext cx="41788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Standart foydalanuvchi uchun alohida qiymat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322576"/>
            <a:ext cx="4727448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ConsentPromptBehaviorUser</a:t>
            </a:r>
            <a:r>
              <a:rPr sz="1200">
                <a:solidFill>
                  <a:srgbClr val="202A38"/>
                </a:solidFill>
                <a:latin typeface="Times New Roman"/>
              </a:rPr>
              <a:t>: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3</a:t>
            </a:r>
            <a:r>
              <a:rPr sz="1200">
                <a:solidFill>
                  <a:srgbClr val="202A38"/>
                </a:solidFill>
                <a:latin typeface="Times New Roman"/>
              </a:rPr>
              <a:t> (sukut bo‘yicha) — administrator login va paroli so‘raladi (Credential prompt);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0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huquq talab qiladigan amal so‘rovsiz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rad etiladi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Bu qiymatni ham yuqoridagi buyruq bilan o‘qib ko‘ring.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931920"/>
            <a:ext cx="5093208" cy="224028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20840" y="4069080"/>
            <a:ext cx="502920" cy="50292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0" y="4189780"/>
            <a:ext cx="261520" cy="2615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60920" y="40690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Kriminalistik tekshiruv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66344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Tekshirilayotgan kompyuterda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yoki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ConsentPromptBehaviorAdmin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topilsa — bu kimdir (ko‘pincha zararli dastur) himoyani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ataylab pasaytirgani</a:t>
            </a:r>
            <a:r>
              <a:rPr sz="1200">
                <a:solidFill>
                  <a:srgbClr val="202A38"/>
                </a:solidFill>
                <a:latin typeface="Times New Roman"/>
              </a:rPr>
              <a:t> belgisi bo‘lishi mumkin. Registr qiymatlarini GUI bilan solishtiring: ular doim bir xil narsani ko‘rsatishi kerak.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1.3-topshiriq — ikki token va integrity level’ni amalda ko‘rish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Windows PowerShellni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oddiy usulda</a:t>
            </a:r>
            <a:r>
              <a:rPr sz="1200">
                <a:solidFill>
                  <a:srgbClr val="202A38"/>
                </a:solidFill>
                <a:latin typeface="Times New Roman"/>
              </a:rPr>
              <a:t> oching (Run as administrator emas).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946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14016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Bajaring: </a:t>
            </a:r>
            <a:r>
              <a:rPr sz="1116" b="1">
                <a:solidFill>
                  <a:srgbClr val="178A73"/>
                </a:solidFill>
                <a:latin typeface="Consolas"/>
              </a:rPr>
              <a:t>whoami /groups | findstr /i "Mandatory"</a:t>
            </a:r>
            <a:r>
              <a:rPr sz="1200">
                <a:solidFill>
                  <a:srgbClr val="202A38"/>
                </a:solidFill>
                <a:latin typeface="Times New Roman"/>
              </a:rPr>
              <a:t> va </a:t>
            </a:r>
            <a:r>
              <a:rPr sz="1116" b="1">
                <a:solidFill>
                  <a:srgbClr val="178A73"/>
                </a:solidFill>
                <a:latin typeface="Consolas"/>
              </a:rPr>
              <a:t>… "BUILTIN\Administrators"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82112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Endi PowerShellni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Run as 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 bilan oching, UACni tasdiqlang va xuddi shu buyruqlarni bajaring.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10565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50208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Ikkala oynada: </a:t>
            </a:r>
            <a:r>
              <a:rPr sz="1116" b="1">
                <a:solidFill>
                  <a:srgbClr val="178A73"/>
                </a:solidFill>
                <a:latin typeface="Consolas"/>
              </a:rPr>
              <a:t>net session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oddiy oynada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Access is denied</a:t>
            </a:r>
            <a:r>
              <a:rPr sz="1200">
                <a:solidFill>
                  <a:srgbClr val="202A38"/>
                </a:solidFill>
                <a:latin typeface="Times New Roman"/>
              </a:rPr>
              <a:t>, admin oynada ishlaydi.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7375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18304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Ctrl + Shift + Esc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Details → ustunlar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Elevated</a:t>
            </a:r>
            <a:r>
              <a:rPr sz="1200">
                <a:solidFill>
                  <a:srgbClr val="202A38"/>
                </a:solidFill>
                <a:latin typeface="Times New Roman"/>
              </a:rPr>
              <a:t>: bitta </a:t>
            </a:r>
            <a:r>
              <a:rPr sz="1116" b="1">
                <a:solidFill>
                  <a:srgbClr val="178A73"/>
                </a:solidFill>
                <a:latin typeface="Consolas"/>
              </a:rPr>
              <a:t>powershell.exe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No, ikkinchisi — Yes.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46520" y="1645920"/>
          <a:ext cx="5166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3736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Tekshiruv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Oddiy oyna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Administrator oynasi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Mandatory Level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Medium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BUILTIN\Administrators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Group used for deny only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Enabled group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net session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0392B"/>
                          </a:solidFill>
                          <a:latin typeface="Times New Roman"/>
                        </a:rPr>
                        <a:t>Access is denied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3B02A"/>
                          </a:solidFill>
                          <a:latin typeface="Times New Roman"/>
                        </a:rPr>
                        <a:t>OK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Task Manager → Elevated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Token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filtrlangan (oddiy)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to‘liq (full)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639812" y="3931920"/>
            <a:ext cx="27797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12" y="3931920"/>
            <a:ext cx="2779776" cy="1463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6520" y="544068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8-rasm. Administrator kirganda ikkita token (Admin Approval Mode)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852160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76072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Kutilayotgan natija: </a:t>
            </a:r>
            <a:r>
              <a:rPr sz="1200">
                <a:solidFill>
                  <a:srgbClr val="202A38"/>
                </a:solidFill>
                <a:latin typeface="Times New Roman"/>
              </a:rPr>
              <a:t>bir hisobning ikkita oynasi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turli huquq</a:t>
            </a:r>
            <a:r>
              <a:rPr sz="1200">
                <a:solidFill>
                  <a:srgbClr val="202A38"/>
                </a:solidFill>
                <a:latin typeface="Times New Roman"/>
              </a:rPr>
              <a:t> bilan ishlaydi: kundalik oyna — Medium (filtrlangan token), tasdiqlangan oyna — High (to‘liq token).</a:t>
            </a:r>
          </a:p>
        </p:txBody>
      </p:sp>
      <p:sp>
        <p:nvSpPr>
          <p:cNvPr id="30" name="Rounded Rectangle 29">
            <a:hlinkClick action="ppaction://hlinksldjump" r:id="rId5"/>
          </p:cNvPr>
          <p:cNvSpPr/>
          <p:nvPr/>
        </p:nvSpPr>
        <p:spPr>
          <a:xfrm>
            <a:off x="3657600" y="637336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Integrity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1.3 — NATIJA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Nimani ko‘rdik — va nega bu muhim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9943"/>
            <a:ext cx="6035040" cy="200363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49943"/>
            <a:ext cx="6035040" cy="20036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7033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9-rasm. Windows yaxlitlik darajalari (Integrity Levels)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69080"/>
            <a:ext cx="6035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069080"/>
            <a:ext cx="82296" cy="2103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8" y="419709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-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0682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62456" y="4197096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Natija — nimani ko‘rdik?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745736"/>
            <a:ext cx="566928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Administrator bo‘lib kirgan foydalanuvchining kundalik oynalari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200">
                <a:solidFill>
                  <a:srgbClr val="202A38"/>
                </a:solidFill>
                <a:latin typeface="Times New Roman"/>
              </a:rPr>
              <a:t> darajada ishlaydi, Administrators guruhi esa ulardan “o‘chirilgan” (deny only). To‘liq huquq faqat UAC tasdig‘idan keyin, faqat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shu bitta jarayon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uchun beriladi (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200">
                <a:solidFill>
                  <a:srgbClr val="202A38"/>
                </a:solidFill>
                <a:latin typeface="Times New Roman"/>
              </a:rPr>
              <a:t>). Zararli dastur oddiy oynadan ishga tushsa, u ham Medium darajada qoladi — UACning butun foydasi shunda.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645920"/>
            <a:ext cx="4818888" cy="251460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1645920"/>
            <a:ext cx="82296" cy="251460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177393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88366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07808" y="1773936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E’tibor bering — built-in Administrator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322576"/>
            <a:ext cx="4453128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O‘rnatilgan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 hisobida (SID oxiri </a:t>
            </a:r>
            <a:r>
              <a:rPr sz="1116" b="1">
                <a:solidFill>
                  <a:srgbClr val="178A73"/>
                </a:solidFill>
                <a:latin typeface="Consolas"/>
              </a:rPr>
              <a:t>-500</a:t>
            </a:r>
            <a:r>
              <a:rPr sz="1200">
                <a:solidFill>
                  <a:srgbClr val="202A38"/>
                </a:solidFill>
                <a:latin typeface="Times New Roman"/>
              </a:rPr>
              <a:t>) Admin Approval Mode sukut bo‘yicha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o‘chiq</a:t>
            </a:r>
            <a:r>
              <a:rPr sz="1200">
                <a:solidFill>
                  <a:srgbClr val="202A38"/>
                </a:solidFill>
                <a:latin typeface="Times New Roman"/>
              </a:rPr>
              <a:t>: hamma oyna darhol High darajada ishlaydi va UAC so‘rovi chiqmaydi. Shuning uchun mashqlarni Administrators guruhidagi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oddiy</a:t>
            </a:r>
            <a:r>
              <a:rPr sz="1200">
                <a:solidFill>
                  <a:srgbClr val="202A38"/>
                </a:solidFill>
                <a:latin typeface="Times New Roman"/>
              </a:rPr>
              <a:t> hisobda bajaring. Tekshirish: </a:t>
            </a:r>
            <a:r>
              <a:rPr sz="1116" b="1">
                <a:solidFill>
                  <a:srgbClr val="178A73"/>
                </a:solidFill>
                <a:latin typeface="Consolas"/>
              </a:rPr>
              <a:t>whoami /user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343400"/>
            <a:ext cx="481888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4343400"/>
            <a:ext cx="82296" cy="1828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80" y="447141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581144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07808" y="4471416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Keyingi mashqlar uchun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020056"/>
            <a:ext cx="4453128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Bu bilim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AppLocker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mashqida yana kerak bo‘ladi: AppLocker ham aynan shu tokenga qarab qaror qiladi (A mashq — “Run as administrator” bilan nega ochiladi?).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1.4-topshiriq — slayderning to‘rt holati va registr qiymatlari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Slayder aslida registrdagi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uchta qiymatni</a:t>
            </a:r>
            <a:r>
              <a:rPr sz="1250">
                <a:solidFill>
                  <a:srgbClr val="202A38"/>
                </a:solidFill>
                <a:latin typeface="Times New Roman"/>
              </a:rPr>
              <a:t> o‘zgartiradi. Slayderni har bir holatga qo‘yib, administrator oynasida buyruqni bajaring va jadvalni to‘ldiring: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Get-ItemProperty HKLM:\Software\Microsoft\Windows\CurrentVersion\Policies\System |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      Select-Object EnableLUA, ConsentPromptBehaviorAdmin, PromptOnSecureDesktop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42900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34440"/>
                <a:gridCol w="1188720"/>
                <a:gridCol w="960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Slayder holati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ConsentPrompt…Admin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PromptOnSecure…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EnableLUA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Always notify (eng yuqori)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Notify only when apps try… (standart)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Notify… (do not dim my desktop)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Never notify (eng past)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37960" y="1645920"/>
            <a:ext cx="509320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645920"/>
            <a:ext cx="82296" cy="45262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0" y="17739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st-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883664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3488" y="1773936"/>
            <a:ext cx="41788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Natija — jadvaldan xulosa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22576"/>
            <a:ext cx="4727448" cy="3776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ConsentPromptBehaviorAdmin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so‘rov qanday ko‘rsatiladi: </a:t>
            </a:r>
            <a:r>
              <a:rPr sz="1116" b="1">
                <a:solidFill>
                  <a:srgbClr val="178A73"/>
                </a:solidFill>
                <a:latin typeface="Consolas"/>
              </a:rPr>
              <a:t>2</a:t>
            </a:r>
            <a:r>
              <a:rPr sz="1200">
                <a:solidFill>
                  <a:srgbClr val="202A38"/>
                </a:solidFill>
                <a:latin typeface="Times New Roman"/>
              </a:rPr>
              <a:t> har doim so‘raydi, </a:t>
            </a:r>
            <a:r>
              <a:rPr sz="1116" b="1">
                <a:solidFill>
                  <a:srgbClr val="178A73"/>
                </a:solidFill>
                <a:latin typeface="Consolas"/>
              </a:rPr>
              <a:t>5</a:t>
            </a:r>
            <a:r>
              <a:rPr sz="1200">
                <a:solidFill>
                  <a:srgbClr val="202A38"/>
                </a:solidFill>
                <a:latin typeface="Times New Roman"/>
              </a:rPr>
              <a:t> faqat boshqa dasturlar uchun, </a:t>
            </a:r>
            <a:r>
              <a:rPr sz="1116" b="1">
                <a:solidFill>
                  <a:srgbClr val="178A73"/>
                </a:solidFill>
                <a:latin typeface="Consolas"/>
              </a:rPr>
              <a:t>0</a:t>
            </a:r>
            <a:r>
              <a:rPr sz="1200">
                <a:solidFill>
                  <a:srgbClr val="202A38"/>
                </a:solidFill>
                <a:latin typeface="Times New Roman"/>
              </a:rPr>
              <a:t> umuman so‘ramaydi.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PromptOnSecureDesktop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ekran qorayishi (Secure Desktop): </a:t>
            </a:r>
            <a:r>
              <a:rPr sz="1116" b="1">
                <a:solidFill>
                  <a:srgbClr val="178A73"/>
                </a:solidFill>
                <a:latin typeface="Consolas"/>
              </a:rPr>
              <a:t>1</a:t>
            </a:r>
            <a:r>
              <a:rPr sz="1200">
                <a:solidFill>
                  <a:srgbClr val="202A38"/>
                </a:solidFill>
                <a:latin typeface="Times New Roman"/>
              </a:rPr>
              <a:t> yoqilgan, </a:t>
            </a:r>
            <a:r>
              <a:rPr sz="1116" b="1">
                <a:solidFill>
                  <a:srgbClr val="178A73"/>
                </a:solidFill>
                <a:latin typeface="Consolas"/>
              </a:rPr>
              <a:t>0</a:t>
            </a:r>
            <a:r>
              <a:rPr sz="1200">
                <a:solidFill>
                  <a:srgbClr val="202A38"/>
                </a:solidFill>
                <a:latin typeface="Times New Roman"/>
              </a:rPr>
              <a:t> o‘chirilgan.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Diqqat: “Never notify” holatida ham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</a:t>
            </a:r>
            <a:r>
              <a:rPr sz="1200">
                <a:solidFill>
                  <a:srgbClr val="202A38"/>
                </a:solidFill>
                <a:latin typeface="Times New Roman"/>
              </a:rPr>
              <a:t> = </a:t>
            </a:r>
            <a:r>
              <a:rPr sz="1116" b="1">
                <a:solidFill>
                  <a:srgbClr val="178A73"/>
                </a:solidFill>
                <a:latin typeface="Consolas"/>
              </a:rPr>
              <a:t>1</a:t>
            </a:r>
            <a:r>
              <a:rPr sz="1200">
                <a:solidFill>
                  <a:srgbClr val="202A38"/>
                </a:solidFill>
                <a:latin typeface="Times New Roman"/>
              </a:rPr>
              <a:t> bo‘lib qoladi. UAC butunlay faqat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orqali o‘chiriladi va buning uchun kompyuter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qayta yuklanadi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Kriminalistik ahamiyati: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ConsentPromptBehaviorAdmin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yoki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himoya ataylab pasaytirilganining belgisi bo‘lishi mumkin.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43B02A"/>
                </a:solidFill>
                <a:latin typeface="Times New Roman"/>
              </a:rPr>
              <a:t>2-SAVOL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AppLocker va SmartScreen — amalda sozlash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AppLocker laboratoriyasi — butun yo‘l 7 qadamda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01" y="1914753"/>
            <a:ext cx="285294" cy="2852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AppIDSvcni yoqish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sc config / sc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49424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651760" y="17830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old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433" y="1914753"/>
            <a:ext cx="285294" cy="285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94560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Siyosatni ochish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gpedit / secpol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22191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77055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4279391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st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064" y="1914753"/>
            <a:ext cx="285294" cy="2852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22191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Standart qoidalar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Create Default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9824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04688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5907024" y="17830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697" y="1914753"/>
            <a:ext cx="285294" cy="2852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49824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O‘z qoidangiz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9824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Publisher: notepad.exe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77456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32320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7534656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z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329" y="1914753"/>
            <a:ext cx="285294" cy="28529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77456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Qo‘llash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456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gpupdate /force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05088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59952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9162288" y="17830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an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3961" y="1914753"/>
            <a:ext cx="285294" cy="28529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705088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Sinov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bloklandi / ruxsat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8128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32719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87583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52" name="Oval 51"/>
          <p:cNvSpPr/>
          <p:nvPr/>
        </p:nvSpPr>
        <p:spPr>
          <a:xfrm>
            <a:off x="10789919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earc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1592" y="1914753"/>
            <a:ext cx="285294" cy="28529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332719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Jurnal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19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Hodisa 8004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183" y="3246120"/>
            <a:ext cx="596285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4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183" y="3246120"/>
            <a:ext cx="5962850" cy="2697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66928" y="59893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10-rasm. AppLocker qaror qabul qilish algoritmi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86600" y="3246120"/>
            <a:ext cx="4544568" cy="3017520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69480" y="3401568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warning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1153" y="3533241"/>
            <a:ext cx="285294" cy="28529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955279" y="3401568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Boshlashdan oldin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4069080"/>
            <a:ext cx="42062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AppLocker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Pro, Enterprise, Education va Server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nashrlarida ishlaydi;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Home</a:t>
            </a:r>
            <a:r>
              <a:rPr sz="1200">
                <a:solidFill>
                  <a:srgbClr val="202A38"/>
                </a:solidFill>
                <a:latin typeface="Times New Roman"/>
              </a:rPr>
              <a:t>da yo‘q (</a:t>
            </a:r>
            <a:r>
              <a:rPr sz="1116" b="1">
                <a:solidFill>
                  <a:srgbClr val="178A73"/>
                </a:solidFill>
                <a:latin typeface="Consolas"/>
              </a:rPr>
              <a:t>winver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bilan tekshiring).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Qoidalarni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 servisi qo‘llaydi — u ishlamasa, qoidalar kuchga kirmaydi.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Doimo avval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Default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, keyin o‘z qoidangiz.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Avval snapshot — noto‘g‘ri qoida butun tizimni bloklashi mumkin.</a:t>
            </a:r>
          </a:p>
        </p:txBody>
      </p:sp>
      <p:sp>
        <p:nvSpPr>
          <p:cNvPr id="64" name="Rounded Rectangle 63">
            <a:hlinkClick action="ppaction://hlinksldjump" r:id="rId12"/>
          </p:cNvPr>
          <p:cNvSpPr/>
          <p:nvPr/>
        </p:nvSpPr>
        <p:spPr>
          <a:xfrm>
            <a:off x="3657600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Default rules</a:t>
            </a:r>
          </a:p>
        </p:txBody>
      </p:sp>
      <p:sp>
        <p:nvSpPr>
          <p:cNvPr id="65" name="Rounded Rectangle 64">
            <a:hlinkClick action="ppaction://hlinksldjump" r:id="rId13"/>
          </p:cNvPr>
          <p:cNvSpPr/>
          <p:nvPr/>
        </p:nvSpPr>
        <p:spPr>
          <a:xfrm>
            <a:off x="5330952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A QADAM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A qadam — Application Identity (AppIDSvc) servisini ishga tushirish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services.msc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toping.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Himoyalangan servis: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Startup type</a:t>
            </a:r>
            <a:r>
              <a:rPr sz="1200">
                <a:solidFill>
                  <a:srgbClr val="202A38"/>
                </a:solidFill>
                <a:latin typeface="Times New Roman"/>
              </a:rPr>
              <a:t> maydoni kulrang — bu yerdan sozlab bo‘lmaydi.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Buyruq qatorini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 sifatida oching.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Bajaring: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config appidsvc start= auto</a:t>
            </a:r>
            <a:r>
              <a:rPr sz="1200">
                <a:solidFill>
                  <a:srgbClr val="202A38"/>
                </a:solidFill>
                <a:latin typeface="Times New Roman"/>
              </a:rPr>
              <a:t> va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start appidsvc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7200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Tekshiring: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query appidsvc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STATE : 4 RUNNING</a:t>
            </a:r>
            <a:r>
              <a:rPr sz="1200">
                <a:solidFill>
                  <a:srgbClr val="202A38"/>
                </a:solidFill>
                <a:latin typeface="Times New Roman"/>
              </a:rPr>
              <a:t> bo‘lishi kerak.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4700" y="164592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1645920"/>
            <a:ext cx="3535680" cy="2651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434340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11-rasm. services.msc — “Application Identity” (AppIDSvc) servisi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6634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681728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“Access denied” bo‘lsa:</a:t>
            </a:r>
            <a:r>
              <a:rPr sz="1150">
                <a:solidFill>
                  <a:srgbClr val="202A38"/>
                </a:solidFill>
                <a:latin typeface="Times New Roman"/>
              </a:rPr>
              <a:t> </a:t>
            </a:r>
            <a:r>
              <a:rPr sz="1069" b="1">
                <a:solidFill>
                  <a:srgbClr val="178A73"/>
                </a:solidFill>
                <a:latin typeface="Consolas"/>
              </a:rPr>
              <a:t>gpedit.msc</a:t>
            </a:r>
            <a:r>
              <a:rPr sz="1150">
                <a:solidFill>
                  <a:srgbClr val="202A38"/>
                </a:solidFill>
                <a:latin typeface="Times New Roman"/>
              </a:rPr>
              <a:t> → Computer Configuration → Windows Settings → Security Settings →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System Services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→ Application Identity → Automatic, so‘ng </a:t>
            </a:r>
            <a:r>
              <a:rPr sz="1069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1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AppIDSvc =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Running</a:t>
            </a:r>
            <a:r>
              <a:rPr sz="1250">
                <a:solidFill>
                  <a:srgbClr val="202A38"/>
                </a:solidFill>
                <a:latin typeface="Times New Roman"/>
              </a:rPr>
              <a:t>, Automatic. Bu — 1-mashg‘ulotda o‘rgangan </a:t>
            </a:r>
            <a:r>
              <a:rPr sz="1162" b="1">
                <a:solidFill>
                  <a:srgbClr val="178A73"/>
                </a:solidFill>
                <a:latin typeface="Consolas"/>
              </a:rPr>
              <a:t>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buyrug‘ining amaliy qo‘llanishi. Usiz AppLocker qoidalari e’tiborga olinmaydi.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B QADAM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B qadam — siyosatni ochish va standart qoidalarni yaratish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gpedit.msc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(Local Group Policy Editor; faqat Pro/Enterprise).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Yo‘l: Computer Configuration → Windows Settings → Security Settings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Application Control Policies → AppLocker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Executable Rules</a:t>
            </a:r>
            <a:r>
              <a:rPr sz="1250">
                <a:solidFill>
                  <a:srgbClr val="202A38"/>
                </a:solidFill>
                <a:latin typeface="Times New Roman"/>
              </a:rPr>
              <a:t> ustida o‘ng tugma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Create Default Rules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Uchta qoida paydo bo‘ladi: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Program Files</a:t>
            </a:r>
            <a:r>
              <a:rPr sz="125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Windows</a:t>
            </a:r>
            <a:r>
              <a:rPr sz="1250">
                <a:solidFill>
                  <a:srgbClr val="202A38"/>
                </a:solidFill>
                <a:latin typeface="Times New Roman"/>
              </a:rPr>
              <a:t> (Everyone) va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Administrators</a:t>
            </a:r>
            <a:r>
              <a:rPr sz="1250">
                <a:solidFill>
                  <a:srgbClr val="202A38"/>
                </a:solidFill>
                <a:latin typeface="Times New Roman"/>
              </a:rPr>
              <a:t> uchun barcha fayllar.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665" y="1645920"/>
            <a:ext cx="521143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665" y="1645920"/>
            <a:ext cx="5211430" cy="37490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97880" y="5440679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12-rasm. gpedit.msc — “Create Default Rules” buyrug‘i (kontekst menyu)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669280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88152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52728" y="5669280"/>
            <a:ext cx="10241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Executable Rules ichida uchta standart Allow qoidasi — Windowsning o‘zi ishlashda davom etadi. Ulardan tashqaridagi hamma narsa endi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implicit deny</a:t>
            </a:r>
            <a:r>
              <a:rPr sz="1250">
                <a:solidFill>
                  <a:srgbClr val="202A38"/>
                </a:solidFill>
                <a:latin typeface="Times New Roman"/>
              </a:rPr>
              <a:t> ostida.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3657600" y="6373368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Default rules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5330952" y="6373368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C QADAM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C qadam — o‘z qoidangizni yaratish (Publisher sharti)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Executable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ustida o‘ng tugma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Create New Rule…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“Before You Begin”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Next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Permissions</a:t>
            </a:r>
            <a:r>
              <a:rPr sz="1200">
                <a:solidFill>
                  <a:srgbClr val="202A38"/>
                </a:solidFill>
                <a:latin typeface="Times New Roman"/>
              </a:rPr>
              <a:t>: Action =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Allow</a:t>
            </a:r>
            <a:r>
              <a:rPr sz="1200">
                <a:solidFill>
                  <a:srgbClr val="202A38"/>
                </a:solidFill>
                <a:latin typeface="Times New Roman"/>
              </a:rPr>
              <a:t>, User or group =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Everyone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Next.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Conditions</a:t>
            </a:r>
            <a:r>
              <a:rPr sz="1200">
                <a:solidFill>
                  <a:srgbClr val="202A38"/>
                </a:solidFill>
                <a:latin typeface="Times New Roman"/>
              </a:rPr>
              <a:t>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shartini tanlang →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Browse…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imzolangan fayl: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C:\Windows\System32\notepad.exe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. Slayderni o‘zgartirmang → Next.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7200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Exceptions’ni o‘tkazib yuboring, qoidaga nom bering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Create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9431" y="1645920"/>
            <a:ext cx="424621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431" y="1645920"/>
            <a:ext cx="4246218" cy="3566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525780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13-rasm. AppLocker — yangi qoida yaratish ustasi (Publisher sharti)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ro‘yxatda notepad.exe uchun yangi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qoidasi paydo bo‘ladi — u dastur yangilansa ham ishlayveradi (imzo o‘zgarmaguncha).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D QADAM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D qadam — siyosatni qo‘llash va qoidani sinash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Administrator PowerShellda: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“Computer Policy update has completed successfully” xabarini kuting.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Qoidada ko‘rsatilmagan dasturni ishga tushiring (Ish stoli yoki Downloads’dagi .exe — A mashqqa qarang).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“This app has been blocked by your system administrator”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hatto administrator bo‘lsangiz ham.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9555" y="1645920"/>
            <a:ext cx="386596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555" y="1645920"/>
            <a:ext cx="3865969" cy="2103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379476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14-rasm. PowerShell — “gpupdate /force” bilan siyosatni kuchga kiritish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1772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681728"/>
            <a:ext cx="5074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Qayerdan tekshiriladi?</a:t>
            </a:r>
            <a:r>
              <a:rPr sz="1200">
                <a:solidFill>
                  <a:srgbClr val="202A38"/>
                </a:solidFill>
                <a:latin typeface="Times New Roman"/>
              </a:rPr>
              <a:t> </a:t>
            </a:r>
            <a:r>
              <a:rPr sz="1116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Applications and Services Logs → Microsoft → Windows → AppLocker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EXE and DLL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bloklandi (Enforce)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bloklangan bo‘lardi (Audit only)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8002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ruxsat berildi.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14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114800"/>
            <a:ext cx="82296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424281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352544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67728" y="4242816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Natija — nima sodir bo‘ldi?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91456"/>
            <a:ext cx="507492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Ruxsat ro‘yxatiga tushmagan dasturni AppLocker bloklaydi. Sabab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implicit deny</a:t>
            </a:r>
            <a:r>
              <a:rPr sz="1250">
                <a:solidFill>
                  <a:srgbClr val="202A38"/>
                </a:solidFill>
                <a:latin typeface="Times New Roman"/>
              </a:rPr>
              <a:t>: to‘plamda kamida bitta qoida paydo bo‘lsa, ochiq ruxsat berilmagan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hamma narsa avtomatik taqiqlanadi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31" name="Rounded Rectangle 30">
            <a:hlinkClick action="ppaction://hlinksldjump" r:id="rId5"/>
          </p:cNvPr>
          <p:cNvSpPr/>
          <p:nvPr/>
        </p:nvSpPr>
        <p:spPr>
          <a:xfrm>
            <a:off x="3657600" y="6355080"/>
            <a:ext cx="210769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Group Policy refresh</a:t>
            </a:r>
          </a:p>
        </p:txBody>
      </p:sp>
      <p:sp>
        <p:nvSpPr>
          <p:cNvPr id="32" name="Rounded Rectangle 31">
            <a:hlinkClick action="ppaction://hlinksldjump" r:id="rId6"/>
          </p:cNvPr>
          <p:cNvSpPr/>
          <p:nvPr/>
        </p:nvSpPr>
        <p:spPr>
          <a:xfrm>
            <a:off x="5875020" y="6355080"/>
            <a:ext cx="12527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Event log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7237476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MUHIM NYUANS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Windows 11 da ikkita Notepad — sinovni to‘g‘ri bajarish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19202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77393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2456" y="1773936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Muammo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22576"/>
            <a:ext cx="356616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Eski Notepad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C:\Windows\System32</a:t>
            </a:r>
            <a:r>
              <a:rPr sz="1200">
                <a:solidFill>
                  <a:srgbClr val="202A38"/>
                </a:solidFill>
                <a:latin typeface="Times New Roman"/>
              </a:rPr>
              <a:t> da.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Yangi Notepad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Microsoft Store ilovasi, boshqa papkada.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Windows sukut bo‘yicha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yangisini</a:t>
            </a:r>
            <a:r>
              <a:rPr sz="1200">
                <a:solidFill>
                  <a:srgbClr val="202A38"/>
                </a:solidFill>
                <a:latin typeface="Times New Roman"/>
              </a:rPr>
              <a:t> ochadi, bizning qoida esa faqat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eskisiga</a:t>
            </a:r>
            <a:r>
              <a:rPr sz="1200">
                <a:solidFill>
                  <a:srgbClr val="202A38"/>
                </a:solidFill>
                <a:latin typeface="Times New Roman"/>
              </a:rPr>
              <a:t> ruxsat beradi → yangi Notepad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bloklanadi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760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490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Settings → Apps → Advanced app settings →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App execution aliases</a:t>
            </a:r>
            <a:r>
              <a:rPr sz="11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79392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37083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7939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Ro‘yxatdan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Notepad</a:t>
            </a:r>
            <a:r>
              <a:rPr sz="1150">
                <a:solidFill>
                  <a:srgbClr val="202A38"/>
                </a:solidFill>
                <a:latin typeface="Times New Roman"/>
              </a:rPr>
              <a:t> ni toping va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Off</a:t>
            </a:r>
            <a:r>
              <a:rPr sz="1150">
                <a:solidFill>
                  <a:srgbClr val="202A38"/>
                </a:solidFill>
                <a:latin typeface="Times New Roman"/>
              </a:rPr>
              <a:t> qiling.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01184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992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01184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Notepadni qayta oching — endi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eski</a:t>
            </a:r>
            <a:r>
              <a:rPr sz="1150">
                <a:solidFill>
                  <a:srgbClr val="202A38"/>
                </a:solidFill>
                <a:latin typeface="Times New Roman"/>
              </a:rPr>
              <a:t> Notepad ishga tushadi va qoida unga ruxsat beradi.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1964003"/>
            <a:ext cx="3337560" cy="329575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964003"/>
            <a:ext cx="3337560" cy="32957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09160" y="562356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15-rasm. Ruxsat etilgan dastur — eski Notepad ochildi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1964003"/>
            <a:ext cx="3337560" cy="329575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964003"/>
            <a:ext cx="3337560" cy="32957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5320" y="562356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16-rasm. AppLocker tomonidan bloklangan dastur oynasi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69280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ck-circle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52728" y="5669280"/>
            <a:ext cx="10241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bitta qoida — ikki xil natija: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eski</a:t>
            </a:r>
            <a:r>
              <a:rPr sz="1250">
                <a:solidFill>
                  <a:srgbClr val="202A38"/>
                </a:solidFill>
                <a:latin typeface="Times New Roman"/>
              </a:rPr>
              <a:t> Notepad (qoidadagi fayl) ochiladi,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yangisi</a:t>
            </a:r>
            <a:r>
              <a:rPr sz="1250">
                <a:solidFill>
                  <a:srgbClr val="202A38"/>
                </a:solidFill>
                <a:latin typeface="Times New Roman"/>
              </a:rPr>
              <a:t> bloklanadi. Qoida aynan qaysi faylga yozilganiga doim e’tibor bering.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QO‘SHIMCHA MASHQLAR —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A mashq — ruxsat berilmagan joydan dasturni ishga tushirish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577840" cy="105156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55648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7EE08F"/>
                </a:solidFill>
                <a:latin typeface="Consolas"/>
              </a:rPr>
              <a:t># oddiy PowerShell — ikki zararsiz test fayl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Copy-Item C:\Windows\System32\cmd.exe "$env:USERPROFILE\Desktop\test_cmd.exe"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Copy-Item C:\Windows\System32\charmap.exe "$env:USERPROFILE\Desktop\charmap.exe"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34640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05409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Ish stolidagi </a:t>
            </a: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ikki marta bosing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“This app has been blocked…”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. C:\Windows ichida ishlardi, Ish stolida — yo‘q.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30752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95020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30752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Shu fayl: o‘ng tugma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Run as 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UACni tasdiqlang → dastur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ochiladi!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45920"/>
            <a:ext cx="1600200" cy="118872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Oddiy oyna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6459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filtrlangan token · Administrators = deny only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→ faqat </a:t>
            </a:r>
            <a:r>
              <a:rPr sz="1050" b="1">
                <a:solidFill>
                  <a:srgbClr val="1F3864"/>
                </a:solidFill>
                <a:latin typeface="Times New Roman"/>
              </a:rPr>
              <a:t>Everyone</a:t>
            </a:r>
            <a:r>
              <a:rPr sz="1050">
                <a:solidFill>
                  <a:srgbClr val="202A38"/>
                </a:solidFill>
                <a:latin typeface="Times New Roman"/>
              </a:rPr>
              <a:t> qoidalari (Windows, Program Files)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1920240"/>
            <a:ext cx="1115568" cy="64008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BLOKLANDI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017520"/>
            <a:ext cx="1600200" cy="118872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Run as administrator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0175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0175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to‘liq token · Administrators faol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→ </a:t>
            </a:r>
            <a:r>
              <a:rPr sz="1050" b="1">
                <a:solidFill>
                  <a:srgbClr val="1F3864"/>
                </a:solidFill>
                <a:latin typeface="Times New Roman"/>
              </a:rPr>
              <a:t>BUILTIN\Administrators — (All files)</a:t>
            </a:r>
            <a:r>
              <a:rPr sz="1050">
                <a:solidFill>
                  <a:srgbClr val="202A38"/>
                </a:solidFill>
                <a:latin typeface="Times New Roman"/>
              </a:rPr>
              <a:t> qoidasi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3291840"/>
            <a:ext cx="1115568" cy="64008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RUXSAT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63440"/>
            <a:ext cx="110642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663440"/>
            <a:ext cx="82296" cy="1572768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" y="479145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901184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62456" y="4791456"/>
            <a:ext cx="10149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Natija — nega administrator sifatida ochildi?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340096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Default rules ichida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BUILTIN\Administrators — (All files)</a:t>
            </a:r>
            <a:r>
              <a:rPr sz="1200">
                <a:solidFill>
                  <a:srgbClr val="202A38"/>
                </a:solidFill>
                <a:latin typeface="Times New Roman"/>
              </a:rPr>
              <a:t> qoidasi bor. Oddiy oynada token filtrlangan (1.3-topshiriq), shuning uchun bu qoida ishlamaydi. UAC tasdig‘idan keyin to‘liq token bilan u kuchga kiradi.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Xulosa:</a:t>
            </a:r>
            <a:r>
              <a:rPr sz="1200">
                <a:solidFill>
                  <a:srgbClr val="202A38"/>
                </a:solidFill>
                <a:latin typeface="Times New Roman"/>
              </a:rPr>
              <a:t> AppLocker (Default rules bilan) birinchi navbatda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oddiy foydalanuvchilarni</a:t>
            </a:r>
            <a:r>
              <a:rPr sz="1200">
                <a:solidFill>
                  <a:srgbClr val="202A38"/>
                </a:solidFill>
                <a:latin typeface="Times New Roman"/>
              </a:rPr>
              <a:t> himoya qiladi — kundalik ish standart hisobda bajarilishi kerak.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QO‘SHIMCHA MASHQLAR —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B mashq — File hash, Path va Publisher qoidalari farqi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Executable Rules → Create New Rule…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Allow</a:t>
            </a:r>
            <a:r>
              <a:rPr sz="1200">
                <a:solidFill>
                  <a:srgbClr val="202A38"/>
                </a:solidFill>
                <a:latin typeface="Times New Roman"/>
              </a:rPr>
              <a:t>, Everyone → Conditions: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Browse Files… → Ish stolidagi </a:t>
            </a: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Create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05456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05456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oddiy usulda ishga tushiring — endi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ochiladi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64992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64992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Faylni </a:t>
            </a:r>
            <a:r>
              <a:rPr sz="1116" b="1">
                <a:solidFill>
                  <a:srgbClr val="178A73"/>
                </a:solidFill>
                <a:latin typeface="Consolas"/>
              </a:rPr>
              <a:t>abc.exe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deb qayta nomlang va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Documents</a:t>
            </a:r>
            <a:r>
              <a:rPr sz="1200">
                <a:solidFill>
                  <a:srgbClr val="202A38"/>
                </a:solidFill>
                <a:latin typeface="Times New Roman"/>
              </a:rPr>
              <a:t> ga ko‘chiring — baribir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ochiladi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24528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24528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Ish stolidagi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ishga tushiring —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bloklanadi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: unga Allow qoidasi yo‘q.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645920"/>
            <a:ext cx="52760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645920"/>
            <a:ext cx="82296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1828800"/>
            <a:ext cx="566928" cy="5669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p-p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42" y="1964862"/>
            <a:ext cx="294804" cy="2948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17556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400">
                <a:solidFill>
                  <a:srgbClr val="202A38"/>
                </a:solidFill>
                <a:latin typeface="Times New Roman"/>
              </a:rPr>
              <a:t> — “fayl QAYERDA?”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945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Faylni ruxsat berilgan papkadan ko‘chirsangiz — qoida ishlamay qoladi.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971800"/>
            <a:ext cx="52760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2971800"/>
            <a:ext cx="82296" cy="12344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3154680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742" y="3290742"/>
            <a:ext cx="294804" cy="2948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0" y="30815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400">
                <a:solidFill>
                  <a:srgbClr val="202A38"/>
                </a:solidFill>
                <a:latin typeface="Times New Roman"/>
              </a:rPr>
              <a:t> — “KIM imzolagan?”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52044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Dastur yangilansa ham, imzo o‘zgarmasa — ishlayveradi.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97680"/>
            <a:ext cx="52760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4297680"/>
            <a:ext cx="82296" cy="12344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0" y="4480560"/>
            <a:ext cx="566928" cy="56692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ha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742" y="4616622"/>
            <a:ext cx="294804" cy="2948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0" y="440740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400">
                <a:solidFill>
                  <a:srgbClr val="202A38"/>
                </a:solidFill>
                <a:latin typeface="Times New Roman"/>
              </a:rPr>
              <a:t> — “AYNAN QAYSI fayl?”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84632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Nomi va joyi ahamiyatsiz; bitta bayt o‘zgarsa — qoidani qayta yaratish kerak.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42432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heck-circle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815584"/>
            <a:ext cx="384048" cy="3840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52728" y="5742432"/>
            <a:ext cx="10241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Natija: </a:t>
            </a:r>
            <a:r>
              <a:rPr sz="1200">
                <a:solidFill>
                  <a:srgbClr val="202A38"/>
                </a:solidFill>
                <a:latin typeface="Times New Roman"/>
              </a:rPr>
              <a:t>uch xil qoida uch xil savolga javob beradi — vaziyatga qarab tanlang.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QO‘SHIMCHA MASHQLAR —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C mashq — Deny qoidasi Allow qoidasidan ustun turadi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6537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Create New Rule… → Action: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Deny</a:t>
            </a:r>
            <a:r>
              <a:rPr sz="1250">
                <a:solidFill>
                  <a:srgbClr val="202A38"/>
                </a:solidFill>
                <a:latin typeface="Times New Roman"/>
              </a:rPr>
              <a:t>, User: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Everyone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Conditions: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Browse Files…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C:\Windows\regedit.exe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Create.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2032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42032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Qo‘llang: </a:t>
            </a:r>
            <a:r>
              <a:rPr sz="1162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38144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regedit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UACni tasdiqlang → Registry Editor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bloklanadi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hatto administrator sifatida ham.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4592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Allow · Everyone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%WINDIR%\*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42316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Allow · Administrators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* (All files)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20040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Deny · Everyone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C:\Windows\regedit.exe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40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0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920240"/>
            <a:ext cx="2350008" cy="128016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regedit.exe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BLOKLANDI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(Deny ustun)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60520"/>
            <a:ext cx="82296" cy="2057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" y="428853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a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398264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62456" y="4288536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Natija — nima uchun bloklandi?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37176"/>
            <a:ext cx="521208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regedit.exe C:\Windows ichida (Everyone uchun Allow) va administratorlar uchun “All files” qoidasi ham bor. Shunga qaramay bloklandi: bitta faylga Allow ham, Deny ham to‘g‘ri kelsa —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Deny har doim ustun</a:t>
            </a:r>
            <a:r>
              <a:rPr sz="1200">
                <a:solidFill>
                  <a:srgbClr val="202A38"/>
                </a:solidFill>
                <a:latin typeface="Times New Roman"/>
              </a:rPr>
              <a:t>. Tashkilotlarda </a:t>
            </a:r>
            <a:r>
              <a:rPr sz="1116" b="1">
                <a:solidFill>
                  <a:srgbClr val="178A73"/>
                </a:solidFill>
                <a:latin typeface="Consolas"/>
              </a:rPr>
              <a:t>regedit</a:t>
            </a:r>
            <a:r>
              <a:rPr sz="1200">
                <a:solidFill>
                  <a:srgbClr val="202A38"/>
                </a:solidFill>
                <a:latin typeface="Times New Roman"/>
              </a:rPr>
              <a:t>, </a:t>
            </a:r>
            <a:r>
              <a:rPr sz="1116" b="1">
                <a:solidFill>
                  <a:srgbClr val="178A73"/>
                </a:solidFill>
                <a:latin typeface="Consolas"/>
              </a:rPr>
              <a:t>cmd</a:t>
            </a:r>
            <a:r>
              <a:rPr sz="1200">
                <a:solidFill>
                  <a:srgbClr val="202A38"/>
                </a:solidFill>
                <a:latin typeface="Times New Roman"/>
              </a:rPr>
              <a:t>, </a:t>
            </a:r>
            <a:r>
              <a:rPr sz="1116" b="1">
                <a:solidFill>
                  <a:srgbClr val="178A73"/>
                </a:solidFill>
                <a:latin typeface="Consolas"/>
              </a:rPr>
              <a:t>powershell</a:t>
            </a:r>
            <a:r>
              <a:rPr sz="1200">
                <a:solidFill>
                  <a:srgbClr val="202A38"/>
                </a:solidFill>
                <a:latin typeface="Times New Roman"/>
              </a:rPr>
              <a:t> kabi vositalar aynan shunday taqiqlanadi.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160520"/>
            <a:ext cx="5276088" cy="205740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160520"/>
            <a:ext cx="82296" cy="205740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428853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3982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50608" y="4288536"/>
            <a:ext cx="4361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Mashqdan keyin — albatta!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37176"/>
            <a:ext cx="49103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Shu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Deny qoidasini o‘chiring</a:t>
            </a:r>
            <a:r>
              <a:rPr sz="1250">
                <a:solidFill>
                  <a:srgbClr val="202A38"/>
                </a:solidFill>
                <a:latin typeface="Times New Roman"/>
              </a:rPr>
              <a:t>: qoida ustida o‘ng tugma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Delete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50">
                <a:solidFill>
                  <a:srgbClr val="202A38"/>
                </a:solidFill>
                <a:latin typeface="Times New Roman"/>
              </a:rPr>
              <a:t>. Aks holda registr muharririni umuman ocha olmaysiz.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QO‘SHIMCHA MASHQLAR —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D mashq — Audit only rejimi va AppLocker jurnali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6537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AppLocker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ustida o‘ng tugma → Properties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Enforcement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Executable rules: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Configured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+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Audit only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OK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2032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42032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Ish stolidagi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ishga tushiring — endi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ochiladi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 (Audit rejimida hech narsa bloklanmaydi).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38144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… → AppLocker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EXE and DLL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yangi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 hodisasi: “…would have been prevented from running…”.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34256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55371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Rejimni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Enforce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ga qaytaring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yana bloklanadi, jurnalga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 yoziladi.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645920"/>
            <a:ext cx="5093208" cy="11430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755648"/>
            <a:ext cx="477316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7EE08F"/>
                </a:solidFill>
                <a:latin typeface="Consolas"/>
              </a:rPr>
              <a:t># jurnalni PowerShelldan o‘qish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Get-WinEvent -LogName "Microsoft-Windows-AppLocker/EXE and DLL" `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  -MaxEvents 5 | Format-Table TimeCreated, Id, Message -Wrap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37960" y="2971800"/>
          <a:ext cx="509320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90448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Hodisa kodi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Ma’nosi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16" b="1">
                          <a:solidFill>
                            <a:srgbClr val="178A73"/>
                          </a:solidFill>
                          <a:latin typeface="Consolas"/>
                        </a:rPr>
                        <a:t>8002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Dasturga ruxsat berildi (Allow qoidasiga tushdi)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16" b="1">
                          <a:solidFill>
                            <a:srgbClr val="178A73"/>
                          </a:solidFill>
                          <a:latin typeface="Consolas"/>
                        </a:rPr>
                        <a:t>8003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Audit only: bloklangan bo‘lardi, lekin ruxsat berildi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16" b="1">
                          <a:solidFill>
                            <a:srgbClr val="178A73"/>
                          </a:solidFill>
                          <a:latin typeface="Consolas"/>
                        </a:rPr>
                        <a:t>8004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Enforce rules: dastur bloklandi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537960" y="5257800"/>
            <a:ext cx="5093208" cy="960120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5545836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5257800"/>
            <a:ext cx="42702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Natija: </a:t>
            </a:r>
            <a:r>
              <a:rPr sz="1200">
                <a:solidFill>
                  <a:srgbClr val="202A38"/>
                </a:solidFill>
                <a:latin typeface="Times New Roman"/>
              </a:rPr>
              <a:t>Audit only — “xavfsiz sinov”: qoidalar hech kimga xalaqit bermay, nimani bloklashi mumkinligini jurnal orqali ko‘rsatadi.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657600" y="635508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Audit only mode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5486400" y="6355080"/>
            <a:ext cx="12527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Event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AMALIY AHAMIYATI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Audit only → Enforce: real tashkilotlarda qanday amalga oshiriladi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 w="1905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828800"/>
            <a:ext cx="640080" cy="6400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1982419"/>
            <a:ext cx="332842" cy="3328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2768" y="18288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E08E1D"/>
                </a:solidFill>
                <a:latin typeface="Times New Roman"/>
              </a:rPr>
              <a:t>Audit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060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Hech narsa bloklanmaydi.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Har bir “bloklangan bo‘lardi” holati jurnalga yoziladi —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 hodisasi.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Maqsad: foydalanuvchilar zarar ko‘rishidan OLDIN qoidalar nimani unutganini topish.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4592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18288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1982419"/>
            <a:ext cx="332842" cy="3328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96328" y="18288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C0392B"/>
                </a:solidFill>
                <a:latin typeface="Times New Roman"/>
              </a:rPr>
              <a:t>Enforce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6060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Ruxsat berilmagan hamma narsa bloklanadi.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Bloklangan ishga tushirishlar jurnalga yoziladi —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 hodisasi.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Faqat audit jurnali “toza” bo‘lgandan keyingina yoqing.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8988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Qoidalar + Audit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720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016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1–2 hafta: </a:t>
            </a:r>
            <a:r>
              <a:rPr sz="1069" b="1">
                <a:solidFill>
                  <a:srgbClr val="178A73"/>
                </a:solidFill>
                <a:latin typeface="Consolas"/>
              </a:rPr>
              <a:t>8003</a:t>
            </a:r>
            <a:r>
              <a:rPr sz="1150">
                <a:solidFill>
                  <a:srgbClr val="202A38"/>
                </a:solidFill>
                <a:latin typeface="Times New Roman"/>
              </a:rPr>
              <a:t> hodisalarini o‘qish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748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7044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Yetishmayotgan Allow qoidalarini qo‘shish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1072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Enforce ga o‘tish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804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51008" y="4206240"/>
            <a:ext cx="457200" cy="45720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8004</a:t>
            </a:r>
            <a:r>
              <a:rPr sz="1150">
                <a:solidFill>
                  <a:srgbClr val="202A38"/>
                </a:solidFill>
                <a:latin typeface="Times New Roman"/>
              </a:rPr>
              <a:t> hodisalarini kuzatish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Nega avval Audit only?</a:t>
            </a:r>
            <a:r>
              <a:rPr sz="1250">
                <a:solidFill>
                  <a:srgbClr val="202A38"/>
                </a:solidFill>
                <a:latin typeface="Times New Roman"/>
              </a:rPr>
              <a:t> Qoidalar birdaniga Enforce qilinsa, xodimlarning ish dasturlari to‘satdan bloklanib qolishi mumkin. Laboratoriyada buni daqiqalarga qisqartiramiz — lekin tartib o‘sha-o‘sha.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QO‘SHIMCHA MASHQLAR —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 mashq — qoidani buyruq qatoridan oldindan sinash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Faylni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ishga tushirmasdan</a:t>
            </a:r>
            <a:r>
              <a:rPr sz="1300">
                <a:solidFill>
                  <a:srgbClr val="202A38"/>
                </a:solidFill>
                <a:latin typeface="Times New Roman"/>
              </a:rPr>
              <a:t> turib, siyosat unga ruxsat beradimi — </a:t>
            </a:r>
            <a:r>
              <a:rPr sz="1209" b="1">
                <a:solidFill>
                  <a:srgbClr val="178A73"/>
                </a:solidFill>
                <a:latin typeface="Consolas"/>
              </a:rPr>
              <a:t>Test-AppLockerPolicy</a:t>
            </a:r>
            <a:r>
              <a:rPr sz="1300">
                <a:solidFill>
                  <a:srgbClr val="202A38"/>
                </a:solidFill>
                <a:latin typeface="Times New Roman"/>
              </a:rPr>
              <a:t> bilan tekshiriladi: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6355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$p = Get-AppLockerPolicy -Effective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$p | Test-AppLockerPolicy -Path "$env:USERPROFILE\Desktop\charmap.exe" -User Everyone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$p | Test-AppLockerPolicy -Path C:\Windows\System32\notepad.exe -User Everyone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103120"/>
            <a:ext cx="1783080" cy="41148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onsolas"/>
              </a:rPr>
              <a:t>Allowed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103120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ruxsat bor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606039"/>
            <a:ext cx="1783080" cy="41148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onsolas"/>
              </a:rPr>
              <a:t>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606039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aniq Deny qoidasi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108960"/>
            <a:ext cx="1783080" cy="41148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onsolas"/>
              </a:rPr>
              <a:t>DeniedByDefault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108960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hech qaysi Allow’ga tushmadi — implicit deny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4903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9" b="1">
                <a:solidFill>
                  <a:srgbClr val="178A73"/>
                </a:solidFill>
                <a:latin typeface="Consolas"/>
              </a:rPr>
              <a:t>PolicyDecision</a:t>
            </a:r>
            <a:r>
              <a:rPr sz="1300">
                <a:solidFill>
                  <a:srgbClr val="202A38"/>
                </a:solidFill>
                <a:latin typeface="Times New Roman"/>
              </a:rPr>
              <a:t> ustuni qarorni, </a:t>
            </a:r>
            <a:r>
              <a:rPr sz="1209" b="1">
                <a:solidFill>
                  <a:srgbClr val="178A73"/>
                </a:solidFill>
                <a:latin typeface="Consolas"/>
              </a:rPr>
              <a:t>MatchingRule</a:t>
            </a:r>
            <a:r>
              <a:rPr sz="1300">
                <a:solidFill>
                  <a:srgbClr val="202A38"/>
                </a:solidFill>
                <a:latin typeface="Times New Roman"/>
              </a:rPr>
              <a:t> ustuni esa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qaysi qoida ishlaganini</a:t>
            </a:r>
            <a:r>
              <a:rPr sz="1300">
                <a:solidFill>
                  <a:srgbClr val="202A38"/>
                </a:solidFill>
                <a:latin typeface="Times New Roman"/>
              </a:rPr>
              <a:t> ko‘rsatadi.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97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Siyosatni faylga zaxiralash (import yoki tekshiruv uchun):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09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18888"/>
            <a:ext cx="10744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6EDF5"/>
                </a:solidFill>
                <a:latin typeface="Consolas"/>
              </a:rPr>
              <a:t>PS&gt; Get-AppLockerPolicy -Local -Xml | Out-File "$env:USERPROFILE\Desktop\applocker_backup.xml"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15000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52728" y="5577840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qoidani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foydalanuvchiga zarar yetkazmasdan</a:t>
            </a:r>
            <a:r>
              <a:rPr sz="1250">
                <a:solidFill>
                  <a:srgbClr val="202A38"/>
                </a:solidFill>
                <a:latin typeface="Times New Roman"/>
              </a:rPr>
              <a:t> oldindan sinash va siyosatni hujjatlashtirish mumkin — auditorlar va administratorlar uchun qulay usul.</a:t>
            </a:r>
          </a:p>
        </p:txBody>
      </p:sp>
      <p:sp>
        <p:nvSpPr>
          <p:cNvPr id="24" name="Rounded Rectangle 23">
            <a:hlinkClick action="ppaction://hlinksldjump" r:id="rId4"/>
          </p:cNvPr>
          <p:cNvSpPr/>
          <p:nvPr/>
        </p:nvSpPr>
        <p:spPr>
          <a:xfrm>
            <a:off x="3657600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YAKUN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Laboratoriyani avvalgi holatga qaytarish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secpol.msc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Application Control Policies → AppLocker: barcha to‘plamlardagi qoidalarni belgilab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Delete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40864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45973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40864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AppLocker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Properties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barcha to‘plamlarda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Configured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belgisini olib tashlang.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35808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546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35808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Administrator PowerShellda: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30752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849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30752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Servisni qaytaring (ixtiyoriy):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config appidsvc start= demand</a:t>
            </a:r>
            <a:r>
              <a:rPr sz="1200">
                <a:solidFill>
                  <a:srgbClr val="202A38"/>
                </a:solidFill>
                <a:latin typeface="Times New Roman"/>
              </a:rPr>
              <a:t>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stop appidsvc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25696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54456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25696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App execution aliases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oynasida Notepadni yana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qiling.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20640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523951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20640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Test fayllarni o‘chiring: </a:t>
            </a: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,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(Ish stoli), </a:t>
            </a:r>
            <a:r>
              <a:rPr sz="1116" b="1">
                <a:solidFill>
                  <a:srgbClr val="178A73"/>
                </a:solidFill>
                <a:latin typeface="Consolas"/>
              </a:rPr>
              <a:t>abc.exe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(Documents).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1645920"/>
            <a:ext cx="3904487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1645920"/>
            <a:ext cx="82296" cy="2194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55279" y="17739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ot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7" y="1883664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22207" y="1773936"/>
            <a:ext cx="29900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Eng oson yo‘l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322576"/>
            <a:ext cx="3538727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Amaliyot virtual mashinada bajarilgan bo‘lsa — oldin olingan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snapshotga qaytish</a:t>
            </a:r>
            <a:r>
              <a:rPr sz="1250">
                <a:solidFill>
                  <a:srgbClr val="202A38"/>
                </a:solidFill>
                <a:latin typeface="Times New Roman"/>
              </a:rPr>
              <a:t> (Restore). Hammasi bir daqiqada avvalgi holatiga qaytadi.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4023360"/>
            <a:ext cx="3904487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4023360"/>
            <a:ext cx="82296" cy="21945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79" y="415137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7" y="4261104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22207" y="4151376"/>
            <a:ext cx="29900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Nega muhim?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700016"/>
            <a:ext cx="3538727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Qoidalar o‘chirilgach, AppLocker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hech narsani bloklamaydi</a:t>
            </a:r>
            <a:r>
              <a:rPr sz="1200">
                <a:solidFill>
                  <a:srgbClr val="202A38"/>
                </a:solidFill>
                <a:latin typeface="Times New Roman"/>
              </a:rPr>
              <a:t>. Unutilgan Deny yoki Default rules keyingi mashg‘ulotlarda kutilmagan bloklashlarga olib kelishi mumkin. Ishonch uchun kompyuterni bir marta qayta yuklash ham mumkin.</a:t>
            </a:r>
          </a:p>
        </p:txBody>
      </p:sp>
      <p:sp>
        <p:nvSpPr>
          <p:cNvPr id="38" name="Rounded Rectangle 37">
            <a:hlinkClick action="ppaction://hlinksldjump" r:id="rId5"/>
          </p:cNvPr>
          <p:cNvSpPr/>
          <p:nvPr/>
        </p:nvSpPr>
        <p:spPr>
          <a:xfrm>
            <a:off x="3657600" y="6355080"/>
            <a:ext cx="11750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Snapshot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2.1-TOPSHIRIQ — NOSOZLIKLARNI BARTARAF ETISH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AppLocker ishlamayaptimi? — avval shularni tekshiring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45920"/>
          <a:ext cx="11064239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383280"/>
                <a:gridCol w="3931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Belgi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Ehtimoliy sabab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Yechim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Qoida bor, lekin dastur baribir ishga tushyapti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Application Identity servisi to‘xtatilgan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sc start appidsvc</a:t>
                      </a:r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 → </a:t>
                      </a:r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gpupdate /force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Umuman hech narsa bloklanmayapti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Rejim “Audit only”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Enforcement → Enforce rules → </a:t>
                      </a:r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gpupdate /force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Qoidalardan keyin Windows ilovalari ishlamay qoldi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Standart qoidalar yaratilmagan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Create Default Rules; kerak bo‘lsa snapshotni tiklang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O‘zgarishlar qo‘llanmayapti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Siyosat yangilanmagan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gpupdate /force</a:t>
                      </a:r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 yoki tizimdan chiqib, qayta kiring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Ruxsat berilgan Notepad bloklanyapti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Windows yangi (Store) Notepadni ochmoqda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App execution aliases → Notepad = Off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“Run as administrator” bilan bloklangan dastur ochildi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Administrators — (All files) qoidasi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Kutilgan holat: kundalik ishni standart hisobda bajaring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AppLocker umuman yo‘q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Home nashri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Pro / Enterprise / Education VMdan foydalaning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2.2-topshiriq — SmartScreen sozlamalari: beshta parametr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Start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Windows Security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oching.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3774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App &amp; browser control</a:t>
            </a:r>
            <a:r>
              <a:rPr sz="1200">
                <a:solidFill>
                  <a:srgbClr val="202A38"/>
                </a:solidFill>
                <a:latin typeface="Times New Roman"/>
              </a:rPr>
              <a:t> bo‘limiga o‘ting.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2608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2608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Reputation-based protection settings</a:t>
            </a:r>
            <a:r>
              <a:rPr sz="1200">
                <a:solidFill>
                  <a:srgbClr val="202A38"/>
                </a:solidFill>
                <a:latin typeface="Times New Roman"/>
              </a:rPr>
              <a:t> havolasini bosing.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703320"/>
            <a:ext cx="3749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703320"/>
            <a:ext cx="3749040" cy="2377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1264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17-rasm. “App &amp; browser control” — Reputation-based protection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645920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1801368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645920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Check apps and files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yuklangan faylni ishga tushishdan oldin tekshiradi (kam tanilgan setup.exe ni to‘xtatadi)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414016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6320" y="2569464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414016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SmartScreen for Microsoft Edge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Edge’da xavfli sayt va yuklamalarni bloklaydi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182112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46320" y="3337560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182112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Phishing protection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Windows parolini soxta saytga yozsangiz ogohlantiradi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950208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46320" y="4105656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950208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Potentially unwanted app blocking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reklama/keraksiz ilovalar (PUA): Block apps + Block downloads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4718304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6320" y="4873752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718304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SmartScreen for Microsoft Store apps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Store ilovalari ochadigan veb-manzillarni tekshiradi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5532120"/>
            <a:ext cx="6876288" cy="731520"/>
          </a:xfrm>
          <a:prstGeom prst="roundRect">
            <a:avLst>
              <a:gd name="adj" fmla="val 10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5532120"/>
            <a:ext cx="6583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SmartScreen nimani tekshiradi?</a:t>
            </a:r>
            <a:r>
              <a:rPr sz="1150">
                <a:solidFill>
                  <a:srgbClr val="202A38"/>
                </a:solidFill>
                <a:latin typeface="Times New Roman"/>
              </a:rPr>
              <a:t> Faqat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internetdan yuklangan</a:t>
            </a:r>
            <a:r>
              <a:rPr sz="1150">
                <a:solidFill>
                  <a:srgbClr val="202A38"/>
                </a:solidFill>
                <a:latin typeface="Times New Roman"/>
              </a:rPr>
              <a:t> fayllarni — brauzer ularga yashirin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Mark of the Web</a:t>
            </a:r>
            <a:r>
              <a:rPr sz="1150">
                <a:solidFill>
                  <a:srgbClr val="202A38"/>
                </a:solidFill>
                <a:latin typeface="Times New Roman"/>
              </a:rPr>
              <a:t> belgisini qo‘yadi. Fleshkadan nusxalangan faylda bu belgi yo‘q.</a:t>
            </a:r>
          </a:p>
        </p:txBody>
      </p:sp>
      <p:sp>
        <p:nvSpPr>
          <p:cNvPr id="37" name="Rounded Rectangle 36">
            <a:hlinkClick action="ppaction://hlinksldjump" r:id="rId4"/>
          </p:cNvPr>
          <p:cNvSpPr/>
          <p:nvPr/>
        </p:nvSpPr>
        <p:spPr>
          <a:xfrm>
            <a:off x="3657600" y="637336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Mark of the Web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2.2 — SINOV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Sinov: SmartScreen’ni xavfsiz tekshirish (demo.smartscreen.msft.net)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4846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114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Microsoft Edge’da </a:t>
            </a:r>
            <a:r>
              <a:rPr sz="1116" b="1">
                <a:solidFill>
                  <a:srgbClr val="178A73"/>
                </a:solidFill>
                <a:latin typeface="Consolas"/>
              </a:rPr>
              <a:t>https://demo.smartscreen.msft.net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oching — haqiqiy virus yo‘q, faqat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demo</a:t>
            </a:r>
            <a:r>
              <a:rPr sz="1200">
                <a:solidFill>
                  <a:srgbClr val="202A38"/>
                </a:solidFill>
                <a:latin typeface="Times New Roman"/>
              </a:rPr>
              <a:t> fayllar.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05456"/>
            <a:ext cx="4846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05456"/>
            <a:ext cx="4114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Unknown Program</a:t>
            </a:r>
            <a:r>
              <a:rPr sz="1200">
                <a:solidFill>
                  <a:srgbClr val="202A38"/>
                </a:solidFill>
                <a:latin typeface="Times New Roman"/>
              </a:rPr>
              <a:t> havolasini bosing. Edge: “isn’t commonly downloaded”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Keep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64992"/>
            <a:ext cx="4846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64992"/>
            <a:ext cx="4114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SmartScreen yana so‘raydi — </a:t>
            </a:r>
            <a:r>
              <a:rPr sz="1116" b="1">
                <a:solidFill>
                  <a:srgbClr val="178A73"/>
                </a:solidFill>
                <a:latin typeface="Consolas"/>
              </a:rPr>
              <a:t>Keep anyway</a:t>
            </a:r>
            <a:r>
              <a:rPr sz="1200">
                <a:solidFill>
                  <a:srgbClr val="202A38"/>
                </a:solidFill>
                <a:latin typeface="Times New Roman"/>
              </a:rPr>
              <a:t> bilan davom eting.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0048" y="1645920"/>
            <a:ext cx="413634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48" y="1645920"/>
            <a:ext cx="4136343" cy="2057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23560" y="37490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18-rasm. demo.smartscreen.msft.net — SmartScreen sinov sayti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" y="42519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251960"/>
            <a:ext cx="1920240" cy="1280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19-rasm. Yuklab olishda ogohlantirish — “Keep”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35169" y="4251960"/>
            <a:ext cx="987861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169" y="4251960"/>
            <a:ext cx="987861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63240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20-rasm. “Keep anyway” bilan davom ettirish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160520"/>
            <a:ext cx="5989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23560" y="4160520"/>
            <a:ext cx="82296" cy="20574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52160" y="42885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4398264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19088" y="4288536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Natija — nega ogohlantirdi?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837176"/>
            <a:ext cx="562356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Edge faylni “zararli” demadi, balki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kam tanilgan / obro‘si past</a:t>
            </a:r>
            <a:r>
              <a:rPr sz="1150">
                <a:solidFill>
                  <a:srgbClr val="202A38"/>
                </a:solidFill>
                <a:latin typeface="Times New Roman"/>
              </a:rPr>
              <a:t> dedi. Bu — SmartScreen’ning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obro‘ tekshiruvi</a:t>
            </a:r>
            <a:r>
              <a:rPr sz="1150">
                <a:solidFill>
                  <a:srgbClr val="202A38"/>
                </a:solidFill>
                <a:latin typeface="Times New Roman"/>
              </a:rPr>
              <a:t>: fayl yangi bo‘lgani uchun Microsoft bazasida yetarli “ishonch” yo‘q. Solishtiring: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Known Malicious</a:t>
            </a:r>
            <a:r>
              <a:rPr sz="1150">
                <a:solidFill>
                  <a:srgbClr val="202A38"/>
                </a:solidFill>
                <a:latin typeface="Times New Roman"/>
              </a:rPr>
              <a:t> yoki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Phishing Page</a:t>
            </a:r>
            <a:r>
              <a:rPr sz="1150">
                <a:solidFill>
                  <a:srgbClr val="202A38"/>
                </a:solidFill>
                <a:latin typeface="Times New Roman"/>
              </a:rPr>
              <a:t> havolalarini Edge umuman ochmaydi — qizil ogohlantirish.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2.2 — SINOV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“Windows protected your PC” — SmartScreen ogohlantirishi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Yuklangan faylni ishga tushiring → ko‘k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“Windows protected your PC”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 oynasi.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05456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05456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More info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bosing: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fayl nomi,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Publisher: Unknown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fayl imzosiz.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64992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64992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Shundagina </a:t>
            </a:r>
            <a:r>
              <a:rPr sz="1116" b="1">
                <a:solidFill>
                  <a:srgbClr val="178A73"/>
                </a:solidFill>
                <a:latin typeface="Consolas"/>
              </a:rPr>
              <a:t>Run anyway</a:t>
            </a:r>
            <a:r>
              <a:rPr sz="1200">
                <a:solidFill>
                  <a:srgbClr val="202A38"/>
                </a:solidFill>
                <a:latin typeface="Times New Roman"/>
              </a:rPr>
              <a:t> paydo bo‘ladi — uni bosmang, </a:t>
            </a:r>
            <a:r>
              <a:rPr sz="1116" b="1">
                <a:solidFill>
                  <a:srgbClr val="178A73"/>
                </a:solidFill>
                <a:latin typeface="Consolas"/>
              </a:rPr>
              <a:t>Don’t run</a:t>
            </a:r>
            <a:r>
              <a:rPr sz="1200">
                <a:solidFill>
                  <a:srgbClr val="202A38"/>
                </a:solidFill>
                <a:latin typeface="Times New Roman"/>
              </a:rPr>
              <a:t> bilan yoping.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24528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24528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Qo‘shimcha: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Potentially Unwanted Application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havolasi — PUA blocking yoqilgan bo‘lsa, Edge yuklamani bloklaydi.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5451" y="1645920"/>
            <a:ext cx="449417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451" y="1645920"/>
            <a:ext cx="4494178" cy="3017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470916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21-rasm. SmartScreen ogohlantirishi va “More info → Run anyway”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07492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5074920"/>
            <a:ext cx="82296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20293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Adashtirmang!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86984"/>
            <a:ext cx="5074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Oyna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chiqmasdan</a:t>
            </a:r>
            <a:r>
              <a:rPr sz="1150">
                <a:solidFill>
                  <a:srgbClr val="202A38"/>
                </a:solidFill>
                <a:latin typeface="Times New Roman"/>
              </a:rPr>
              <a:t> dastur ochilsa: (1) MOTW yo‘q; (2) avval “Run anyway” bosilgan — SmartScreen eslab qoladi; (3)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Check apps and files</a:t>
            </a:r>
            <a:r>
              <a:rPr sz="1150">
                <a:solidFill>
                  <a:srgbClr val="202A38"/>
                </a:solidFill>
                <a:latin typeface="Times New Roman"/>
              </a:rPr>
              <a:t> o‘chiq.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074920"/>
            <a:ext cx="5394960" cy="1188720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77256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074920"/>
            <a:ext cx="4572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Natija: </a:t>
            </a:r>
            <a:r>
              <a:rPr sz="1200">
                <a:solidFill>
                  <a:srgbClr val="202A38"/>
                </a:solidFill>
                <a:latin typeface="Times New Roman"/>
              </a:rPr>
              <a:t>SmartScreen dastur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ishga tushishidan OLDIN</a:t>
            </a:r>
            <a:r>
              <a:rPr sz="1200">
                <a:solidFill>
                  <a:srgbClr val="202A38"/>
                </a:solidFill>
                <a:latin typeface="Times New Roman"/>
              </a:rPr>
              <a:t> to‘xtatadi va foydalanuvchini o‘ylashga majbur qiladi.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2.3-topshiriq — Mark of the Web: yuklangan fayl belgisini o‘qish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Belgi faylning ichida emas, NTFS’dagi yashirin </a:t>
            </a:r>
            <a:r>
              <a:rPr sz="1162" b="1">
                <a:solidFill>
                  <a:srgbClr val="178A73"/>
                </a:solidFill>
                <a:latin typeface="Consolas"/>
              </a:rPr>
              <a:t>Zone.Identifier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oqimida (alternate data stream) saqlanadi.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 mashq:</a:t>
            </a:r>
            <a:r>
              <a:rPr sz="1250">
                <a:solidFill>
                  <a:srgbClr val="202A38"/>
                </a:solidFill>
                <a:latin typeface="Times New Roman"/>
              </a:rPr>
              <a:t> 2.2-topshiriqda yuklangan fayl oqimlarini ko‘ring: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68880"/>
            <a:ext cx="5760720" cy="21488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78608"/>
            <a:ext cx="54406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cd $env:USERPROFILE\Downloads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Get-Item .\freevideo.exe -Stream *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Get-Content .\freevideo.exe -Stream Zone.Identifier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[ZoneTransfer]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ZoneId=3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ReferrerUrl=https://demo.smartscreen.msft.net/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HostUrl=https://.../freevideo.exe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37960" y="1645920"/>
          <a:ext cx="509320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00200"/>
                <a:gridCol w="2670048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ZoneId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Zona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Ma’nosi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Local computer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Shu kompyuterda yaratilgan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Local intranet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Ichki tarmoq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Trusted sites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Ishonchli saytlar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</a:rPr>
                        <a:t>Internet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</a:rPr>
                        <a:t>Internetdan — SmartScreen tekshiradi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Restricted sites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Xavfli deb belgilangan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35652" y="4389120"/>
            <a:ext cx="449782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52" y="4389120"/>
            <a:ext cx="4497823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60" y="5760720"/>
            <a:ext cx="5093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22-rasm. SmartScreen va Mark of the Web (Zone.Identifier)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00600"/>
            <a:ext cx="5760720" cy="1417320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317236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52728" y="4800600"/>
            <a:ext cx="49377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Natija: </a:t>
            </a:r>
            <a:r>
              <a:rPr sz="1116" b="1">
                <a:solidFill>
                  <a:srgbClr val="178A73"/>
                </a:solidFill>
                <a:latin typeface="Consolas"/>
              </a:rPr>
              <a:t>HostUrl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fayl qayerdan yuklanganini, </a:t>
            </a:r>
            <a:r>
              <a:rPr sz="1116" b="1">
                <a:solidFill>
                  <a:srgbClr val="178A73"/>
                </a:solidFill>
                <a:latin typeface="Consolas"/>
              </a:rPr>
              <a:t>ReferrerUrl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qaysi sahifadan havola bosilganini ko‘rsatadi. Kriminalist birinchi bo‘lib shu belgini o‘qiydi.</a:t>
            </a:r>
          </a:p>
        </p:txBody>
      </p:sp>
      <p:sp>
        <p:nvSpPr>
          <p:cNvPr id="18" name="Rounded Rectangle 17">
            <a:hlinkClick action="ppaction://hlinksldjump" r:id="rId5"/>
          </p:cNvPr>
          <p:cNvSpPr/>
          <p:nvPr/>
        </p:nvSpPr>
        <p:spPr>
          <a:xfrm>
            <a:off x="3657600" y="635508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Mark of the Web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B va C mashqlar — belgini olib tashlash va o‘z test faylingiz bilan sinash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B mashq — Unblock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Fayl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Properties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General pastida: “This file came from another computer…” + </a:t>
            </a:r>
            <a:r>
              <a:rPr sz="1116" b="1">
                <a:solidFill>
                  <a:srgbClr val="178A73"/>
                </a:solidFill>
                <a:latin typeface="Consolas"/>
              </a:rPr>
              <a:t>Unblock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bu MOTWning grafik ko‘rinishi. Buyruq bilan: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97480"/>
            <a:ext cx="5577840" cy="7772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07208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Unblock-File .\freevideo.exe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Get-Item .\freevideo.exe -Stream *   # faqat :$DATA qoladi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11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C mashq — o‘zingiz yaratgan test fayl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77639"/>
            <a:ext cx="5577840" cy="2240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087367"/>
            <a:ext cx="52578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7EE08F"/>
                </a:solidFill>
                <a:latin typeface="Consolas"/>
              </a:rPr>
              <a:t># 1) Windows PowerShell 5.1 — zararsiz test dastur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$src = 'public class T { public static void Main() {'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$src += ' System.Console.WriteLine("SmartScreen test"); System.Console.ReadLine(); } }'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Add-Type -TypeDefinition $src -OutputType ConsoleApplication `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  -OutputAssembly "$env:USERPROFILE\Desktop\sstest.exe"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7EE08F"/>
                </a:solidFill>
                <a:latin typeface="Consolas"/>
              </a:rPr>
              <a:t># 3) “internetdan kelgan” belgisini qo‘lda qo‘shish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Set-Content "$env:USERPROFILE\Desktop\sstest.exe" -Stream Zone.Identifier `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  -Value "[ZoneTransfer]`r`nZoneId=3"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45920"/>
            <a:ext cx="527608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645920"/>
            <a:ext cx="454456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sstest.exe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ikki marta bosing —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ogohlantirishsiz</a:t>
            </a:r>
            <a:r>
              <a:rPr sz="1200">
                <a:solidFill>
                  <a:srgbClr val="202A38"/>
                </a:solidFill>
                <a:latin typeface="Times New Roman"/>
              </a:rPr>
              <a:t> ochiladi (MOTW yo‘q).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05456"/>
            <a:ext cx="527608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3952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505456"/>
            <a:ext cx="454456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Belgini qo‘shing (kod, 3-qadam) va yana bosing —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“Windows protected your PC”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, Publisher: Unknown.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364992"/>
            <a:ext cx="527608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2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364992"/>
            <a:ext cx="454456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Unblock-File</a:t>
            </a:r>
            <a:r>
              <a:rPr sz="1200">
                <a:solidFill>
                  <a:srgbClr val="202A38"/>
                </a:solidFill>
                <a:latin typeface="Times New Roman"/>
              </a:rPr>
              <a:t> bilan belgini olib tashlang — ogohlantirish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yo‘qoladi</a:t>
            </a:r>
            <a:r>
              <a:rPr sz="1200">
                <a:solidFill>
                  <a:srgbClr val="202A38"/>
                </a:solidFill>
                <a:latin typeface="Times New Roman"/>
              </a:rPr>
              <a:t>. Oxirida faylni o‘chiring.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251960"/>
            <a:ext cx="5276088" cy="196596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251960"/>
            <a:ext cx="82296" cy="19659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437997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4489704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50608" y="4379976"/>
            <a:ext cx="4361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Muhim nyuanslar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28616"/>
            <a:ext cx="4910328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23" b="1">
                <a:solidFill>
                  <a:srgbClr val="178A73"/>
                </a:solidFill>
                <a:latin typeface="Consolas"/>
              </a:rPr>
              <a:t>-OutputType ConsoleApplication</a:t>
            </a:r>
            <a:r>
              <a:rPr sz="1100">
                <a:solidFill>
                  <a:srgbClr val="202A38"/>
                </a:solidFill>
                <a:latin typeface="Times New Roman"/>
              </a:rPr>
              <a:t> faqat </a:t>
            </a:r>
            <a:r>
              <a:rPr sz="1100" b="1">
                <a:solidFill>
                  <a:srgbClr val="1F3864"/>
                </a:solidFill>
                <a:latin typeface="Times New Roman"/>
              </a:rPr>
              <a:t>Windows PowerShell 5.1</a:t>
            </a:r>
            <a:r>
              <a:rPr sz="1100">
                <a:solidFill>
                  <a:srgbClr val="202A38"/>
                </a:solidFill>
                <a:latin typeface="Times New Roman"/>
              </a:rPr>
              <a:t> da ishlaydi.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>
                <a:solidFill>
                  <a:srgbClr val="202A38"/>
                </a:solidFill>
                <a:latin typeface="Times New Roman"/>
              </a:rPr>
              <a:t>SmartScreen faylni </a:t>
            </a:r>
            <a:r>
              <a:rPr sz="1100" b="1">
                <a:solidFill>
                  <a:srgbClr val="1F3864"/>
                </a:solidFill>
                <a:latin typeface="Times New Roman"/>
              </a:rPr>
              <a:t>Explorer orqali</a:t>
            </a:r>
            <a:r>
              <a:rPr sz="1100">
                <a:solidFill>
                  <a:srgbClr val="202A38"/>
                </a:solidFill>
                <a:latin typeface="Times New Roman"/>
              </a:rPr>
              <a:t> ochilganda tekshiradi; </a:t>
            </a:r>
            <a:r>
              <a:rPr sz="1023" b="1">
                <a:solidFill>
                  <a:srgbClr val="178A73"/>
                </a:solidFill>
                <a:latin typeface="Consolas"/>
              </a:rPr>
              <a:t>.\sstest.exe</a:t>
            </a:r>
            <a:r>
              <a:rPr sz="1100">
                <a:solidFill>
                  <a:srgbClr val="202A38"/>
                </a:solidFill>
                <a:latin typeface="Times New Roman"/>
              </a:rPr>
              <a:t> dan odatda ogohlantirish chiqmaydi.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>
                <a:solidFill>
                  <a:srgbClr val="202A38"/>
                </a:solidFill>
                <a:latin typeface="Times New Roman"/>
              </a:rPr>
              <a:t>Hujumchilar MOTWni yo‘qotishga urinadi (arxiv / disk obrazi ichida yuborish).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YAKUNIY AMALIY 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Laboratoriya topshirig‘i — mustaqil bajaring va hisobot topshiring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" y="1905975"/>
            <a:ext cx="266274" cy="266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1645920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UAC: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“Always notify” holatiga o‘tkazing — sozlamalar oynasi skrinshoti +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ConsentPromptBehaviorAdmin = 2</a:t>
            </a:r>
            <a:r>
              <a:rPr sz="1200">
                <a:solidFill>
                  <a:srgbClr val="202A38"/>
                </a:solidFill>
                <a:latin typeface="Times New Roman"/>
              </a:rPr>
              <a:t> ni ko‘rsatuvchi PowerShell natijasi.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679192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" y="2802087"/>
            <a:ext cx="266274" cy="266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2542032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AppLocker — qoida:</a:t>
            </a:r>
            <a:r>
              <a:rPr sz="1200">
                <a:solidFill>
                  <a:srgbClr val="202A38"/>
                </a:solidFill>
                <a:latin typeface="Times New Roman"/>
              </a:rPr>
              <a:t> faqat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C:\Windows</a:t>
            </a:r>
            <a:r>
              <a:rPr sz="1200">
                <a:solidFill>
                  <a:srgbClr val="202A38"/>
                </a:solidFill>
                <a:latin typeface="Times New Roman"/>
              </a:rPr>
              <a:t> va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C:\Program Files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dan ishga tushishga ruxsat beruvchi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200">
                <a:solidFill>
                  <a:srgbClr val="202A38"/>
                </a:solidFill>
                <a:latin typeface="Times New Roman"/>
              </a:rPr>
              <a:t> qoidasini yarating.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38144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575304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" y="3698199"/>
            <a:ext cx="266274" cy="2662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5880" y="3438144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AppLocker — sinov:</a:t>
            </a:r>
            <a:r>
              <a:rPr sz="1200">
                <a:solidFill>
                  <a:srgbClr val="202A38"/>
                </a:solidFill>
                <a:latin typeface="Times New Roman"/>
              </a:rPr>
              <a:t> qoidadan tashqaridagi istalgan .exe ni ishga tushiring — bloklanganini skrinshot bilan tasdiqlang (+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34256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471416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95" y="4594311"/>
            <a:ext cx="266274" cy="2662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25880" y="4334256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SmartScreen:</a:t>
            </a:r>
            <a:r>
              <a:rPr sz="1200">
                <a:solidFill>
                  <a:srgbClr val="202A38"/>
                </a:solidFill>
                <a:latin typeface="Times New Roman"/>
              </a:rPr>
              <a:t> noma’lum manbadan kelgan faylni yuklab, ogohlantirish oynasini skrinshot qiling.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645920"/>
            <a:ext cx="4087368" cy="34747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783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Hisobot quyidagilarni o‘z ichiga olishi kerak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31720"/>
            <a:ext cx="3703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Titul varag‘i: F.I.Sh., guruh, sana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Har bir topshiriq uchun izohli skrinshot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1–2 gap: nima qildingiz va nimani ko‘rdingiz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Laboratoriya avvalgi holatga qaytarilgani haqida qayd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O‘zingiz tanlagan 2 ta nazorat savoliga javob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Baholash:</a:t>
            </a:r>
            <a:r>
              <a:rPr sz="1300">
                <a:solidFill>
                  <a:srgbClr val="202A38"/>
                </a:solidFill>
                <a:latin typeface="Times New Roman"/>
              </a:rPr>
              <a:t> UAC — 20% · AppLocker qoidasi — 30% · AppLocker sinovi + jurnal — 30% · SmartScreen — 10% · hisobot sifati — 10%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37360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" y="1851477"/>
            <a:ext cx="247254" cy="247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1645920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UAC darajasi slayder bilan o‘rnatiladi; “Always notify” — eng xavfsizi. GUI va registr (</a:t>
            </a:r>
            <a:r>
              <a:rPr sz="1162" b="1">
                <a:solidFill>
                  <a:srgbClr val="178A73"/>
                </a:solidFill>
                <a:latin typeface="Consolas"/>
              </a:rPr>
              <a:t>EnableLUA</a:t>
            </a:r>
            <a:r>
              <a:rPr sz="1250">
                <a:solidFill>
                  <a:srgbClr val="202A38"/>
                </a:solidFill>
                <a:latin typeface="Times New Roman"/>
              </a:rPr>
              <a:t>, </a:t>
            </a:r>
            <a:r>
              <a:rPr sz="1162" b="1">
                <a:solidFill>
                  <a:srgbClr val="178A73"/>
                </a:solidFill>
                <a:latin typeface="Consolas"/>
              </a:rPr>
              <a:t>ConsentPromptBehaviorAdmin</a:t>
            </a:r>
            <a:r>
              <a:rPr sz="1250">
                <a:solidFill>
                  <a:srgbClr val="202A38"/>
                </a:solidFill>
                <a:latin typeface="Times New Roman"/>
              </a:rPr>
              <a:t>, </a:t>
            </a:r>
            <a:r>
              <a:rPr sz="1162" b="1">
                <a:solidFill>
                  <a:srgbClr val="178A73"/>
                </a:solidFill>
                <a:latin typeface="Consolas"/>
              </a:rPr>
              <a:t>PromptOnSecureDesktop</a:t>
            </a:r>
            <a:r>
              <a:rPr sz="1250">
                <a:solidFill>
                  <a:srgbClr val="202A38"/>
                </a:solidFill>
                <a:latin typeface="Times New Roman"/>
              </a:rPr>
              <a:t>) doim mos kelishi kerak.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04872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496312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17" y="2610429"/>
            <a:ext cx="247254" cy="2472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2404872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Administrator ham kundalik ishni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250">
                <a:solidFill>
                  <a:srgbClr val="202A38"/>
                </a:solidFill>
                <a:latin typeface="Times New Roman"/>
              </a:rPr>
              <a:t> (filtrlangan token) bilan bajaradi;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250">
                <a:solidFill>
                  <a:srgbClr val="202A38"/>
                </a:solidFill>
                <a:latin typeface="Times New Roman"/>
              </a:rPr>
              <a:t> faqat UAC tasdig‘idan keyin.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63824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255264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e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17" y="3369381"/>
            <a:ext cx="247254" cy="2472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5880" y="3163824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AppLocker faqat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50">
                <a:solidFill>
                  <a:srgbClr val="202A38"/>
                </a:solidFill>
                <a:latin typeface="Times New Roman"/>
              </a:rPr>
              <a:t> servisi ishlaganda ishlaydi; avval Default rules, keyin Publisher / Path / File hash qoidalari.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22776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014216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a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17" y="4128333"/>
            <a:ext cx="247254" cy="2472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25880" y="3922776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Implicit deny;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Deny har doim ustun</a:t>
            </a:r>
            <a:r>
              <a:rPr sz="1250">
                <a:solidFill>
                  <a:srgbClr val="202A38"/>
                </a:solidFill>
                <a:latin typeface="Times New Roman"/>
              </a:rPr>
              <a:t>; Default rules bilan administrator “Run as administrator” orqali o‘tib keta oladi.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81728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773168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17" y="4887285"/>
            <a:ext cx="247254" cy="2472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25880" y="4681728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Audit only (</a:t>
            </a:r>
            <a:r>
              <a:rPr sz="1162" b="1">
                <a:solidFill>
                  <a:srgbClr val="178A73"/>
                </a:solidFill>
                <a:latin typeface="Consolas"/>
              </a:rPr>
              <a:t>8003</a:t>
            </a:r>
            <a:r>
              <a:rPr sz="1250">
                <a:solidFill>
                  <a:srgbClr val="202A38"/>
                </a:solidFill>
                <a:latin typeface="Times New Roman"/>
              </a:rPr>
              <a:t>) → Enforce (</a:t>
            </a:r>
            <a:r>
              <a:rPr sz="1162" b="1">
                <a:solidFill>
                  <a:srgbClr val="178A73"/>
                </a:solidFill>
                <a:latin typeface="Consolas"/>
              </a:rPr>
              <a:t>8004</a:t>
            </a:r>
            <a:r>
              <a:rPr sz="1250">
                <a:solidFill>
                  <a:srgbClr val="202A38"/>
                </a:solidFill>
                <a:latin typeface="Times New Roman"/>
              </a:rPr>
              <a:t>), </a:t>
            </a:r>
            <a:r>
              <a:rPr sz="1162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50">
                <a:solidFill>
                  <a:srgbClr val="202A38"/>
                </a:solidFill>
                <a:latin typeface="Times New Roman"/>
              </a:rPr>
              <a:t> bilan qo‘llang; </a:t>
            </a:r>
            <a:r>
              <a:rPr sz="1162" b="1">
                <a:solidFill>
                  <a:srgbClr val="178A73"/>
                </a:solidFill>
                <a:latin typeface="Consolas"/>
              </a:rPr>
              <a:t>Test-AppLockerPolicy</a:t>
            </a:r>
            <a:r>
              <a:rPr sz="1250">
                <a:solidFill>
                  <a:srgbClr val="202A38"/>
                </a:solidFill>
                <a:latin typeface="Times New Roman"/>
              </a:rPr>
              <a:t> bilan oldindan sinang.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40679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5532119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917" y="5646236"/>
            <a:ext cx="247254" cy="24725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25880" y="5440679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SmartScreen — 5 ta sozlama; tekshiruvni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Mark of the Web</a:t>
            </a:r>
            <a:r>
              <a:rPr sz="1250">
                <a:solidFill>
                  <a:srgbClr val="202A38"/>
                </a:solidFill>
                <a:latin typeface="Times New Roman"/>
              </a:rPr>
              <a:t> (</a:t>
            </a:r>
            <a:r>
              <a:rPr sz="1162" b="1">
                <a:solidFill>
                  <a:srgbClr val="178A73"/>
                </a:solidFill>
                <a:latin typeface="Consolas"/>
              </a:rPr>
              <a:t>ZoneId=3</a:t>
            </a:r>
            <a:r>
              <a:rPr sz="1250">
                <a:solidFill>
                  <a:srgbClr val="202A38"/>
                </a:solidFill>
                <a:latin typeface="Times New Roman"/>
              </a:rPr>
              <a:t>) ishga tushiradi; belgi </a:t>
            </a:r>
            <a:r>
              <a:rPr sz="1162" b="1">
                <a:solidFill>
                  <a:srgbClr val="178A73"/>
                </a:solidFill>
                <a:latin typeface="Consolas"/>
              </a:rPr>
              <a:t>Unblock-File</a:t>
            </a:r>
            <a:r>
              <a:rPr sz="1250">
                <a:solidFill>
                  <a:srgbClr val="202A38"/>
                </a:solidFill>
                <a:latin typeface="Times New Roman"/>
              </a:rPr>
              <a:t> bilan olib tashlanadi.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Nazorat savollari — 3-mashg‘ulot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8288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459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AppLocker ishlashi uchun qaysi servis ishga tushirilgan bo‘lishi kerak?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7432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603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“Audit only” va “Enforce Rules” rejimlari orasidagi farq nima?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6576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747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UAC darajasini o‘zgartirish uchun qaysi buyruq qatori vositasidan foydalanish mumkin?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45720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3891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SmartScreen ogohlantirishi chiqqanda foydalanuvchi qanday qo‘shimcha ma’lumot ko‘rishi mumkin?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035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" y="54864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53035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Nima uchun Default Rules yaratmasdan turib maxsus qoida qo‘shish tavsiya etilmaydi?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6459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7648" y="18288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16459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Nega Ish stolidagi dastur oddiy usulda bloklanadi, “Run as administrator” bilan esa ishga tushadi?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5603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7648" y="27432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25603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Path, Publisher va File hash qoidalari fayl qayta nomlanganda yoki ko‘chirilganda qanday ishlaydi?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4747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7648" y="36576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34747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Bitta faylga ham Allow, ham Deny qoidasi to‘g‘ri kelsa, qaysi biri ustun turadi?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3891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27648" y="45720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43891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Mark of the Web nima, u qayerda saqlanadi va uni qanday o‘qish mumkin?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53035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27648" y="54864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53035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Oddiy va administrator PowerShell oynasining integrity level’i qanday farq qiladi va buni qanday tekshirasiz?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234440"/>
            <a:ext cx="1737360" cy="1764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3246120"/>
            <a:ext cx="3959352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Times New Roman"/>
              </a:rPr>
              <a:t>E’TIBORINGIZ UCHUN RAHMAT!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0" i="1">
                <a:solidFill>
                  <a:srgbClr val="C9D6E6"/>
                </a:solidFill>
                <a:latin typeface="Times New Roman"/>
              </a:rPr>
              <a:t>Savollaringiz bo‘lsa, marhamat.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B8C6D8"/>
                </a:solidFill>
                <a:latin typeface="Times New Roman"/>
              </a:rPr>
              <a:t>Keyingi bo‘lim — atamalar lug‘ati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LUG‘AT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Lug‘at — ushbu bo‘limda quyidagilar tushuntiriladi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37</a:t>
            </a:r>
          </a:p>
        </p:txBody>
      </p:sp>
      <p:sp>
        <p:nvSpPr>
          <p:cNvPr id="8" name="Rounded Rectangle 7">
            <a:hlinkClick action="ppaction://hlinksldjump" r:id="rId12"/>
          </p:cNvPr>
          <p:cNvSpPr/>
          <p:nvPr/>
        </p:nvSpPr>
        <p:spPr>
          <a:xfrm>
            <a:off x="566928" y="169164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062886"/>
            <a:ext cx="309068" cy="3090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81328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240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VMning saqlangan holati</a:t>
            </a:r>
          </a:p>
        </p:txBody>
      </p:sp>
      <p:sp>
        <p:nvSpPr>
          <p:cNvPr id="13" name="Rounded Rectangle 12">
            <a:hlinkClick action="ppaction://hlinksldjump" r:id="rId13"/>
          </p:cNvPr>
          <p:cNvSpPr/>
          <p:nvPr/>
        </p:nvSpPr>
        <p:spPr>
          <a:xfrm>
            <a:off x="4288536" y="169164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92024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774" y="2062886"/>
            <a:ext cx="309068" cy="3090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02936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Registry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240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registrdagi nomlangan sozlama</a:t>
            </a:r>
          </a:p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8010144" y="169164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74736" y="192024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82" y="2062886"/>
            <a:ext cx="309068" cy="3090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24544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Integrity 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240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jarayonning ishonch darajasi</a:t>
            </a:r>
          </a:p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566928" y="29260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st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3297326"/>
            <a:ext cx="309068" cy="3090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81328" y="31089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Default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3474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AppLockerning “xavfsizlik to‘ri”</a:t>
            </a:r>
          </a:p>
        </p:txBody>
      </p:sp>
      <p:sp>
        <p:nvSpPr>
          <p:cNvPr id="28" name="Rounded Rectangle 27">
            <a:hlinkClick action="ppaction://hlinksldjump" r:id="rId16"/>
          </p:cNvPr>
          <p:cNvSpPr/>
          <p:nvPr/>
        </p:nvSpPr>
        <p:spPr>
          <a:xfrm>
            <a:off x="4288536" y="29260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53128" y="315468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a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774" y="3297326"/>
            <a:ext cx="309068" cy="3090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02936" y="31089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Implicit deny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3474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ruxsat berilmagan — taqiqlangan</a:t>
            </a:r>
          </a:p>
        </p:txBody>
      </p:sp>
      <p:sp>
        <p:nvSpPr>
          <p:cNvPr id="33" name="Rounded Rectangle 32">
            <a:hlinkClick action="ppaction://hlinksldjump" r:id="rId17"/>
          </p:cNvPr>
          <p:cNvSpPr/>
          <p:nvPr/>
        </p:nvSpPr>
        <p:spPr>
          <a:xfrm>
            <a:off x="8010144" y="29260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74736" y="315468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y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7382" y="3297326"/>
            <a:ext cx="309068" cy="3090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24544" y="31089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Audit only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3474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jurnalga yozadi, bloklamaydi</a:t>
            </a:r>
          </a:p>
        </p:txBody>
      </p:sp>
      <p:sp>
        <p:nvSpPr>
          <p:cNvPr id="38" name="Rounded Rectangle 37">
            <a:hlinkClick action="ppaction://hlinksldjump" r:id="rId18"/>
          </p:cNvPr>
          <p:cNvSpPr/>
          <p:nvPr/>
        </p:nvSpPr>
        <p:spPr>
          <a:xfrm>
            <a:off x="566928" y="41605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38912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zap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166" y="4531766"/>
            <a:ext cx="309068" cy="3090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81328" y="4343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Group Policy refresh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4709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gpupdate /force</a:t>
            </a:r>
          </a:p>
        </p:txBody>
      </p:sp>
      <p:sp>
        <p:nvSpPr>
          <p:cNvPr id="43" name="Rounded Rectangle 42">
            <a:hlinkClick action="ppaction://hlinksldjump" r:id="rId19"/>
          </p:cNvPr>
          <p:cNvSpPr/>
          <p:nvPr/>
        </p:nvSpPr>
        <p:spPr>
          <a:xfrm>
            <a:off x="4288536" y="41605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53128" y="438912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ook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5774" y="4531766"/>
            <a:ext cx="309068" cy="30906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202936" y="4343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Event 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2936" y="4709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tizimning “qora qutisi”</a:t>
            </a:r>
          </a:p>
        </p:txBody>
      </p:sp>
      <p:sp>
        <p:nvSpPr>
          <p:cNvPr id="48" name="Rounded Rectangle 47">
            <a:hlinkClick action="ppaction://hlinksldjump" r:id="rId20"/>
          </p:cNvPr>
          <p:cNvSpPr/>
          <p:nvPr/>
        </p:nvSpPr>
        <p:spPr>
          <a:xfrm>
            <a:off x="8010144" y="41605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74736" y="438912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tag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7382" y="4531766"/>
            <a:ext cx="309068" cy="30906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24544" y="4343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Mark of the Web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24544" y="4709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“internetdan kelgan” belgisi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Har bir atama boshlang‘ich darajaga mos tilda, misol va diagramma bilan tushuntiriladi. Kartochkani bosing — izohga o‘tasiz.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Snapshot (virtual mashina)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38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Snapshot — ma’lum bir paytdagi butun virtual mashinaning saqlangan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“surati”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 — disk, sozlamalar va hatto xotira. Keyinchalik aynan o‘sha holatga bitta bosish bilan qaytish mumkin (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Restore</a:t>
            </a:r>
            <a:r>
              <a:rPr sz="130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Xavfsizlik laboratoriyalarida biz ataylab narsalarni buzamiz: dasturlarni bloklaymiz, UACni o‘zgartiramiz. Snapshot istalgan xatoni bir daqiqada bekor qilish imkonini beradi.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VirtualBox:</a:t>
            </a:r>
            <a:r>
              <a:rPr sz="1300">
                <a:solidFill>
                  <a:srgbClr val="202A38"/>
                </a:solidFill>
                <a:latin typeface="Times New Roman"/>
              </a:rPr>
              <a:t> Machine → Snapshots → Take / Restore.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Snapshot 1 — toza o‘rnatish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2450592"/>
            <a:ext cx="201168" cy="219456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269748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Snapshot 2 — 3-mashg‘ulotdan oldin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3410712"/>
            <a:ext cx="201168" cy="219456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365760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Lab: qoidalar, tajribalar…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4370832"/>
            <a:ext cx="201168" cy="219456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461772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Nimadir buzildi → Restore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Registry value (masalan, EnableLUA)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39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Windows registri — papkalar (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kalitlar — keys</a:t>
            </a:r>
            <a:r>
              <a:rPr sz="1300">
                <a:solidFill>
                  <a:srgbClr val="202A38"/>
                </a:solidFill>
                <a:latin typeface="Times New Roman"/>
              </a:rPr>
              <a:t>) kabi tuzilgan katta sozlamalar bazasi. Kalit ichida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qiymatlar (values)</a:t>
            </a:r>
            <a:r>
              <a:rPr sz="1300">
                <a:solidFill>
                  <a:srgbClr val="202A38"/>
                </a:solidFill>
                <a:latin typeface="Times New Roman"/>
              </a:rPr>
              <a:t> bor: nomi, turi va ma’lumoti. Masalan, </a:t>
            </a:r>
            <a:r>
              <a:rPr sz="1209" b="1">
                <a:solidFill>
                  <a:srgbClr val="178A73"/>
                </a:solidFill>
                <a:latin typeface="Consolas"/>
              </a:rPr>
              <a:t>EnableLUA = 1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Har bir GUI kaliti (masalan, UAC slayderi) aslida shunchaki registr qiymatidir. Qiymatlarni PowerShell bilan o‘qish sozlamani tez, ko‘plab kompyuterlarda va kriminalistik tahlil paytida tekshirish imkonini beradi.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47088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Kalit: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HKLM\SOFTWARE\Microsoft\Windows\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CurrentVersion\Policies\System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0632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063240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EnableLUA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i="1">
                <a:solidFill>
                  <a:srgbClr val="54647A"/>
                </a:solidFill>
                <a:latin typeface="Times New Roman"/>
              </a:rPr>
              <a:t>REG_DWORD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721608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721608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ConsentPromptBehaviorAdmin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i="1">
                <a:solidFill>
                  <a:srgbClr val="54647A"/>
                </a:solidFill>
                <a:latin typeface="Times New Roman"/>
              </a:rPr>
              <a:t>REG_DWORD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379976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79976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PromptOnSecureDesktop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i="1">
                <a:solidFill>
                  <a:srgbClr val="54647A"/>
                </a:solidFill>
                <a:latin typeface="Times New Roman"/>
              </a:rPr>
              <a:t>REG_DWORD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Integrity level (Medium / High)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40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Har bir jarayonning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ishonch darajasi</a:t>
            </a:r>
            <a:r>
              <a:rPr sz="1300">
                <a:solidFill>
                  <a:srgbClr val="202A38"/>
                </a:solidFill>
                <a:latin typeface="Times New Roman"/>
              </a:rPr>
              <a:t> bor: Low,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300">
                <a:solidFill>
                  <a:srgbClr val="202A38"/>
                </a:solidFill>
                <a:latin typeface="Times New Roman"/>
              </a:rPr>
              <a:t>, System. Past darajadagi jarayon yuqori darajadagisiga “yoza olmaydi”. Oddiy oyna — Medium, “Run as administrator” — High.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UAC aynan shu darajalarga tayanadi: zararli dastur oddiy oynadan ishga tushsa, u Medium’da qoladi va tizimni o‘zgartira olmaydi. Tekshirish: </a:t>
            </a:r>
            <a:r>
              <a:rPr sz="1209" b="1">
                <a:solidFill>
                  <a:srgbClr val="178A73"/>
                </a:solidFill>
                <a:latin typeface="Consolas"/>
              </a:rPr>
              <a:t>whoami /groups</a:t>
            </a:r>
            <a:r>
              <a:rPr sz="1300">
                <a:solidFill>
                  <a:srgbClr val="202A38"/>
                </a:solidFill>
                <a:latin typeface="Times New Roman"/>
              </a:rPr>
              <a:t> → “Mandatory Label”.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830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yadro, SYSTEM servislari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6974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974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Run as administrator (to‘liq token)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6118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6118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oddiy dasturlar (filtrlangan token)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45262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45262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brauzer “sandbox”i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AppLocker standart qoidalari (default rules)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41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9" b="1">
                <a:solidFill>
                  <a:srgbClr val="178A73"/>
                </a:solidFill>
                <a:latin typeface="Consolas"/>
              </a:rPr>
              <a:t>Create Default Rules</a:t>
            </a:r>
            <a:r>
              <a:rPr sz="1300">
                <a:solidFill>
                  <a:srgbClr val="202A38"/>
                </a:solidFill>
                <a:latin typeface="Times New Roman"/>
              </a:rPr>
              <a:t> ni bosganingizda AppLocker uchta Allow qoidasini qo‘shadi: </a:t>
            </a:r>
            <a:r>
              <a:rPr sz="1209" b="1">
                <a:solidFill>
                  <a:srgbClr val="178A73"/>
                </a:solidFill>
                <a:latin typeface="Consolas"/>
              </a:rPr>
              <a:t>C:\Program Files</a:t>
            </a:r>
            <a:r>
              <a:rPr sz="1300">
                <a:solidFill>
                  <a:srgbClr val="202A38"/>
                </a:solidFill>
                <a:latin typeface="Times New Roman"/>
              </a:rPr>
              <a:t> dagi hamma narsa, </a:t>
            </a:r>
            <a:r>
              <a:rPr sz="1209" b="1">
                <a:solidFill>
                  <a:srgbClr val="178A73"/>
                </a:solidFill>
                <a:latin typeface="Consolas"/>
              </a:rPr>
              <a:t>C:\Windows</a:t>
            </a:r>
            <a:r>
              <a:rPr sz="1300">
                <a:solidFill>
                  <a:srgbClr val="202A38"/>
                </a:solidFill>
                <a:latin typeface="Times New Roman"/>
              </a:rPr>
              <a:t> dagi hamma narsa va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Administrators</a:t>
            </a:r>
            <a:r>
              <a:rPr sz="1300">
                <a:solidFill>
                  <a:srgbClr val="202A38"/>
                </a:solidFill>
                <a:latin typeface="Times New Roman"/>
              </a:rPr>
              <a:t> guruhi uchun barcha fayllar.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AppLocker ruxsat berilmagan hamma narsani bloklaydi. Bu qoidalarsiz hatto Explorer va Start menyusi ham bloklanishi mumkin. Ular — qoidalaringiz ostidagi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“xavfsizlik to‘ri”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. (Administrators qoidasi sabab “Run as administrator” bilan bloklangan dastur ochilishi mumkin — A mashq.)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883664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60920" y="17373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Allow · Everyone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%PROGRAMFILES%\*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51760"/>
            <a:ext cx="49377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798064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0920" y="26517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Allow · Everyone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%WINDIR%\*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66160"/>
            <a:ext cx="49377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712464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60920" y="35661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Allow · Administrators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*  (barcha fayllar)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572000"/>
            <a:ext cx="4937760" cy="56692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Qolgan hammasi → bloklanadi (Enforce rejimida)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Implicit deny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42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To‘plamda (masalan, Executable Rules)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kamida bitta</a:t>
            </a:r>
            <a:r>
              <a:rPr sz="1300">
                <a:solidFill>
                  <a:srgbClr val="202A38"/>
                </a:solidFill>
                <a:latin typeface="Times New Roman"/>
              </a:rPr>
              <a:t> qoida paydo bo‘lishi bilan AppLocker “ruxsat ro‘yxati” rejimiga o‘tadi: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ochiq ruxsat berilmagan hamma narsa avtomatik taqiqlanadi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Shuning uchun Ish stolidagi yoki Downloads’dagi noma’lum .exe hech qanday Deny qoidasisiz ham bloklanadi. </a:t>
            </a:r>
            <a:r>
              <a:rPr sz="1209" b="1">
                <a:solidFill>
                  <a:srgbClr val="178A73"/>
                </a:solidFill>
                <a:latin typeface="Consolas"/>
              </a:rPr>
              <a:t>Test-AppLockerPolicy</a:t>
            </a:r>
            <a:r>
              <a:rPr sz="1300">
                <a:solidFill>
                  <a:srgbClr val="202A38"/>
                </a:solidFill>
                <a:latin typeface="Times New Roman"/>
              </a:rPr>
              <a:t> bunday holatni </a:t>
            </a:r>
            <a:r>
              <a:rPr sz="1209" b="1">
                <a:solidFill>
                  <a:srgbClr val="178A73"/>
                </a:solidFill>
                <a:latin typeface="Consolas"/>
              </a:rPr>
              <a:t>DeniedByDefault</a:t>
            </a:r>
            <a:r>
              <a:rPr sz="1300">
                <a:solidFill>
                  <a:srgbClr val="202A38"/>
                </a:solidFill>
                <a:latin typeface="Times New Roman"/>
              </a:rPr>
              <a:t> deb ko‘rsatadi.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8288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qoidaga mos → ishga tushadi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834640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Deny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346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aniq taqiq → har doim ustun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840480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DeniedByDefault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84048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hech qaysi Allow’ga tushmadi → bloklandi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Audit only mode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43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Audit only</a:t>
            </a:r>
            <a:r>
              <a:rPr sz="1300">
                <a:solidFill>
                  <a:srgbClr val="202A38"/>
                </a:solidFill>
                <a:latin typeface="Times New Roman"/>
              </a:rPr>
              <a:t> rejimida AppLocker hech narsani bloklamaydi. U faqat nimani bloklagan bo‘lardi — shuni jurnalga yozadi (</a:t>
            </a:r>
            <a:r>
              <a:rPr sz="1209" b="1">
                <a:solidFill>
                  <a:srgbClr val="178A73"/>
                </a:solidFill>
                <a:latin typeface="Consolas"/>
              </a:rPr>
              <a:t>8003</a:t>
            </a:r>
            <a:r>
              <a:rPr sz="1300">
                <a:solidFill>
                  <a:srgbClr val="202A38"/>
                </a:solidFill>
                <a:latin typeface="Times New Roman"/>
              </a:rPr>
              <a:t> hodisasi).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Qoidalarda xato qilish oson. Avval audit qilish qoidalaringiz qaysi qonuniy dasturlarni unutganini ko‘rsatadi — shunda Enforce ga o‘tganingizda (</a:t>
            </a:r>
            <a:r>
              <a:rPr sz="1209" b="1">
                <a:solidFill>
                  <a:srgbClr val="178A73"/>
                </a:solidFill>
                <a:latin typeface="Consolas"/>
              </a:rPr>
              <a:t>8004</a:t>
            </a:r>
            <a:r>
              <a:rPr sz="1300">
                <a:solidFill>
                  <a:srgbClr val="202A38"/>
                </a:solidFill>
                <a:latin typeface="Times New Roman"/>
              </a:rPr>
              <a:t>) foydalanuvchilar ishi to‘xtab qolmaydi.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Audit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8288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dastur ishlaydi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“bloklangan bo‘lardi”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01752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Enforce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01752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01752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dastur bloklandi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Group Policy refresh (gpupdate /force)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44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Windows siyosatlarini ishga tushishda va taxminan har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90 daqiqada</a:t>
            </a:r>
            <a:r>
              <a:rPr sz="1300">
                <a:solidFill>
                  <a:srgbClr val="202A38"/>
                </a:solidFill>
                <a:latin typeface="Times New Roman"/>
              </a:rPr>
              <a:t> avtomatik qayta o‘qiydi. </a:t>
            </a:r>
            <a:r>
              <a:rPr sz="1209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300">
                <a:solidFill>
                  <a:srgbClr val="202A38"/>
                </a:solidFill>
                <a:latin typeface="Times New Roman"/>
              </a:rPr>
              <a:t> esa barcha siyosatlarni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darhol</a:t>
            </a:r>
            <a:r>
              <a:rPr sz="1300">
                <a:solidFill>
                  <a:srgbClr val="202A38"/>
                </a:solidFill>
                <a:latin typeface="Times New Roman"/>
              </a:rPr>
              <a:t> qayta o‘qib, qo‘llashga majbur qiladi.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AppLocker yoki xavfsizlik sozlamalarini o‘zgartirgandan keyin kutish yoki qayta ishga tushirish shart emas — gpupdate o‘zgarishni darhol qo‘llaydi, shuning uchun uni o‘sha zahoti sinab ko‘rishingiz mumkin.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16002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47088"/>
            <a:ext cx="4617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6EDF5"/>
                </a:solidFill>
                <a:latin typeface="Consolas"/>
              </a:rPr>
              <a:t>PS&gt; gpupdate /force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Updating policy...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EE08F"/>
                </a:solidFill>
                <a:latin typeface="Consolas"/>
              </a:rPr>
              <a:t># Computer Policy update has completed successfully.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EE08F"/>
                </a:solidFill>
                <a:latin typeface="Consolas"/>
              </a:rPr>
              <a:t># User Policy update has completed successfully.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566160"/>
            <a:ext cx="4937760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Nima qo‘llanganini tekshirish: </a:t>
            </a:r>
            <a:r>
              <a:rPr sz="1300" b="1">
                <a:solidFill>
                  <a:srgbClr val="FFFFFF"/>
                </a:solidFill>
                <a:latin typeface="Consolas"/>
              </a:rPr>
              <a:t>gpresult /r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Event log (Event Viewer)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45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Windows muhim hodisalarni jurnallarga yozadi — xuddi samolyotning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“qora qutisi”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 kabi. Har bir hodisaning manbasi, vaqti va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Event ID</a:t>
            </a:r>
            <a:r>
              <a:rPr sz="1300">
                <a:solidFill>
                  <a:srgbClr val="202A38"/>
                </a:solidFill>
                <a:latin typeface="Times New Roman"/>
              </a:rPr>
              <a:t> raqami bor. Ularni </a:t>
            </a:r>
            <a:r>
              <a:rPr sz="1209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300">
                <a:solidFill>
                  <a:srgbClr val="202A38"/>
                </a:solidFill>
                <a:latin typeface="Times New Roman"/>
              </a:rPr>
              <a:t> da o‘qiysiz.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Jurnallar himoya ishlaganini isbotlaydi (AppLocker </a:t>
            </a:r>
            <a:r>
              <a:rPr sz="1209" b="1">
                <a:solidFill>
                  <a:srgbClr val="178A73"/>
                </a:solidFill>
                <a:latin typeface="Consolas"/>
              </a:rPr>
              <a:t>8004</a:t>
            </a:r>
            <a:r>
              <a:rPr sz="1300">
                <a:solidFill>
                  <a:srgbClr val="202A38"/>
                </a:solidFill>
                <a:latin typeface="Times New Roman"/>
              </a:rPr>
              <a:t>) va hujumchi nima qilganini ko‘rsatadi. Ular kiber kriminalistikada asosiy dalil hisoblanadi.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8002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737360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73736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dasturga ruxsat berildi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39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8003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606039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606039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bloklangan bo‘lardi (audit)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474720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8004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474720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47472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dastur bloklandi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343400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4625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343400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434340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Security: muvaffaqiyatsiz kirish (4-mashg‘ulot)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Mark of the Web (Zone.Identifier)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46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Brauzer internetdan yuklangan faylga yashirin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“internetdan kelgan”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 belgisini qo‘yadi. U faylning ichida emas, NTFS’dagi </a:t>
            </a:r>
            <a:r>
              <a:rPr sz="1209" b="1">
                <a:solidFill>
                  <a:srgbClr val="178A73"/>
                </a:solidFill>
                <a:latin typeface="Consolas"/>
              </a:rPr>
              <a:t>Zone.Identifier</a:t>
            </a:r>
            <a:r>
              <a:rPr sz="1300">
                <a:solidFill>
                  <a:srgbClr val="202A38"/>
                </a:solidFill>
                <a:latin typeface="Times New Roman"/>
              </a:rPr>
              <a:t> oqimida saqlanadi: </a:t>
            </a:r>
            <a:r>
              <a:rPr sz="1209" b="1">
                <a:solidFill>
                  <a:srgbClr val="178A73"/>
                </a:solidFill>
                <a:latin typeface="Consolas"/>
              </a:rPr>
              <a:t>ZoneId=3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209" b="1">
                <a:solidFill>
                  <a:srgbClr val="178A73"/>
                </a:solidFill>
                <a:latin typeface="Consolas"/>
              </a:rPr>
              <a:t>HostUrl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209" b="1">
                <a:solidFill>
                  <a:srgbClr val="178A73"/>
                </a:solidFill>
                <a:latin typeface="Consolas"/>
              </a:rPr>
              <a:t>ReferrerUrl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SmartScreen aynan shu belgiga qarab tekshiradi: belgi yo‘q — ogohlantirish yo‘q. Kriminalist esa </a:t>
            </a:r>
            <a:r>
              <a:rPr sz="1209" b="1">
                <a:solidFill>
                  <a:srgbClr val="178A73"/>
                </a:solidFill>
                <a:latin typeface="Consolas"/>
              </a:rPr>
              <a:t>HostUrl</a:t>
            </a:r>
            <a:r>
              <a:rPr sz="1300">
                <a:solidFill>
                  <a:srgbClr val="202A38"/>
                </a:solidFill>
                <a:latin typeface="Times New Roman"/>
              </a:rPr>
              <a:t> dan fayl qaysi saytdan kelganini aniqlaydi. O‘qish: </a:t>
            </a:r>
            <a:r>
              <a:rPr sz="1209" b="1">
                <a:solidFill>
                  <a:srgbClr val="178A73"/>
                </a:solidFill>
                <a:latin typeface="Consolas"/>
              </a:rPr>
              <a:t>Get-Content file -Stream Zone.Identifier</a:t>
            </a:r>
            <a:r>
              <a:rPr sz="1300">
                <a:solidFill>
                  <a:srgbClr val="202A38"/>
                </a:solidFill>
                <a:latin typeface="Times New Roman"/>
              </a:rPr>
              <a:t>; olib tashlash: </a:t>
            </a:r>
            <a:r>
              <a:rPr sz="1209" b="1">
                <a:solidFill>
                  <a:srgbClr val="178A73"/>
                </a:solidFill>
                <a:latin typeface="Consolas"/>
              </a:rPr>
              <a:t>Unblock-File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173736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47088"/>
            <a:ext cx="4617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file.exe:Zone.Identifier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[ZoneTransfer]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ZoneId=3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ReferrerUrl=https://site/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HostUrl=https://site/file.exe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70332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Brauzerdan yuklangan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70332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MOTW bor → SmartScreen tekshiradi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57200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Fleshkadan / o‘zingiz yaratgan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5720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MOTW yo‘q → ogohlantirish yo‘q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