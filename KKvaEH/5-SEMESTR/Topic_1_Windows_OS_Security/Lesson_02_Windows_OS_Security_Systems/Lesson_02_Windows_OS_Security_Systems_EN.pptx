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</p:sldIdLst>
  <p:sldSz cx="12192000" cy="6858000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8.xml"/><Relationship Id="rId4" Type="http://schemas.openxmlformats.org/officeDocument/2006/relationships/slide" Target="slide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8.xml"/><Relationship Id="rId4" Type="http://schemas.openxmlformats.org/officeDocument/2006/relationships/slide" Target="slide2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image" Target="../media/image21.png"/><Relationship Id="rId7" Type="http://schemas.openxmlformats.org/officeDocument/2006/relationships/slide" Target="slide2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3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slide" Target="slide31.xml"/><Relationship Id="rId18" Type="http://schemas.openxmlformats.org/officeDocument/2006/relationships/image" Target="../media/image10.png"/><Relationship Id="rId3" Type="http://schemas.openxmlformats.org/officeDocument/2006/relationships/slide" Target="slide26.xml"/><Relationship Id="rId7" Type="http://schemas.openxmlformats.org/officeDocument/2006/relationships/slide" Target="slide28.xml"/><Relationship Id="rId12" Type="http://schemas.openxmlformats.org/officeDocument/2006/relationships/image" Target="../media/image50.png"/><Relationship Id="rId17" Type="http://schemas.openxmlformats.org/officeDocument/2006/relationships/slide" Target="slide33.xml"/><Relationship Id="rId2" Type="http://schemas.openxmlformats.org/officeDocument/2006/relationships/image" Target="../media/image3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slide" Target="slide30.xml"/><Relationship Id="rId5" Type="http://schemas.openxmlformats.org/officeDocument/2006/relationships/slide" Target="slide27.xml"/><Relationship Id="rId15" Type="http://schemas.openxmlformats.org/officeDocument/2006/relationships/slide" Target="slide32.xml"/><Relationship Id="rId10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slide" Target="slide29.xml"/><Relationship Id="rId1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2468880" cy="2505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89204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REPUBLIC OF UZBEKISTAN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UNIVERSITY OF MILITARY SECURITY AND DEFENSE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Institute of ICT and Military Communications · Cybersecurity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8FD9C4"/>
                </a:solidFill>
                <a:latin typeface="Times New Roman"/>
              </a:rPr>
              <a:t>COURSE: “CYBER FORENSICS AND ETHICAL HACKING”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9659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514600"/>
            <a:ext cx="8321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WINDOWS 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343400"/>
            <a:ext cx="1280160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45720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0" i="0">
                <a:solidFill>
                  <a:srgbClr val="D6E2EE"/>
                </a:solidFill>
                <a:latin typeface="Times New Roman"/>
              </a:rPr>
              <a:t>Lesson 2 · Windows OS Services  |  Seminar, 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9893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B9CDE0"/>
                </a:solidFill>
                <a:latin typeface="Times New Roman"/>
              </a:rPr>
              <a:t>Lecturer: Senior Lecturer, Cybersecurity Department — Captain M. Isakov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TOPIC 1 · WINDOWS OS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Lesson 2: Windows OS Services (Seminar)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55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3" y="2143353"/>
            <a:ext cx="321870" cy="3218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4208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Windows OS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531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3" y="2143353"/>
            <a:ext cx="321870" cy="3218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21808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Session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Seminar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10727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552" y="2143353"/>
            <a:ext cx="321870" cy="3218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79407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2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54680"/>
            <a:ext cx="6949440" cy="306324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36499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Learning questions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23360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User Account Control, AppLocker and SmartScreen security systems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892040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Defender and Firewall security systems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154680"/>
            <a:ext cx="3904487" cy="306324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955279" y="3364992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018" y="3523731"/>
            <a:ext cx="249450" cy="249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41080" y="33832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Link to Lesson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069080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AppLocker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works only if the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Application Identity</a:t>
            </a:r>
            <a:r>
              <a:rPr sz="1250">
                <a:solidFill>
                  <a:srgbClr val="202A38"/>
                </a:solidFill>
                <a:latin typeface="Times New Roman"/>
              </a:rPr>
              <a:t> service is running.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Defender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250" b="1">
                <a:solidFill>
                  <a:srgbClr val="178A73"/>
                </a:solidFill>
                <a:latin typeface="Consolas"/>
              </a:rPr>
              <a:t>Firewall</a:t>
            </a:r>
            <a:r>
              <a:rPr sz="1250">
                <a:solidFill>
                  <a:srgbClr val="202A38"/>
                </a:solidFill>
                <a:latin typeface="Times New Roman"/>
              </a:rPr>
              <a:t> are themselves services (WinDefend, MpsSvc).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Today: the tools that stop an attack before and after it starts.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QUESTION 1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UAC, AppLocker and SmartScreen security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UAC — why it was introduced and what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1874519"/>
            <a:ext cx="685800" cy="685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066543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9019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C0392B"/>
                </a:solidFill>
                <a:latin typeface="Times New Roman"/>
              </a:rPr>
              <a:t>The problem (Windows XP)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C0392B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Users worked with administrator rights all the time.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C0392B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Any malware they launched got full admin rights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1874519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066543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0920" y="19019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The solution (since Windows Vista)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Even an admin works with reduced (standard) rights.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Admin rights are used only after an explicit “Yes”.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31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What UAC asks for — depends on who you are: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8912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8096" y="4590288"/>
            <a:ext cx="603504" cy="60350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us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77" y="4759269"/>
            <a:ext cx="265542" cy="2655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81328" y="455371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Administrator → Consent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3036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Just click “Yes” or “No”.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438912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71416" y="4590288"/>
            <a:ext cx="603504" cy="603504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397" y="4759269"/>
            <a:ext cx="265542" cy="26554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84648" y="455371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Standard user → Credential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23036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An administrator’s user name and password must be entered.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7" y="438912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74735" y="4590288"/>
            <a:ext cx="603504" cy="603504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monito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716" y="4759269"/>
            <a:ext cx="265542" cy="26554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87967" y="455371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Secure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5" y="523036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The screen dims — malware cannot click a fake “Yes” button.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Where to open: </a:t>
            </a:r>
            <a:r>
              <a:rPr sz="1200">
                <a:solidFill>
                  <a:srgbClr val="202A38"/>
                </a:solidFill>
                <a:latin typeface="Times New Roman"/>
              </a:rPr>
              <a:t>Start → type “User Account Control” → </a:t>
            </a:r>
            <a:r>
              <a:rPr sz="1200" b="1">
                <a:solidFill>
                  <a:srgbClr val="178A73"/>
                </a:solidFill>
                <a:latin typeface="Consolas"/>
              </a:rPr>
              <a:t>Change User Account Control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How UAC works —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7803"/>
            <a:ext cx="6309360" cy="41567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47803"/>
            <a:ext cx="6309360" cy="41567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59421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Fig. 1. How UAC (User Account Control)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45920"/>
            <a:ext cx="4480560" cy="3429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60920" y="1828800"/>
            <a:ext cx="411480" cy="4114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0136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 program starts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with the ordinary (filtered) token.</a:t>
            </a:r>
          </a:p>
        </p:txBody>
      </p:sp>
      <p:sp>
        <p:nvSpPr>
          <p:cNvPr id="14" name="Oval 13"/>
          <p:cNvSpPr/>
          <p:nvPr/>
        </p:nvSpPr>
        <p:spPr>
          <a:xfrm>
            <a:off x="7360920" y="2468880"/>
            <a:ext cx="411480" cy="4114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4144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Needs admin rights?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No → runs normally. Yes → go on.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3108960"/>
            <a:ext cx="411480" cy="4114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8152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Secure Desktop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the screen dims, only the prompt is active.</a:t>
            </a:r>
          </a:p>
        </p:txBody>
      </p:sp>
      <p:sp>
        <p:nvSpPr>
          <p:cNvPr id="18" name="Oval 17"/>
          <p:cNvSpPr/>
          <p:nvPr/>
        </p:nvSpPr>
        <p:spPr>
          <a:xfrm>
            <a:off x="7360920" y="3749039"/>
            <a:ext cx="411480" cy="4114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721607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Prompt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Admin: Yes/No. Standard user: password.</a:t>
            </a:r>
          </a:p>
        </p:txBody>
      </p:sp>
      <p:sp>
        <p:nvSpPr>
          <p:cNvPr id="20" name="Oval 19"/>
          <p:cNvSpPr/>
          <p:nvPr/>
        </p:nvSpPr>
        <p:spPr>
          <a:xfrm>
            <a:off x="7360920" y="4389120"/>
            <a:ext cx="411480" cy="41148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36168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Allowed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the program runs with the full token.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54647A"/>
                </a:solidFill>
                <a:latin typeface="Times New Roman"/>
              </a:rPr>
              <a:t>Terms (click for explanation):</a:t>
            </a:r>
          </a:p>
        </p:txBody>
      </p:sp>
      <p:sp>
        <p:nvSpPr>
          <p:cNvPr id="23" name="Rounded Rectangle 22">
            <a:hlinkClick r:id="rId4" action="ppaction://hlinksldjump"/>
          </p:cNvPr>
          <p:cNvSpPr/>
          <p:nvPr/>
        </p:nvSpPr>
        <p:spPr>
          <a:xfrm>
            <a:off x="7132320" y="557784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Secure Desktop</a:t>
            </a:r>
          </a:p>
        </p:txBody>
      </p:sp>
      <p:sp>
        <p:nvSpPr>
          <p:cNvPr id="24" name="Rounded Rectangle 23">
            <a:hlinkClick r:id="rId5" action="ppaction://hlinksldjump"/>
          </p:cNvPr>
          <p:cNvSpPr/>
          <p:nvPr/>
        </p:nvSpPr>
        <p:spPr>
          <a:xfrm>
            <a:off x="8761780" y="5577840"/>
            <a:ext cx="1322222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Access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Two tokens and integrity levels — what UAC is built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6916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</a:rPr>
              <a:t>Login (Administrator)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267712"/>
            <a:ext cx="91440" cy="32004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6517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FILTERED TOKEN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standard rights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everyday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6517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FULL ADMIN TOKEN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all rights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only after UAC “Yes”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31920"/>
            <a:ext cx="5532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Admin Approval Mode: </a:t>
            </a:r>
            <a:r>
              <a:rPr sz="1250">
                <a:solidFill>
                  <a:srgbClr val="202A38"/>
                </a:solidFill>
                <a:latin typeface="Times New Roman"/>
              </a:rPr>
              <a:t>an administrator receives two tokens at sign-in. Everyday programs get the filtered one; the full one is activated only for the confirmed program.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This is </a:t>
            </a:r>
            <a:r>
              <a:rPr sz="1250" b="1">
                <a:solidFill>
                  <a:srgbClr val="178A73"/>
                </a:solidFill>
                <a:latin typeface="Consolas"/>
              </a:rPr>
              <a:t>least privilege</a:t>
            </a:r>
            <a:r>
              <a:rPr sz="1250">
                <a:solidFill>
                  <a:srgbClr val="202A38"/>
                </a:solidFill>
                <a:latin typeface="Times New Roman"/>
              </a:rPr>
              <a:t> in practice.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537564"/>
            <a:ext cx="5257800" cy="1782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37564"/>
            <a:ext cx="5257800" cy="17828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43753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Fig. 2. Windows Integrity Levels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40680"/>
            <a:ext cx="5532120" cy="7772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504688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8FD9C4"/>
                </a:solidFill>
                <a:latin typeface="Times New Roman"/>
              </a:rPr>
              <a:t>&gt; whoami /groups</a:t>
            </a:r>
            <a:r>
              <a:rPr sz="1300">
                <a:solidFill>
                  <a:srgbClr val="FFFFFF"/>
                </a:solidFill>
                <a:latin typeface="Times New Roman"/>
              </a:rPr>
              <a:t>   →  Mandatory Label\Medium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577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54647A"/>
                </a:solidFill>
                <a:latin typeface="Times New Roman"/>
              </a:rPr>
              <a:t>Terms:</a:t>
            </a:r>
          </a:p>
        </p:txBody>
      </p:sp>
      <p:sp>
        <p:nvSpPr>
          <p:cNvPr id="19" name="Rounded Rectangle 18">
            <a:hlinkClick r:id="rId4" action="ppaction://hlinksldjump"/>
          </p:cNvPr>
          <p:cNvSpPr/>
          <p:nvPr/>
        </p:nvSpPr>
        <p:spPr>
          <a:xfrm>
            <a:off x="6355080" y="5897880"/>
            <a:ext cx="1549908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Integrity level</a:t>
            </a:r>
          </a:p>
        </p:txBody>
      </p:sp>
      <p:sp>
        <p:nvSpPr>
          <p:cNvPr id="20" name="Rounded Rectangle 19">
            <a:hlinkClick r:id="rId5" action="ppaction://hlinksldjump"/>
          </p:cNvPr>
          <p:cNvSpPr/>
          <p:nvPr/>
        </p:nvSpPr>
        <p:spPr>
          <a:xfrm>
            <a:off x="8060436" y="5897880"/>
            <a:ext cx="1322222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Access token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What the UAC prompt looks like — learn to read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4808"/>
            <a:ext cx="3611880" cy="1571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uac_con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808"/>
            <a:ext cx="3611880" cy="15710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560735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3. Signed program — Verified publisher (green)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224528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Trusted: Microsoft Windows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956874"/>
            <a:ext cx="3611880" cy="15269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ac_unkn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956874"/>
            <a:ext cx="3611880" cy="15269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353867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4. Unsigned program — Unknown publisher (red)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4224528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Warning sign → click “No”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0632" y="1600200"/>
            <a:ext cx="360063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ac_c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632" y="1600200"/>
            <a:ext cx="3600630" cy="2240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65007" y="389534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5. Standard user — Credential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7" y="4224528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Admin name + password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46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Three lines to read before clicking “Yes”: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57800"/>
            <a:ext cx="36118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54132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monito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" y="5592470"/>
            <a:ext cx="281636" cy="2816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81328" y="5285232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Program name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is it the program you started yourself?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5257800"/>
            <a:ext cx="36118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80560" y="54132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782" y="5592470"/>
            <a:ext cx="281636" cy="2816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30368" y="5285232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Verified publisher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green name = signed; red “Unknown” = unsigned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7" y="5257800"/>
            <a:ext cx="36118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599" y="54132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glob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821" y="5592470"/>
            <a:ext cx="281636" cy="2816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79407" y="5285232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File origin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“Downloaded from the Internet” needs extra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UAC levels — the slider and what it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128016" cy="9601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Always notify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Warns on every change, even Windows settings. Uses Secure Desktop.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947672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Military / government networks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70632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2770632"/>
            <a:ext cx="128016" cy="9601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4378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Notify when apps change (default)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09544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Warns only for programs. Uses Secure Desktop.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026664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Most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49624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849624"/>
            <a:ext cx="128016" cy="96012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92277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Notify — do not dim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88536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Same, but without Secure Desktop — weaker.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105656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Not recommended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28616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4928616"/>
            <a:ext cx="128016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00176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Never notify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67528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UAC is effectively off — very dangerous.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5184648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Never 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690365"/>
            <a:ext cx="5029200" cy="247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uac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0365"/>
            <a:ext cx="5029200" cy="247143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83680" y="4216659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6. UAC settings window — slider at “Always notify”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572000"/>
            <a:ext cx="5029200" cy="16002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466344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>
                <a:solidFill>
                  <a:srgbClr val="8FD9C4"/>
                </a:solidFill>
                <a:latin typeface="Times New Roman"/>
              </a:rPr>
              <a:t>Registry: HKLM\...\Policies\System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EnableLUA = 1  → UAC 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ConsentPromptBehaviorAdmin = 2 always · 5 default · 0 never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PromptOnSecureDesktop = 1 dim · 0 no dim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APPLOCKER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AppLocker — “only allowed programs may run”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19656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11680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1691640"/>
            <a:ext cx="9784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202A38"/>
                </a:solidFill>
                <a:latin typeface="Times New Roman"/>
              </a:rPr>
              <a:t>UAC controls </a:t>
            </a:r>
            <a:r>
              <a:rPr sz="1350" b="1">
                <a:solidFill>
                  <a:srgbClr val="1F3864"/>
                </a:solidFill>
                <a:latin typeface="Times New Roman"/>
              </a:rPr>
              <a:t>who may do what</a:t>
            </a:r>
            <a:r>
              <a:rPr sz="1350">
                <a:solidFill>
                  <a:srgbClr val="202A38"/>
                </a:solidFill>
                <a:latin typeface="Times New Roman"/>
              </a:rPr>
              <a:t>; AppLocker controls </a:t>
            </a:r>
            <a:r>
              <a:rPr sz="1350" b="1">
                <a:solidFill>
                  <a:srgbClr val="1F3864"/>
                </a:solidFill>
                <a:latin typeface="Times New Roman"/>
              </a:rPr>
              <a:t>which programs may run at all</a:t>
            </a:r>
            <a:r>
              <a:rPr sz="1350">
                <a:solidFill>
                  <a:srgbClr val="202A38"/>
                </a:solidFill>
                <a:latin typeface="Times New Roman"/>
              </a:rPr>
              <a:t>. The administrator lists what is allowed (</a:t>
            </a:r>
            <a:r>
              <a:rPr sz="1350" b="1">
                <a:solidFill>
                  <a:srgbClr val="178A73"/>
                </a:solidFill>
                <a:latin typeface="Consolas"/>
              </a:rPr>
              <a:t>whitelist</a:t>
            </a:r>
            <a:r>
              <a:rPr sz="1350">
                <a:solidFill>
                  <a:srgbClr val="202A38"/>
                </a:solidFill>
                <a:latin typeface="Times New Roman"/>
              </a:rPr>
              <a:t>) — everything else is blocked, even if the user says “Yes”.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80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5 rule collections — by file type: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Executable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.exe  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8064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Windows Installer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.msi  .msp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.ps1 .vbs .js .bat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Packaged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UWP apps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91472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DLL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.dll  .ocx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343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Each rule uses one of 3 conditions: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548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9808" y="49560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5135270"/>
            <a:ext cx="281636" cy="2816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27048" y="4846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Publisher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by digital signature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Most flexible — survives updates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47548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53128" y="49560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350" y="5135270"/>
            <a:ext cx="281636" cy="2816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30368" y="4846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Path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by file location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e.g. only C:\Program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7" y="47548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156447" y="49560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669" y="5135270"/>
            <a:ext cx="281636" cy="2816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33687" y="4846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File hash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by the file’s fingerprint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Strictest — breaks on every update</a:t>
            </a:r>
          </a:p>
        </p:txBody>
      </p:sp>
      <p:sp>
        <p:nvSpPr>
          <p:cNvPr id="36" name="Rounded Rectangle 35">
            <a:hlinkClick r:id="rId7" action="ppaction://hlinksldjump"/>
          </p:cNvPr>
          <p:cNvSpPr/>
          <p:nvPr/>
        </p:nvSpPr>
        <p:spPr>
          <a:xfrm>
            <a:off x="566928" y="5897880"/>
            <a:ext cx="1094536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Whitelist</a:t>
            </a:r>
          </a:p>
        </p:txBody>
      </p:sp>
      <p:sp>
        <p:nvSpPr>
          <p:cNvPr id="37" name="Rounded Rectangle 36">
            <a:hlinkClick r:id="rId8" action="ppaction://hlinksldjump"/>
          </p:cNvPr>
          <p:cNvSpPr/>
          <p:nvPr/>
        </p:nvSpPr>
        <p:spPr>
          <a:xfrm>
            <a:off x="1816912" y="5897880"/>
            <a:ext cx="1094536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File hash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APPLOCKER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How AppLocker decides: run or block?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41282"/>
            <a:ext cx="6949440" cy="26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41282"/>
            <a:ext cx="6949440" cy="26155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11166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Fig. 7. The AppLocker decision algorithm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45920"/>
            <a:ext cx="3858768" cy="210312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73568" y="1828800"/>
            <a:ext cx="566928" cy="566928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307" y="1987539"/>
            <a:ext cx="249450" cy="249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0" y="184708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E08E1D"/>
                </a:solidFill>
                <a:latin typeface="Times New Roman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5146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8E1D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78A73"/>
                </a:solidFill>
                <a:latin typeface="Consolas"/>
              </a:rPr>
              <a:t>Application Identity</a:t>
            </a:r>
            <a:r>
              <a:rPr sz="1200">
                <a:solidFill>
                  <a:srgbClr val="202A38"/>
                </a:solidFill>
                <a:latin typeface="Times New Roman"/>
              </a:rPr>
              <a:t> (AppIDSvc) must be running.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8E1D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Full support: Enterprise / Education / Server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31920"/>
            <a:ext cx="3858768" cy="19202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4041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Two modes: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43484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Enforce rules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really blocks.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Audit only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only logs “would be blocked” (Event ID 8003). Use it to test rules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APPLOCKER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Where AppLocker lives and what the user sees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67" y="1645920"/>
            <a:ext cx="6205641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pplocker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67" y="1645920"/>
            <a:ext cx="6205641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718304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8. secpol.msc → Application Control Policies → AppLocker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816072"/>
            <a:ext cx="4114800" cy="112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pplocker_blo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816072"/>
            <a:ext cx="4114800" cy="1122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79" y="29936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9. A program blocked by AppLocker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52044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361188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8FD9C4"/>
                </a:solidFill>
                <a:latin typeface="Times New Roman"/>
              </a:rPr>
              <a:t>Open: </a:t>
            </a:r>
            <a:r>
              <a:rPr sz="1150">
                <a:solidFill>
                  <a:srgbClr val="FFFFFF"/>
                </a:solidFill>
                <a:latin typeface="Times New Roman"/>
              </a:rPr>
              <a:t>Win + R → secpol.msc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→ Application Control Policies → AppLocker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(or gpedit.msc → Computer Configuration → …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5303520"/>
            <a:ext cx="658368" cy="65836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583" y="5487863"/>
            <a:ext cx="289682" cy="2896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5120640"/>
            <a:ext cx="9784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Practical example: </a:t>
            </a:r>
            <a:r>
              <a:rPr sz="1300">
                <a:solidFill>
                  <a:srgbClr val="202A38"/>
                </a:solidFill>
                <a:latin typeface="Times New Roman"/>
              </a:rPr>
              <a:t>a Path rule allows programs only from </a:t>
            </a:r>
            <a:r>
              <a:rPr sz="1300" b="1">
                <a:solidFill>
                  <a:srgbClr val="178A73"/>
                </a:solidFill>
                <a:latin typeface="Consolas"/>
              </a:rPr>
              <a:t>C:\Windows</a:t>
            </a:r>
            <a:r>
              <a:rPr sz="130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300" b="1">
                <a:solidFill>
                  <a:srgbClr val="178A73"/>
                </a:solidFill>
                <a:latin typeface="Consolas"/>
              </a:rPr>
              <a:t>C:\Program Files</a:t>
            </a:r>
            <a:r>
              <a:rPr sz="1300">
                <a:solidFill>
                  <a:srgbClr val="202A38"/>
                </a:solidFill>
                <a:latin typeface="Times New Roman"/>
              </a:rPr>
              <a:t>. Any </a:t>
            </a:r>
            <a:r>
              <a:rPr sz="1300" b="1">
                <a:solidFill>
                  <a:srgbClr val="178A73"/>
                </a:solidFill>
                <a:latin typeface="Consolas"/>
              </a:rPr>
              <a:t>.exe</a:t>
            </a:r>
            <a:r>
              <a:rPr sz="1300">
                <a:solidFill>
                  <a:srgbClr val="202A38"/>
                </a:solidFill>
                <a:latin typeface="Times New Roman"/>
              </a:rPr>
              <a:t> from Downloads or a USB flash drive is blocked automatically — even for an administrator.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SMARTSCREEN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SmartScreen — checking reputation before a file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01368"/>
            <a:ext cx="603504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01368"/>
            <a:ext cx="6035040" cy="3621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7725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Fig. 10. How Windows SmartScreen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45920"/>
            <a:ext cx="4773168" cy="2148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59168" y="1828800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lou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0" y="2008022"/>
            <a:ext cx="281636" cy="2816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8120" y="184708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Cloud reputation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560320"/>
            <a:ext cx="4434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Microsoft keeps the “reputation” of millions of files and sites.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New or rarely downloaded files are treated as risky.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977639"/>
            <a:ext cx="4773168" cy="160020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40690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is effective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480560"/>
            <a:ext cx="4434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Catches phishing sites and brand-new malware —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even when no antivirus signature exists yet.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AppLocker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controls programs on the system; </a:t>
            </a:r>
            <a:r>
              <a:rPr sz="1250" b="1">
                <a:solidFill>
                  <a:srgbClr val="178A73"/>
                </a:solidFill>
                <a:latin typeface="Consolas"/>
              </a:rPr>
              <a:t>SmartScreen</a:t>
            </a:r>
            <a:r>
              <a:rPr sz="1250">
                <a:solidFill>
                  <a:srgbClr val="202A38"/>
                </a:solidFill>
                <a:latin typeface="Times New Roman"/>
              </a:rPr>
              <a:t> checks what comes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from the internet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SMARTSCREEN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The SmartScreen warning and the Mark of the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04637"/>
            <a:ext cx="5120640" cy="187712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mart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04637"/>
            <a:ext cx="5120640" cy="1877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73662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11. “Windows protected your PC” — More info / Run anyway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899929"/>
            <a:ext cx="5733288" cy="1686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899929"/>
            <a:ext cx="5733288" cy="1686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97880" y="3641335"/>
            <a:ext cx="5733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12. Mark of the Web (Zone.Identifier)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3611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52628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y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4705502"/>
            <a:ext cx="281636" cy="2816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27048" y="43891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“More info”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shows the file name and publisher.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4343400"/>
            <a:ext cx="3611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53128" y="4526280"/>
            <a:ext cx="640080" cy="64008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warn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350" y="4705502"/>
            <a:ext cx="281636" cy="2816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0368" y="43891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“Run anyway”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continue at your own risk — makes the user stop and think.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7" y="4343400"/>
            <a:ext cx="3611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156447" y="4526280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ownloa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5669" y="4705502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33687" y="43891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ZoneId = 3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the file came from the Internet → SmartScreen checks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32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Settings: </a:t>
            </a:r>
            <a:r>
              <a:rPr sz="1200">
                <a:solidFill>
                  <a:srgbClr val="202A38"/>
                </a:solidFill>
                <a:latin typeface="Times New Roman"/>
              </a:rPr>
              <a:t>Windows Security → App &amp; browser control → </a:t>
            </a:r>
            <a:r>
              <a:rPr sz="1200" b="1">
                <a:solidFill>
                  <a:srgbClr val="178A73"/>
                </a:solidFill>
                <a:latin typeface="Consolas"/>
              </a:rPr>
              <a:t>Reputation-based protection</a:t>
            </a:r>
          </a:p>
        </p:txBody>
      </p:sp>
      <p:sp>
        <p:nvSpPr>
          <p:cNvPr id="27" name="Rounded Rectangle 26">
            <a:hlinkClick r:id="rId8" action="ppaction://hlinksldjump"/>
          </p:cNvPr>
          <p:cNvSpPr/>
          <p:nvPr/>
        </p:nvSpPr>
        <p:spPr>
          <a:xfrm>
            <a:off x="566928" y="5806440"/>
            <a:ext cx="1549908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Mark of the Web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PRACTICAL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UAC vs AppLocker vs SmartScreen — who stops what?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UAC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AppLocker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SmartScreen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Question it asks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May this program get admin rights?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May this program run at all?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Is this file/site trusted?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When it 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When admin rights are requested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Every time a file starts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When a downloaded file runs / a site opens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Can the user override?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Yes — click “Yes” (or give a password)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No — only the administrator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Yes — “More info → Run anyway”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Where to configure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Control Panel → User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secpol.msc / gpedit.msc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Windows Security → App &amp; browser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Editions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All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Enterprise / Education / Server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All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7607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7881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Seminar task: </a:t>
            </a:r>
            <a:r>
              <a:rPr sz="1250">
                <a:solidFill>
                  <a:srgbClr val="202A38"/>
                </a:solidFill>
                <a:latin typeface="Times New Roman"/>
              </a:rPr>
              <a:t>a user downloaded </a:t>
            </a:r>
            <a:r>
              <a:rPr sz="1250" b="1">
                <a:solidFill>
                  <a:srgbClr val="178A73"/>
                </a:solidFill>
                <a:latin typeface="Consolas"/>
              </a:rPr>
              <a:t>game.exe</a:t>
            </a:r>
            <a:r>
              <a:rPr sz="1250">
                <a:solidFill>
                  <a:srgbClr val="202A38"/>
                </a:solidFill>
                <a:latin typeface="Times New Roman"/>
              </a:rPr>
              <a:t> from a website. Which of the three tools reacts first, second, third — and why?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QUESTION 2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Defender and Firewall security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MICROSOFT DEFENDER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Windows Defender — the built-in antivirus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UAC, AppLocker and SmartScreen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block in advance</a:t>
            </a:r>
            <a:r>
              <a:rPr sz="1300">
                <a:solidFill>
                  <a:srgbClr val="202A38"/>
                </a:solidFill>
                <a:latin typeface="Times New Roman"/>
              </a:rPr>
              <a:t>. Defender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scans</a:t>
            </a:r>
            <a:r>
              <a:rPr sz="1300">
                <a:solidFill>
                  <a:srgbClr val="202A38"/>
                </a:solidFill>
                <a:latin typeface="Times New Roman"/>
              </a:rPr>
              <a:t> files that already exist or are running, and detects malicious behaviour.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459736"/>
            <a:ext cx="521207" cy="521207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7" y="2605673"/>
            <a:ext cx="229333" cy="2293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3774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Real-time protection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checks each file as it is opened, downloaded or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3236976"/>
            <a:ext cx="521207" cy="521207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lou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37" y="3382913"/>
            <a:ext cx="229333" cy="2293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31546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Cloud-delivered protection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recognizes new threats using the cloud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4014216"/>
            <a:ext cx="521207" cy="521207"/>
          </a:xfrm>
          <a:prstGeom prst="ellipse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ownloa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7" y="4160153"/>
            <a:ext cx="229333" cy="229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0" y="39319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Automatic sample submission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sends suspicious unknown files to Microsoft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0916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4791456"/>
            <a:ext cx="521207" cy="521207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37" y="4937393"/>
            <a:ext cx="229333" cy="22933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71600" y="47091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Tamper Protection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malware cannot switch Defender 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48640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5800" y="5568696"/>
            <a:ext cx="521207" cy="521207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olde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37" y="5714633"/>
            <a:ext cx="229333" cy="22933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71600" y="548640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Controlled folder access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protects Documents/Pictures from ransomware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6100" y="1645920"/>
            <a:ext cx="495408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100" y="1645920"/>
            <a:ext cx="4954088" cy="3383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0" y="5084064"/>
            <a:ext cx="4956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13. Windows Security → Virus &amp; threat protection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5440680"/>
            <a:ext cx="4956048" cy="7772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5468112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8FD9C4"/>
                </a:solidFill>
                <a:latin typeface="Times New Roman"/>
              </a:rPr>
              <a:t>PS&gt; Get-MpComputerStatus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>
                <a:solidFill>
                  <a:srgbClr val="FFFFFF"/>
                </a:solidFill>
                <a:latin typeface="Times New Roman"/>
              </a:rPr>
              <a:t>RealTimeProtectionEnabled : True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WINDOWS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Windows Firewall — directions and network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1874519"/>
            <a:ext cx="731520" cy="7315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rrow-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" y="2079344"/>
            <a:ext cx="321870" cy="3218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4208" y="1691640"/>
            <a:ext cx="4251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Inbound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traffic coming INTO the computer — blocked by default unless a rule allows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4592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45936" y="1874519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rrow-ou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1" y="2079344"/>
            <a:ext cx="321870" cy="3218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42048" y="1691640"/>
            <a:ext cx="4251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Outbound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traffic LEAVING the computer — allowed by default unless a rule blocks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17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Each rule: port, program or protocol → Allow or Block. Three profiles — three rule sets: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20440"/>
            <a:ext cx="36118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520440"/>
            <a:ext cx="3611880" cy="109728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68096" y="379476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98678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72768" y="38404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5720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Computer is joined to a corporate domain (Active Directory)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1389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78A73"/>
                </a:solidFill>
                <a:latin typeface="Times New Roman"/>
              </a:rPr>
              <a:t>Medium — the internal network is trusted more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3520440"/>
            <a:ext cx="36118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70248" y="3520440"/>
            <a:ext cx="3611880" cy="109728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71416" y="3794760"/>
            <a:ext cx="685800" cy="6858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hom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986784"/>
            <a:ext cx="301752" cy="3017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76088" y="38404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Private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45720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Home or trusted private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6" y="51389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E08E1D"/>
                </a:solidFill>
                <a:latin typeface="Times New Roman"/>
              </a:rPr>
              <a:t>Medium — e.g. file sharing allowed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3567" y="3520440"/>
            <a:ext cx="36118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73567" y="3520440"/>
            <a:ext cx="361188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174735" y="3794760"/>
            <a:ext cx="685800" cy="685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coffe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59" y="3986784"/>
            <a:ext cx="301752" cy="3017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79407" y="38404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Public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5" y="45720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Café, airport, hotel — unknown networks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5" y="51389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Times New Roman"/>
              </a:rPr>
              <a:t>Strictest — most incoming connections blocked</a:t>
            </a:r>
          </a:p>
        </p:txBody>
      </p:sp>
      <p:sp>
        <p:nvSpPr>
          <p:cNvPr id="38" name="Rounded Rectangle 37">
            <a:hlinkClick r:id="rId8" action="ppaction://hlinksldjump"/>
          </p:cNvPr>
          <p:cNvSpPr/>
          <p:nvPr/>
        </p:nvSpPr>
        <p:spPr>
          <a:xfrm>
            <a:off x="566928" y="5806440"/>
            <a:ext cx="1625803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Firewall profile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WINDOWS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Where the Firewall is configured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7776"/>
            <a:ext cx="5486400" cy="1968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rewall_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87776"/>
            <a:ext cx="5486400" cy="1968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0106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14. Control Panel → Windows Defender Firewall — three profiles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48704"/>
            <a:ext cx="5413248" cy="244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rewall_ad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48704"/>
            <a:ext cx="5413248" cy="24461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4249760"/>
            <a:ext cx="5413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Fig. 15. wf.msc — Inbound rules (Allow / Block)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754880"/>
            <a:ext cx="1554480" cy="56692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Quick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4754880"/>
            <a:ext cx="3840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50008" y="475488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1F3864"/>
                </a:solidFill>
                <a:latin typeface="Times New Roman"/>
              </a:rPr>
              <a:t>Windows Security → Firewall &amp; network protection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754880"/>
            <a:ext cx="1554480" cy="56692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Classic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754880"/>
            <a:ext cx="3840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475488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1F3864"/>
                </a:solidFill>
                <a:latin typeface="Times New Roman"/>
              </a:rPr>
              <a:t>Win + R → control → Windows Defender Firewall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486400"/>
            <a:ext cx="1554480" cy="56692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Advanced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5486400"/>
            <a:ext cx="3840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50008" y="548640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1F3864"/>
                </a:solidFill>
                <a:latin typeface="Times New Roman"/>
              </a:rPr>
              <a:t>Win + R → wf.msc  (or “Advanced settings”)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5486400"/>
            <a:ext cx="1554480" cy="56692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PowerShell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5486400"/>
            <a:ext cx="3840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27848" y="548640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1F3864"/>
                </a:solidFill>
                <a:latin typeface="Consolas"/>
              </a:rPr>
              <a:t>Get-NetFirewallProfile | Select Name, Enabled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WINDOWS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How the Firewall decides about an incoming packet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09197"/>
            <a:ext cx="7315200" cy="243396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09197"/>
            <a:ext cx="7315200" cy="24339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998027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Fig. 16. Windows Firewall — checking an incoming packet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49300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02752" y="1965960"/>
            <a:ext cx="658368" cy="65836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a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095" y="2150303"/>
            <a:ext cx="289682" cy="2896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98280" y="173736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Block beats Allow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if both rules match, the packet is dropped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063240"/>
            <a:ext cx="349300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02752" y="3337560"/>
            <a:ext cx="658368" cy="65836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networ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095" y="3521903"/>
            <a:ext cx="289682" cy="28968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98280" y="310896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Stateful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replies to your own requests pass automatically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434840"/>
            <a:ext cx="349300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02752" y="4709160"/>
            <a:ext cx="658368" cy="658368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ffe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095" y="4893503"/>
            <a:ext cx="289682" cy="2896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98280" y="448056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Public = strictest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unknown networks get the tightest rules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ADDITIONAL IMPORTANT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All tools together — defense in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86153"/>
            <a:ext cx="5394960" cy="36685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86153"/>
            <a:ext cx="5394960" cy="36685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09589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Fig. 17. Windows OS: layers of defense in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What each layer mainly protects against: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UAC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103120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10312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admin rights used without the user knowing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61487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AppLocker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761487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2761487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unauthorized / unknown programs running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19856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SmartScreen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419856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3419856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malicious downloads and phishing sites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78224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Defender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4078224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4078224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malicious code already on the computer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736592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Firewall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736592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4736592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unauthorized network connections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486400"/>
            <a:ext cx="5367528" cy="73152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550468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Idea: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if an attacker gets past one layer, the next one stops them.</a:t>
            </a:r>
          </a:p>
        </p:txBody>
      </p:sp>
      <p:sp>
        <p:nvSpPr>
          <p:cNvPr id="29" name="Rounded Rectangle 28">
            <a:hlinkClick r:id="rId4" action="ppaction://hlinksldjump"/>
          </p:cNvPr>
          <p:cNvSpPr/>
          <p:nvPr/>
        </p:nvSpPr>
        <p:spPr>
          <a:xfrm>
            <a:off x="566928" y="5806440"/>
            <a:ext cx="1625803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Defense in depth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2 · PRACTICAL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One attack — several layers of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1828800"/>
            <a:ext cx="685800" cy="685800"/>
          </a:xfrm>
          <a:prstGeom prst="ellipse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ownlo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20824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File from USB /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5416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51176" y="182880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lob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020824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85416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SmartScreen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3904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69664" y="1828800"/>
            <a:ext cx="685800" cy="685800"/>
          </a:xfrm>
          <a:prstGeom prst="ellipse">
            <a:avLst/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202082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03904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AppLocker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22392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788152" y="1828800"/>
            <a:ext cx="685800" cy="685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2020824"/>
            <a:ext cx="301752" cy="3017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22392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Defender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06640" y="1828800"/>
            <a:ext cx="685800" cy="6858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2020824"/>
            <a:ext cx="301752" cy="3017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40880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UAC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59367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25127" y="1828800"/>
            <a:ext cx="685800" cy="685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wal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151" y="2020824"/>
            <a:ext cx="301752" cy="3017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59367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Firewall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7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77856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643616" y="1828800"/>
            <a:ext cx="685800" cy="685800"/>
          </a:xfrm>
          <a:prstGeom prst="ellipse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book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5640" y="2020824"/>
            <a:ext cx="301752" cy="3017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77856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Event Log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3429000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31520" y="3602736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" y="34290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 cadet downloads crack.exe. SmartScreen warns “unknown publisher”; the user clicks “Run anyway”.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4768" y="3429000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09360" y="3602736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34290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the file is in Downloads — no Allow rule → blocked.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325112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1520" y="4498848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43251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Without AppLocker → Defender detects the malicious code by signature or behaviour.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4325112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309360" y="4498848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76288" y="43251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If it slips past Defender and asks for admin rights → UAC stops it.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221224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31520" y="5394960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8448" y="5221224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Even if it runs, the Firewall restricts its connection to the attacker’s server.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44768" y="5221224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09360" y="5394960"/>
            <a:ext cx="429768" cy="42976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76288" y="5221224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Every step is written to the Event Log → the forensic investigator reconstructs the attack.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Times New Roman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901952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2055571"/>
            <a:ext cx="241402" cy="2414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1783080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UAC — admin rights only after an explicit confirmation; even an administrator works with a filtered token.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615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2761487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915106"/>
            <a:ext cx="241402" cy="2414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2642615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AppLocker — only allowed programs may run (Publisher / Path / File hash); needs the AppIDSvc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02152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3621024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glob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3774643"/>
            <a:ext cx="241402" cy="2414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8760" y="3502152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SmartScreen — checks the reputation of files and sites from the internet (Mark of the Web).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1688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4634179"/>
            <a:ext cx="241402" cy="2414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08760" y="4361688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Defender — scans existing and running files; Tamper Protection and Controlled folder access protect it and your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1224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5340096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wal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" y="5493715"/>
            <a:ext cx="241402" cy="2414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08760" y="5221224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Firewall — Inbound/Outbound rules in Domain, Private and Public profiles; together all five form defense in depth.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Review questions — Lesson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69164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Why was UAC introduced and what problem does it solve?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70632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770632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What is the difference between the Consent prompt and the Credential prompt?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49624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849624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Why are the filtered token and the full admin token needed?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28616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5175504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928616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Explain AppLocker’s three rule conditions (Publisher, Path, File Hash).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60" y="193852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169164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Against which types of threats is SmartScreen especially effective?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770632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2770632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What does Defender’s Controlled folder access protect against?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49624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09360" y="409651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9624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Explain the difference between the Domain, Private and Public profiles.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928616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09360" y="5175504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4928616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What does the “defense in depth” principle mean?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234440"/>
            <a:ext cx="1737360" cy="17647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0" y="3246120"/>
            <a:ext cx="3959352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Times New Roman"/>
              </a:rPr>
              <a:t>THANK YOU FOR YOUR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0" i="1">
                <a:solidFill>
                  <a:srgbClr val="C7D6E6"/>
                </a:solidFill>
                <a:latin typeface="Times New Roman"/>
              </a:rPr>
              <a:t>Questions are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8FD9C4"/>
                </a:solidFill>
                <a:latin typeface="Times New Roman"/>
              </a:rPr>
              <a:t>Next section — glossary of terms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Glossary — this section explains the following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28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547" y="2142987"/>
            <a:ext cx="249450" cy="249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3560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Integrity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Low / Medium / High / System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335584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3872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onito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467" y="2142987"/>
            <a:ext cx="249450" cy="249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2452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Secure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the dimmed, protected screen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614476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2764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key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387" y="2142987"/>
            <a:ext cx="249450" cy="249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344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Access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a program’s “ID card”</a:t>
            </a:r>
          </a:p>
        </p:txBody>
      </p:sp>
      <p:sp>
        <p:nvSpPr>
          <p:cNvPr id="23" name="Rounded Rectangle 22">
            <a:hlinkClick r:id="rId9" action="ppaction://hlinksldjump"/>
          </p:cNvPr>
          <p:cNvSpPr/>
          <p:nvPr/>
        </p:nvSpPr>
        <p:spPr>
          <a:xfrm>
            <a:off x="8933687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16567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5306" y="2142987"/>
            <a:ext cx="249450" cy="249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02367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Whitelist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the “allowed” list</a:t>
            </a:r>
          </a:p>
        </p:txBody>
      </p:sp>
      <p:sp>
        <p:nvSpPr>
          <p:cNvPr id="28" name="Rounded Rectangle 27">
            <a:hlinkClick r:id="rId11" action="ppaction://hlinksldjump"/>
          </p:cNvPr>
          <p:cNvSpPr/>
          <p:nvPr/>
        </p:nvSpPr>
        <p:spPr>
          <a:xfrm>
            <a:off x="56692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980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il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547" y="3514587"/>
            <a:ext cx="249450" cy="249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3560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File 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a file’s fingerprint</a:t>
            </a:r>
          </a:p>
        </p:txBody>
      </p:sp>
      <p:sp>
        <p:nvSpPr>
          <p:cNvPr id="33" name="Rounded Rectangle 32">
            <a:hlinkClick r:id="rId13" action="ppaction://hlinksldjump"/>
          </p:cNvPr>
          <p:cNvSpPr/>
          <p:nvPr/>
        </p:nvSpPr>
        <p:spPr>
          <a:xfrm>
            <a:off x="335584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3872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download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7467" y="3514587"/>
            <a:ext cx="249450" cy="249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2452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Mark of the Web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the “from the Internet” label</a:t>
            </a:r>
          </a:p>
        </p:txBody>
      </p:sp>
      <p:sp>
        <p:nvSpPr>
          <p:cNvPr id="38" name="Rounded Rectangle 37">
            <a:hlinkClick r:id="rId15" action="ppaction://hlinksldjump"/>
          </p:cNvPr>
          <p:cNvSpPr/>
          <p:nvPr/>
        </p:nvSpPr>
        <p:spPr>
          <a:xfrm>
            <a:off x="614476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2764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wall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387" y="3514587"/>
            <a:ext cx="249450" cy="249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344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Firewall profile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Domain / Private / Public</a:t>
            </a:r>
          </a:p>
        </p:txBody>
      </p:sp>
      <p:sp>
        <p:nvSpPr>
          <p:cNvPr id="43" name="Rounded Rectangle 42">
            <a:hlinkClick r:id="rId17" action="ppaction://hlinksldjump"/>
          </p:cNvPr>
          <p:cNvSpPr/>
          <p:nvPr/>
        </p:nvSpPr>
        <p:spPr>
          <a:xfrm>
            <a:off x="8933687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116567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75306" y="3514587"/>
            <a:ext cx="249450" cy="2494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02367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Defense in depth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6567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several layers of protection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4663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Each term is explained in beginner-friendly language, with an example and a diagram.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Integrity level (trust level of a process)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29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Every running program gets a trust label: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Low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300">
                <a:solidFill>
                  <a:srgbClr val="202A38"/>
                </a:solidFill>
                <a:latin typeface="Times New Roman"/>
              </a:rPr>
              <a:t> or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System</a:t>
            </a:r>
            <a:r>
              <a:rPr sz="1300">
                <a:solidFill>
                  <a:srgbClr val="202A38"/>
                </a:solidFill>
                <a:latin typeface="Times New Roman"/>
              </a:rPr>
              <a:t>. A program with a lower level cannot change a program with a higher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UAC is exactly the jump from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300">
                <a:solidFill>
                  <a:srgbClr val="202A38"/>
                </a:solidFill>
                <a:latin typeface="Times New Roman"/>
              </a:rPr>
              <a:t> to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300">
                <a:solidFill>
                  <a:srgbClr val="202A38"/>
                </a:solidFill>
                <a:latin typeface="Times New Roman"/>
              </a:rPr>
              <a:t>. Your browser runs at Medium (its sandbox even at Low), so a hacked web page cannot touch system files.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Check it: </a:t>
            </a:r>
            <a:r>
              <a:rPr sz="1300" b="1">
                <a:solidFill>
                  <a:srgbClr val="178A73"/>
                </a:solidFill>
                <a:latin typeface="Consolas"/>
              </a:rPr>
              <a:t>whoami /groups</a:t>
            </a:r>
            <a:r>
              <a:rPr sz="1300">
                <a:solidFill>
                  <a:srgbClr val="202A38"/>
                </a:solidFill>
                <a:latin typeface="Times New Roman"/>
              </a:rPr>
              <a:t> → “Mandatory Label”.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7373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services, kernel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724912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724912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Run as administrator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712464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3712464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normal programs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4700016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4700016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browser sandbox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669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▲ higher = more trusted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Secure Desktop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30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When UAC asks “Do you want to allow…?”, Windows switches to a separate, protected desktop: the screen behind it dims and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only the prompt can be clicked</a:t>
            </a:r>
            <a:r>
              <a:rPr sz="1300">
                <a:solidFill>
                  <a:srgbClr val="202A38"/>
                </a:solidFill>
                <a:latin typeface="Times New Roman"/>
              </a:rPr>
              <a:t>. Ordinary programs cannot see or control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Without it, malware could draw a fake window or “click” the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Yes</a:t>
            </a:r>
            <a:r>
              <a:rPr sz="1300">
                <a:solidFill>
                  <a:srgbClr val="202A38"/>
                </a:solidFill>
                <a:latin typeface="Times New Roman"/>
              </a:rPr>
              <a:t> button by itself. On the Secure Desktop, only a real person with the mouse/keyboard can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5212080" cy="3566160"/>
          </a:xfrm>
          <a:prstGeom prst="roundRect">
            <a:avLst>
              <a:gd name="adj" fmla="val 3000"/>
            </a:avLst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9AA8B8"/>
                </a:solidFill>
                <a:latin typeface="Times New Roman"/>
              </a:rPr>
              <a:t>normal desktop — dimmed, “frozen”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377440"/>
            <a:ext cx="30175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98079" y="2377440"/>
            <a:ext cx="3017520" cy="411480"/>
          </a:xfrm>
          <a:prstGeom prst="roundRect">
            <a:avLst>
              <a:gd name="adj" fmla="val 4000"/>
            </a:avLst>
          </a:prstGeom>
          <a:solidFill>
            <a:srgbClr val="0B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User Account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8803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202A38"/>
                </a:solidFill>
                <a:latin typeface="Times New Roman"/>
              </a:rPr>
              <a:t>Do you want to allow this app to make changes?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931920"/>
            <a:ext cx="1234440" cy="411480"/>
          </a:xfrm>
          <a:prstGeom prst="roundRect">
            <a:avLst>
              <a:gd name="adj" fmla="val 1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931920"/>
            <a:ext cx="1234440" cy="41148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1" i="0">
                <a:solidFill>
                  <a:srgbClr val="8FD9C4"/>
                </a:solidFill>
                <a:latin typeface="Times New Roman"/>
              </a:rPr>
              <a:t>only this window is active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Access token (filtered and full)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31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An access token is a program’s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“ID card”</a:t>
            </a:r>
            <a:r>
              <a:rPr sz="1300">
                <a:solidFill>
                  <a:srgbClr val="202A38"/>
                </a:solidFill>
                <a:latin typeface="Times New Roman"/>
              </a:rPr>
              <a:t>: it lists who you are (your SID), your groups and your privileges. Windows checks this card every time the program opens a file or changes a setting.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An administrator gets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two cards</a:t>
            </a:r>
            <a:r>
              <a:rPr sz="1300">
                <a:solidFill>
                  <a:srgbClr val="202A38"/>
                </a:solidFill>
                <a:latin typeface="Times New Roman"/>
              </a:rPr>
              <a:t> at sign-in: 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filtered</a:t>
            </a:r>
            <a:r>
              <a:rPr sz="1300">
                <a:solidFill>
                  <a:srgbClr val="202A38"/>
                </a:solidFill>
                <a:latin typeface="Times New Roman"/>
              </a:rPr>
              <a:t> one for everyday work and 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full</a:t>
            </a:r>
            <a:r>
              <a:rPr sz="1300">
                <a:solidFill>
                  <a:srgbClr val="202A38"/>
                </a:solidFill>
                <a:latin typeface="Times New Roman"/>
              </a:rPr>
              <a:t> one that is used only after the UAC “Yes”. This is how UAC protects even admins.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7373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Sign-in as Administrator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2331720"/>
            <a:ext cx="201168" cy="292608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2468880" cy="164592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FILTERED TOKEN</a:t>
            </a:r>
          </a:p>
          <a:p>
            <a:pPr algn="ctr"/>
            <a:endParaRPr sz="1200" b="1">
              <a:solidFill>
                <a:srgbClr val="FFFFFF"/>
              </a:solidFill>
              <a:latin typeface="Times New Roman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user SID · groups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standard rights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→ 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697480"/>
            <a:ext cx="2468880" cy="16459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FULL TOKEN</a:t>
            </a:r>
          </a:p>
          <a:p>
            <a:pPr algn="ctr"/>
            <a:endParaRPr sz="1200" b="1">
              <a:solidFill>
                <a:srgbClr val="FFFFFF"/>
              </a:solidFill>
              <a:latin typeface="Times New Roman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user SID · groups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all admin rights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→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5720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UAC “Yes” = switching from the filtered token to the full 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Whitelist (allow list)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32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 whitelist is a list of what is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allowed</a:t>
            </a:r>
            <a:r>
              <a:rPr sz="1300">
                <a:solidFill>
                  <a:srgbClr val="202A38"/>
                </a:solidFill>
                <a:latin typeface="Times New Roman"/>
              </a:rPr>
              <a:t>. Anything not on the list is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forbidden by default</a:t>
            </a:r>
            <a:r>
              <a:rPr sz="1300">
                <a:solidFill>
                  <a:srgbClr val="202A38"/>
                </a:solidFill>
                <a:latin typeface="Times New Roman"/>
              </a:rPr>
              <a:t>. The opposite is a blacklist: everything is allowed except what is listed.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New malware is never on any blacklist yet — but it is also not on the whitelist, so it is blocked. That is why AppLocker (a whitelist) is so strong in military and corporate networks.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2120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38528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178308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notepad.exe  (Microsoft, signed)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52120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807208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8040" y="265176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C:\Program Files\*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20439"/>
            <a:ext cx="52120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ban_C039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675887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78040" y="3520439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game.exe  (Downloads)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389120"/>
            <a:ext cx="52120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an_C039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44568"/>
            <a:ext cx="41148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78040" y="438912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crack.exe  (USB drive)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green = on the list · red = not on the list → blocked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File hash (a file’s fingerprint)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33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 hash function turns a whole file into a short, fixed-length code (for example </a:t>
            </a:r>
            <a:r>
              <a:rPr sz="1300" b="1">
                <a:solidFill>
                  <a:srgbClr val="178A73"/>
                </a:solidFill>
                <a:latin typeface="Consolas"/>
              </a:rPr>
              <a:t>SHA-256</a:t>
            </a:r>
            <a:r>
              <a:rPr sz="1300">
                <a:solidFill>
                  <a:srgbClr val="202A38"/>
                </a:solidFill>
                <a:latin typeface="Times New Roman"/>
              </a:rPr>
              <a:t>). The same file always gives the same hash; change even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one byte</a:t>
            </a:r>
            <a:r>
              <a:rPr sz="1300">
                <a:solidFill>
                  <a:srgbClr val="202A38"/>
                </a:solidFill>
                <a:latin typeface="Times New Roman"/>
              </a:rPr>
              <a:t> and the hash becomes completely different.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An AppLocker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File hash</a:t>
            </a:r>
            <a:r>
              <a:rPr sz="1300">
                <a:solidFill>
                  <a:srgbClr val="202A38"/>
                </a:solidFill>
                <a:latin typeface="Times New Roman"/>
              </a:rPr>
              <a:t> rule allows exactly one version of one file. It is the strictest condition — but after every update the hash changes and the rule must be rewritten.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2103120" cy="6858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setup.exe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365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783080"/>
            <a:ext cx="2697480" cy="68580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3F9A…C21B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34640"/>
            <a:ext cx="2103120" cy="6858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setup.exe v1.1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834640"/>
            <a:ext cx="365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834640"/>
            <a:ext cx="2697480" cy="6858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A04D…77E9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404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8862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One small change → a new hash → the old AppLocker rule no longer matches.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Check a hash: </a:t>
            </a:r>
            <a:r>
              <a:rPr sz="1200" b="1">
                <a:solidFill>
                  <a:srgbClr val="178A73"/>
                </a:solidFill>
                <a:latin typeface="Consolas"/>
              </a:rPr>
              <a:t>Get-FileHash setup.exe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Mark of the Web (Zone.Identifier)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34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When a browser saves a file from the internet, Windows quietly attaches a hidden label to it — the </a:t>
            </a:r>
            <a:r>
              <a:rPr sz="1300" b="1">
                <a:solidFill>
                  <a:srgbClr val="178A73"/>
                </a:solidFill>
                <a:latin typeface="Consolas"/>
              </a:rPr>
              <a:t>Zone.Identifier</a:t>
            </a:r>
            <a:r>
              <a:rPr sz="1300">
                <a:solidFill>
                  <a:srgbClr val="202A38"/>
                </a:solidFill>
                <a:latin typeface="Times New Roman"/>
              </a:rPr>
              <a:t> stream. It says where the file came from (</a:t>
            </a:r>
            <a:r>
              <a:rPr sz="1300" b="1">
                <a:solidFill>
                  <a:srgbClr val="178A73"/>
                </a:solidFill>
                <a:latin typeface="Consolas"/>
              </a:rPr>
              <a:t>ZoneId=3</a:t>
            </a:r>
            <a:r>
              <a:rPr sz="1300">
                <a:solidFill>
                  <a:srgbClr val="202A38"/>
                </a:solidFill>
                <a:latin typeface="Times New Roman"/>
              </a:rPr>
              <a:t> means “Internet”).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SmartScreen and Office look at this label: a file “from the Internet” is checked and may open in protected mode. A file copied from a USB drive usually has no label — so SmartScreen does not check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19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8FD9C4"/>
                </a:solidFill>
                <a:latin typeface="Times New Roman"/>
              </a:rPr>
              <a:t>PS&gt; Get-Content .\setup.exe -Stream Zone.Identifier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Times New Roman"/>
              </a:rPr>
              <a:t>[ZoneTransfer]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Times New Roman"/>
              </a:rPr>
              <a:t>ZoneId=3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Times New Roman"/>
              </a:rPr>
              <a:t>HostUrl=https://example.com/setup.exe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this computer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intranet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trusted sites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Internet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restricted sites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Firewall profile (Domain / Private / Public)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35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 profile is 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set of firewall rules</a:t>
            </a:r>
            <a:r>
              <a:rPr sz="1300">
                <a:solidFill>
                  <a:srgbClr val="202A38"/>
                </a:solidFill>
                <a:latin typeface="Times New Roman"/>
              </a:rPr>
              <a:t> tied to the type of network. Windows picks the profile automatically when you connect: domain network → Domain; you said “private” → Private; otherwise → Public.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The same laptop needs different protection at the office and in a café. On Public, almost all incoming connections are blocked, so strangers on the same Wi-Fi cannot reach your shared folders.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Check: </a:t>
            </a:r>
            <a:r>
              <a:rPr sz="1300" b="1">
                <a:solidFill>
                  <a:srgbClr val="178A73"/>
                </a:solidFill>
                <a:latin typeface="Consolas"/>
              </a:rPr>
              <a:t>Get-NetConnectionProfile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83680" y="1938528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uil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130552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52360" y="178308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Times New Roman"/>
              </a:rPr>
              <a:t>Domain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54647A"/>
                </a:solidFill>
                <a:latin typeface="Times New Roman"/>
              </a:rPr>
              <a:t>office, Active Directory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0" y="3127248"/>
            <a:ext cx="685800" cy="6858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hom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3319272"/>
            <a:ext cx="301752" cy="3017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52360" y="297180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Times New Roman"/>
              </a:rPr>
              <a:t>Private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54647A"/>
                </a:solidFill>
                <a:latin typeface="Times New Roman"/>
              </a:rPr>
              <a:t>home, trusted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6052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83680" y="4315968"/>
            <a:ext cx="685800" cy="685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offe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4507992"/>
            <a:ext cx="301752" cy="301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52360" y="416052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Times New Roman"/>
              </a:rPr>
              <a:t>Public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54647A"/>
                </a:solidFill>
                <a:latin typeface="Times New Roman"/>
              </a:rPr>
              <a:t>café, airport — strictest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Defense in depth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36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Back to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plain terms: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Instead of trusting one strong wall, you build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several independent layers</a:t>
            </a:r>
            <a:r>
              <a:rPr sz="1300">
                <a:solidFill>
                  <a:srgbClr val="202A38"/>
                </a:solidFill>
                <a:latin typeface="Times New Roman"/>
              </a:rPr>
              <a:t>. Each layer can fail — but an attacker must defeat all of them to succeed.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Why it matters: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No single tool is perfect: users click “Run anyway”, new malware has no signature yet. With five layers (SmartScreen, AppLocker, Defender, UAC, Firewall) one mistake does not mean a compromised system.</a:t>
            </a:r>
          </a:p>
        </p:txBody>
      </p:sp>
      <p:sp>
        <p:nvSpPr>
          <p:cNvPr id="13" name="Oval 12"/>
          <p:cNvSpPr/>
          <p:nvPr/>
        </p:nvSpPr>
        <p:spPr>
          <a:xfrm>
            <a:off x="6995159" y="1783080"/>
            <a:ext cx="4023360" cy="4023360"/>
          </a:xfrm>
          <a:prstGeom prst="ellipse">
            <a:avLst/>
          </a:prstGeom>
          <a:solidFill>
            <a:srgbClr val="CB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8288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Firewall</a:t>
            </a:r>
          </a:p>
        </p:txBody>
      </p:sp>
      <p:sp>
        <p:nvSpPr>
          <p:cNvPr id="15" name="Oval 14"/>
          <p:cNvSpPr/>
          <p:nvPr/>
        </p:nvSpPr>
        <p:spPr>
          <a:xfrm>
            <a:off x="7351775" y="2139696"/>
            <a:ext cx="3310128" cy="3310128"/>
          </a:xfrm>
          <a:prstGeom prst="ellipse">
            <a:avLst/>
          </a:prstGeom>
          <a:solidFill>
            <a:srgbClr val="A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18541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Defender</a:t>
            </a:r>
          </a:p>
        </p:txBody>
      </p:sp>
      <p:sp>
        <p:nvSpPr>
          <p:cNvPr id="17" name="Oval 16"/>
          <p:cNvSpPr/>
          <p:nvPr/>
        </p:nvSpPr>
        <p:spPr>
          <a:xfrm>
            <a:off x="7708392" y="2496312"/>
            <a:ext cx="2596896" cy="2596896"/>
          </a:xfrm>
          <a:prstGeom prst="ellipse">
            <a:avLst/>
          </a:prstGeom>
          <a:solidFill>
            <a:srgbClr val="7FA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SmartScreen</a:t>
            </a:r>
          </a:p>
        </p:txBody>
      </p:sp>
      <p:sp>
        <p:nvSpPr>
          <p:cNvPr id="19" name="Oval 18"/>
          <p:cNvSpPr/>
          <p:nvPr/>
        </p:nvSpPr>
        <p:spPr>
          <a:xfrm>
            <a:off x="8065008" y="2852928"/>
            <a:ext cx="1883664" cy="1883664"/>
          </a:xfrm>
          <a:prstGeom prst="ellipse">
            <a:avLst/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289864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AppLocker</a:t>
            </a:r>
          </a:p>
        </p:txBody>
      </p:sp>
      <p:sp>
        <p:nvSpPr>
          <p:cNvPr id="21" name="Oval 20"/>
          <p:cNvSpPr/>
          <p:nvPr/>
        </p:nvSpPr>
        <p:spPr>
          <a:xfrm>
            <a:off x="8421624" y="3209544"/>
            <a:ext cx="1170432" cy="1170432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25526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UAC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52044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3475</Words>
  <Application>Microsoft Office PowerPoint</Application>
  <PresentationFormat>Широкоэкранный</PresentationFormat>
  <Paragraphs>511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>generated using python-pptx</dc:description>
  <cp:lastModifiedBy>user</cp:lastModifiedBy>
  <cp:revision>7</cp:revision>
  <cp:lastPrinted>2026-09-24T02:36:38Z</cp:lastPrinted>
  <dcterms:created xsi:type="dcterms:W3CDTF">2013-01-27T09:14:16Z</dcterms:created>
  <dcterms:modified xsi:type="dcterms:W3CDTF">2026-09-24T07:31:34Z</dcterms:modified>
  <cp:category/>
</cp:coreProperties>
</file>