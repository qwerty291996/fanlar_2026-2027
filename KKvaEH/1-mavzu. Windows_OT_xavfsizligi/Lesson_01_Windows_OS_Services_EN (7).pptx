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71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c:style val="2"/>
  <c:chart>
    <c:title>
      <c:tx>
        <c:rich>
          <a:bodyPr/>
          <a:lstStyle/>
          <a:p>
            <a:r>
              <a:rPr lang="en-US" sz="1100">
                <a:latin typeface="Times New Roman"/>
              </a:rPr>
              <a:t>By type (180 hours total)</a:t>
            </a:r>
          </a:p>
        </c:rich>
      </c:tx>
      <c:overlay val="0"/>
    </c:title>
    <c:autoTitleDeleted val="0"/>
    <c:plotArea>
      <c:layout/>
      <c:doughnutChart>
        <c:varyColors val="1"/>
        <c:ser>
          <c:idx val="0"/>
          <c:order val="0"/>
          <c:tx>
            <c:strRef>
              <c:f>Sheet1!$B$1</c:f>
              <c:strCache>
                <c:ptCount val="1"/>
                <c:pt idx="0">
                  <c:v>soat</c:v>
                </c:pt>
              </c:strCache>
            </c:strRef>
          </c:tx>
          <c:dPt>
            <c:idx val="0"/>
            <c:bubble3D val="0"/>
            <c:spPr>
              <a:solidFill>
                <a:srgbClr val="178A73"/>
              </a:solidFill>
            </c:spPr>
            <c:extLst>
              <c:ext xmlns:c16="http://schemas.microsoft.com/office/drawing/2014/chart" uri="{C3380CC4-5D6E-409C-BE32-E72D297353CC}">
                <c16:uniqueId val="{00000001-A2F8-4A37-B543-B5C21198818F}"/>
              </c:ext>
            </c:extLst>
          </c:dPt>
          <c:dPt>
            <c:idx val="1"/>
            <c:bubble3D val="0"/>
            <c:spPr>
              <a:solidFill>
                <a:srgbClr val="1F3864"/>
              </a:solidFill>
            </c:spPr>
            <c:extLst>
              <c:ext xmlns:c16="http://schemas.microsoft.com/office/drawing/2014/chart" uri="{C3380CC4-5D6E-409C-BE32-E72D297353CC}">
                <c16:uniqueId val="{00000003-A2F8-4A37-B543-B5C21198818F}"/>
              </c:ext>
            </c:extLst>
          </c:dPt>
          <c:dPt>
            <c:idx val="2"/>
            <c:bubble3D val="0"/>
            <c:spPr>
              <a:solidFill>
                <a:srgbClr val="E08E1D"/>
              </a:solidFill>
            </c:spPr>
            <c:extLst>
              <c:ext xmlns:c16="http://schemas.microsoft.com/office/drawing/2014/chart" uri="{C3380CC4-5D6E-409C-BE32-E72D297353CC}">
                <c16:uniqueId val="{00000005-A2F8-4A37-B543-B5C21198818F}"/>
              </c:ext>
            </c:extLst>
          </c:dPt>
          <c:dLbls>
            <c:numFmt formatCode="0&quot;h&quot;" sourceLinked="0"/>
            <c:spPr>
              <a:noFill/>
              <a:ln>
                <a:noFill/>
              </a:ln>
              <a:effectLst/>
            </c:spPr>
            <c:txPr>
              <a:bodyPr/>
              <a:lstStyle/>
              <a:p>
                <a:pPr>
                  <a:defRPr sz="1000" b="1">
                    <a:latin typeface="Times New Roman"/>
                  </a:defRPr>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Practical</c:v>
                </c:pt>
                <c:pt idx="1">
                  <c:v>Lecture</c:v>
                </c:pt>
                <c:pt idx="2">
                  <c:v>Seminar</c:v>
                </c:pt>
              </c:strCache>
            </c:strRef>
          </c:cat>
          <c:val>
            <c:numRef>
              <c:f>Sheet1!$B$2:$B$4</c:f>
              <c:numCache>
                <c:formatCode>General</c:formatCode>
                <c:ptCount val="3"/>
                <c:pt idx="0">
                  <c:v>160</c:v>
                </c:pt>
                <c:pt idx="1">
                  <c:v>10</c:v>
                </c:pt>
                <c:pt idx="2">
                  <c:v>10</c:v>
                </c:pt>
              </c:numCache>
            </c:numRef>
          </c:val>
          <c:extLst>
            <c:ext xmlns:c16="http://schemas.microsoft.com/office/drawing/2014/chart" uri="{C3380CC4-5D6E-409C-BE32-E72D297353CC}">
              <c16:uniqueId val="{00000006-A2F8-4A37-B543-B5C21198818F}"/>
            </c:ext>
          </c:extLst>
        </c:ser>
        <c:dLbls>
          <c:showLegendKey val="0"/>
          <c:showVal val="1"/>
          <c:showCatName val="0"/>
          <c:showSerName val="0"/>
          <c:showPercent val="0"/>
          <c:showBubbleSize val="0"/>
          <c:showLeaderLines val="1"/>
        </c:dLbls>
        <c:firstSliceAng val="0"/>
        <c:holeSize val="50"/>
      </c:doughnutChart>
    </c:plotArea>
    <c:legend>
      <c:legendPos val="b"/>
      <c:overlay val="0"/>
      <c:txPr>
        <a:bodyPr/>
        <a:lstStyle/>
        <a:p>
          <a:pPr>
            <a:defRPr sz="1000">
              <a:latin typeface="Times New Roman"/>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slide" Target="slide26.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slide" Target="slide24.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31.png"/><Relationship Id="rId10" Type="http://schemas.openxmlformats.org/officeDocument/2006/relationships/image" Target="../media/image19.png"/><Relationship Id="rId4" Type="http://schemas.openxmlformats.org/officeDocument/2006/relationships/image" Target="../media/image7.png"/><Relationship Id="rId9"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slide" Target="slide18.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slide" Target="slide18.xml"/></Relationships>
</file>

<file path=ppt/slides/_rels/slide26.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itle.png"/>
          <p:cNvPicPr>
            <a:picLocks noChangeAspect="1"/>
          </p:cNvPicPr>
          <p:nvPr/>
        </p:nvPicPr>
        <p:blipFill>
          <a:blip r:embed="rId2"/>
          <a:stretch>
            <a:fillRect/>
          </a:stretch>
        </p:blipFill>
        <p:spPr>
          <a:xfrm>
            <a:off x="0" y="0"/>
            <a:ext cx="12191695" cy="6858000"/>
          </a:xfrm>
          <a:prstGeom prst="rect">
            <a:avLst/>
          </a:prstGeom>
        </p:spPr>
      </p:pic>
      <p:pic>
        <p:nvPicPr>
          <p:cNvPr id="3" name="Picture 2" descr="image1.png"/>
          <p:cNvPicPr>
            <a:picLocks noChangeAspect="1"/>
          </p:cNvPicPr>
          <p:nvPr/>
        </p:nvPicPr>
        <p:blipFill>
          <a:blip r:embed="rId3"/>
          <a:stretch>
            <a:fillRect/>
          </a:stretch>
        </p:blipFill>
        <p:spPr>
          <a:xfrm>
            <a:off x="502920" y="2194560"/>
            <a:ext cx="2468880" cy="2505456"/>
          </a:xfrm>
          <a:prstGeom prst="rect">
            <a:avLst/>
          </a:prstGeom>
        </p:spPr>
      </p:pic>
      <p:sp>
        <p:nvSpPr>
          <p:cNvPr id="4" name="TextBox 3"/>
          <p:cNvSpPr txBox="1"/>
          <p:nvPr/>
        </p:nvSpPr>
        <p:spPr>
          <a:xfrm>
            <a:off x="365760" y="4892040"/>
            <a:ext cx="2743200" cy="1280160"/>
          </a:xfrm>
          <a:prstGeom prst="rect">
            <a:avLst/>
          </a:prstGeom>
          <a:noFill/>
        </p:spPr>
        <p:txBody>
          <a:bodyPr wrap="square" lIns="0" tIns="0" rIns="0" bIns="0" anchor="t">
            <a:spAutoFit/>
          </a:bodyPr>
          <a:lstStyle/>
          <a:p>
            <a:pPr algn="ctr">
              <a:lnSpc>
                <a:spcPct val="120000"/>
              </a:lnSpc>
              <a:spcAft>
                <a:spcPts val="200"/>
              </a:spcAft>
            </a:pPr>
            <a:r>
              <a:rPr sz="1050" b="0" i="1">
                <a:solidFill>
                  <a:srgbClr val="FFFFFF"/>
                </a:solidFill>
                <a:latin typeface="Times New Roman"/>
              </a:rPr>
              <a:t>REPUBLIC OF UZBEKISTAN</a:t>
            </a:r>
          </a:p>
          <a:p>
            <a:pPr algn="ctr">
              <a:lnSpc>
                <a:spcPct val="120000"/>
              </a:lnSpc>
              <a:spcAft>
                <a:spcPts val="200"/>
              </a:spcAft>
            </a:pPr>
            <a:r>
              <a:rPr sz="1050" b="0" i="1">
                <a:solidFill>
                  <a:srgbClr val="FFFFFF"/>
                </a:solidFill>
                <a:latin typeface="Times New Roman"/>
              </a:rPr>
              <a:t>UNIVERSITY OF MILITARY SECURITY AND DEFENSE</a:t>
            </a:r>
          </a:p>
          <a:p>
            <a:pPr algn="ctr">
              <a:lnSpc>
                <a:spcPct val="120000"/>
              </a:lnSpc>
              <a:spcAft>
                <a:spcPts val="200"/>
              </a:spcAft>
            </a:pPr>
            <a:r>
              <a:rPr sz="1050" b="0" i="1">
                <a:solidFill>
                  <a:srgbClr val="FFFFFF"/>
                </a:solidFill>
                <a:latin typeface="Times New Roman"/>
              </a:rPr>
              <a:t>Institute of ICT and Military Communications · Cybersecurity Department</a:t>
            </a:r>
          </a:p>
        </p:txBody>
      </p:sp>
      <p:sp>
        <p:nvSpPr>
          <p:cNvPr id="5" name="TextBox 4"/>
          <p:cNvSpPr txBox="1"/>
          <p:nvPr/>
        </p:nvSpPr>
        <p:spPr>
          <a:xfrm>
            <a:off x="3566160" y="1417320"/>
            <a:ext cx="8229600" cy="365760"/>
          </a:xfrm>
          <a:prstGeom prst="rect">
            <a:avLst/>
          </a:prstGeom>
          <a:noFill/>
        </p:spPr>
        <p:txBody>
          <a:bodyPr wrap="square" lIns="0" tIns="0" rIns="0" bIns="0" anchor="t">
            <a:spAutoFit/>
          </a:bodyPr>
          <a:lstStyle/>
          <a:p>
            <a:pPr algn="l">
              <a:lnSpc>
                <a:spcPct val="112000"/>
              </a:lnSpc>
              <a:spcAft>
                <a:spcPts val="200"/>
              </a:spcAft>
            </a:pPr>
            <a:r>
              <a:rPr sz="1400" b="1" i="0">
                <a:solidFill>
                  <a:srgbClr val="8FD9C4"/>
                </a:solidFill>
                <a:latin typeface="Times New Roman"/>
              </a:rPr>
              <a:t>COURSE: “CYBER FORENSICS AND ETHICAL HACKING”</a:t>
            </a:r>
          </a:p>
        </p:txBody>
      </p:sp>
      <p:sp>
        <p:nvSpPr>
          <p:cNvPr id="6" name="TextBox 5"/>
          <p:cNvSpPr txBox="1"/>
          <p:nvPr/>
        </p:nvSpPr>
        <p:spPr>
          <a:xfrm>
            <a:off x="3520440" y="1965960"/>
            <a:ext cx="8229600" cy="731520"/>
          </a:xfrm>
          <a:prstGeom prst="rect">
            <a:avLst/>
          </a:prstGeom>
          <a:noFill/>
        </p:spPr>
        <p:txBody>
          <a:bodyPr wrap="square" lIns="0" tIns="0" rIns="0" bIns="0" anchor="t">
            <a:spAutoFit/>
          </a:bodyPr>
          <a:lstStyle/>
          <a:p>
            <a:pPr algn="l">
              <a:lnSpc>
                <a:spcPct val="112000"/>
              </a:lnSpc>
              <a:spcAft>
                <a:spcPts val="200"/>
              </a:spcAft>
            </a:pPr>
            <a:r>
              <a:rPr sz="2200" b="1" i="0">
                <a:solidFill>
                  <a:srgbClr val="FFFFFF"/>
                </a:solidFill>
                <a:latin typeface="Times New Roman"/>
              </a:rPr>
              <a:t>TOPIC 1</a:t>
            </a:r>
          </a:p>
        </p:txBody>
      </p:sp>
      <p:sp>
        <p:nvSpPr>
          <p:cNvPr id="7" name="TextBox 6"/>
          <p:cNvSpPr txBox="1"/>
          <p:nvPr/>
        </p:nvSpPr>
        <p:spPr>
          <a:xfrm>
            <a:off x="3520440" y="2514600"/>
            <a:ext cx="8321040" cy="1463040"/>
          </a:xfrm>
          <a:prstGeom prst="rect">
            <a:avLst/>
          </a:prstGeom>
          <a:noFill/>
        </p:spPr>
        <p:txBody>
          <a:bodyPr wrap="square" lIns="0" tIns="0" rIns="0" bIns="0" anchor="t">
            <a:spAutoFit/>
          </a:bodyPr>
          <a:lstStyle/>
          <a:p>
            <a:pPr algn="l">
              <a:lnSpc>
                <a:spcPct val="100000"/>
              </a:lnSpc>
              <a:spcAft>
                <a:spcPts val="200"/>
              </a:spcAft>
            </a:pPr>
            <a:r>
              <a:rPr sz="5200" b="1" i="0">
                <a:solidFill>
                  <a:srgbClr val="FFFFFF"/>
                </a:solidFill>
                <a:latin typeface="Times New Roman"/>
              </a:rPr>
              <a:t>WINDOWS OS</a:t>
            </a:r>
          </a:p>
          <a:p>
            <a:pPr algn="l">
              <a:lnSpc>
                <a:spcPct val="100000"/>
              </a:lnSpc>
              <a:spcAft>
                <a:spcPts val="200"/>
              </a:spcAft>
            </a:pPr>
            <a:r>
              <a:rPr sz="5200" b="1" i="0">
                <a:solidFill>
                  <a:srgbClr val="FFFFFF"/>
                </a:solidFill>
                <a:latin typeface="Times New Roman"/>
              </a:rPr>
              <a:t>SECURITY</a:t>
            </a:r>
          </a:p>
        </p:txBody>
      </p:sp>
      <p:sp>
        <p:nvSpPr>
          <p:cNvPr id="8" name="Rectangle 7"/>
          <p:cNvSpPr/>
          <p:nvPr/>
        </p:nvSpPr>
        <p:spPr>
          <a:xfrm>
            <a:off x="3566160" y="4343400"/>
            <a:ext cx="1280160" cy="5080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4572000"/>
            <a:ext cx="8046720" cy="457200"/>
          </a:xfrm>
          <a:prstGeom prst="rect">
            <a:avLst/>
          </a:prstGeom>
          <a:noFill/>
        </p:spPr>
        <p:txBody>
          <a:bodyPr wrap="square" lIns="0" tIns="0" rIns="0" bIns="0" anchor="t">
            <a:spAutoFit/>
          </a:bodyPr>
          <a:lstStyle/>
          <a:p>
            <a:pPr algn="l">
              <a:lnSpc>
                <a:spcPct val="112000"/>
              </a:lnSpc>
              <a:spcAft>
                <a:spcPts val="200"/>
              </a:spcAft>
            </a:pPr>
            <a:r>
              <a:rPr sz="1700" b="0" i="0">
                <a:solidFill>
                  <a:srgbClr val="D6E2EE"/>
                </a:solidFill>
                <a:latin typeface="Times New Roman"/>
              </a:rPr>
              <a:t>Lesson 1 · Windows OS Services  |  Lecture, 2 hours</a:t>
            </a:r>
          </a:p>
        </p:txBody>
      </p:sp>
      <p:sp>
        <p:nvSpPr>
          <p:cNvPr id="10" name="TextBox 9"/>
          <p:cNvSpPr txBox="1"/>
          <p:nvPr/>
        </p:nvSpPr>
        <p:spPr>
          <a:xfrm>
            <a:off x="3566160" y="5989320"/>
            <a:ext cx="8046720" cy="457200"/>
          </a:xfrm>
          <a:prstGeom prst="rect">
            <a:avLst/>
          </a:prstGeom>
          <a:noFill/>
        </p:spPr>
        <p:txBody>
          <a:bodyPr wrap="square" lIns="0" tIns="0" rIns="0" bIns="0" anchor="t">
            <a:spAutoFit/>
          </a:bodyPr>
          <a:lstStyle/>
          <a:p>
            <a:pPr algn="l">
              <a:lnSpc>
                <a:spcPct val="112000"/>
              </a:lnSpc>
              <a:spcAft>
                <a:spcPts val="200"/>
              </a:spcAft>
            </a:pPr>
            <a:r>
              <a:rPr sz="1300" b="0" i="1">
                <a:solidFill>
                  <a:srgbClr val="B9CDE0"/>
                </a:solidFill>
                <a:latin typeface="Times New Roman"/>
              </a:rPr>
              <a:t>Lecturer: Senior Lecturer, Cybersecurity Department — Captain M. Isakov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COURSE OVERVIEW</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600" b="1" i="0">
                <a:solidFill>
                  <a:srgbClr val="1F3864"/>
                </a:solidFill>
                <a:latin typeface="Times New Roman"/>
              </a:rPr>
              <a:t>Classroom hours — distribution</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2788920" cy="1965960"/>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874519"/>
            <a:ext cx="2788920" cy="822960"/>
          </a:xfrm>
          <a:prstGeom prst="rect">
            <a:avLst/>
          </a:prstGeom>
          <a:noFill/>
        </p:spPr>
        <p:txBody>
          <a:bodyPr wrap="square" lIns="0" tIns="0" rIns="0" bIns="0" anchor="t">
            <a:spAutoFit/>
          </a:bodyPr>
          <a:lstStyle/>
          <a:p>
            <a:pPr algn="ctr">
              <a:lnSpc>
                <a:spcPct val="112000"/>
              </a:lnSpc>
              <a:spcAft>
                <a:spcPts val="200"/>
              </a:spcAft>
            </a:pPr>
            <a:r>
              <a:rPr sz="5800" b="1" i="0">
                <a:solidFill>
                  <a:srgbClr val="FFFFFF"/>
                </a:solidFill>
                <a:latin typeface="Times New Roman"/>
              </a:rPr>
              <a:t>180</a:t>
            </a:r>
          </a:p>
        </p:txBody>
      </p:sp>
      <p:sp>
        <p:nvSpPr>
          <p:cNvPr id="8" name="TextBox 7"/>
          <p:cNvSpPr txBox="1"/>
          <p:nvPr/>
        </p:nvSpPr>
        <p:spPr>
          <a:xfrm>
            <a:off x="566928" y="2788920"/>
            <a:ext cx="2788920" cy="457200"/>
          </a:xfrm>
          <a:prstGeom prst="rect">
            <a:avLst/>
          </a:prstGeom>
          <a:noFill/>
        </p:spPr>
        <p:txBody>
          <a:bodyPr wrap="square" lIns="0" tIns="0" rIns="0" bIns="0" anchor="t">
            <a:spAutoFit/>
          </a:bodyPr>
          <a:lstStyle/>
          <a:p>
            <a:pPr algn="ctr">
              <a:lnSpc>
                <a:spcPct val="112000"/>
              </a:lnSpc>
              <a:spcAft>
                <a:spcPts val="200"/>
              </a:spcAft>
            </a:pPr>
            <a:r>
              <a:rPr sz="1500" b="1" i="0">
                <a:solidFill>
                  <a:srgbClr val="8FD9C4"/>
                </a:solidFill>
                <a:latin typeface="Times New Roman"/>
              </a:rPr>
              <a:t>classroom hours</a:t>
            </a:r>
          </a:p>
        </p:txBody>
      </p:sp>
      <p:sp>
        <p:nvSpPr>
          <p:cNvPr id="9" name="TextBox 8"/>
          <p:cNvSpPr txBox="1"/>
          <p:nvPr/>
        </p:nvSpPr>
        <p:spPr>
          <a:xfrm>
            <a:off x="658368" y="3200400"/>
            <a:ext cx="2606040" cy="457200"/>
          </a:xfrm>
          <a:prstGeom prst="rect">
            <a:avLst/>
          </a:prstGeom>
          <a:noFill/>
        </p:spPr>
        <p:txBody>
          <a:bodyPr wrap="square" lIns="0" tIns="0" rIns="0" bIns="0" anchor="t">
            <a:spAutoFit/>
          </a:bodyPr>
          <a:lstStyle/>
          <a:p>
            <a:pPr algn="ctr">
              <a:lnSpc>
                <a:spcPct val="110000"/>
              </a:lnSpc>
              <a:spcAft>
                <a:spcPts val="200"/>
              </a:spcAft>
            </a:pPr>
            <a:r>
              <a:rPr sz="1150" b="0" i="0">
                <a:solidFill>
                  <a:srgbClr val="C7D6E6"/>
                </a:solidFill>
                <a:latin typeface="Times New Roman"/>
              </a:rPr>
              <a:t>Taught in semesters 5, 6 and 7</a:t>
            </a:r>
          </a:p>
          <a:p>
            <a:pPr algn="ctr">
              <a:lnSpc>
                <a:spcPct val="110000"/>
              </a:lnSpc>
              <a:spcAft>
                <a:spcPts val="200"/>
              </a:spcAft>
            </a:pPr>
            <a:r>
              <a:rPr sz="1150" b="0" i="0">
                <a:solidFill>
                  <a:srgbClr val="C7D6E6"/>
                </a:solidFill>
                <a:latin typeface="Times New Roman"/>
              </a:rPr>
              <a:t>(60 hours each)</a:t>
            </a:r>
          </a:p>
        </p:txBody>
      </p:sp>
      <p:graphicFrame>
        <p:nvGraphicFramePr>
          <p:cNvPr id="10" name="Chart 9"/>
          <p:cNvGraphicFramePr>
            <a:graphicFrameLocks noGrp="1"/>
          </p:cNvGraphicFramePr>
          <p:nvPr/>
        </p:nvGraphicFramePr>
        <p:xfrm>
          <a:off x="3611880" y="1645920"/>
          <a:ext cx="32004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1" name="Rounded Rectangle 10"/>
          <p:cNvSpPr/>
          <p:nvPr/>
        </p:nvSpPr>
        <p:spPr>
          <a:xfrm>
            <a:off x="7086600" y="1691640"/>
            <a:ext cx="4526280" cy="3063240"/>
          </a:xfrm>
          <a:prstGeom prst="roundRect">
            <a:avLst>
              <a:gd name="adj" fmla="val 5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users_178A73.png"/>
          <p:cNvPicPr>
            <a:picLocks noChangeAspect="1"/>
          </p:cNvPicPr>
          <p:nvPr/>
        </p:nvPicPr>
        <p:blipFill>
          <a:blip r:embed="rId4"/>
          <a:stretch>
            <a:fillRect/>
          </a:stretch>
        </p:blipFill>
        <p:spPr>
          <a:xfrm>
            <a:off x="7315200" y="1920240"/>
            <a:ext cx="457200" cy="457200"/>
          </a:xfrm>
          <a:prstGeom prst="rect">
            <a:avLst/>
          </a:prstGeom>
        </p:spPr>
      </p:pic>
      <p:sp>
        <p:nvSpPr>
          <p:cNvPr id="13" name="TextBox 12"/>
          <p:cNvSpPr txBox="1"/>
          <p:nvPr/>
        </p:nvSpPr>
        <p:spPr>
          <a:xfrm>
            <a:off x="7909560" y="1938528"/>
            <a:ext cx="3566160" cy="457200"/>
          </a:xfrm>
          <a:prstGeom prst="rect">
            <a:avLst/>
          </a:prstGeom>
          <a:noFill/>
        </p:spPr>
        <p:txBody>
          <a:bodyPr wrap="square" lIns="0" tIns="0" rIns="0" bIns="0" anchor="t">
            <a:spAutoFit/>
          </a:bodyPr>
          <a:lstStyle/>
          <a:p>
            <a:pPr algn="l">
              <a:lnSpc>
                <a:spcPct val="112000"/>
              </a:lnSpc>
              <a:spcAft>
                <a:spcPts val="200"/>
              </a:spcAft>
            </a:pPr>
            <a:r>
              <a:rPr sz="1500" b="1" i="0">
                <a:solidFill>
                  <a:srgbClr val="1F3864"/>
                </a:solidFill>
                <a:latin typeface="Times New Roman"/>
              </a:rPr>
              <a:t>What is a classroom session?</a:t>
            </a:r>
          </a:p>
        </p:txBody>
      </p:sp>
      <p:sp>
        <p:nvSpPr>
          <p:cNvPr id="14" name="TextBox 13"/>
          <p:cNvSpPr txBox="1"/>
          <p:nvPr/>
        </p:nvSpPr>
        <p:spPr>
          <a:xfrm>
            <a:off x="7315200" y="2514600"/>
            <a:ext cx="4114800" cy="2103120"/>
          </a:xfrm>
          <a:prstGeom prst="rect">
            <a:avLst/>
          </a:prstGeom>
          <a:noFill/>
        </p:spPr>
        <p:txBody>
          <a:bodyPr wrap="square" lIns="0" tIns="0" rIns="0" bIns="0" anchor="t">
            <a:spAutoFit/>
          </a:bodyPr>
          <a:lstStyle/>
          <a:p>
            <a:pPr algn="l">
              <a:lnSpc>
                <a:spcPct val="115000"/>
              </a:lnSpc>
              <a:spcAft>
                <a:spcPts val="600"/>
              </a:spcAft>
            </a:pPr>
            <a:r>
              <a:rPr sz="1250" b="1">
                <a:solidFill>
                  <a:srgbClr val="202A38"/>
                </a:solidFill>
                <a:latin typeface="Times New Roman"/>
              </a:rPr>
              <a:t>Sessions taught in class with an instructor: </a:t>
            </a:r>
            <a:r>
              <a:rPr sz="1250">
                <a:solidFill>
                  <a:srgbClr val="202A38"/>
                </a:solidFill>
                <a:latin typeface="Times New Roman"/>
              </a:rPr>
              <a:t>lecture, practical and seminar.</a:t>
            </a:r>
          </a:p>
          <a:p>
            <a:pPr algn="l">
              <a:lnSpc>
                <a:spcPct val="115000"/>
              </a:lnSpc>
              <a:spcAft>
                <a:spcPts val="600"/>
              </a:spcAft>
            </a:pPr>
            <a:r>
              <a:rPr sz="1250">
                <a:solidFill>
                  <a:srgbClr val="202A38"/>
                </a:solidFill>
                <a:latin typeface="Times New Roman"/>
              </a:rPr>
              <a:t>Main focus — </a:t>
            </a:r>
            <a:r>
              <a:rPr sz="1250" b="1">
                <a:solidFill>
                  <a:srgbClr val="202A38"/>
                </a:solidFill>
                <a:latin typeface="Times New Roman"/>
              </a:rPr>
              <a:t>practical sessions (160 hours)</a:t>
            </a:r>
            <a:r>
              <a:rPr sz="1250">
                <a:solidFill>
                  <a:srgbClr val="202A38"/>
                </a:solidFill>
                <a:latin typeface="Times New Roman"/>
              </a:rPr>
              <a:t>: the cadet applies theory in a real/virtual environment.</a:t>
            </a:r>
          </a:p>
          <a:p>
            <a:pPr algn="l">
              <a:lnSpc>
                <a:spcPct val="115000"/>
              </a:lnSpc>
              <a:spcAft>
                <a:spcPts val="600"/>
              </a:spcAft>
            </a:pPr>
            <a:r>
              <a:rPr sz="1250">
                <a:solidFill>
                  <a:srgbClr val="202A38"/>
                </a:solidFill>
                <a:latin typeface="Times New Roman"/>
              </a:rPr>
              <a:t>Each semester — 60 classroom hours; 180 hours across 3 semesters.</a:t>
            </a:r>
          </a:p>
        </p:txBody>
      </p:sp>
      <p:sp>
        <p:nvSpPr>
          <p:cNvPr id="15" name="TextBox 14"/>
          <p:cNvSpPr txBox="1"/>
          <p:nvPr/>
        </p:nvSpPr>
        <p:spPr>
          <a:xfrm>
            <a:off x="566928" y="5029200"/>
            <a:ext cx="11064240" cy="365760"/>
          </a:xfrm>
          <a:prstGeom prst="rect">
            <a:avLst/>
          </a:prstGeom>
          <a:noFill/>
        </p:spPr>
        <p:txBody>
          <a:bodyPr wrap="square" lIns="0" tIns="0" rIns="0" bIns="0" anchor="t">
            <a:spAutoFit/>
          </a:bodyPr>
          <a:lstStyle/>
          <a:p>
            <a:pPr algn="l">
              <a:lnSpc>
                <a:spcPct val="112000"/>
              </a:lnSpc>
              <a:spcAft>
                <a:spcPts val="200"/>
              </a:spcAft>
            </a:pPr>
            <a:r>
              <a:rPr sz="1100" b="0" i="1">
                <a:solidFill>
                  <a:srgbClr val="54647A"/>
                </a:solidFill>
                <a:latin typeface="Times New Roman"/>
              </a:rPr>
              <a:t>Note: there is also independent study (150 hours), but lessons are delivered specifically in the classroom hours.</a:t>
            </a:r>
          </a:p>
        </p:txBody>
      </p:sp>
      <p:sp>
        <p:nvSpPr>
          <p:cNvPr id="16" name="TextBox 15"/>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17" name="Oval 16"/>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COURSE OVERVIEW</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600" b="1" i="0">
                <a:solidFill>
                  <a:srgbClr val="1F3864"/>
                </a:solidFill>
                <a:latin typeface="Times New Roman"/>
              </a:rPr>
              <a:t>Course goal and expected outcomes</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5486400" cy="356616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60" y="1920240"/>
            <a:ext cx="777240" cy="7772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flag_FFFFFF.png"/>
          <p:cNvPicPr>
            <a:picLocks noChangeAspect="1"/>
          </p:cNvPicPr>
          <p:nvPr/>
        </p:nvPicPr>
        <p:blipFill>
          <a:blip r:embed="rId3"/>
          <a:stretch>
            <a:fillRect/>
          </a:stretch>
        </p:blipFill>
        <p:spPr>
          <a:xfrm>
            <a:off x="1040587" y="2137867"/>
            <a:ext cx="341986" cy="341986"/>
          </a:xfrm>
          <a:prstGeom prst="rect">
            <a:avLst/>
          </a:prstGeom>
        </p:spPr>
      </p:pic>
      <p:sp>
        <p:nvSpPr>
          <p:cNvPr id="9" name="TextBox 8"/>
          <p:cNvSpPr txBox="1"/>
          <p:nvPr/>
        </p:nvSpPr>
        <p:spPr>
          <a:xfrm>
            <a:off x="1783080" y="1965960"/>
            <a:ext cx="4023360" cy="457200"/>
          </a:xfrm>
          <a:prstGeom prst="rect">
            <a:avLst/>
          </a:prstGeom>
          <a:noFill/>
        </p:spPr>
        <p:txBody>
          <a:bodyPr wrap="square" lIns="0" tIns="0" rIns="0" bIns="0" anchor="t">
            <a:spAutoFit/>
          </a:bodyPr>
          <a:lstStyle/>
          <a:p>
            <a:pPr algn="l">
              <a:lnSpc>
                <a:spcPct val="112000"/>
              </a:lnSpc>
              <a:spcAft>
                <a:spcPts val="200"/>
              </a:spcAft>
            </a:pPr>
            <a:r>
              <a:rPr sz="1450" b="1" i="0">
                <a:solidFill>
                  <a:srgbClr val="1F3864"/>
                </a:solidFill>
                <a:latin typeface="Times New Roman"/>
              </a:rPr>
              <a:t>GOAL — what we want to achieve</a:t>
            </a:r>
          </a:p>
        </p:txBody>
      </p:sp>
      <p:sp>
        <p:nvSpPr>
          <p:cNvPr id="10" name="TextBox 9"/>
          <p:cNvSpPr txBox="1"/>
          <p:nvPr/>
        </p:nvSpPr>
        <p:spPr>
          <a:xfrm>
            <a:off x="868680" y="2880360"/>
            <a:ext cx="4892040" cy="2194560"/>
          </a:xfrm>
          <a:prstGeom prst="rect">
            <a:avLst/>
          </a:prstGeom>
          <a:noFill/>
        </p:spPr>
        <p:txBody>
          <a:bodyPr wrap="square" lIns="0" tIns="0" rIns="0" bIns="0" anchor="t">
            <a:spAutoFit/>
          </a:bodyPr>
          <a:lstStyle/>
          <a:p>
            <a:pPr algn="l">
              <a:lnSpc>
                <a:spcPct val="120000"/>
              </a:lnSpc>
              <a:spcAft>
                <a:spcPts val="200"/>
              </a:spcAft>
            </a:pPr>
            <a:r>
              <a:rPr sz="1300" b="0" i="0">
                <a:solidFill>
                  <a:srgbClr val="202A38"/>
                </a:solidFill>
                <a:latin typeface="Times New Roman"/>
              </a:rPr>
              <a:t>To train the cadet as a cybersecurity officer who understands Windows and Linux systems from the inside, can find malicious software, track digital traces in networks and systems, and can carry out both attack and defense in practice.</a:t>
            </a:r>
          </a:p>
          <a:p>
            <a:pPr algn="l">
              <a:lnSpc>
                <a:spcPct val="120000"/>
              </a:lnSpc>
              <a:spcAft>
                <a:spcPts val="200"/>
              </a:spcAft>
            </a:pPr>
            <a:endParaRPr sz="1300" b="0" i="0">
              <a:solidFill>
                <a:srgbClr val="202A38"/>
              </a:solidFill>
              <a:latin typeface="Times New Roman"/>
            </a:endParaRPr>
          </a:p>
          <a:p>
            <a:pPr algn="l">
              <a:lnSpc>
                <a:spcPct val="120000"/>
              </a:lnSpc>
              <a:spcAft>
                <a:spcPts val="200"/>
              </a:spcAft>
            </a:pPr>
            <a:r>
              <a:rPr sz="1300" b="0" i="0">
                <a:solidFill>
                  <a:srgbClr val="202A38"/>
                </a:solidFill>
                <a:latin typeface="Times New Roman"/>
              </a:rPr>
              <a:t>In short: teaching not “which button to press”, but how the system works and how to protect it.</a:t>
            </a:r>
          </a:p>
        </p:txBody>
      </p:sp>
      <p:sp>
        <p:nvSpPr>
          <p:cNvPr id="11" name="Rounded Rectangle 10"/>
          <p:cNvSpPr/>
          <p:nvPr/>
        </p:nvSpPr>
        <p:spPr>
          <a:xfrm>
            <a:off x="6263640" y="1691640"/>
            <a:ext cx="5349240" cy="356616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510528" y="1920240"/>
            <a:ext cx="777240" cy="777240"/>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list-check_FFFFFF.png"/>
          <p:cNvPicPr>
            <a:picLocks noChangeAspect="1"/>
          </p:cNvPicPr>
          <p:nvPr/>
        </p:nvPicPr>
        <p:blipFill>
          <a:blip r:embed="rId4"/>
          <a:stretch>
            <a:fillRect/>
          </a:stretch>
        </p:blipFill>
        <p:spPr>
          <a:xfrm>
            <a:off x="6728155" y="2137867"/>
            <a:ext cx="341986" cy="341986"/>
          </a:xfrm>
          <a:prstGeom prst="rect">
            <a:avLst/>
          </a:prstGeom>
        </p:spPr>
      </p:pic>
      <p:sp>
        <p:nvSpPr>
          <p:cNvPr id="14" name="TextBox 13"/>
          <p:cNvSpPr txBox="1"/>
          <p:nvPr/>
        </p:nvSpPr>
        <p:spPr>
          <a:xfrm>
            <a:off x="7452360" y="1965960"/>
            <a:ext cx="4023360" cy="457200"/>
          </a:xfrm>
          <a:prstGeom prst="rect">
            <a:avLst/>
          </a:prstGeom>
          <a:noFill/>
        </p:spPr>
        <p:txBody>
          <a:bodyPr wrap="square" lIns="0" tIns="0" rIns="0" bIns="0" anchor="t">
            <a:spAutoFit/>
          </a:bodyPr>
          <a:lstStyle/>
          <a:p>
            <a:pPr algn="l">
              <a:lnSpc>
                <a:spcPct val="112000"/>
              </a:lnSpc>
              <a:spcAft>
                <a:spcPts val="200"/>
              </a:spcAft>
            </a:pPr>
            <a:r>
              <a:rPr sz="1450" b="1" i="0">
                <a:solidFill>
                  <a:srgbClr val="FFFFFF"/>
                </a:solidFill>
                <a:latin typeface="Times New Roman"/>
              </a:rPr>
              <a:t>EXPECTED OUTCOME — what the cadet will be able to do</a:t>
            </a:r>
          </a:p>
        </p:txBody>
      </p:sp>
      <p:sp>
        <p:nvSpPr>
          <p:cNvPr id="15" name="TextBox 14"/>
          <p:cNvSpPr txBox="1"/>
          <p:nvPr/>
        </p:nvSpPr>
        <p:spPr>
          <a:xfrm>
            <a:off x="6537960" y="2788920"/>
            <a:ext cx="4892040" cy="2377440"/>
          </a:xfrm>
          <a:prstGeom prst="rect">
            <a:avLst/>
          </a:prstGeom>
          <a:noFill/>
        </p:spPr>
        <p:txBody>
          <a:bodyPr wrap="square" lIns="0" tIns="0" rIns="0" bIns="0" anchor="t">
            <a:spAutoFit/>
          </a:bodyPr>
          <a:lstStyle/>
          <a:p>
            <a:pPr algn="l">
              <a:lnSpc>
                <a:spcPct val="112000"/>
              </a:lnSpc>
              <a:spcAft>
                <a:spcPts val="700"/>
              </a:spcAft>
            </a:pPr>
            <a:r>
              <a:rPr sz="1250" b="1">
                <a:solidFill>
                  <a:srgbClr val="43B02A"/>
                </a:solidFill>
                <a:latin typeface="Times New Roman"/>
              </a:rPr>
              <a:t>▸  </a:t>
            </a:r>
            <a:r>
              <a:rPr sz="1250">
                <a:solidFill>
                  <a:srgbClr val="E6EDF4"/>
                </a:solidFill>
                <a:latin typeface="Times New Roman"/>
              </a:rPr>
              <a:t>Manage a Windows/Linux system at administrator level</a:t>
            </a:r>
          </a:p>
          <a:p>
            <a:pPr algn="l">
              <a:lnSpc>
                <a:spcPct val="112000"/>
              </a:lnSpc>
              <a:spcAft>
                <a:spcPts val="700"/>
              </a:spcAft>
            </a:pPr>
            <a:r>
              <a:rPr sz="1250" b="1">
                <a:solidFill>
                  <a:srgbClr val="43B02A"/>
                </a:solidFill>
                <a:latin typeface="Times New Roman"/>
              </a:rPr>
              <a:t>▸  </a:t>
            </a:r>
            <a:r>
              <a:rPr sz="1250">
                <a:solidFill>
                  <a:srgbClr val="E6EDF4"/>
                </a:solidFill>
                <a:latin typeface="Times New Roman"/>
              </a:rPr>
              <a:t>Recognize and analyze viruses and malicious code</a:t>
            </a:r>
          </a:p>
          <a:p>
            <a:pPr algn="l">
              <a:lnSpc>
                <a:spcPct val="112000"/>
              </a:lnSpc>
              <a:spcAft>
                <a:spcPts val="700"/>
              </a:spcAft>
            </a:pPr>
            <a:r>
              <a:rPr sz="1250" b="1">
                <a:solidFill>
                  <a:srgbClr val="43B02A"/>
                </a:solidFill>
                <a:latin typeface="Times New Roman"/>
              </a:rPr>
              <a:t>▸  </a:t>
            </a:r>
            <a:r>
              <a:rPr sz="1250">
                <a:solidFill>
                  <a:srgbClr val="E6EDF4"/>
                </a:solidFill>
                <a:latin typeface="Times New Roman"/>
              </a:rPr>
              <a:t>Know and apply SIEM, EDR, DLP, IPS/IDS defense systems</a:t>
            </a:r>
          </a:p>
          <a:p>
            <a:pPr algn="l">
              <a:lnSpc>
                <a:spcPct val="112000"/>
              </a:lnSpc>
              <a:spcAft>
                <a:spcPts val="700"/>
              </a:spcAft>
            </a:pPr>
            <a:r>
              <a:rPr sz="1250" b="1">
                <a:solidFill>
                  <a:srgbClr val="43B02A"/>
                </a:solidFill>
                <a:latin typeface="Times New Roman"/>
              </a:rPr>
              <a:t>▸  </a:t>
            </a:r>
            <a:r>
              <a:rPr sz="1250">
                <a:solidFill>
                  <a:srgbClr val="E6EDF4"/>
                </a:solidFill>
                <a:latin typeface="Times New Roman"/>
              </a:rPr>
              <a:t>Work with Metasploit and network scanners</a:t>
            </a:r>
          </a:p>
          <a:p>
            <a:pPr algn="l">
              <a:lnSpc>
                <a:spcPct val="112000"/>
              </a:lnSpc>
              <a:spcAft>
                <a:spcPts val="700"/>
              </a:spcAft>
            </a:pPr>
            <a:r>
              <a:rPr sz="1250" b="1">
                <a:solidFill>
                  <a:srgbClr val="43B02A"/>
                </a:solidFill>
                <a:latin typeface="Times New Roman"/>
              </a:rPr>
              <a:t>▸  </a:t>
            </a:r>
            <a:r>
              <a:rPr sz="1250">
                <a:solidFill>
                  <a:srgbClr val="E6EDF4"/>
                </a:solidFill>
                <a:latin typeface="Times New Roman"/>
              </a:rPr>
              <a:t>Collect information from open sources via OSINT</a:t>
            </a:r>
          </a:p>
        </p:txBody>
      </p:sp>
      <p:sp>
        <p:nvSpPr>
          <p:cNvPr id="16" name="TextBox 15"/>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17" name="Oval 16"/>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COURSE OVERVIEW</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600" b="1" i="0">
                <a:solidFill>
                  <a:srgbClr val="1F3864"/>
                </a:solidFill>
                <a:latin typeface="Times New Roman"/>
              </a:rPr>
              <a:t>Course structure — 3 semesters, 6 topics</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3611880" cy="402336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691640"/>
            <a:ext cx="3611880" cy="640080"/>
          </a:xfrm>
          <a:prstGeom prst="roundRect">
            <a:avLst>
              <a:gd name="adj" fmla="val 4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2057400"/>
            <a:ext cx="3611880" cy="274320"/>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737360"/>
            <a:ext cx="2286000" cy="502920"/>
          </a:xfrm>
          <a:prstGeom prst="rect">
            <a:avLst/>
          </a:prstGeom>
          <a:noFill/>
        </p:spPr>
        <p:txBody>
          <a:bodyPr wrap="square" lIns="0" tIns="0" rIns="0" bIns="0" anchor="ctr">
            <a:spAutoFit/>
          </a:bodyPr>
          <a:lstStyle/>
          <a:p>
            <a:pPr algn="l">
              <a:lnSpc>
                <a:spcPct val="112000"/>
              </a:lnSpc>
              <a:spcAft>
                <a:spcPts val="200"/>
              </a:spcAft>
            </a:pPr>
            <a:r>
              <a:rPr sz="1700" b="1" i="0">
                <a:solidFill>
                  <a:srgbClr val="FFFFFF"/>
                </a:solidFill>
                <a:latin typeface="Times New Roman"/>
              </a:rPr>
              <a:t>Semester 5</a:t>
            </a:r>
          </a:p>
        </p:txBody>
      </p:sp>
      <p:sp>
        <p:nvSpPr>
          <p:cNvPr id="10" name="TextBox 9"/>
          <p:cNvSpPr txBox="1"/>
          <p:nvPr/>
        </p:nvSpPr>
        <p:spPr>
          <a:xfrm>
            <a:off x="2807208" y="1737360"/>
            <a:ext cx="1143000" cy="502920"/>
          </a:xfrm>
          <a:prstGeom prst="rect">
            <a:avLst/>
          </a:prstGeom>
          <a:noFill/>
        </p:spPr>
        <p:txBody>
          <a:bodyPr wrap="square" lIns="0" tIns="0" rIns="0" bIns="0" anchor="ctr">
            <a:spAutoFit/>
          </a:bodyPr>
          <a:lstStyle/>
          <a:p>
            <a:pPr algn="r">
              <a:lnSpc>
                <a:spcPct val="112000"/>
              </a:lnSpc>
              <a:spcAft>
                <a:spcPts val="200"/>
              </a:spcAft>
            </a:pPr>
            <a:r>
              <a:rPr sz="1300" b="1" i="0">
                <a:solidFill>
                  <a:srgbClr val="FFFFFF"/>
                </a:solidFill>
                <a:latin typeface="Times New Roman"/>
              </a:rPr>
              <a:t>60 hours</a:t>
            </a:r>
          </a:p>
        </p:txBody>
      </p:sp>
      <p:sp>
        <p:nvSpPr>
          <p:cNvPr id="11" name="Oval 10"/>
          <p:cNvSpPr/>
          <p:nvPr/>
        </p:nvSpPr>
        <p:spPr>
          <a:xfrm>
            <a:off x="768096" y="2560320"/>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pu_FFFFFF.png"/>
          <p:cNvPicPr>
            <a:picLocks noChangeAspect="1"/>
          </p:cNvPicPr>
          <p:nvPr/>
        </p:nvPicPr>
        <p:blipFill>
          <a:blip r:embed="rId3"/>
          <a:stretch>
            <a:fillRect/>
          </a:stretch>
        </p:blipFill>
        <p:spPr>
          <a:xfrm>
            <a:off x="921715" y="2713939"/>
            <a:ext cx="241402" cy="241402"/>
          </a:xfrm>
          <a:prstGeom prst="rect">
            <a:avLst/>
          </a:prstGeom>
        </p:spPr>
      </p:pic>
      <p:sp>
        <p:nvSpPr>
          <p:cNvPr id="13" name="TextBox 12"/>
          <p:cNvSpPr txBox="1"/>
          <p:nvPr/>
        </p:nvSpPr>
        <p:spPr>
          <a:xfrm>
            <a:off x="1435608" y="2560320"/>
            <a:ext cx="2560320" cy="1005840"/>
          </a:xfrm>
          <a:prstGeom prst="rect">
            <a:avLst/>
          </a:prstGeom>
          <a:noFill/>
        </p:spPr>
        <p:txBody>
          <a:bodyPr wrap="square" lIns="0" tIns="0" rIns="0" bIns="0" anchor="ctr">
            <a:spAutoFit/>
          </a:bodyPr>
          <a:lstStyle/>
          <a:p>
            <a:pPr algn="l">
              <a:lnSpc>
                <a:spcPct val="105000"/>
              </a:lnSpc>
              <a:spcAft>
                <a:spcPts val="200"/>
              </a:spcAft>
            </a:pPr>
            <a:r>
              <a:rPr sz="1150" b="0" i="0">
                <a:solidFill>
                  <a:srgbClr val="202A38"/>
                </a:solidFill>
                <a:latin typeface="Times New Roman"/>
              </a:rPr>
              <a:t>Topic 1. Windows OS security</a:t>
            </a:r>
          </a:p>
        </p:txBody>
      </p:sp>
      <p:sp>
        <p:nvSpPr>
          <p:cNvPr id="14" name="Oval 13"/>
          <p:cNvSpPr/>
          <p:nvPr/>
        </p:nvSpPr>
        <p:spPr>
          <a:xfrm>
            <a:off x="768096" y="3584448"/>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terminal_FFFFFF.png"/>
          <p:cNvPicPr>
            <a:picLocks noChangeAspect="1"/>
          </p:cNvPicPr>
          <p:nvPr/>
        </p:nvPicPr>
        <p:blipFill>
          <a:blip r:embed="rId4"/>
          <a:stretch>
            <a:fillRect/>
          </a:stretch>
        </p:blipFill>
        <p:spPr>
          <a:xfrm>
            <a:off x="921715" y="3738067"/>
            <a:ext cx="241402" cy="241402"/>
          </a:xfrm>
          <a:prstGeom prst="rect">
            <a:avLst/>
          </a:prstGeom>
        </p:spPr>
      </p:pic>
      <p:sp>
        <p:nvSpPr>
          <p:cNvPr id="16" name="TextBox 15"/>
          <p:cNvSpPr txBox="1"/>
          <p:nvPr/>
        </p:nvSpPr>
        <p:spPr>
          <a:xfrm>
            <a:off x="1435608" y="3584448"/>
            <a:ext cx="2560320" cy="1005840"/>
          </a:xfrm>
          <a:prstGeom prst="rect">
            <a:avLst/>
          </a:prstGeom>
          <a:noFill/>
        </p:spPr>
        <p:txBody>
          <a:bodyPr wrap="square" lIns="0" tIns="0" rIns="0" bIns="0" anchor="ctr">
            <a:spAutoFit/>
          </a:bodyPr>
          <a:lstStyle/>
          <a:p>
            <a:pPr algn="l">
              <a:lnSpc>
                <a:spcPct val="105000"/>
              </a:lnSpc>
              <a:spcAft>
                <a:spcPts val="200"/>
              </a:spcAft>
            </a:pPr>
            <a:r>
              <a:rPr sz="1150" b="0" i="0">
                <a:solidFill>
                  <a:srgbClr val="202A38"/>
                </a:solidFill>
                <a:latin typeface="Times New Roman"/>
              </a:rPr>
              <a:t>Topic 2. Linux OS</a:t>
            </a:r>
          </a:p>
        </p:txBody>
      </p:sp>
      <p:sp>
        <p:nvSpPr>
          <p:cNvPr id="17" name="Oval 16"/>
          <p:cNvSpPr/>
          <p:nvPr/>
        </p:nvSpPr>
        <p:spPr>
          <a:xfrm>
            <a:off x="768096" y="4608576"/>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bug_FFFFFF.png"/>
          <p:cNvPicPr>
            <a:picLocks noChangeAspect="1"/>
          </p:cNvPicPr>
          <p:nvPr/>
        </p:nvPicPr>
        <p:blipFill>
          <a:blip r:embed="rId5"/>
          <a:stretch>
            <a:fillRect/>
          </a:stretch>
        </p:blipFill>
        <p:spPr>
          <a:xfrm>
            <a:off x="921715" y="4762195"/>
            <a:ext cx="241402" cy="241402"/>
          </a:xfrm>
          <a:prstGeom prst="rect">
            <a:avLst/>
          </a:prstGeom>
        </p:spPr>
      </p:pic>
      <p:sp>
        <p:nvSpPr>
          <p:cNvPr id="19" name="TextBox 18"/>
          <p:cNvSpPr txBox="1"/>
          <p:nvPr/>
        </p:nvSpPr>
        <p:spPr>
          <a:xfrm>
            <a:off x="1435608" y="4608576"/>
            <a:ext cx="2560320" cy="1005840"/>
          </a:xfrm>
          <a:prstGeom prst="rect">
            <a:avLst/>
          </a:prstGeom>
          <a:noFill/>
        </p:spPr>
        <p:txBody>
          <a:bodyPr wrap="square" lIns="0" tIns="0" rIns="0" bIns="0" anchor="ctr">
            <a:spAutoFit/>
          </a:bodyPr>
          <a:lstStyle/>
          <a:p>
            <a:pPr algn="l">
              <a:lnSpc>
                <a:spcPct val="105000"/>
              </a:lnSpc>
              <a:spcAft>
                <a:spcPts val="200"/>
              </a:spcAft>
            </a:pPr>
            <a:r>
              <a:rPr sz="1150" b="0" i="0">
                <a:solidFill>
                  <a:srgbClr val="202A38"/>
                </a:solidFill>
                <a:latin typeface="Times New Roman"/>
              </a:rPr>
              <a:t>Topic 3. Malware analysis</a:t>
            </a:r>
          </a:p>
        </p:txBody>
      </p:sp>
      <p:sp>
        <p:nvSpPr>
          <p:cNvPr id="20" name="Rounded Rectangle 19"/>
          <p:cNvSpPr/>
          <p:nvPr/>
        </p:nvSpPr>
        <p:spPr>
          <a:xfrm>
            <a:off x="4361688" y="1691640"/>
            <a:ext cx="3611880" cy="402336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361688" y="1691640"/>
            <a:ext cx="3611880" cy="64008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61688" y="2057400"/>
            <a:ext cx="361188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90288" y="1737360"/>
            <a:ext cx="2286000" cy="502920"/>
          </a:xfrm>
          <a:prstGeom prst="rect">
            <a:avLst/>
          </a:prstGeom>
          <a:noFill/>
        </p:spPr>
        <p:txBody>
          <a:bodyPr wrap="square" lIns="0" tIns="0" rIns="0" bIns="0" anchor="ctr">
            <a:spAutoFit/>
          </a:bodyPr>
          <a:lstStyle/>
          <a:p>
            <a:pPr algn="l">
              <a:lnSpc>
                <a:spcPct val="112000"/>
              </a:lnSpc>
              <a:spcAft>
                <a:spcPts val="200"/>
              </a:spcAft>
            </a:pPr>
            <a:r>
              <a:rPr sz="1700" b="1" i="0">
                <a:solidFill>
                  <a:srgbClr val="FFFFFF"/>
                </a:solidFill>
                <a:latin typeface="Times New Roman"/>
              </a:rPr>
              <a:t>Semester 6</a:t>
            </a:r>
          </a:p>
        </p:txBody>
      </p:sp>
      <p:sp>
        <p:nvSpPr>
          <p:cNvPr id="24" name="TextBox 23"/>
          <p:cNvSpPr txBox="1"/>
          <p:nvPr/>
        </p:nvSpPr>
        <p:spPr>
          <a:xfrm>
            <a:off x="6601968" y="1737360"/>
            <a:ext cx="1143000" cy="502920"/>
          </a:xfrm>
          <a:prstGeom prst="rect">
            <a:avLst/>
          </a:prstGeom>
          <a:noFill/>
        </p:spPr>
        <p:txBody>
          <a:bodyPr wrap="square" lIns="0" tIns="0" rIns="0" bIns="0" anchor="ctr">
            <a:spAutoFit/>
          </a:bodyPr>
          <a:lstStyle/>
          <a:p>
            <a:pPr algn="r">
              <a:lnSpc>
                <a:spcPct val="112000"/>
              </a:lnSpc>
              <a:spcAft>
                <a:spcPts val="200"/>
              </a:spcAft>
            </a:pPr>
            <a:r>
              <a:rPr sz="1300" b="1" i="0">
                <a:solidFill>
                  <a:srgbClr val="FFFFFF"/>
                </a:solidFill>
                <a:latin typeface="Times New Roman"/>
              </a:rPr>
              <a:t>60 hours</a:t>
            </a:r>
          </a:p>
        </p:txBody>
      </p:sp>
      <p:sp>
        <p:nvSpPr>
          <p:cNvPr id="25" name="Oval 24"/>
          <p:cNvSpPr/>
          <p:nvPr/>
        </p:nvSpPr>
        <p:spPr>
          <a:xfrm>
            <a:off x="4562856" y="2560320"/>
            <a:ext cx="548640" cy="5486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shield_FFFFFF.png"/>
          <p:cNvPicPr>
            <a:picLocks noChangeAspect="1"/>
          </p:cNvPicPr>
          <p:nvPr/>
        </p:nvPicPr>
        <p:blipFill>
          <a:blip r:embed="rId6"/>
          <a:stretch>
            <a:fillRect/>
          </a:stretch>
        </p:blipFill>
        <p:spPr>
          <a:xfrm>
            <a:off x="4716475" y="2713939"/>
            <a:ext cx="241402" cy="241402"/>
          </a:xfrm>
          <a:prstGeom prst="rect">
            <a:avLst/>
          </a:prstGeom>
        </p:spPr>
      </p:pic>
      <p:sp>
        <p:nvSpPr>
          <p:cNvPr id="27" name="TextBox 26"/>
          <p:cNvSpPr txBox="1"/>
          <p:nvPr/>
        </p:nvSpPr>
        <p:spPr>
          <a:xfrm>
            <a:off x="5230368" y="2560320"/>
            <a:ext cx="2560320" cy="1005840"/>
          </a:xfrm>
          <a:prstGeom prst="rect">
            <a:avLst/>
          </a:prstGeom>
          <a:noFill/>
        </p:spPr>
        <p:txBody>
          <a:bodyPr wrap="square" lIns="0" tIns="0" rIns="0" bIns="0" anchor="ctr">
            <a:spAutoFit/>
          </a:bodyPr>
          <a:lstStyle/>
          <a:p>
            <a:pPr algn="l">
              <a:lnSpc>
                <a:spcPct val="105000"/>
              </a:lnSpc>
              <a:spcAft>
                <a:spcPts val="200"/>
              </a:spcAft>
            </a:pPr>
            <a:r>
              <a:rPr sz="1150" b="0" i="0">
                <a:solidFill>
                  <a:srgbClr val="202A38"/>
                </a:solidFill>
                <a:latin typeface="Times New Roman"/>
              </a:rPr>
              <a:t>Topic 4. Network monitoring &amp; security systems (DLP, IDS/IPS, SIEM, EDR, Metasploit)</a:t>
            </a:r>
          </a:p>
        </p:txBody>
      </p:sp>
      <p:sp>
        <p:nvSpPr>
          <p:cNvPr id="28" name="Rounded Rectangle 27"/>
          <p:cNvSpPr/>
          <p:nvPr/>
        </p:nvSpPr>
        <p:spPr>
          <a:xfrm>
            <a:off x="8156448" y="1691640"/>
            <a:ext cx="3611880" cy="402336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156448" y="1691640"/>
            <a:ext cx="3611880" cy="640080"/>
          </a:xfrm>
          <a:prstGeom prst="roundRect">
            <a:avLst>
              <a:gd name="adj" fmla="val 4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156448" y="2057400"/>
            <a:ext cx="3611880" cy="274320"/>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85048" y="1737360"/>
            <a:ext cx="2286000" cy="502920"/>
          </a:xfrm>
          <a:prstGeom prst="rect">
            <a:avLst/>
          </a:prstGeom>
          <a:noFill/>
        </p:spPr>
        <p:txBody>
          <a:bodyPr wrap="square" lIns="0" tIns="0" rIns="0" bIns="0" anchor="ctr">
            <a:spAutoFit/>
          </a:bodyPr>
          <a:lstStyle/>
          <a:p>
            <a:pPr algn="l">
              <a:lnSpc>
                <a:spcPct val="112000"/>
              </a:lnSpc>
              <a:spcAft>
                <a:spcPts val="200"/>
              </a:spcAft>
            </a:pPr>
            <a:r>
              <a:rPr sz="1700" b="1" i="0">
                <a:solidFill>
                  <a:srgbClr val="FFFFFF"/>
                </a:solidFill>
                <a:latin typeface="Times New Roman"/>
              </a:rPr>
              <a:t>Semester 7</a:t>
            </a:r>
          </a:p>
        </p:txBody>
      </p:sp>
      <p:sp>
        <p:nvSpPr>
          <p:cNvPr id="32" name="TextBox 31"/>
          <p:cNvSpPr txBox="1"/>
          <p:nvPr/>
        </p:nvSpPr>
        <p:spPr>
          <a:xfrm>
            <a:off x="10396728" y="1737360"/>
            <a:ext cx="1143000" cy="502920"/>
          </a:xfrm>
          <a:prstGeom prst="rect">
            <a:avLst/>
          </a:prstGeom>
          <a:noFill/>
        </p:spPr>
        <p:txBody>
          <a:bodyPr wrap="square" lIns="0" tIns="0" rIns="0" bIns="0" anchor="ctr">
            <a:spAutoFit/>
          </a:bodyPr>
          <a:lstStyle/>
          <a:p>
            <a:pPr algn="r">
              <a:lnSpc>
                <a:spcPct val="112000"/>
              </a:lnSpc>
              <a:spcAft>
                <a:spcPts val="200"/>
              </a:spcAft>
            </a:pPr>
            <a:r>
              <a:rPr sz="1300" b="1" i="0">
                <a:solidFill>
                  <a:srgbClr val="FFFFFF"/>
                </a:solidFill>
                <a:latin typeface="Times New Roman"/>
              </a:rPr>
              <a:t>60 hours</a:t>
            </a:r>
          </a:p>
        </p:txBody>
      </p:sp>
      <p:sp>
        <p:nvSpPr>
          <p:cNvPr id="33" name="Oval 32"/>
          <p:cNvSpPr/>
          <p:nvPr/>
        </p:nvSpPr>
        <p:spPr>
          <a:xfrm>
            <a:off x="8357616" y="2560320"/>
            <a:ext cx="548640" cy="548640"/>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crosshair_FFFFFF.png"/>
          <p:cNvPicPr>
            <a:picLocks noChangeAspect="1"/>
          </p:cNvPicPr>
          <p:nvPr/>
        </p:nvPicPr>
        <p:blipFill>
          <a:blip r:embed="rId7"/>
          <a:stretch>
            <a:fillRect/>
          </a:stretch>
        </p:blipFill>
        <p:spPr>
          <a:xfrm>
            <a:off x="8511235" y="2713939"/>
            <a:ext cx="241402" cy="241402"/>
          </a:xfrm>
          <a:prstGeom prst="rect">
            <a:avLst/>
          </a:prstGeom>
        </p:spPr>
      </p:pic>
      <p:sp>
        <p:nvSpPr>
          <p:cNvPr id="35" name="TextBox 34"/>
          <p:cNvSpPr txBox="1"/>
          <p:nvPr/>
        </p:nvSpPr>
        <p:spPr>
          <a:xfrm>
            <a:off x="9025128" y="2560320"/>
            <a:ext cx="2560320" cy="1005840"/>
          </a:xfrm>
          <a:prstGeom prst="rect">
            <a:avLst/>
          </a:prstGeom>
          <a:noFill/>
        </p:spPr>
        <p:txBody>
          <a:bodyPr wrap="square" lIns="0" tIns="0" rIns="0" bIns="0" anchor="ctr">
            <a:spAutoFit/>
          </a:bodyPr>
          <a:lstStyle/>
          <a:p>
            <a:pPr algn="l">
              <a:lnSpc>
                <a:spcPct val="105000"/>
              </a:lnSpc>
              <a:spcAft>
                <a:spcPts val="200"/>
              </a:spcAft>
            </a:pPr>
            <a:r>
              <a:rPr sz="1150" b="0" i="0">
                <a:solidFill>
                  <a:srgbClr val="202A38"/>
                </a:solidFill>
                <a:latin typeface="Times New Roman"/>
              </a:rPr>
              <a:t>Topic 5. Cyber intelligence &amp; ethical hacking (OSINT, C2, forensics)</a:t>
            </a:r>
          </a:p>
        </p:txBody>
      </p:sp>
      <p:sp>
        <p:nvSpPr>
          <p:cNvPr id="36" name="Oval 35"/>
          <p:cNvSpPr/>
          <p:nvPr/>
        </p:nvSpPr>
        <p:spPr>
          <a:xfrm>
            <a:off x="8357616" y="3584448"/>
            <a:ext cx="548640" cy="548640"/>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flag_FFFFFF.png"/>
          <p:cNvPicPr>
            <a:picLocks noChangeAspect="1"/>
          </p:cNvPicPr>
          <p:nvPr/>
        </p:nvPicPr>
        <p:blipFill>
          <a:blip r:embed="rId8"/>
          <a:stretch>
            <a:fillRect/>
          </a:stretch>
        </p:blipFill>
        <p:spPr>
          <a:xfrm>
            <a:off x="8511235" y="3738067"/>
            <a:ext cx="241402" cy="241402"/>
          </a:xfrm>
          <a:prstGeom prst="rect">
            <a:avLst/>
          </a:prstGeom>
        </p:spPr>
      </p:pic>
      <p:sp>
        <p:nvSpPr>
          <p:cNvPr id="38" name="TextBox 37"/>
          <p:cNvSpPr txBox="1"/>
          <p:nvPr/>
        </p:nvSpPr>
        <p:spPr>
          <a:xfrm>
            <a:off x="9025128" y="3584448"/>
            <a:ext cx="2560320" cy="1005840"/>
          </a:xfrm>
          <a:prstGeom prst="rect">
            <a:avLst/>
          </a:prstGeom>
          <a:noFill/>
        </p:spPr>
        <p:txBody>
          <a:bodyPr wrap="square" lIns="0" tIns="0" rIns="0" bIns="0" anchor="ctr">
            <a:spAutoFit/>
          </a:bodyPr>
          <a:lstStyle/>
          <a:p>
            <a:pPr algn="l">
              <a:lnSpc>
                <a:spcPct val="105000"/>
              </a:lnSpc>
              <a:spcAft>
                <a:spcPts val="200"/>
              </a:spcAft>
            </a:pPr>
            <a:r>
              <a:rPr sz="1150" b="0" i="0">
                <a:solidFill>
                  <a:srgbClr val="202A38"/>
                </a:solidFill>
                <a:latin typeface="Times New Roman"/>
              </a:rPr>
              <a:t>Topic 6. Project development &amp; defense</a:t>
            </a:r>
          </a:p>
        </p:txBody>
      </p:sp>
      <p:sp>
        <p:nvSpPr>
          <p:cNvPr id="39" name="TextBox 38"/>
          <p:cNvSpPr txBox="1"/>
          <p:nvPr/>
        </p:nvSpPr>
        <p:spPr>
          <a:xfrm>
            <a:off x="566928" y="5897880"/>
            <a:ext cx="10972800" cy="365760"/>
          </a:xfrm>
          <a:prstGeom prst="rect">
            <a:avLst/>
          </a:prstGeom>
          <a:noFill/>
        </p:spPr>
        <p:txBody>
          <a:bodyPr wrap="square" lIns="0" tIns="0" rIns="0" bIns="0" anchor="t">
            <a:spAutoFit/>
          </a:bodyPr>
          <a:lstStyle/>
          <a:p>
            <a:pPr algn="l">
              <a:lnSpc>
                <a:spcPct val="112000"/>
              </a:lnSpc>
              <a:spcAft>
                <a:spcPts val="200"/>
              </a:spcAft>
            </a:pPr>
            <a:r>
              <a:rPr sz="1200" b="1" i="0">
                <a:solidFill>
                  <a:srgbClr val="1F3864"/>
                </a:solidFill>
                <a:latin typeface="Times New Roman"/>
              </a:rPr>
              <a:t>Today’s session — Topic 1 (Windows OS security), its Lesson 1: Windows OS Services.</a:t>
            </a:r>
          </a:p>
        </p:txBody>
      </p:sp>
      <p:sp>
        <p:nvSpPr>
          <p:cNvPr id="40" name="TextBox 39"/>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41" name="Oval 40"/>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TOPIC 1 · WINDOWS OS SECURITY</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500" b="1" i="0">
                <a:solidFill>
                  <a:srgbClr val="1F3864"/>
                </a:solidFill>
                <a:latin typeface="Times New Roman"/>
              </a:rPr>
              <a:t>Lesson 1: Windows OS Services (Lecture)</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356616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95528" y="1938528"/>
            <a:ext cx="731520" cy="73152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pu_FFFFFF.png"/>
          <p:cNvPicPr>
            <a:picLocks noChangeAspect="1"/>
          </p:cNvPicPr>
          <p:nvPr/>
        </p:nvPicPr>
        <p:blipFill>
          <a:blip r:embed="rId3"/>
          <a:stretch>
            <a:fillRect/>
          </a:stretch>
        </p:blipFill>
        <p:spPr>
          <a:xfrm>
            <a:off x="1000353" y="2143353"/>
            <a:ext cx="321870" cy="321870"/>
          </a:xfrm>
          <a:prstGeom prst="rect">
            <a:avLst/>
          </a:prstGeom>
        </p:spPr>
      </p:pic>
      <p:sp>
        <p:nvSpPr>
          <p:cNvPr id="9" name="TextBox 8"/>
          <p:cNvSpPr txBox="1"/>
          <p:nvPr/>
        </p:nvSpPr>
        <p:spPr>
          <a:xfrm>
            <a:off x="1664208" y="1920240"/>
            <a:ext cx="2286000" cy="365760"/>
          </a:xfrm>
          <a:prstGeom prst="rect">
            <a:avLst/>
          </a:prstGeom>
          <a:noFill/>
        </p:spPr>
        <p:txBody>
          <a:bodyPr wrap="square" lIns="0" tIns="0" rIns="0" bIns="0" anchor="t">
            <a:spAutoFit/>
          </a:bodyPr>
          <a:lstStyle/>
          <a:p>
            <a:pPr algn="l">
              <a:lnSpc>
                <a:spcPct val="112000"/>
              </a:lnSpc>
              <a:spcAft>
                <a:spcPts val="200"/>
              </a:spcAft>
            </a:pPr>
            <a:r>
              <a:rPr sz="1200" b="1" i="0">
                <a:solidFill>
                  <a:srgbClr val="54647A"/>
                </a:solidFill>
                <a:latin typeface="Times New Roman"/>
              </a:rPr>
              <a:t>Topic</a:t>
            </a:r>
          </a:p>
        </p:txBody>
      </p:sp>
      <p:sp>
        <p:nvSpPr>
          <p:cNvPr id="10" name="TextBox 9"/>
          <p:cNvSpPr txBox="1"/>
          <p:nvPr/>
        </p:nvSpPr>
        <p:spPr>
          <a:xfrm>
            <a:off x="1664208" y="2286000"/>
            <a:ext cx="2286000" cy="457200"/>
          </a:xfrm>
          <a:prstGeom prst="rect">
            <a:avLst/>
          </a:prstGeom>
          <a:noFill/>
        </p:spPr>
        <p:txBody>
          <a:bodyPr wrap="square" lIns="0" tIns="0" rIns="0" bIns="0" anchor="t">
            <a:spAutoFit/>
          </a:bodyPr>
          <a:lstStyle/>
          <a:p>
            <a:pPr algn="l">
              <a:lnSpc>
                <a:spcPct val="112000"/>
              </a:lnSpc>
              <a:spcAft>
                <a:spcPts val="200"/>
              </a:spcAft>
            </a:pPr>
            <a:r>
              <a:rPr sz="1500" b="1" i="0">
                <a:solidFill>
                  <a:srgbClr val="1F3864"/>
                </a:solidFill>
                <a:latin typeface="Times New Roman"/>
              </a:rPr>
              <a:t>Windows OS security</a:t>
            </a:r>
          </a:p>
        </p:txBody>
      </p:sp>
      <p:sp>
        <p:nvSpPr>
          <p:cNvPr id="11" name="Rounded Rectangle 10"/>
          <p:cNvSpPr/>
          <p:nvPr/>
        </p:nvSpPr>
        <p:spPr>
          <a:xfrm>
            <a:off x="4224528" y="1691640"/>
            <a:ext cx="356616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453128" y="1938528"/>
            <a:ext cx="731520" cy="73152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book_FFFFFF.png"/>
          <p:cNvPicPr>
            <a:picLocks noChangeAspect="1"/>
          </p:cNvPicPr>
          <p:nvPr/>
        </p:nvPicPr>
        <p:blipFill>
          <a:blip r:embed="rId4"/>
          <a:stretch>
            <a:fillRect/>
          </a:stretch>
        </p:blipFill>
        <p:spPr>
          <a:xfrm>
            <a:off x="4657953" y="2143353"/>
            <a:ext cx="321870" cy="321870"/>
          </a:xfrm>
          <a:prstGeom prst="rect">
            <a:avLst/>
          </a:prstGeom>
        </p:spPr>
      </p:pic>
      <p:sp>
        <p:nvSpPr>
          <p:cNvPr id="14" name="TextBox 13"/>
          <p:cNvSpPr txBox="1"/>
          <p:nvPr/>
        </p:nvSpPr>
        <p:spPr>
          <a:xfrm>
            <a:off x="5321808" y="1920240"/>
            <a:ext cx="2286000" cy="365760"/>
          </a:xfrm>
          <a:prstGeom prst="rect">
            <a:avLst/>
          </a:prstGeom>
          <a:noFill/>
        </p:spPr>
        <p:txBody>
          <a:bodyPr wrap="square" lIns="0" tIns="0" rIns="0" bIns="0" anchor="t">
            <a:spAutoFit/>
          </a:bodyPr>
          <a:lstStyle/>
          <a:p>
            <a:pPr algn="l">
              <a:lnSpc>
                <a:spcPct val="112000"/>
              </a:lnSpc>
              <a:spcAft>
                <a:spcPts val="200"/>
              </a:spcAft>
            </a:pPr>
            <a:r>
              <a:rPr sz="1200" b="1" i="0">
                <a:solidFill>
                  <a:srgbClr val="54647A"/>
                </a:solidFill>
                <a:latin typeface="Times New Roman"/>
              </a:rPr>
              <a:t>Session type</a:t>
            </a:r>
          </a:p>
        </p:txBody>
      </p:sp>
      <p:sp>
        <p:nvSpPr>
          <p:cNvPr id="15" name="TextBox 14"/>
          <p:cNvSpPr txBox="1"/>
          <p:nvPr/>
        </p:nvSpPr>
        <p:spPr>
          <a:xfrm>
            <a:off x="5321808" y="2286000"/>
            <a:ext cx="2286000" cy="457200"/>
          </a:xfrm>
          <a:prstGeom prst="rect">
            <a:avLst/>
          </a:prstGeom>
          <a:noFill/>
        </p:spPr>
        <p:txBody>
          <a:bodyPr wrap="square" lIns="0" tIns="0" rIns="0" bIns="0" anchor="t">
            <a:spAutoFit/>
          </a:bodyPr>
          <a:lstStyle/>
          <a:p>
            <a:pPr algn="l">
              <a:lnSpc>
                <a:spcPct val="112000"/>
              </a:lnSpc>
              <a:spcAft>
                <a:spcPts val="200"/>
              </a:spcAft>
            </a:pPr>
            <a:r>
              <a:rPr sz="1500" b="1" i="0">
                <a:solidFill>
                  <a:srgbClr val="1F3864"/>
                </a:solidFill>
                <a:latin typeface="Times New Roman"/>
              </a:rPr>
              <a:t>Lecture</a:t>
            </a:r>
          </a:p>
        </p:txBody>
      </p:sp>
      <p:sp>
        <p:nvSpPr>
          <p:cNvPr id="16" name="Rounded Rectangle 15"/>
          <p:cNvSpPr/>
          <p:nvPr/>
        </p:nvSpPr>
        <p:spPr>
          <a:xfrm>
            <a:off x="7882128" y="1691640"/>
            <a:ext cx="356616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110728" y="1938528"/>
            <a:ext cx="731520" cy="73152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clock_FFFFFF.png"/>
          <p:cNvPicPr>
            <a:picLocks noChangeAspect="1"/>
          </p:cNvPicPr>
          <p:nvPr/>
        </p:nvPicPr>
        <p:blipFill>
          <a:blip r:embed="rId5"/>
          <a:stretch>
            <a:fillRect/>
          </a:stretch>
        </p:blipFill>
        <p:spPr>
          <a:xfrm>
            <a:off x="8315553" y="2143353"/>
            <a:ext cx="321870" cy="321870"/>
          </a:xfrm>
          <a:prstGeom prst="rect">
            <a:avLst/>
          </a:prstGeom>
        </p:spPr>
      </p:pic>
      <p:sp>
        <p:nvSpPr>
          <p:cNvPr id="19" name="TextBox 18"/>
          <p:cNvSpPr txBox="1"/>
          <p:nvPr/>
        </p:nvSpPr>
        <p:spPr>
          <a:xfrm>
            <a:off x="8979408" y="1920240"/>
            <a:ext cx="2286000" cy="365760"/>
          </a:xfrm>
          <a:prstGeom prst="rect">
            <a:avLst/>
          </a:prstGeom>
          <a:noFill/>
        </p:spPr>
        <p:txBody>
          <a:bodyPr wrap="square" lIns="0" tIns="0" rIns="0" bIns="0" anchor="t">
            <a:spAutoFit/>
          </a:bodyPr>
          <a:lstStyle/>
          <a:p>
            <a:pPr algn="l">
              <a:lnSpc>
                <a:spcPct val="112000"/>
              </a:lnSpc>
              <a:spcAft>
                <a:spcPts val="200"/>
              </a:spcAft>
            </a:pPr>
            <a:r>
              <a:rPr sz="1200" b="1" i="0">
                <a:solidFill>
                  <a:srgbClr val="54647A"/>
                </a:solidFill>
                <a:latin typeface="Times New Roman"/>
              </a:rPr>
              <a:t>Duration</a:t>
            </a:r>
          </a:p>
        </p:txBody>
      </p:sp>
      <p:sp>
        <p:nvSpPr>
          <p:cNvPr id="20" name="TextBox 19"/>
          <p:cNvSpPr txBox="1"/>
          <p:nvPr/>
        </p:nvSpPr>
        <p:spPr>
          <a:xfrm>
            <a:off x="8979408" y="2286000"/>
            <a:ext cx="2286000" cy="457200"/>
          </a:xfrm>
          <a:prstGeom prst="rect">
            <a:avLst/>
          </a:prstGeom>
          <a:noFill/>
        </p:spPr>
        <p:txBody>
          <a:bodyPr wrap="square" lIns="0" tIns="0" rIns="0" bIns="0" anchor="t">
            <a:spAutoFit/>
          </a:bodyPr>
          <a:lstStyle/>
          <a:p>
            <a:pPr algn="l">
              <a:lnSpc>
                <a:spcPct val="112000"/>
              </a:lnSpc>
              <a:spcAft>
                <a:spcPts val="200"/>
              </a:spcAft>
            </a:pPr>
            <a:r>
              <a:rPr sz="1500" b="1" i="0">
                <a:solidFill>
                  <a:srgbClr val="1F3864"/>
                </a:solidFill>
                <a:latin typeface="Times New Roman"/>
              </a:rPr>
              <a:t>2 hours</a:t>
            </a:r>
          </a:p>
        </p:txBody>
      </p:sp>
      <p:sp>
        <p:nvSpPr>
          <p:cNvPr id="21" name="Rounded Rectangle 20"/>
          <p:cNvSpPr/>
          <p:nvPr/>
        </p:nvSpPr>
        <p:spPr>
          <a:xfrm>
            <a:off x="566928" y="3246120"/>
            <a:ext cx="11064240" cy="2468880"/>
          </a:xfrm>
          <a:prstGeom prst="roundRect">
            <a:avLst>
              <a:gd name="adj" fmla="val 3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3474720"/>
            <a:ext cx="7315200" cy="457200"/>
          </a:xfrm>
          <a:prstGeom prst="rect">
            <a:avLst/>
          </a:prstGeom>
          <a:noFill/>
        </p:spPr>
        <p:txBody>
          <a:bodyPr wrap="square" lIns="0" tIns="0" rIns="0" bIns="0" anchor="t">
            <a:spAutoFit/>
          </a:bodyPr>
          <a:lstStyle/>
          <a:p>
            <a:pPr algn="l">
              <a:lnSpc>
                <a:spcPct val="112000"/>
              </a:lnSpc>
              <a:spcAft>
                <a:spcPts val="200"/>
              </a:spcAft>
            </a:pPr>
            <a:r>
              <a:rPr sz="1700" b="1" i="0">
                <a:solidFill>
                  <a:srgbClr val="FFFFFF"/>
                </a:solidFill>
                <a:latin typeface="Times New Roman"/>
              </a:rPr>
              <a:t>Learning questions</a:t>
            </a:r>
          </a:p>
        </p:txBody>
      </p:sp>
      <p:sp>
        <p:nvSpPr>
          <p:cNvPr id="23" name="Oval 22"/>
          <p:cNvSpPr/>
          <p:nvPr/>
        </p:nvSpPr>
        <p:spPr>
          <a:xfrm>
            <a:off x="868680" y="4114800"/>
            <a:ext cx="502920" cy="502920"/>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1</a:t>
            </a:r>
          </a:p>
        </p:txBody>
      </p:sp>
      <p:sp>
        <p:nvSpPr>
          <p:cNvPr id="24" name="TextBox 23"/>
          <p:cNvSpPr txBox="1"/>
          <p:nvPr/>
        </p:nvSpPr>
        <p:spPr>
          <a:xfrm>
            <a:off x="1554480" y="4114800"/>
            <a:ext cx="9601200" cy="548640"/>
          </a:xfrm>
          <a:prstGeom prst="rect">
            <a:avLst/>
          </a:prstGeom>
          <a:noFill/>
        </p:spPr>
        <p:txBody>
          <a:bodyPr wrap="square" lIns="0" tIns="0" rIns="0" bIns="0" anchor="ctr">
            <a:spAutoFit/>
          </a:bodyPr>
          <a:lstStyle/>
          <a:p>
            <a:pPr algn="l">
              <a:lnSpc>
                <a:spcPct val="112000"/>
              </a:lnSpc>
              <a:spcAft>
                <a:spcPts val="200"/>
              </a:spcAft>
            </a:pPr>
            <a:r>
              <a:rPr sz="1600" b="0" i="0">
                <a:solidFill>
                  <a:srgbClr val="FFFFFF"/>
                </a:solidFill>
                <a:latin typeface="Times New Roman"/>
              </a:rPr>
              <a:t>Service properties and functions</a:t>
            </a:r>
          </a:p>
        </p:txBody>
      </p:sp>
      <p:sp>
        <p:nvSpPr>
          <p:cNvPr id="25" name="Oval 24"/>
          <p:cNvSpPr/>
          <p:nvPr/>
        </p:nvSpPr>
        <p:spPr>
          <a:xfrm>
            <a:off x="868680" y="4846320"/>
            <a:ext cx="502920" cy="502920"/>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2</a:t>
            </a:r>
          </a:p>
        </p:txBody>
      </p:sp>
      <p:sp>
        <p:nvSpPr>
          <p:cNvPr id="26" name="TextBox 25"/>
          <p:cNvSpPr txBox="1"/>
          <p:nvPr/>
        </p:nvSpPr>
        <p:spPr>
          <a:xfrm>
            <a:off x="1554480" y="4846320"/>
            <a:ext cx="9601200" cy="548640"/>
          </a:xfrm>
          <a:prstGeom prst="rect">
            <a:avLst/>
          </a:prstGeom>
          <a:noFill/>
        </p:spPr>
        <p:txBody>
          <a:bodyPr wrap="square" lIns="0" tIns="0" rIns="0" bIns="0" anchor="ctr">
            <a:spAutoFit/>
          </a:bodyPr>
          <a:lstStyle/>
          <a:p>
            <a:pPr algn="l">
              <a:lnSpc>
                <a:spcPct val="112000"/>
              </a:lnSpc>
              <a:spcAft>
                <a:spcPts val="200"/>
              </a:spcAft>
            </a:pPr>
            <a:r>
              <a:rPr sz="1600" b="0" i="0">
                <a:solidFill>
                  <a:srgbClr val="FFFFFF"/>
                </a:solidFill>
                <a:latin typeface="Times New Roman"/>
              </a:rPr>
              <a:t>Starting and managing services</a:t>
            </a:r>
          </a:p>
        </p:txBody>
      </p:sp>
      <p:sp>
        <p:nvSpPr>
          <p:cNvPr id="27" name="TextBox 26"/>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28" name="Oval 27"/>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ection.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82880" cy="685800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697480"/>
            <a:ext cx="9144000" cy="238976"/>
          </a:xfrm>
          <a:prstGeom prst="rect">
            <a:avLst/>
          </a:prstGeom>
          <a:noFill/>
        </p:spPr>
        <p:txBody>
          <a:bodyPr wrap="square" lIns="0" tIns="0" rIns="0" bIns="0" anchor="t">
            <a:spAutoFit/>
          </a:bodyPr>
          <a:lstStyle/>
          <a:p>
            <a:pPr algn="l">
              <a:lnSpc>
                <a:spcPct val="112000"/>
              </a:lnSpc>
              <a:spcAft>
                <a:spcPts val="200"/>
              </a:spcAft>
            </a:pPr>
            <a:r>
              <a:rPr lang="en-US" sz="1500" b="1" i="0" dirty="0">
                <a:solidFill>
                  <a:srgbClr val="8FD9C4"/>
                </a:solidFill>
                <a:latin typeface="Times New Roman"/>
              </a:rPr>
              <a:t>QUESTION 1 </a:t>
            </a:r>
          </a:p>
        </p:txBody>
      </p:sp>
      <p:sp>
        <p:nvSpPr>
          <p:cNvPr id="5" name="TextBox 4"/>
          <p:cNvSpPr txBox="1"/>
          <p:nvPr/>
        </p:nvSpPr>
        <p:spPr>
          <a:xfrm>
            <a:off x="868680" y="3108960"/>
            <a:ext cx="10332720" cy="1371600"/>
          </a:xfrm>
          <a:prstGeom prst="rect">
            <a:avLst/>
          </a:prstGeom>
          <a:noFill/>
        </p:spPr>
        <p:txBody>
          <a:bodyPr wrap="square" lIns="0" tIns="0" rIns="0" bIns="0" anchor="t">
            <a:spAutoFit/>
          </a:bodyPr>
          <a:lstStyle/>
          <a:p>
            <a:pPr algn="l">
              <a:lnSpc>
                <a:spcPct val="102000"/>
              </a:lnSpc>
              <a:spcAft>
                <a:spcPts val="200"/>
              </a:spcAft>
            </a:pPr>
            <a:r>
              <a:rPr sz="3400" b="1" i="0">
                <a:solidFill>
                  <a:srgbClr val="FFFFFF"/>
                </a:solidFill>
                <a:latin typeface="Times New Roman"/>
              </a:rPr>
              <a:t>Service properties and functions</a:t>
            </a:r>
          </a:p>
        </p:txBody>
      </p:sp>
      <p:sp>
        <p:nvSpPr>
          <p:cNvPr id="6" name="Rectangle 5"/>
          <p:cNvSpPr/>
          <p:nvPr/>
        </p:nvSpPr>
        <p:spPr>
          <a:xfrm>
            <a:off x="896112" y="4160520"/>
            <a:ext cx="1188720" cy="5080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430000" y="6382512"/>
            <a:ext cx="365760" cy="365760"/>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dirty="0">
                <a:solidFill>
                  <a:srgbClr val="178A73"/>
                </a:solidFill>
                <a:latin typeface="Times New Roman"/>
              </a:rPr>
              <a:t>QUESTION 1 · SERVICE PROPERTIES</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600" b="1" i="0">
                <a:solidFill>
                  <a:srgbClr val="1F3864"/>
                </a:solidFill>
                <a:latin typeface="Times New Roman"/>
              </a:rPr>
              <a:t>What is a Windows service?</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45920"/>
            <a:ext cx="5394960" cy="1965960"/>
          </a:xfrm>
          <a:prstGeom prst="roundRect">
            <a:avLst>
              <a:gd name="adj" fmla="val 5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60" y="1874519"/>
            <a:ext cx="685800" cy="685800"/>
          </a:xfrm>
          <a:prstGeom prst="ellipse">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monitor_FFFFFF.png"/>
          <p:cNvPicPr>
            <a:picLocks noChangeAspect="1"/>
          </p:cNvPicPr>
          <p:nvPr/>
        </p:nvPicPr>
        <p:blipFill>
          <a:blip r:embed="rId3"/>
          <a:stretch>
            <a:fillRect/>
          </a:stretch>
        </p:blipFill>
        <p:spPr>
          <a:xfrm>
            <a:off x="1014984" y="2066543"/>
            <a:ext cx="301752" cy="301752"/>
          </a:xfrm>
          <a:prstGeom prst="rect">
            <a:avLst/>
          </a:prstGeom>
        </p:spPr>
      </p:pic>
      <p:sp>
        <p:nvSpPr>
          <p:cNvPr id="9" name="TextBox 8"/>
          <p:cNvSpPr txBox="1"/>
          <p:nvPr/>
        </p:nvSpPr>
        <p:spPr>
          <a:xfrm>
            <a:off x="1691640" y="1874519"/>
            <a:ext cx="4114800" cy="457200"/>
          </a:xfrm>
          <a:prstGeom prst="rect">
            <a:avLst/>
          </a:prstGeom>
          <a:noFill/>
        </p:spPr>
        <p:txBody>
          <a:bodyPr wrap="square" lIns="0" tIns="0" rIns="0" bIns="0" anchor="t">
            <a:spAutoFit/>
          </a:bodyPr>
          <a:lstStyle/>
          <a:p>
            <a:pPr algn="l">
              <a:lnSpc>
                <a:spcPct val="112000"/>
              </a:lnSpc>
              <a:spcAft>
                <a:spcPts val="200"/>
              </a:spcAft>
            </a:pPr>
            <a:r>
              <a:rPr sz="1500" b="1" i="0">
                <a:solidFill>
                  <a:srgbClr val="1F3864"/>
                </a:solidFill>
                <a:latin typeface="Times New Roman"/>
              </a:rPr>
              <a:t>Ordinary program</a:t>
            </a:r>
          </a:p>
        </p:txBody>
      </p:sp>
      <p:sp>
        <p:nvSpPr>
          <p:cNvPr id="10" name="TextBox 9"/>
          <p:cNvSpPr txBox="1"/>
          <p:nvPr/>
        </p:nvSpPr>
        <p:spPr>
          <a:xfrm>
            <a:off x="868680" y="2697480"/>
            <a:ext cx="4937760" cy="822960"/>
          </a:xfrm>
          <a:prstGeom prst="rect">
            <a:avLst/>
          </a:prstGeom>
          <a:noFill/>
        </p:spPr>
        <p:txBody>
          <a:bodyPr wrap="square" lIns="0" tIns="0" rIns="0" bIns="0" anchor="t">
            <a:spAutoFit/>
          </a:bodyPr>
          <a:lstStyle/>
          <a:p>
            <a:pPr algn="l">
              <a:lnSpc>
                <a:spcPct val="112000"/>
              </a:lnSpc>
              <a:spcAft>
                <a:spcPts val="400"/>
              </a:spcAft>
            </a:pPr>
            <a:r>
              <a:rPr sz="1200" b="1">
                <a:solidFill>
                  <a:srgbClr val="178A73"/>
                </a:solidFill>
                <a:latin typeface="Times New Roman"/>
              </a:rPr>
              <a:t>▸  </a:t>
            </a:r>
            <a:r>
              <a:rPr sz="1200">
                <a:solidFill>
                  <a:srgbClr val="202A38"/>
                </a:solidFill>
                <a:latin typeface="Times New Roman"/>
              </a:rPr>
              <a:t>Has a window on screen, you open it (Word, browser)</a:t>
            </a:r>
          </a:p>
          <a:p>
            <a:pPr algn="l">
              <a:lnSpc>
                <a:spcPct val="112000"/>
              </a:lnSpc>
              <a:spcAft>
                <a:spcPts val="400"/>
              </a:spcAft>
            </a:pPr>
            <a:r>
              <a:rPr sz="1200" b="1">
                <a:solidFill>
                  <a:srgbClr val="178A73"/>
                </a:solidFill>
                <a:latin typeface="Times New Roman"/>
              </a:rPr>
              <a:t>▸  </a:t>
            </a:r>
            <a:r>
              <a:rPr sz="1200">
                <a:solidFill>
                  <a:srgbClr val="202A38"/>
                </a:solidFill>
                <a:latin typeface="Times New Roman"/>
              </a:rPr>
              <a:t>You launch it when you are logged in</a:t>
            </a:r>
          </a:p>
        </p:txBody>
      </p:sp>
      <p:sp>
        <p:nvSpPr>
          <p:cNvPr id="11" name="Rounded Rectangle 10"/>
          <p:cNvSpPr/>
          <p:nvPr/>
        </p:nvSpPr>
        <p:spPr>
          <a:xfrm>
            <a:off x="6236208" y="1645920"/>
            <a:ext cx="5394960" cy="1965960"/>
          </a:xfrm>
          <a:prstGeom prst="roundRect">
            <a:avLst>
              <a:gd name="adj" fmla="val 5000"/>
            </a:avLst>
          </a:prstGeom>
          <a:solidFill>
            <a:srgbClr val="E3F3EE"/>
          </a:solidFill>
          <a:ln w="1270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92240" y="1874519"/>
            <a:ext cx="685800" cy="68580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gear_FFFFFF.png"/>
          <p:cNvPicPr>
            <a:picLocks noChangeAspect="1"/>
          </p:cNvPicPr>
          <p:nvPr/>
        </p:nvPicPr>
        <p:blipFill>
          <a:blip r:embed="rId4"/>
          <a:stretch>
            <a:fillRect/>
          </a:stretch>
        </p:blipFill>
        <p:spPr>
          <a:xfrm>
            <a:off x="6684264" y="2066543"/>
            <a:ext cx="301752" cy="301752"/>
          </a:xfrm>
          <a:prstGeom prst="rect">
            <a:avLst/>
          </a:prstGeom>
        </p:spPr>
      </p:pic>
      <p:sp>
        <p:nvSpPr>
          <p:cNvPr id="14" name="TextBox 13"/>
          <p:cNvSpPr txBox="1"/>
          <p:nvPr/>
        </p:nvSpPr>
        <p:spPr>
          <a:xfrm>
            <a:off x="7360920" y="1874519"/>
            <a:ext cx="4114800" cy="457200"/>
          </a:xfrm>
          <a:prstGeom prst="rect">
            <a:avLst/>
          </a:prstGeom>
          <a:noFill/>
        </p:spPr>
        <p:txBody>
          <a:bodyPr wrap="square" lIns="0" tIns="0" rIns="0" bIns="0" anchor="t">
            <a:spAutoFit/>
          </a:bodyPr>
          <a:lstStyle/>
          <a:p>
            <a:pPr algn="l">
              <a:lnSpc>
                <a:spcPct val="112000"/>
              </a:lnSpc>
              <a:spcAft>
                <a:spcPts val="200"/>
              </a:spcAft>
            </a:pPr>
            <a:r>
              <a:rPr sz="1500" b="1" i="0">
                <a:solidFill>
                  <a:srgbClr val="178A73"/>
                </a:solidFill>
                <a:latin typeface="Times New Roman"/>
              </a:rPr>
              <a:t>Service</a:t>
            </a:r>
          </a:p>
        </p:txBody>
      </p:sp>
      <p:sp>
        <p:nvSpPr>
          <p:cNvPr id="15" name="TextBox 14"/>
          <p:cNvSpPr txBox="1"/>
          <p:nvPr/>
        </p:nvSpPr>
        <p:spPr>
          <a:xfrm>
            <a:off x="6537960" y="2697480"/>
            <a:ext cx="4937760" cy="822960"/>
          </a:xfrm>
          <a:prstGeom prst="rect">
            <a:avLst/>
          </a:prstGeom>
          <a:noFill/>
        </p:spPr>
        <p:txBody>
          <a:bodyPr wrap="square" lIns="0" tIns="0" rIns="0" bIns="0" anchor="t">
            <a:spAutoFit/>
          </a:bodyPr>
          <a:lstStyle/>
          <a:p>
            <a:pPr algn="l">
              <a:lnSpc>
                <a:spcPct val="112000"/>
              </a:lnSpc>
              <a:spcAft>
                <a:spcPts val="400"/>
              </a:spcAft>
            </a:pPr>
            <a:r>
              <a:rPr sz="1200" b="1">
                <a:solidFill>
                  <a:srgbClr val="178A73"/>
                </a:solidFill>
                <a:latin typeface="Times New Roman"/>
              </a:rPr>
              <a:t>▸  </a:t>
            </a:r>
            <a:r>
              <a:rPr sz="1200">
                <a:solidFill>
                  <a:srgbClr val="202A38"/>
                </a:solidFill>
                <a:latin typeface="Times New Roman"/>
              </a:rPr>
              <a:t>No window, runs invisibly in the background</a:t>
            </a:r>
          </a:p>
          <a:p>
            <a:pPr algn="l">
              <a:lnSpc>
                <a:spcPct val="112000"/>
              </a:lnSpc>
              <a:spcAft>
                <a:spcPts val="400"/>
              </a:spcAft>
            </a:pPr>
            <a:r>
              <a:rPr sz="1200" b="1">
                <a:solidFill>
                  <a:srgbClr val="178A73"/>
                </a:solidFill>
                <a:latin typeface="Times New Roman"/>
              </a:rPr>
              <a:t>▸  </a:t>
            </a:r>
            <a:r>
              <a:rPr sz="1200">
                <a:solidFill>
                  <a:srgbClr val="202A38"/>
                </a:solidFill>
                <a:latin typeface="Times New Roman"/>
              </a:rPr>
              <a:t>Starts automatically when the system boots</a:t>
            </a:r>
          </a:p>
        </p:txBody>
      </p:sp>
      <p:sp>
        <p:nvSpPr>
          <p:cNvPr id="16" name="TextBox 15"/>
          <p:cNvSpPr txBox="1"/>
          <p:nvPr/>
        </p:nvSpPr>
        <p:spPr>
          <a:xfrm>
            <a:off x="566928" y="3794760"/>
            <a:ext cx="10972800" cy="365760"/>
          </a:xfrm>
          <a:prstGeom prst="rect">
            <a:avLst/>
          </a:prstGeom>
          <a:noFill/>
        </p:spPr>
        <p:txBody>
          <a:bodyPr wrap="square" lIns="0" tIns="0" rIns="0" bIns="0" anchor="t">
            <a:spAutoFit/>
          </a:bodyPr>
          <a:lstStyle/>
          <a:p>
            <a:pPr algn="l">
              <a:lnSpc>
                <a:spcPct val="112000"/>
              </a:lnSpc>
              <a:spcAft>
                <a:spcPts val="200"/>
              </a:spcAft>
            </a:pPr>
            <a:r>
              <a:rPr sz="1400" b="1" i="0">
                <a:solidFill>
                  <a:srgbClr val="1F3864"/>
                </a:solidFill>
                <a:latin typeface="Times New Roman"/>
              </a:rPr>
              <a:t>3 key differences between a service and an ordinary program:</a:t>
            </a:r>
          </a:p>
        </p:txBody>
      </p:sp>
      <p:sp>
        <p:nvSpPr>
          <p:cNvPr id="17" name="Rounded Rectangle 16"/>
          <p:cNvSpPr/>
          <p:nvPr/>
        </p:nvSpPr>
        <p:spPr>
          <a:xfrm>
            <a:off x="566928" y="4297680"/>
            <a:ext cx="3611880" cy="146304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95528" y="4526280"/>
            <a:ext cx="640080" cy="6400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user_FFFFFF.png"/>
          <p:cNvPicPr>
            <a:picLocks noChangeAspect="1"/>
          </p:cNvPicPr>
          <p:nvPr/>
        </p:nvPicPr>
        <p:blipFill>
          <a:blip r:embed="rId5"/>
          <a:stretch>
            <a:fillRect/>
          </a:stretch>
        </p:blipFill>
        <p:spPr>
          <a:xfrm>
            <a:off x="974750" y="4705502"/>
            <a:ext cx="281636" cy="281636"/>
          </a:xfrm>
          <a:prstGeom prst="rect">
            <a:avLst/>
          </a:prstGeom>
        </p:spPr>
      </p:pic>
      <p:sp>
        <p:nvSpPr>
          <p:cNvPr id="20" name="TextBox 19"/>
          <p:cNvSpPr txBox="1"/>
          <p:nvPr/>
        </p:nvSpPr>
        <p:spPr>
          <a:xfrm>
            <a:off x="1572768" y="4553712"/>
            <a:ext cx="2468880" cy="457200"/>
          </a:xfrm>
          <a:prstGeom prst="rect">
            <a:avLst/>
          </a:prstGeom>
          <a:noFill/>
        </p:spPr>
        <p:txBody>
          <a:bodyPr wrap="square" lIns="0" tIns="0" rIns="0" bIns="0" anchor="t">
            <a:spAutoFit/>
          </a:bodyPr>
          <a:lstStyle/>
          <a:p>
            <a:pPr algn="l">
              <a:lnSpc>
                <a:spcPct val="112000"/>
              </a:lnSpc>
              <a:spcAft>
                <a:spcPts val="200"/>
              </a:spcAft>
            </a:pPr>
            <a:r>
              <a:rPr sz="1350" b="1" i="0">
                <a:solidFill>
                  <a:srgbClr val="1F3864"/>
                </a:solidFill>
                <a:latin typeface="Times New Roman"/>
              </a:rPr>
              <a:t>No user needed</a:t>
            </a:r>
          </a:p>
        </p:txBody>
      </p:sp>
      <p:sp>
        <p:nvSpPr>
          <p:cNvPr id="21" name="TextBox 20"/>
          <p:cNvSpPr txBox="1"/>
          <p:nvPr/>
        </p:nvSpPr>
        <p:spPr>
          <a:xfrm>
            <a:off x="795528" y="5166360"/>
            <a:ext cx="3200400" cy="548640"/>
          </a:xfrm>
          <a:prstGeom prst="rect">
            <a:avLst/>
          </a:prstGeom>
          <a:noFill/>
        </p:spPr>
        <p:txBody>
          <a:bodyPr wrap="square" lIns="0" tIns="0" rIns="0" bIns="0" anchor="t">
            <a:spAutoFit/>
          </a:bodyPr>
          <a:lstStyle/>
          <a:p>
            <a:pPr algn="l">
              <a:lnSpc>
                <a:spcPct val="105000"/>
              </a:lnSpc>
              <a:spcAft>
                <a:spcPts val="200"/>
              </a:spcAft>
            </a:pPr>
            <a:r>
              <a:rPr sz="1150" b="0" i="0">
                <a:solidFill>
                  <a:srgbClr val="54647A"/>
                </a:solidFill>
                <a:latin typeface="Times New Roman"/>
              </a:rPr>
              <a:t>Runs even when no one is logged in</a:t>
            </a:r>
          </a:p>
        </p:txBody>
      </p:sp>
      <p:sp>
        <p:nvSpPr>
          <p:cNvPr id="22" name="Rounded Rectangle 21"/>
          <p:cNvSpPr/>
          <p:nvPr/>
        </p:nvSpPr>
        <p:spPr>
          <a:xfrm>
            <a:off x="4270248" y="4297680"/>
            <a:ext cx="3611880" cy="146304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498848" y="4526280"/>
            <a:ext cx="640080" cy="6400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power_FFFFFF.png"/>
          <p:cNvPicPr>
            <a:picLocks noChangeAspect="1"/>
          </p:cNvPicPr>
          <p:nvPr/>
        </p:nvPicPr>
        <p:blipFill>
          <a:blip r:embed="rId6"/>
          <a:stretch>
            <a:fillRect/>
          </a:stretch>
        </p:blipFill>
        <p:spPr>
          <a:xfrm>
            <a:off x="4678070" y="4705502"/>
            <a:ext cx="281636" cy="281636"/>
          </a:xfrm>
          <a:prstGeom prst="rect">
            <a:avLst/>
          </a:prstGeom>
        </p:spPr>
      </p:pic>
      <p:sp>
        <p:nvSpPr>
          <p:cNvPr id="25" name="TextBox 24"/>
          <p:cNvSpPr txBox="1"/>
          <p:nvPr/>
        </p:nvSpPr>
        <p:spPr>
          <a:xfrm>
            <a:off x="5276088" y="4553712"/>
            <a:ext cx="2468880" cy="457200"/>
          </a:xfrm>
          <a:prstGeom prst="rect">
            <a:avLst/>
          </a:prstGeom>
          <a:noFill/>
        </p:spPr>
        <p:txBody>
          <a:bodyPr wrap="square" lIns="0" tIns="0" rIns="0" bIns="0" anchor="t">
            <a:spAutoFit/>
          </a:bodyPr>
          <a:lstStyle/>
          <a:p>
            <a:pPr algn="l">
              <a:lnSpc>
                <a:spcPct val="112000"/>
              </a:lnSpc>
              <a:spcAft>
                <a:spcPts val="200"/>
              </a:spcAft>
            </a:pPr>
            <a:r>
              <a:rPr sz="1350" b="1" i="0">
                <a:solidFill>
                  <a:srgbClr val="1F3864"/>
                </a:solidFill>
                <a:latin typeface="Times New Roman"/>
              </a:rPr>
              <a:t>Automatic</a:t>
            </a:r>
          </a:p>
        </p:txBody>
      </p:sp>
      <p:sp>
        <p:nvSpPr>
          <p:cNvPr id="26" name="TextBox 25"/>
          <p:cNvSpPr txBox="1"/>
          <p:nvPr/>
        </p:nvSpPr>
        <p:spPr>
          <a:xfrm>
            <a:off x="4498848" y="5166360"/>
            <a:ext cx="3200400" cy="548640"/>
          </a:xfrm>
          <a:prstGeom prst="rect">
            <a:avLst/>
          </a:prstGeom>
          <a:noFill/>
        </p:spPr>
        <p:txBody>
          <a:bodyPr wrap="square" lIns="0" tIns="0" rIns="0" bIns="0" anchor="t">
            <a:spAutoFit/>
          </a:bodyPr>
          <a:lstStyle/>
          <a:p>
            <a:pPr algn="l">
              <a:lnSpc>
                <a:spcPct val="105000"/>
              </a:lnSpc>
              <a:spcAft>
                <a:spcPts val="200"/>
              </a:spcAft>
            </a:pPr>
            <a:r>
              <a:rPr sz="1150" b="0" i="0">
                <a:solidFill>
                  <a:srgbClr val="54647A"/>
                </a:solidFill>
                <a:latin typeface="Times New Roman"/>
              </a:rPr>
              <a:t>Starts by itself as soon as Windows boots</a:t>
            </a:r>
          </a:p>
        </p:txBody>
      </p:sp>
      <p:sp>
        <p:nvSpPr>
          <p:cNvPr id="27" name="Rounded Rectangle 26"/>
          <p:cNvSpPr/>
          <p:nvPr/>
        </p:nvSpPr>
        <p:spPr>
          <a:xfrm>
            <a:off x="7973568" y="4297680"/>
            <a:ext cx="3611880" cy="1463040"/>
          </a:xfrm>
          <a:prstGeom prst="roundRect">
            <a:avLst>
              <a:gd name="adj" fmla="val 6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202168" y="4526280"/>
            <a:ext cx="640080" cy="6400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shield_FFFFFF.png"/>
          <p:cNvPicPr>
            <a:picLocks noChangeAspect="1"/>
          </p:cNvPicPr>
          <p:nvPr/>
        </p:nvPicPr>
        <p:blipFill>
          <a:blip r:embed="rId7"/>
          <a:stretch>
            <a:fillRect/>
          </a:stretch>
        </p:blipFill>
        <p:spPr>
          <a:xfrm>
            <a:off x="8381390" y="4705502"/>
            <a:ext cx="281636" cy="281636"/>
          </a:xfrm>
          <a:prstGeom prst="rect">
            <a:avLst/>
          </a:prstGeom>
        </p:spPr>
      </p:pic>
      <p:sp>
        <p:nvSpPr>
          <p:cNvPr id="30" name="TextBox 29"/>
          <p:cNvSpPr txBox="1"/>
          <p:nvPr/>
        </p:nvSpPr>
        <p:spPr>
          <a:xfrm>
            <a:off x="8979408" y="4553712"/>
            <a:ext cx="2468880" cy="457200"/>
          </a:xfrm>
          <a:prstGeom prst="rect">
            <a:avLst/>
          </a:prstGeom>
          <a:noFill/>
        </p:spPr>
        <p:txBody>
          <a:bodyPr wrap="square" lIns="0" tIns="0" rIns="0" bIns="0" anchor="t">
            <a:spAutoFit/>
          </a:bodyPr>
          <a:lstStyle/>
          <a:p>
            <a:pPr algn="l">
              <a:lnSpc>
                <a:spcPct val="112000"/>
              </a:lnSpc>
              <a:spcAft>
                <a:spcPts val="200"/>
              </a:spcAft>
            </a:pPr>
            <a:r>
              <a:rPr sz="1350" b="1" i="0">
                <a:solidFill>
                  <a:srgbClr val="1F3864"/>
                </a:solidFill>
                <a:latin typeface="Times New Roman"/>
              </a:rPr>
              <a:t>Under a special account</a:t>
            </a:r>
          </a:p>
        </p:txBody>
      </p:sp>
      <p:sp>
        <p:nvSpPr>
          <p:cNvPr id="31" name="TextBox 30"/>
          <p:cNvSpPr txBox="1"/>
          <p:nvPr/>
        </p:nvSpPr>
        <p:spPr>
          <a:xfrm>
            <a:off x="8202168" y="5166360"/>
            <a:ext cx="3200400" cy="548640"/>
          </a:xfrm>
          <a:prstGeom prst="rect">
            <a:avLst/>
          </a:prstGeom>
          <a:noFill/>
        </p:spPr>
        <p:txBody>
          <a:bodyPr wrap="square" lIns="0" tIns="0" rIns="0" bIns="0" anchor="t">
            <a:spAutoFit/>
          </a:bodyPr>
          <a:lstStyle/>
          <a:p>
            <a:pPr algn="l">
              <a:lnSpc>
                <a:spcPct val="105000"/>
              </a:lnSpc>
              <a:spcAft>
                <a:spcPts val="200"/>
              </a:spcAft>
            </a:pPr>
            <a:r>
              <a:rPr sz="1150" b="0" i="0">
                <a:solidFill>
                  <a:srgbClr val="54647A"/>
                </a:solidFill>
                <a:latin typeface="Times New Roman"/>
              </a:rPr>
              <a:t>With SYSTEM, LocalService or NetworkService rights</a:t>
            </a:r>
          </a:p>
        </p:txBody>
      </p:sp>
      <p:sp>
        <p:nvSpPr>
          <p:cNvPr id="32" name="TextBox 31"/>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33" name="Oval 32"/>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QUESTION 1 · SERVICE PROPERTIES</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500" b="1" i="0">
                <a:solidFill>
                  <a:srgbClr val="1F3864"/>
                </a:solidFill>
                <a:latin typeface="Times New Roman"/>
              </a:rPr>
              <a:t>Why are services important for cybersecurity?</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91640"/>
            <a:ext cx="3611880" cy="402336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691640"/>
            <a:ext cx="3611880" cy="128016"/>
          </a:xfrm>
          <a:prstGeom prst="roundRect">
            <a:avLst>
              <a:gd name="adj" fmla="val 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41248" y="2057400"/>
            <a:ext cx="868680" cy="8686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zap_FFFFFF.png"/>
          <p:cNvPicPr>
            <a:picLocks noChangeAspect="1"/>
          </p:cNvPicPr>
          <p:nvPr/>
        </p:nvPicPr>
        <p:blipFill>
          <a:blip r:embed="rId3"/>
          <a:stretch>
            <a:fillRect/>
          </a:stretch>
        </p:blipFill>
        <p:spPr>
          <a:xfrm>
            <a:off x="1084478" y="2300630"/>
            <a:ext cx="382220" cy="382220"/>
          </a:xfrm>
          <a:prstGeom prst="rect">
            <a:avLst/>
          </a:prstGeom>
        </p:spPr>
      </p:pic>
      <p:sp>
        <p:nvSpPr>
          <p:cNvPr id="10" name="TextBox 9"/>
          <p:cNvSpPr txBox="1"/>
          <p:nvPr/>
        </p:nvSpPr>
        <p:spPr>
          <a:xfrm>
            <a:off x="841248" y="3154680"/>
            <a:ext cx="3063240" cy="548640"/>
          </a:xfrm>
          <a:prstGeom prst="rect">
            <a:avLst/>
          </a:prstGeom>
          <a:noFill/>
        </p:spPr>
        <p:txBody>
          <a:bodyPr wrap="square" lIns="0" tIns="0" rIns="0" bIns="0" anchor="t">
            <a:spAutoFit/>
          </a:bodyPr>
          <a:lstStyle/>
          <a:p>
            <a:pPr algn="l">
              <a:lnSpc>
                <a:spcPct val="112000"/>
              </a:lnSpc>
              <a:spcAft>
                <a:spcPts val="200"/>
              </a:spcAft>
            </a:pPr>
            <a:r>
              <a:rPr sz="1700" b="1" i="0">
                <a:solidFill>
                  <a:srgbClr val="1F3864"/>
                </a:solidFill>
                <a:latin typeface="Times New Roman"/>
              </a:rPr>
              <a:t>High privilege</a:t>
            </a:r>
          </a:p>
        </p:txBody>
      </p:sp>
      <p:sp>
        <p:nvSpPr>
          <p:cNvPr id="11" name="TextBox 10"/>
          <p:cNvSpPr txBox="1"/>
          <p:nvPr/>
        </p:nvSpPr>
        <p:spPr>
          <a:xfrm>
            <a:off x="841248" y="3794760"/>
            <a:ext cx="3063240" cy="1828800"/>
          </a:xfrm>
          <a:prstGeom prst="rect">
            <a:avLst/>
          </a:prstGeom>
          <a:noFill/>
        </p:spPr>
        <p:txBody>
          <a:bodyPr wrap="square" lIns="0" tIns="0" rIns="0" bIns="0" anchor="t">
            <a:spAutoFit/>
          </a:bodyPr>
          <a:lstStyle/>
          <a:p>
            <a:pPr algn="l">
              <a:lnSpc>
                <a:spcPct val="120000"/>
              </a:lnSpc>
              <a:spcAft>
                <a:spcPts val="400"/>
              </a:spcAft>
            </a:pPr>
            <a:r>
              <a:rPr sz="1250">
                <a:solidFill>
                  <a:srgbClr val="202A38"/>
                </a:solidFill>
                <a:latin typeface="Times New Roman"/>
              </a:rPr>
              <a:t>Many services run at </a:t>
            </a:r>
            <a:r>
              <a:rPr sz="1250" b="1">
                <a:solidFill>
                  <a:srgbClr val="178A73"/>
                </a:solidFill>
                <a:latin typeface="Consolas"/>
              </a:rPr>
              <a:t>SYSTEM</a:t>
            </a:r>
            <a:r>
              <a:rPr sz="1250">
                <a:solidFill>
                  <a:srgbClr val="202A38"/>
                </a:solidFill>
                <a:latin typeface="Times New Roman"/>
              </a:rPr>
              <a:t> level — the highest right in Windows, even stronger than administrator. Taking over a service = controlling the whole system.</a:t>
            </a:r>
          </a:p>
        </p:txBody>
      </p:sp>
      <p:sp>
        <p:nvSpPr>
          <p:cNvPr id="12" name="Rounded Rectangle 11"/>
          <p:cNvSpPr/>
          <p:nvPr/>
        </p:nvSpPr>
        <p:spPr>
          <a:xfrm>
            <a:off x="4361688" y="1691640"/>
            <a:ext cx="3611880" cy="402336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361688" y="1691640"/>
            <a:ext cx="3611880" cy="128016"/>
          </a:xfrm>
          <a:prstGeom prst="roundRect">
            <a:avLst>
              <a:gd name="adj" fmla="val 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636008" y="2057400"/>
            <a:ext cx="868680" cy="86868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gear_FFFFFF.png"/>
          <p:cNvPicPr>
            <a:picLocks noChangeAspect="1"/>
          </p:cNvPicPr>
          <p:nvPr/>
        </p:nvPicPr>
        <p:blipFill>
          <a:blip r:embed="rId4"/>
          <a:stretch>
            <a:fillRect/>
          </a:stretch>
        </p:blipFill>
        <p:spPr>
          <a:xfrm>
            <a:off x="4879238" y="2300630"/>
            <a:ext cx="382220" cy="382220"/>
          </a:xfrm>
          <a:prstGeom prst="rect">
            <a:avLst/>
          </a:prstGeom>
        </p:spPr>
      </p:pic>
      <p:sp>
        <p:nvSpPr>
          <p:cNvPr id="16" name="TextBox 15"/>
          <p:cNvSpPr txBox="1"/>
          <p:nvPr/>
        </p:nvSpPr>
        <p:spPr>
          <a:xfrm>
            <a:off x="4636008" y="3154680"/>
            <a:ext cx="3063240" cy="548640"/>
          </a:xfrm>
          <a:prstGeom prst="rect">
            <a:avLst/>
          </a:prstGeom>
          <a:noFill/>
        </p:spPr>
        <p:txBody>
          <a:bodyPr wrap="square" lIns="0" tIns="0" rIns="0" bIns="0" anchor="t">
            <a:spAutoFit/>
          </a:bodyPr>
          <a:lstStyle/>
          <a:p>
            <a:pPr algn="l">
              <a:lnSpc>
                <a:spcPct val="112000"/>
              </a:lnSpc>
              <a:spcAft>
                <a:spcPts val="200"/>
              </a:spcAft>
            </a:pPr>
            <a:r>
              <a:rPr sz="1700" b="1" i="0">
                <a:solidFill>
                  <a:srgbClr val="1F3864"/>
                </a:solidFill>
                <a:latin typeface="Times New Roman"/>
              </a:rPr>
              <a:t>Persistence</a:t>
            </a:r>
          </a:p>
        </p:txBody>
      </p:sp>
      <p:sp>
        <p:nvSpPr>
          <p:cNvPr id="17" name="TextBox 16"/>
          <p:cNvSpPr txBox="1"/>
          <p:nvPr/>
        </p:nvSpPr>
        <p:spPr>
          <a:xfrm>
            <a:off x="4636008" y="3794760"/>
            <a:ext cx="3063240" cy="1828800"/>
          </a:xfrm>
          <a:prstGeom prst="rect">
            <a:avLst/>
          </a:prstGeom>
          <a:noFill/>
        </p:spPr>
        <p:txBody>
          <a:bodyPr wrap="square" lIns="0" tIns="0" rIns="0" bIns="0" anchor="t">
            <a:spAutoFit/>
          </a:bodyPr>
          <a:lstStyle/>
          <a:p>
            <a:pPr algn="l">
              <a:lnSpc>
                <a:spcPct val="120000"/>
              </a:lnSpc>
              <a:spcAft>
                <a:spcPts val="400"/>
              </a:spcAft>
            </a:pPr>
            <a:r>
              <a:rPr sz="1250">
                <a:solidFill>
                  <a:srgbClr val="202A38"/>
                </a:solidFill>
                <a:latin typeface="Times New Roman"/>
              </a:rPr>
              <a:t>Malware registers itself as a new </a:t>
            </a:r>
            <a:r>
              <a:rPr sz="1250" b="1">
                <a:solidFill>
                  <a:srgbClr val="202A38"/>
                </a:solidFill>
                <a:latin typeface="Times New Roman"/>
              </a:rPr>
              <a:t>service</a:t>
            </a:r>
            <a:r>
              <a:rPr sz="1250">
                <a:solidFill>
                  <a:srgbClr val="202A38"/>
                </a:solidFill>
                <a:latin typeface="Times New Roman"/>
              </a:rPr>
              <a:t> — so it restarts automatically even after the computer reboots (it gains persistence).</a:t>
            </a:r>
          </a:p>
        </p:txBody>
      </p:sp>
      <p:sp>
        <p:nvSpPr>
          <p:cNvPr id="18" name="Rounded Rectangle 17"/>
          <p:cNvSpPr/>
          <p:nvPr/>
        </p:nvSpPr>
        <p:spPr>
          <a:xfrm>
            <a:off x="8156448" y="1691640"/>
            <a:ext cx="3611880" cy="402336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156448" y="1691640"/>
            <a:ext cx="3611880" cy="128016"/>
          </a:xfrm>
          <a:prstGeom prst="roundRect">
            <a:avLst>
              <a:gd name="adj" fmla="val 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30768" y="2057400"/>
            <a:ext cx="868680" cy="8686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warning_FFFFFF.png"/>
          <p:cNvPicPr>
            <a:picLocks noChangeAspect="1"/>
          </p:cNvPicPr>
          <p:nvPr/>
        </p:nvPicPr>
        <p:blipFill>
          <a:blip r:embed="rId5"/>
          <a:stretch>
            <a:fillRect/>
          </a:stretch>
        </p:blipFill>
        <p:spPr>
          <a:xfrm>
            <a:off x="8673998" y="2300630"/>
            <a:ext cx="382220" cy="382220"/>
          </a:xfrm>
          <a:prstGeom prst="rect">
            <a:avLst/>
          </a:prstGeom>
        </p:spPr>
      </p:pic>
      <p:sp>
        <p:nvSpPr>
          <p:cNvPr id="22" name="TextBox 21"/>
          <p:cNvSpPr txBox="1"/>
          <p:nvPr/>
        </p:nvSpPr>
        <p:spPr>
          <a:xfrm>
            <a:off x="8430768" y="3154680"/>
            <a:ext cx="3063240" cy="548640"/>
          </a:xfrm>
          <a:prstGeom prst="rect">
            <a:avLst/>
          </a:prstGeom>
          <a:noFill/>
        </p:spPr>
        <p:txBody>
          <a:bodyPr wrap="square" lIns="0" tIns="0" rIns="0" bIns="0" anchor="t">
            <a:spAutoFit/>
          </a:bodyPr>
          <a:lstStyle/>
          <a:p>
            <a:pPr algn="l">
              <a:lnSpc>
                <a:spcPct val="112000"/>
              </a:lnSpc>
              <a:spcAft>
                <a:spcPts val="200"/>
              </a:spcAft>
            </a:pPr>
            <a:r>
              <a:rPr sz="1700" b="1" i="0">
                <a:solidFill>
                  <a:srgbClr val="1F3864"/>
                </a:solidFill>
                <a:latin typeface="Times New Roman"/>
              </a:rPr>
              <a:t>Privilege escalation</a:t>
            </a:r>
          </a:p>
        </p:txBody>
      </p:sp>
      <p:sp>
        <p:nvSpPr>
          <p:cNvPr id="23" name="TextBox 22"/>
          <p:cNvSpPr txBox="1"/>
          <p:nvPr/>
        </p:nvSpPr>
        <p:spPr>
          <a:xfrm>
            <a:off x="8430768" y="3794760"/>
            <a:ext cx="3063240" cy="1828800"/>
          </a:xfrm>
          <a:prstGeom prst="rect">
            <a:avLst/>
          </a:prstGeom>
          <a:noFill/>
        </p:spPr>
        <p:txBody>
          <a:bodyPr wrap="square" lIns="0" tIns="0" rIns="0" bIns="0" anchor="t">
            <a:spAutoFit/>
          </a:bodyPr>
          <a:lstStyle/>
          <a:p>
            <a:pPr algn="l">
              <a:lnSpc>
                <a:spcPct val="120000"/>
              </a:lnSpc>
              <a:spcAft>
                <a:spcPts val="400"/>
              </a:spcAft>
            </a:pPr>
            <a:r>
              <a:rPr sz="1250">
                <a:solidFill>
                  <a:srgbClr val="202A38"/>
                </a:solidFill>
                <a:latin typeface="Times New Roman"/>
              </a:rPr>
              <a:t>Through a misconfigured service (e.g. </a:t>
            </a:r>
            <a:r>
              <a:rPr sz="1250" b="1">
                <a:solidFill>
                  <a:srgbClr val="178A73"/>
                </a:solidFill>
                <a:latin typeface="Consolas"/>
              </a:rPr>
              <a:t>unquoted service path</a:t>
            </a:r>
            <a:r>
              <a:rPr sz="1250">
                <a:solidFill>
                  <a:srgbClr val="202A38"/>
                </a:solidFill>
                <a:latin typeface="Times New Roman"/>
              </a:rPr>
              <a:t>), an ordinary user can rise to SYSTEM rights.</a:t>
            </a:r>
          </a:p>
        </p:txBody>
      </p:sp>
      <p:sp>
        <p:nvSpPr>
          <p:cNvPr id="24" name="TextBox 23"/>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25" name="Oval 24"/>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QUESTION 1 · SERVICE PROPERTIES</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300" b="1" i="0">
                <a:solidFill>
                  <a:srgbClr val="1F3864"/>
                </a:solidFill>
                <a:latin typeface="Times New Roman"/>
              </a:rPr>
              <a:t>Service Control Manager (SCM) — the services “controller”</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3113" y="1600200"/>
            <a:ext cx="6548510" cy="4480560"/>
          </a:xfrm>
          <a:prstGeom prst="rect">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1_en.png"/>
          <p:cNvPicPr>
            <a:picLocks noChangeAspect="1"/>
          </p:cNvPicPr>
          <p:nvPr/>
        </p:nvPicPr>
        <p:blipFill>
          <a:blip r:embed="rId3"/>
          <a:stretch>
            <a:fillRect/>
          </a:stretch>
        </p:blipFill>
        <p:spPr>
          <a:xfrm>
            <a:off x="813113" y="1600200"/>
            <a:ext cx="6548510" cy="4480560"/>
          </a:xfrm>
          <a:prstGeom prst="rect">
            <a:avLst/>
          </a:prstGeom>
        </p:spPr>
      </p:pic>
      <p:sp>
        <p:nvSpPr>
          <p:cNvPr id="8" name="TextBox 7"/>
          <p:cNvSpPr txBox="1"/>
          <p:nvPr/>
        </p:nvSpPr>
        <p:spPr>
          <a:xfrm>
            <a:off x="566928" y="6126480"/>
            <a:ext cx="7040880" cy="274320"/>
          </a:xfrm>
          <a:prstGeom prst="rect">
            <a:avLst/>
          </a:prstGeom>
          <a:noFill/>
        </p:spPr>
        <p:txBody>
          <a:bodyPr wrap="square" lIns="0" tIns="0" rIns="0" bIns="0" anchor="t">
            <a:spAutoFit/>
          </a:bodyPr>
          <a:lstStyle/>
          <a:p>
            <a:pPr algn="ctr">
              <a:lnSpc>
                <a:spcPct val="112000"/>
              </a:lnSpc>
              <a:spcAft>
                <a:spcPts val="200"/>
              </a:spcAft>
            </a:pPr>
            <a:r>
              <a:rPr sz="1100" b="0" i="1">
                <a:solidFill>
                  <a:srgbClr val="54647A"/>
                </a:solidFill>
                <a:latin typeface="Times New Roman"/>
              </a:rPr>
              <a:t>Fig. 1. Windows boot and SCM architecture</a:t>
            </a:r>
          </a:p>
        </p:txBody>
      </p:sp>
      <p:sp>
        <p:nvSpPr>
          <p:cNvPr id="9" name="Rounded Rectangle 8"/>
          <p:cNvSpPr/>
          <p:nvPr/>
        </p:nvSpPr>
        <p:spPr>
          <a:xfrm>
            <a:off x="7818120" y="1600200"/>
            <a:ext cx="3840480" cy="416052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0" y="1828800"/>
            <a:ext cx="3429000" cy="3749039"/>
          </a:xfrm>
          <a:prstGeom prst="rect">
            <a:avLst/>
          </a:prstGeom>
          <a:noFill/>
        </p:spPr>
        <p:txBody>
          <a:bodyPr wrap="square" lIns="0" tIns="0" rIns="0" bIns="0" anchor="t">
            <a:spAutoFit/>
          </a:bodyPr>
          <a:lstStyle/>
          <a:p>
            <a:pPr algn="l">
              <a:lnSpc>
                <a:spcPct val="112000"/>
              </a:lnSpc>
              <a:spcAft>
                <a:spcPts val="900"/>
              </a:spcAft>
            </a:pPr>
            <a:r>
              <a:rPr sz="1250" b="1">
                <a:solidFill>
                  <a:srgbClr val="178A73"/>
                </a:solidFill>
                <a:latin typeface="Times New Roman"/>
              </a:rPr>
              <a:t>▸  </a:t>
            </a:r>
            <a:r>
              <a:rPr sz="1250" b="1">
                <a:solidFill>
                  <a:srgbClr val="1F3864"/>
                </a:solidFill>
                <a:latin typeface="Times New Roman"/>
              </a:rPr>
              <a:t>The Kernel </a:t>
            </a:r>
            <a:r>
              <a:rPr sz="1250">
                <a:solidFill>
                  <a:srgbClr val="202A38"/>
                </a:solidFill>
                <a:latin typeface="Times New Roman"/>
              </a:rPr>
              <a:t>(</a:t>
            </a:r>
            <a:r>
              <a:rPr sz="1250" b="1">
                <a:solidFill>
                  <a:srgbClr val="178A73"/>
                </a:solidFill>
                <a:latin typeface="Consolas"/>
              </a:rPr>
              <a:t>ntoskrnl.exe</a:t>
            </a:r>
            <a:r>
              <a:rPr sz="1250">
                <a:solidFill>
                  <a:srgbClr val="202A38"/>
                </a:solidFill>
                <a:latin typeface="Times New Roman"/>
              </a:rPr>
              <a:t>) starts first.</a:t>
            </a:r>
          </a:p>
          <a:p>
            <a:pPr algn="l">
              <a:lnSpc>
                <a:spcPct val="112000"/>
              </a:lnSpc>
              <a:spcAft>
                <a:spcPts val="900"/>
              </a:spcAft>
            </a:pPr>
            <a:r>
              <a:rPr sz="1250" b="1">
                <a:solidFill>
                  <a:srgbClr val="178A73"/>
                </a:solidFill>
                <a:latin typeface="Times New Roman"/>
              </a:rPr>
              <a:t>▸  </a:t>
            </a:r>
            <a:r>
              <a:rPr sz="1250">
                <a:solidFill>
                  <a:srgbClr val="202A38"/>
                </a:solidFill>
                <a:latin typeface="Times New Roman"/>
              </a:rPr>
              <a:t>It launches </a:t>
            </a:r>
            <a:r>
              <a:rPr sz="1250" b="1">
                <a:solidFill>
                  <a:srgbClr val="178A73"/>
                </a:solidFill>
                <a:latin typeface="Consolas"/>
              </a:rPr>
              <a:t>services.exe</a:t>
            </a:r>
            <a:r>
              <a:rPr sz="1250">
                <a:solidFill>
                  <a:srgbClr val="202A38"/>
                </a:solidFill>
                <a:latin typeface="Times New Roman"/>
              </a:rPr>
              <a:t> — i.e. the SCM.</a:t>
            </a:r>
          </a:p>
          <a:p>
            <a:pPr algn="l">
              <a:lnSpc>
                <a:spcPct val="112000"/>
              </a:lnSpc>
              <a:spcAft>
                <a:spcPts val="900"/>
              </a:spcAft>
            </a:pPr>
            <a:r>
              <a:rPr sz="1250" b="1">
                <a:solidFill>
                  <a:srgbClr val="178A73"/>
                </a:solidFill>
                <a:latin typeface="Times New Roman"/>
              </a:rPr>
              <a:t>▸  </a:t>
            </a:r>
            <a:r>
              <a:rPr sz="1250">
                <a:solidFill>
                  <a:srgbClr val="202A38"/>
                </a:solidFill>
                <a:latin typeface="Times New Roman"/>
              </a:rPr>
              <a:t>SCM reads the full list of services </a:t>
            </a:r>
            <a:r>
              <a:rPr sz="1250" b="1">
                <a:solidFill>
                  <a:srgbClr val="1F3864"/>
                </a:solidFill>
                <a:latin typeface="Times New Roman"/>
              </a:rPr>
              <a:t>from the registry</a:t>
            </a:r>
            <a:r>
              <a:rPr sz="1250">
                <a:solidFill>
                  <a:srgbClr val="202A38"/>
                </a:solidFill>
                <a:latin typeface="Times New Roman"/>
              </a:rPr>
              <a:t>.</a:t>
            </a:r>
          </a:p>
          <a:p>
            <a:pPr algn="l">
              <a:lnSpc>
                <a:spcPct val="112000"/>
              </a:lnSpc>
              <a:spcAft>
                <a:spcPts val="900"/>
              </a:spcAft>
            </a:pPr>
            <a:r>
              <a:rPr sz="1250" b="1">
                <a:solidFill>
                  <a:srgbClr val="178A73"/>
                </a:solidFill>
                <a:latin typeface="Times New Roman"/>
              </a:rPr>
              <a:t>▸  </a:t>
            </a:r>
            <a:r>
              <a:rPr sz="1250">
                <a:solidFill>
                  <a:srgbClr val="202A38"/>
                </a:solidFill>
                <a:latin typeface="Times New Roman"/>
              </a:rPr>
              <a:t>SCM starts them, monitors their state, and sets their permissions.</a:t>
            </a:r>
          </a:p>
          <a:p>
            <a:pPr algn="l">
              <a:lnSpc>
                <a:spcPct val="112000"/>
              </a:lnSpc>
              <a:spcAft>
                <a:spcPts val="900"/>
              </a:spcAft>
            </a:pPr>
            <a:r>
              <a:rPr sz="1250" b="1">
                <a:solidFill>
                  <a:srgbClr val="178A73"/>
                </a:solidFill>
                <a:latin typeface="Times New Roman"/>
              </a:rPr>
              <a:t>▸  </a:t>
            </a:r>
            <a:r>
              <a:rPr sz="1250">
                <a:solidFill>
                  <a:srgbClr val="202A38"/>
                </a:solidFill>
                <a:latin typeface="Times New Roman"/>
              </a:rPr>
              <a:t>services.msc, sc.exe, PowerShell do not talk to a service </a:t>
            </a:r>
            <a:r>
              <a:rPr sz="1250" b="1">
                <a:solidFill>
                  <a:srgbClr val="1F3864"/>
                </a:solidFill>
                <a:latin typeface="Times New Roman"/>
              </a:rPr>
              <a:t>directly</a:t>
            </a:r>
            <a:r>
              <a:rPr sz="1250">
                <a:solidFill>
                  <a:srgbClr val="202A38"/>
                </a:solidFill>
                <a:latin typeface="Times New Roman"/>
              </a:rPr>
              <a:t> — everything goes through the SCM.</a:t>
            </a:r>
          </a:p>
        </p:txBody>
      </p:sp>
      <p:sp>
        <p:nvSpPr>
          <p:cNvPr id="11" name="TextBox 10"/>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12" name="Oval 11"/>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QUESTION 1 · SERVICE PROPERTIES</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500" b="1" i="0">
                <a:solidFill>
                  <a:srgbClr val="1F3864"/>
                </a:solidFill>
                <a:latin typeface="Times New Roman"/>
              </a:rPr>
              <a:t>Service life cycle (Service States)</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744394"/>
            <a:ext cx="6949440" cy="4009292"/>
          </a:xfrm>
          <a:prstGeom prst="rect">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2_en.png"/>
          <p:cNvPicPr>
            <a:picLocks noChangeAspect="1"/>
          </p:cNvPicPr>
          <p:nvPr/>
        </p:nvPicPr>
        <p:blipFill>
          <a:blip r:embed="rId3"/>
          <a:stretch>
            <a:fillRect/>
          </a:stretch>
        </p:blipFill>
        <p:spPr>
          <a:xfrm>
            <a:off x="566928" y="1744394"/>
            <a:ext cx="6949440" cy="4009292"/>
          </a:xfrm>
          <a:prstGeom prst="rect">
            <a:avLst/>
          </a:prstGeom>
        </p:spPr>
      </p:pic>
      <p:sp>
        <p:nvSpPr>
          <p:cNvPr id="8" name="TextBox 7"/>
          <p:cNvSpPr txBox="1"/>
          <p:nvPr/>
        </p:nvSpPr>
        <p:spPr>
          <a:xfrm>
            <a:off x="566928" y="5897880"/>
            <a:ext cx="6949440" cy="274320"/>
          </a:xfrm>
          <a:prstGeom prst="rect">
            <a:avLst/>
          </a:prstGeom>
          <a:noFill/>
        </p:spPr>
        <p:txBody>
          <a:bodyPr wrap="square" lIns="0" tIns="0" rIns="0" bIns="0" anchor="t">
            <a:spAutoFit/>
          </a:bodyPr>
          <a:lstStyle/>
          <a:p>
            <a:pPr algn="ctr">
              <a:lnSpc>
                <a:spcPct val="112000"/>
              </a:lnSpc>
              <a:spcAft>
                <a:spcPts val="200"/>
              </a:spcAft>
            </a:pPr>
            <a:r>
              <a:rPr sz="1100" b="0" i="1">
                <a:solidFill>
                  <a:srgbClr val="54647A"/>
                </a:solidFill>
                <a:latin typeface="Times New Roman"/>
              </a:rPr>
              <a:t>Fig. 2. Service states and transitions between them</a:t>
            </a:r>
          </a:p>
        </p:txBody>
      </p:sp>
      <p:sp>
        <p:nvSpPr>
          <p:cNvPr id="9" name="Rounded Rectangle 8"/>
          <p:cNvSpPr/>
          <p:nvPr/>
        </p:nvSpPr>
        <p:spPr>
          <a:xfrm>
            <a:off x="7772400" y="1645920"/>
            <a:ext cx="3886200" cy="402336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01000" y="1828800"/>
            <a:ext cx="3474720" cy="365760"/>
          </a:xfrm>
          <a:prstGeom prst="rect">
            <a:avLst/>
          </a:prstGeom>
          <a:noFill/>
        </p:spPr>
        <p:txBody>
          <a:bodyPr wrap="square" lIns="0" tIns="0" rIns="0" bIns="0" anchor="t">
            <a:spAutoFit/>
          </a:bodyPr>
          <a:lstStyle/>
          <a:p>
            <a:pPr algn="l">
              <a:lnSpc>
                <a:spcPct val="112000"/>
              </a:lnSpc>
              <a:spcAft>
                <a:spcPts val="200"/>
              </a:spcAft>
            </a:pPr>
            <a:r>
              <a:rPr sz="1400" b="1" i="0">
                <a:solidFill>
                  <a:srgbClr val="1F3864"/>
                </a:solidFill>
                <a:latin typeface="Times New Roman"/>
              </a:rPr>
              <a:t>Main states:</a:t>
            </a:r>
          </a:p>
        </p:txBody>
      </p:sp>
      <p:sp>
        <p:nvSpPr>
          <p:cNvPr id="11" name="TextBox 10"/>
          <p:cNvSpPr txBox="1"/>
          <p:nvPr/>
        </p:nvSpPr>
        <p:spPr>
          <a:xfrm>
            <a:off x="8001000" y="2286000"/>
            <a:ext cx="3474720" cy="3291840"/>
          </a:xfrm>
          <a:prstGeom prst="rect">
            <a:avLst/>
          </a:prstGeom>
          <a:noFill/>
        </p:spPr>
        <p:txBody>
          <a:bodyPr wrap="square" lIns="0" tIns="0" rIns="0" bIns="0" anchor="t">
            <a:spAutoFit/>
          </a:bodyPr>
          <a:lstStyle/>
          <a:p>
            <a:pPr algn="l">
              <a:lnSpc>
                <a:spcPct val="112000"/>
              </a:lnSpc>
              <a:spcAft>
                <a:spcPts val="800"/>
              </a:spcAft>
            </a:pPr>
            <a:r>
              <a:rPr sz="1250" b="1">
                <a:solidFill>
                  <a:srgbClr val="178A73"/>
                </a:solidFill>
                <a:latin typeface="Times New Roman"/>
              </a:rPr>
              <a:t>▸  </a:t>
            </a:r>
            <a:r>
              <a:rPr sz="1250" b="1">
                <a:solidFill>
                  <a:srgbClr val="178A73"/>
                </a:solidFill>
                <a:latin typeface="Consolas"/>
              </a:rPr>
              <a:t>Stopped</a:t>
            </a:r>
            <a:r>
              <a:rPr sz="1250">
                <a:solidFill>
                  <a:srgbClr val="202A38"/>
                </a:solidFill>
                <a:latin typeface="Times New Roman"/>
              </a:rPr>
              <a:t> — halted, not running</a:t>
            </a:r>
          </a:p>
          <a:p>
            <a:pPr algn="l">
              <a:lnSpc>
                <a:spcPct val="112000"/>
              </a:lnSpc>
              <a:spcAft>
                <a:spcPts val="800"/>
              </a:spcAft>
            </a:pPr>
            <a:r>
              <a:rPr sz="1250" b="1">
                <a:solidFill>
                  <a:srgbClr val="178A73"/>
                </a:solidFill>
                <a:latin typeface="Times New Roman"/>
              </a:rPr>
              <a:t>▸  </a:t>
            </a:r>
            <a:r>
              <a:rPr sz="1250" b="1">
                <a:solidFill>
                  <a:srgbClr val="178A73"/>
                </a:solidFill>
                <a:latin typeface="Consolas"/>
              </a:rPr>
              <a:t>Start Pending</a:t>
            </a:r>
            <a:r>
              <a:rPr sz="1250">
                <a:solidFill>
                  <a:srgbClr val="202A38"/>
                </a:solidFill>
                <a:latin typeface="Times New Roman"/>
              </a:rPr>
              <a:t> — in the process of starting</a:t>
            </a:r>
          </a:p>
          <a:p>
            <a:pPr algn="l">
              <a:lnSpc>
                <a:spcPct val="112000"/>
              </a:lnSpc>
              <a:spcAft>
                <a:spcPts val="800"/>
              </a:spcAft>
            </a:pPr>
            <a:r>
              <a:rPr sz="1250" b="1">
                <a:solidFill>
                  <a:srgbClr val="178A73"/>
                </a:solidFill>
                <a:latin typeface="Times New Roman"/>
              </a:rPr>
              <a:t>▸  </a:t>
            </a:r>
            <a:r>
              <a:rPr sz="1250" b="1">
                <a:solidFill>
                  <a:srgbClr val="178A73"/>
                </a:solidFill>
                <a:latin typeface="Consolas"/>
              </a:rPr>
              <a:t>Running</a:t>
            </a:r>
            <a:r>
              <a:rPr sz="1250">
                <a:solidFill>
                  <a:srgbClr val="202A38"/>
                </a:solidFill>
                <a:latin typeface="Times New Roman"/>
              </a:rPr>
              <a:t> — fully running</a:t>
            </a:r>
          </a:p>
          <a:p>
            <a:pPr algn="l">
              <a:lnSpc>
                <a:spcPct val="112000"/>
              </a:lnSpc>
              <a:spcAft>
                <a:spcPts val="800"/>
              </a:spcAft>
            </a:pPr>
            <a:r>
              <a:rPr sz="1250" b="1">
                <a:solidFill>
                  <a:srgbClr val="178A73"/>
                </a:solidFill>
                <a:latin typeface="Times New Roman"/>
              </a:rPr>
              <a:t>▸  </a:t>
            </a:r>
            <a:r>
              <a:rPr sz="1250" b="1">
                <a:solidFill>
                  <a:srgbClr val="178A73"/>
                </a:solidFill>
                <a:latin typeface="Consolas"/>
              </a:rPr>
              <a:t>Paused</a:t>
            </a:r>
            <a:r>
              <a:rPr sz="1250">
                <a:solidFill>
                  <a:srgbClr val="202A38"/>
                </a:solidFill>
                <a:latin typeface="Times New Roman"/>
              </a:rPr>
              <a:t> — temporarily suspended</a:t>
            </a:r>
          </a:p>
          <a:p>
            <a:pPr algn="l">
              <a:lnSpc>
                <a:spcPct val="112000"/>
              </a:lnSpc>
              <a:spcAft>
                <a:spcPts val="800"/>
              </a:spcAft>
            </a:pPr>
            <a:r>
              <a:rPr sz="1250" b="1">
                <a:solidFill>
                  <a:srgbClr val="178A73"/>
                </a:solidFill>
                <a:latin typeface="Times New Roman"/>
              </a:rPr>
              <a:t>▸  </a:t>
            </a:r>
            <a:r>
              <a:rPr sz="1250" b="1">
                <a:solidFill>
                  <a:srgbClr val="178A73"/>
                </a:solidFill>
                <a:latin typeface="Consolas"/>
              </a:rPr>
              <a:t>Stop Pending</a:t>
            </a:r>
            <a:r>
              <a:rPr sz="1250">
                <a:solidFill>
                  <a:srgbClr val="202A38"/>
                </a:solidFill>
                <a:latin typeface="Times New Roman"/>
              </a:rPr>
              <a:t> — in the process of stopping</a:t>
            </a:r>
          </a:p>
        </p:txBody>
      </p:sp>
      <p:sp>
        <p:nvSpPr>
          <p:cNvPr id="12" name="TextBox 11"/>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13" name="Oval 12"/>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QUESTION 1 · SERVICE PROPERTIES</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500" b="1" i="0">
                <a:solidFill>
                  <a:srgbClr val="1F3864"/>
                </a:solidFill>
                <a:latin typeface="Times New Roman"/>
              </a:rPr>
              <a:t>Startup Types</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37360"/>
            <a:ext cx="2724912" cy="3566160"/>
          </a:xfrm>
          <a:prstGeom prst="roundRect">
            <a:avLst>
              <a:gd name="adj" fmla="val 5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737360"/>
            <a:ext cx="2724912" cy="822960"/>
          </a:xfrm>
          <a:prstGeom prst="roundRect">
            <a:avLst>
              <a:gd name="adj" fmla="val 5000"/>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2286000"/>
            <a:ext cx="2724912" cy="27432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ower_FFFFFF.png"/>
          <p:cNvPicPr>
            <a:picLocks noChangeAspect="1"/>
          </p:cNvPicPr>
          <p:nvPr/>
        </p:nvPicPr>
        <p:blipFill>
          <a:blip r:embed="rId3"/>
          <a:stretch>
            <a:fillRect/>
          </a:stretch>
        </p:blipFill>
        <p:spPr>
          <a:xfrm>
            <a:off x="822960" y="1938528"/>
            <a:ext cx="457200" cy="457200"/>
          </a:xfrm>
          <a:prstGeom prst="rect">
            <a:avLst/>
          </a:prstGeom>
        </p:spPr>
      </p:pic>
      <p:sp>
        <p:nvSpPr>
          <p:cNvPr id="10" name="TextBox 9"/>
          <p:cNvSpPr txBox="1"/>
          <p:nvPr/>
        </p:nvSpPr>
        <p:spPr>
          <a:xfrm>
            <a:off x="1389888" y="1847088"/>
            <a:ext cx="1810512" cy="640080"/>
          </a:xfrm>
          <a:prstGeom prst="rect">
            <a:avLst/>
          </a:prstGeom>
          <a:noFill/>
        </p:spPr>
        <p:txBody>
          <a:bodyPr wrap="square" lIns="0" tIns="0" rIns="0" bIns="0" anchor="ctr">
            <a:spAutoFit/>
          </a:bodyPr>
          <a:lstStyle/>
          <a:p>
            <a:pPr algn="l">
              <a:lnSpc>
                <a:spcPct val="100000"/>
              </a:lnSpc>
              <a:spcAft>
                <a:spcPts val="200"/>
              </a:spcAft>
            </a:pPr>
            <a:r>
              <a:rPr sz="1350" b="1" i="0">
                <a:solidFill>
                  <a:srgbClr val="FFFFFF"/>
                </a:solidFill>
                <a:latin typeface="Times New Roman"/>
              </a:rPr>
              <a:t>Automatic</a:t>
            </a:r>
          </a:p>
        </p:txBody>
      </p:sp>
      <p:sp>
        <p:nvSpPr>
          <p:cNvPr id="11" name="TextBox 10"/>
          <p:cNvSpPr txBox="1"/>
          <p:nvPr/>
        </p:nvSpPr>
        <p:spPr>
          <a:xfrm>
            <a:off x="795528" y="2788920"/>
            <a:ext cx="2267712" cy="1097280"/>
          </a:xfrm>
          <a:prstGeom prst="rect">
            <a:avLst/>
          </a:prstGeom>
          <a:noFill/>
        </p:spPr>
        <p:txBody>
          <a:bodyPr wrap="square" lIns="0" tIns="0" rIns="0" bIns="0" anchor="t">
            <a:spAutoFit/>
          </a:bodyPr>
          <a:lstStyle/>
          <a:p>
            <a:pPr algn="l">
              <a:lnSpc>
                <a:spcPct val="112000"/>
              </a:lnSpc>
              <a:spcAft>
                <a:spcPts val="200"/>
              </a:spcAft>
            </a:pPr>
            <a:r>
              <a:rPr sz="1250" b="0" i="0">
                <a:solidFill>
                  <a:srgbClr val="202A38"/>
                </a:solidFill>
                <a:latin typeface="Times New Roman"/>
              </a:rPr>
              <a:t>Starts immediately when the system boots</a:t>
            </a:r>
          </a:p>
        </p:txBody>
      </p:sp>
      <p:sp>
        <p:nvSpPr>
          <p:cNvPr id="12" name="TextBox 11"/>
          <p:cNvSpPr txBox="1"/>
          <p:nvPr/>
        </p:nvSpPr>
        <p:spPr>
          <a:xfrm>
            <a:off x="795528" y="4160520"/>
            <a:ext cx="2267712" cy="365760"/>
          </a:xfrm>
          <a:prstGeom prst="rect">
            <a:avLst/>
          </a:prstGeom>
          <a:noFill/>
        </p:spPr>
        <p:txBody>
          <a:bodyPr wrap="square" lIns="0" tIns="0" rIns="0" bIns="0" anchor="t">
            <a:spAutoFit/>
          </a:bodyPr>
          <a:lstStyle/>
          <a:p>
            <a:pPr algn="l">
              <a:lnSpc>
                <a:spcPct val="112000"/>
              </a:lnSpc>
              <a:spcAft>
                <a:spcPts val="200"/>
              </a:spcAft>
            </a:pPr>
            <a:r>
              <a:rPr sz="1100" b="1" i="0">
                <a:solidFill>
                  <a:srgbClr val="43B02A"/>
                </a:solidFill>
                <a:latin typeface="Times New Roman"/>
              </a:rPr>
              <a:t>When:</a:t>
            </a:r>
          </a:p>
        </p:txBody>
      </p:sp>
      <p:sp>
        <p:nvSpPr>
          <p:cNvPr id="13" name="TextBox 12"/>
          <p:cNvSpPr txBox="1"/>
          <p:nvPr/>
        </p:nvSpPr>
        <p:spPr>
          <a:xfrm>
            <a:off x="795528" y="4480560"/>
            <a:ext cx="2267712" cy="822960"/>
          </a:xfrm>
          <a:prstGeom prst="rect">
            <a:avLst/>
          </a:prstGeom>
          <a:noFill/>
        </p:spPr>
        <p:txBody>
          <a:bodyPr wrap="square" lIns="0" tIns="0" rIns="0" bIns="0" anchor="t">
            <a:spAutoFit/>
          </a:bodyPr>
          <a:lstStyle/>
          <a:p>
            <a:pPr algn="l">
              <a:lnSpc>
                <a:spcPct val="110000"/>
              </a:lnSpc>
              <a:spcAft>
                <a:spcPts val="200"/>
              </a:spcAft>
            </a:pPr>
            <a:r>
              <a:rPr sz="1150" b="0" i="0">
                <a:solidFill>
                  <a:srgbClr val="54647A"/>
                </a:solidFill>
                <a:latin typeface="Times New Roman"/>
              </a:rPr>
              <a:t>Critical, always-on services (network, Update)</a:t>
            </a:r>
          </a:p>
        </p:txBody>
      </p:sp>
      <p:sp>
        <p:nvSpPr>
          <p:cNvPr id="14" name="Rounded Rectangle 13"/>
          <p:cNvSpPr/>
          <p:nvPr/>
        </p:nvSpPr>
        <p:spPr>
          <a:xfrm>
            <a:off x="3401568" y="1737360"/>
            <a:ext cx="2724912" cy="3566160"/>
          </a:xfrm>
          <a:prstGeom prst="roundRect">
            <a:avLst>
              <a:gd name="adj" fmla="val 5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01568" y="1737360"/>
            <a:ext cx="2724912" cy="822960"/>
          </a:xfrm>
          <a:prstGeom prst="roundRect">
            <a:avLst>
              <a:gd name="adj" fmla="val 5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01568" y="2286000"/>
            <a:ext cx="2724912" cy="274320"/>
          </a:xfrm>
          <a:prstGeom prst="rect">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lock_FFFFFF.png"/>
          <p:cNvPicPr>
            <a:picLocks noChangeAspect="1"/>
          </p:cNvPicPr>
          <p:nvPr/>
        </p:nvPicPr>
        <p:blipFill>
          <a:blip r:embed="rId4"/>
          <a:stretch>
            <a:fillRect/>
          </a:stretch>
        </p:blipFill>
        <p:spPr>
          <a:xfrm>
            <a:off x="3657600" y="1938528"/>
            <a:ext cx="457200" cy="457200"/>
          </a:xfrm>
          <a:prstGeom prst="rect">
            <a:avLst/>
          </a:prstGeom>
        </p:spPr>
      </p:pic>
      <p:sp>
        <p:nvSpPr>
          <p:cNvPr id="18" name="TextBox 17"/>
          <p:cNvSpPr txBox="1"/>
          <p:nvPr/>
        </p:nvSpPr>
        <p:spPr>
          <a:xfrm>
            <a:off x="4224528" y="1847088"/>
            <a:ext cx="1810512" cy="640080"/>
          </a:xfrm>
          <a:prstGeom prst="rect">
            <a:avLst/>
          </a:prstGeom>
          <a:noFill/>
        </p:spPr>
        <p:txBody>
          <a:bodyPr wrap="square" lIns="0" tIns="0" rIns="0" bIns="0" anchor="ctr">
            <a:spAutoFit/>
          </a:bodyPr>
          <a:lstStyle/>
          <a:p>
            <a:pPr algn="l">
              <a:lnSpc>
                <a:spcPct val="100000"/>
              </a:lnSpc>
              <a:spcAft>
                <a:spcPts val="200"/>
              </a:spcAft>
            </a:pPr>
            <a:r>
              <a:rPr sz="1350" b="1" i="0">
                <a:solidFill>
                  <a:srgbClr val="FFFFFF"/>
                </a:solidFill>
                <a:latin typeface="Times New Roman"/>
              </a:rPr>
              <a:t>Automatic (Delayed)</a:t>
            </a:r>
          </a:p>
        </p:txBody>
      </p:sp>
      <p:sp>
        <p:nvSpPr>
          <p:cNvPr id="19" name="TextBox 18"/>
          <p:cNvSpPr txBox="1"/>
          <p:nvPr/>
        </p:nvSpPr>
        <p:spPr>
          <a:xfrm>
            <a:off x="3630168" y="2788920"/>
            <a:ext cx="2267712" cy="1097280"/>
          </a:xfrm>
          <a:prstGeom prst="rect">
            <a:avLst/>
          </a:prstGeom>
          <a:noFill/>
        </p:spPr>
        <p:txBody>
          <a:bodyPr wrap="square" lIns="0" tIns="0" rIns="0" bIns="0" anchor="t">
            <a:spAutoFit/>
          </a:bodyPr>
          <a:lstStyle/>
          <a:p>
            <a:pPr algn="l">
              <a:lnSpc>
                <a:spcPct val="112000"/>
              </a:lnSpc>
              <a:spcAft>
                <a:spcPts val="200"/>
              </a:spcAft>
            </a:pPr>
            <a:r>
              <a:rPr sz="1250" b="0" i="0">
                <a:solidFill>
                  <a:srgbClr val="202A38"/>
                </a:solidFill>
                <a:latin typeface="Times New Roman"/>
              </a:rPr>
              <a:t>Starts a bit later, after boot completes</a:t>
            </a:r>
          </a:p>
        </p:txBody>
      </p:sp>
      <p:sp>
        <p:nvSpPr>
          <p:cNvPr id="20" name="TextBox 19"/>
          <p:cNvSpPr txBox="1"/>
          <p:nvPr/>
        </p:nvSpPr>
        <p:spPr>
          <a:xfrm>
            <a:off x="3630168" y="4160520"/>
            <a:ext cx="2267712" cy="365760"/>
          </a:xfrm>
          <a:prstGeom prst="rect">
            <a:avLst/>
          </a:prstGeom>
          <a:noFill/>
        </p:spPr>
        <p:txBody>
          <a:bodyPr wrap="square" lIns="0" tIns="0" rIns="0" bIns="0" anchor="t">
            <a:spAutoFit/>
          </a:bodyPr>
          <a:lstStyle/>
          <a:p>
            <a:pPr algn="l">
              <a:lnSpc>
                <a:spcPct val="112000"/>
              </a:lnSpc>
              <a:spcAft>
                <a:spcPts val="200"/>
              </a:spcAft>
            </a:pPr>
            <a:r>
              <a:rPr sz="1100" b="1" i="0">
                <a:solidFill>
                  <a:srgbClr val="178A73"/>
                </a:solidFill>
                <a:latin typeface="Times New Roman"/>
              </a:rPr>
              <a:t>When:</a:t>
            </a:r>
          </a:p>
        </p:txBody>
      </p:sp>
      <p:sp>
        <p:nvSpPr>
          <p:cNvPr id="21" name="TextBox 20"/>
          <p:cNvSpPr txBox="1"/>
          <p:nvPr/>
        </p:nvSpPr>
        <p:spPr>
          <a:xfrm>
            <a:off x="3630168" y="4480560"/>
            <a:ext cx="2267712" cy="822960"/>
          </a:xfrm>
          <a:prstGeom prst="rect">
            <a:avLst/>
          </a:prstGeom>
          <a:noFill/>
        </p:spPr>
        <p:txBody>
          <a:bodyPr wrap="square" lIns="0" tIns="0" rIns="0" bIns="0" anchor="t">
            <a:spAutoFit/>
          </a:bodyPr>
          <a:lstStyle/>
          <a:p>
            <a:pPr algn="l">
              <a:lnSpc>
                <a:spcPct val="110000"/>
              </a:lnSpc>
              <a:spcAft>
                <a:spcPts val="200"/>
              </a:spcAft>
            </a:pPr>
            <a:r>
              <a:rPr sz="1150" b="0" i="0">
                <a:solidFill>
                  <a:srgbClr val="54647A"/>
                </a:solidFill>
                <a:latin typeface="Times New Roman"/>
              </a:rPr>
              <a:t>Needed, but not required immediately</a:t>
            </a:r>
          </a:p>
        </p:txBody>
      </p:sp>
      <p:sp>
        <p:nvSpPr>
          <p:cNvPr id="22" name="Rounded Rectangle 21"/>
          <p:cNvSpPr/>
          <p:nvPr/>
        </p:nvSpPr>
        <p:spPr>
          <a:xfrm>
            <a:off x="6236208" y="1737360"/>
            <a:ext cx="2724912" cy="3566160"/>
          </a:xfrm>
          <a:prstGeom prst="roundRect">
            <a:avLst>
              <a:gd name="adj" fmla="val 5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236208" y="1737360"/>
            <a:ext cx="2724912" cy="822960"/>
          </a:xfrm>
          <a:prstGeom prst="roundRect">
            <a:avLst>
              <a:gd name="adj" fmla="val 5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36208" y="2286000"/>
            <a:ext cx="2724912" cy="274320"/>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play_FFFFFF.png"/>
          <p:cNvPicPr>
            <a:picLocks noChangeAspect="1"/>
          </p:cNvPicPr>
          <p:nvPr/>
        </p:nvPicPr>
        <p:blipFill>
          <a:blip r:embed="rId5"/>
          <a:stretch>
            <a:fillRect/>
          </a:stretch>
        </p:blipFill>
        <p:spPr>
          <a:xfrm>
            <a:off x="6492240" y="1938528"/>
            <a:ext cx="457200" cy="457200"/>
          </a:xfrm>
          <a:prstGeom prst="rect">
            <a:avLst/>
          </a:prstGeom>
        </p:spPr>
      </p:pic>
      <p:sp>
        <p:nvSpPr>
          <p:cNvPr id="26" name="TextBox 25"/>
          <p:cNvSpPr txBox="1"/>
          <p:nvPr/>
        </p:nvSpPr>
        <p:spPr>
          <a:xfrm>
            <a:off x="7059168" y="1847088"/>
            <a:ext cx="1810512" cy="640080"/>
          </a:xfrm>
          <a:prstGeom prst="rect">
            <a:avLst/>
          </a:prstGeom>
          <a:noFill/>
        </p:spPr>
        <p:txBody>
          <a:bodyPr wrap="square" lIns="0" tIns="0" rIns="0" bIns="0" anchor="ctr">
            <a:spAutoFit/>
          </a:bodyPr>
          <a:lstStyle/>
          <a:p>
            <a:pPr algn="l">
              <a:lnSpc>
                <a:spcPct val="100000"/>
              </a:lnSpc>
              <a:spcAft>
                <a:spcPts val="200"/>
              </a:spcAft>
            </a:pPr>
            <a:r>
              <a:rPr sz="1350" b="1" i="0">
                <a:solidFill>
                  <a:srgbClr val="FFFFFF"/>
                </a:solidFill>
                <a:latin typeface="Times New Roman"/>
              </a:rPr>
              <a:t>Manual</a:t>
            </a:r>
          </a:p>
        </p:txBody>
      </p:sp>
      <p:sp>
        <p:nvSpPr>
          <p:cNvPr id="27" name="TextBox 26"/>
          <p:cNvSpPr txBox="1"/>
          <p:nvPr/>
        </p:nvSpPr>
        <p:spPr>
          <a:xfrm>
            <a:off x="6464808" y="2788920"/>
            <a:ext cx="2267712" cy="1097280"/>
          </a:xfrm>
          <a:prstGeom prst="rect">
            <a:avLst/>
          </a:prstGeom>
          <a:noFill/>
        </p:spPr>
        <p:txBody>
          <a:bodyPr wrap="square" lIns="0" tIns="0" rIns="0" bIns="0" anchor="t">
            <a:spAutoFit/>
          </a:bodyPr>
          <a:lstStyle/>
          <a:p>
            <a:pPr algn="l">
              <a:lnSpc>
                <a:spcPct val="112000"/>
              </a:lnSpc>
              <a:spcAft>
                <a:spcPts val="200"/>
              </a:spcAft>
            </a:pPr>
            <a:r>
              <a:rPr sz="1250" b="0" i="0">
                <a:solidFill>
                  <a:srgbClr val="202A38"/>
                </a:solidFill>
                <a:latin typeface="Times New Roman"/>
              </a:rPr>
              <a:t>Starts only when requested</a:t>
            </a:r>
          </a:p>
        </p:txBody>
      </p:sp>
      <p:sp>
        <p:nvSpPr>
          <p:cNvPr id="28" name="TextBox 27"/>
          <p:cNvSpPr txBox="1"/>
          <p:nvPr/>
        </p:nvSpPr>
        <p:spPr>
          <a:xfrm>
            <a:off x="6464808" y="4160520"/>
            <a:ext cx="2267712" cy="365760"/>
          </a:xfrm>
          <a:prstGeom prst="rect">
            <a:avLst/>
          </a:prstGeom>
          <a:noFill/>
        </p:spPr>
        <p:txBody>
          <a:bodyPr wrap="square" lIns="0" tIns="0" rIns="0" bIns="0" anchor="t">
            <a:spAutoFit/>
          </a:bodyPr>
          <a:lstStyle/>
          <a:p>
            <a:pPr algn="l">
              <a:lnSpc>
                <a:spcPct val="112000"/>
              </a:lnSpc>
              <a:spcAft>
                <a:spcPts val="200"/>
              </a:spcAft>
            </a:pPr>
            <a:r>
              <a:rPr sz="1100" b="1" i="0">
                <a:solidFill>
                  <a:srgbClr val="E08E1D"/>
                </a:solidFill>
                <a:latin typeface="Times New Roman"/>
              </a:rPr>
              <a:t>When:</a:t>
            </a:r>
          </a:p>
        </p:txBody>
      </p:sp>
      <p:sp>
        <p:nvSpPr>
          <p:cNvPr id="29" name="TextBox 28"/>
          <p:cNvSpPr txBox="1"/>
          <p:nvPr/>
        </p:nvSpPr>
        <p:spPr>
          <a:xfrm>
            <a:off x="6464808" y="4480560"/>
            <a:ext cx="2267712" cy="822960"/>
          </a:xfrm>
          <a:prstGeom prst="rect">
            <a:avLst/>
          </a:prstGeom>
          <a:noFill/>
        </p:spPr>
        <p:txBody>
          <a:bodyPr wrap="square" lIns="0" tIns="0" rIns="0" bIns="0" anchor="t">
            <a:spAutoFit/>
          </a:bodyPr>
          <a:lstStyle/>
          <a:p>
            <a:pPr algn="l">
              <a:lnSpc>
                <a:spcPct val="110000"/>
              </a:lnSpc>
              <a:spcAft>
                <a:spcPts val="200"/>
              </a:spcAft>
            </a:pPr>
            <a:r>
              <a:rPr sz="1150" b="0" i="0">
                <a:solidFill>
                  <a:srgbClr val="54647A"/>
                </a:solidFill>
                <a:latin typeface="Times New Roman"/>
              </a:rPr>
              <a:t>Rarely used ones (Print Spooler)</a:t>
            </a:r>
          </a:p>
        </p:txBody>
      </p:sp>
      <p:sp>
        <p:nvSpPr>
          <p:cNvPr id="30" name="Rounded Rectangle 29"/>
          <p:cNvSpPr/>
          <p:nvPr/>
        </p:nvSpPr>
        <p:spPr>
          <a:xfrm>
            <a:off x="9070848" y="1737360"/>
            <a:ext cx="2724912" cy="3566160"/>
          </a:xfrm>
          <a:prstGeom prst="roundRect">
            <a:avLst>
              <a:gd name="adj" fmla="val 5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070848" y="1737360"/>
            <a:ext cx="2724912" cy="822960"/>
          </a:xfrm>
          <a:prstGeom prst="roundRect">
            <a:avLst>
              <a:gd name="adj" fmla="val 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070848" y="2286000"/>
            <a:ext cx="2724912"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stop_FFFFFF.png"/>
          <p:cNvPicPr>
            <a:picLocks noChangeAspect="1"/>
          </p:cNvPicPr>
          <p:nvPr/>
        </p:nvPicPr>
        <p:blipFill>
          <a:blip r:embed="rId6"/>
          <a:stretch>
            <a:fillRect/>
          </a:stretch>
        </p:blipFill>
        <p:spPr>
          <a:xfrm>
            <a:off x="9326880" y="1938528"/>
            <a:ext cx="457200" cy="457200"/>
          </a:xfrm>
          <a:prstGeom prst="rect">
            <a:avLst/>
          </a:prstGeom>
        </p:spPr>
      </p:pic>
      <p:sp>
        <p:nvSpPr>
          <p:cNvPr id="34" name="TextBox 33"/>
          <p:cNvSpPr txBox="1"/>
          <p:nvPr/>
        </p:nvSpPr>
        <p:spPr>
          <a:xfrm>
            <a:off x="9893808" y="1847088"/>
            <a:ext cx="1810512" cy="640080"/>
          </a:xfrm>
          <a:prstGeom prst="rect">
            <a:avLst/>
          </a:prstGeom>
          <a:noFill/>
        </p:spPr>
        <p:txBody>
          <a:bodyPr wrap="square" lIns="0" tIns="0" rIns="0" bIns="0" anchor="ctr">
            <a:spAutoFit/>
          </a:bodyPr>
          <a:lstStyle/>
          <a:p>
            <a:pPr algn="l">
              <a:lnSpc>
                <a:spcPct val="100000"/>
              </a:lnSpc>
              <a:spcAft>
                <a:spcPts val="200"/>
              </a:spcAft>
            </a:pPr>
            <a:r>
              <a:rPr sz="1350" b="1" i="0">
                <a:solidFill>
                  <a:srgbClr val="FFFFFF"/>
                </a:solidFill>
                <a:latin typeface="Times New Roman"/>
              </a:rPr>
              <a:t>Disabled</a:t>
            </a:r>
          </a:p>
        </p:txBody>
      </p:sp>
      <p:sp>
        <p:nvSpPr>
          <p:cNvPr id="35" name="TextBox 34"/>
          <p:cNvSpPr txBox="1"/>
          <p:nvPr/>
        </p:nvSpPr>
        <p:spPr>
          <a:xfrm>
            <a:off x="9299448" y="2788920"/>
            <a:ext cx="2267712" cy="1097280"/>
          </a:xfrm>
          <a:prstGeom prst="rect">
            <a:avLst/>
          </a:prstGeom>
          <a:noFill/>
        </p:spPr>
        <p:txBody>
          <a:bodyPr wrap="square" lIns="0" tIns="0" rIns="0" bIns="0" anchor="t">
            <a:spAutoFit/>
          </a:bodyPr>
          <a:lstStyle/>
          <a:p>
            <a:pPr algn="l">
              <a:lnSpc>
                <a:spcPct val="112000"/>
              </a:lnSpc>
              <a:spcAft>
                <a:spcPts val="200"/>
              </a:spcAft>
            </a:pPr>
            <a:r>
              <a:rPr sz="1250" b="0" i="0">
                <a:solidFill>
                  <a:srgbClr val="202A38"/>
                </a:solidFill>
                <a:latin typeface="Times New Roman"/>
              </a:rPr>
              <a:t>Never starts at all</a:t>
            </a:r>
          </a:p>
        </p:txBody>
      </p:sp>
      <p:sp>
        <p:nvSpPr>
          <p:cNvPr id="36" name="TextBox 35"/>
          <p:cNvSpPr txBox="1"/>
          <p:nvPr/>
        </p:nvSpPr>
        <p:spPr>
          <a:xfrm>
            <a:off x="9299448" y="4160520"/>
            <a:ext cx="2267712" cy="365760"/>
          </a:xfrm>
          <a:prstGeom prst="rect">
            <a:avLst/>
          </a:prstGeom>
          <a:noFill/>
        </p:spPr>
        <p:txBody>
          <a:bodyPr wrap="square" lIns="0" tIns="0" rIns="0" bIns="0" anchor="t">
            <a:spAutoFit/>
          </a:bodyPr>
          <a:lstStyle/>
          <a:p>
            <a:pPr algn="l">
              <a:lnSpc>
                <a:spcPct val="112000"/>
              </a:lnSpc>
              <a:spcAft>
                <a:spcPts val="200"/>
              </a:spcAft>
            </a:pPr>
            <a:r>
              <a:rPr sz="1100" b="1" i="0">
                <a:solidFill>
                  <a:srgbClr val="C0392B"/>
                </a:solidFill>
                <a:latin typeface="Times New Roman"/>
              </a:rPr>
              <a:t>When:</a:t>
            </a:r>
          </a:p>
        </p:txBody>
      </p:sp>
      <p:sp>
        <p:nvSpPr>
          <p:cNvPr id="37" name="TextBox 36"/>
          <p:cNvSpPr txBox="1"/>
          <p:nvPr/>
        </p:nvSpPr>
        <p:spPr>
          <a:xfrm>
            <a:off x="9299448" y="4480560"/>
            <a:ext cx="2267712" cy="822960"/>
          </a:xfrm>
          <a:prstGeom prst="rect">
            <a:avLst/>
          </a:prstGeom>
          <a:noFill/>
        </p:spPr>
        <p:txBody>
          <a:bodyPr wrap="square" lIns="0" tIns="0" rIns="0" bIns="0" anchor="t">
            <a:spAutoFit/>
          </a:bodyPr>
          <a:lstStyle/>
          <a:p>
            <a:pPr algn="l">
              <a:lnSpc>
                <a:spcPct val="110000"/>
              </a:lnSpc>
              <a:spcAft>
                <a:spcPts val="200"/>
              </a:spcAft>
            </a:pPr>
            <a:r>
              <a:rPr sz="1150" b="0" i="0">
                <a:solidFill>
                  <a:srgbClr val="54647A"/>
                </a:solidFill>
                <a:latin typeface="Times New Roman"/>
              </a:rPr>
              <a:t>Unused ones that may be risky</a:t>
            </a:r>
          </a:p>
        </p:txBody>
      </p:sp>
      <p:sp>
        <p:nvSpPr>
          <p:cNvPr id="38" name="TextBox 37"/>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39" name="Oval 38"/>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QUESTION 1 · SERVICE PROPERTIES</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500" b="1" i="0">
                <a:solidFill>
                  <a:srgbClr val="1F3864"/>
                </a:solidFill>
                <a:latin typeface="Times New Roman"/>
              </a:rPr>
              <a:t>Under which account does a service run?</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751428"/>
            <a:ext cx="6766560" cy="3903784"/>
          </a:xfrm>
          <a:prstGeom prst="rect">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3_en.png"/>
          <p:cNvPicPr>
            <a:picLocks noChangeAspect="1"/>
          </p:cNvPicPr>
          <p:nvPr/>
        </p:nvPicPr>
        <p:blipFill>
          <a:blip r:embed="rId3"/>
          <a:stretch>
            <a:fillRect/>
          </a:stretch>
        </p:blipFill>
        <p:spPr>
          <a:xfrm>
            <a:off x="566928" y="1751428"/>
            <a:ext cx="6766560" cy="3903784"/>
          </a:xfrm>
          <a:prstGeom prst="rect">
            <a:avLst/>
          </a:prstGeom>
        </p:spPr>
      </p:pic>
      <p:sp>
        <p:nvSpPr>
          <p:cNvPr id="8" name="TextBox 7"/>
          <p:cNvSpPr txBox="1"/>
          <p:nvPr/>
        </p:nvSpPr>
        <p:spPr>
          <a:xfrm>
            <a:off x="566928" y="5806440"/>
            <a:ext cx="6766560" cy="274320"/>
          </a:xfrm>
          <a:prstGeom prst="rect">
            <a:avLst/>
          </a:prstGeom>
          <a:noFill/>
        </p:spPr>
        <p:txBody>
          <a:bodyPr wrap="square" lIns="0" tIns="0" rIns="0" bIns="0" anchor="t">
            <a:spAutoFit/>
          </a:bodyPr>
          <a:lstStyle/>
          <a:p>
            <a:pPr algn="ctr">
              <a:lnSpc>
                <a:spcPct val="112000"/>
              </a:lnSpc>
              <a:spcAft>
                <a:spcPts val="200"/>
              </a:spcAft>
            </a:pPr>
            <a:r>
              <a:rPr sz="1100" b="0" i="1">
                <a:solidFill>
                  <a:srgbClr val="54647A"/>
                </a:solidFill>
                <a:latin typeface="Times New Roman"/>
              </a:rPr>
              <a:t>Fig. 3. Service accounts and their privilege level</a:t>
            </a:r>
          </a:p>
        </p:txBody>
      </p:sp>
      <p:sp>
        <p:nvSpPr>
          <p:cNvPr id="9" name="Rounded Rectangle 8"/>
          <p:cNvSpPr/>
          <p:nvPr/>
        </p:nvSpPr>
        <p:spPr>
          <a:xfrm>
            <a:off x="7589520" y="1645920"/>
            <a:ext cx="4069080" cy="411480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18120" y="1874519"/>
            <a:ext cx="3657600" cy="3749039"/>
          </a:xfrm>
          <a:prstGeom prst="rect">
            <a:avLst/>
          </a:prstGeom>
          <a:noFill/>
        </p:spPr>
        <p:txBody>
          <a:bodyPr wrap="square" lIns="0" tIns="0" rIns="0" bIns="0" anchor="t">
            <a:spAutoFit/>
          </a:bodyPr>
          <a:lstStyle/>
          <a:p>
            <a:pPr algn="l">
              <a:lnSpc>
                <a:spcPct val="118000"/>
              </a:lnSpc>
              <a:spcAft>
                <a:spcPts val="800"/>
              </a:spcAft>
            </a:pPr>
            <a:r>
              <a:rPr sz="1250" b="1">
                <a:solidFill>
                  <a:srgbClr val="1F3864"/>
                </a:solidFill>
                <a:latin typeface="Consolas"/>
              </a:rPr>
              <a:t>SYSTEM</a:t>
            </a:r>
            <a:r>
              <a:rPr sz="1250">
                <a:solidFill>
                  <a:srgbClr val="202A38"/>
                </a:solidFill>
                <a:latin typeface="Times New Roman"/>
              </a:rPr>
              <a:t> — the highest, almost unlimited rights.</a:t>
            </a:r>
          </a:p>
          <a:p>
            <a:pPr algn="l">
              <a:lnSpc>
                <a:spcPct val="118000"/>
              </a:lnSpc>
              <a:spcAft>
                <a:spcPts val="800"/>
              </a:spcAft>
            </a:pPr>
            <a:r>
              <a:rPr sz="1250" b="1">
                <a:solidFill>
                  <a:srgbClr val="1F3864"/>
                </a:solidFill>
                <a:latin typeface="Consolas"/>
              </a:rPr>
              <a:t>LocalService</a:t>
            </a:r>
            <a:r>
              <a:rPr sz="1250">
                <a:solidFill>
                  <a:srgbClr val="202A38"/>
                </a:solidFill>
                <a:latin typeface="Times New Roman"/>
              </a:rPr>
              <a:t> — minimal rights, limited network access.</a:t>
            </a:r>
          </a:p>
          <a:p>
            <a:pPr algn="l">
              <a:lnSpc>
                <a:spcPct val="118000"/>
              </a:lnSpc>
              <a:spcAft>
                <a:spcPts val="800"/>
              </a:spcAft>
            </a:pPr>
            <a:r>
              <a:rPr sz="1250" b="1">
                <a:solidFill>
                  <a:srgbClr val="1F3864"/>
                </a:solidFill>
                <a:latin typeface="Consolas"/>
              </a:rPr>
              <a:t>NetworkService</a:t>
            </a:r>
            <a:r>
              <a:rPr sz="1250">
                <a:solidFill>
                  <a:srgbClr val="202A38"/>
                </a:solidFill>
                <a:latin typeface="Times New Roman"/>
              </a:rPr>
              <a:t> — minimal, but active on the network.</a:t>
            </a:r>
          </a:p>
          <a:p>
            <a:pPr algn="l">
              <a:lnSpc>
                <a:spcPct val="118000"/>
              </a:lnSpc>
              <a:spcAft>
                <a:spcPts val="800"/>
              </a:spcAft>
            </a:pPr>
            <a:r>
              <a:rPr sz="1250" b="1">
                <a:solidFill>
                  <a:srgbClr val="1F3864"/>
                </a:solidFill>
                <a:latin typeface="Times New Roman"/>
              </a:rPr>
              <a:t>Security rule:</a:t>
            </a:r>
          </a:p>
          <a:p>
            <a:pPr algn="l">
              <a:lnSpc>
                <a:spcPct val="118000"/>
              </a:lnSpc>
              <a:spcAft>
                <a:spcPts val="800"/>
              </a:spcAft>
            </a:pPr>
            <a:r>
              <a:rPr sz="1250">
                <a:solidFill>
                  <a:srgbClr val="202A38"/>
                </a:solidFill>
                <a:latin typeface="Times New Roman"/>
              </a:rPr>
              <a:t>“</a:t>
            </a:r>
            <a:r>
              <a:rPr sz="1250" b="1">
                <a:solidFill>
                  <a:srgbClr val="178A73"/>
                </a:solidFill>
                <a:latin typeface="Consolas"/>
              </a:rPr>
              <a:t>least privilege</a:t>
            </a:r>
            <a:r>
              <a:rPr sz="1250">
                <a:solidFill>
                  <a:srgbClr val="202A38"/>
                </a:solidFill>
                <a:latin typeface="Times New Roman"/>
              </a:rPr>
              <a:t>” — the fewer rights a service is given, the safer the system.</a:t>
            </a:r>
          </a:p>
          <a:p>
            <a:pPr algn="l">
              <a:lnSpc>
                <a:spcPct val="118000"/>
              </a:lnSpc>
              <a:spcAft>
                <a:spcPts val="800"/>
              </a:spcAft>
            </a:pPr>
            <a:r>
              <a:rPr sz="1250" b="1">
                <a:solidFill>
                  <a:srgbClr val="C0392B"/>
                </a:solidFill>
                <a:latin typeface="Times New Roman"/>
              </a:rPr>
              <a:t>A SYSTEM-level service is the most valuable prize for an attacker.</a:t>
            </a:r>
          </a:p>
        </p:txBody>
      </p:sp>
      <p:sp>
        <p:nvSpPr>
          <p:cNvPr id="11" name="TextBox 10"/>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12" name="Oval 11"/>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ection.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82880" cy="685800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697480"/>
            <a:ext cx="9144000" cy="238976"/>
          </a:xfrm>
          <a:prstGeom prst="rect">
            <a:avLst/>
          </a:prstGeom>
          <a:noFill/>
        </p:spPr>
        <p:txBody>
          <a:bodyPr wrap="square" lIns="0" tIns="0" rIns="0" bIns="0" anchor="t">
            <a:spAutoFit/>
          </a:bodyPr>
          <a:lstStyle/>
          <a:p>
            <a:pPr algn="l">
              <a:lnSpc>
                <a:spcPct val="112000"/>
              </a:lnSpc>
              <a:spcAft>
                <a:spcPts val="200"/>
              </a:spcAft>
            </a:pPr>
            <a:r>
              <a:rPr lang="en-US" sz="1500" b="1" i="0" dirty="0">
                <a:solidFill>
                  <a:srgbClr val="8FD9C4"/>
                </a:solidFill>
                <a:latin typeface="Times New Roman"/>
              </a:rPr>
              <a:t>QUESTION 2</a:t>
            </a:r>
            <a:endParaRPr sz="1500" b="1" i="0" dirty="0">
              <a:solidFill>
                <a:srgbClr val="8FD9C4"/>
              </a:solidFill>
              <a:latin typeface="Times New Roman"/>
            </a:endParaRPr>
          </a:p>
        </p:txBody>
      </p:sp>
      <p:sp>
        <p:nvSpPr>
          <p:cNvPr id="5" name="TextBox 4"/>
          <p:cNvSpPr txBox="1"/>
          <p:nvPr/>
        </p:nvSpPr>
        <p:spPr>
          <a:xfrm>
            <a:off x="868680" y="3108960"/>
            <a:ext cx="10332720" cy="1371600"/>
          </a:xfrm>
          <a:prstGeom prst="rect">
            <a:avLst/>
          </a:prstGeom>
          <a:noFill/>
        </p:spPr>
        <p:txBody>
          <a:bodyPr wrap="square" lIns="0" tIns="0" rIns="0" bIns="0" anchor="t">
            <a:spAutoFit/>
          </a:bodyPr>
          <a:lstStyle/>
          <a:p>
            <a:pPr algn="l">
              <a:lnSpc>
                <a:spcPct val="102000"/>
              </a:lnSpc>
              <a:spcAft>
                <a:spcPts val="200"/>
              </a:spcAft>
            </a:pPr>
            <a:r>
              <a:rPr sz="3400" b="1" i="0">
                <a:solidFill>
                  <a:srgbClr val="FFFFFF"/>
                </a:solidFill>
                <a:latin typeface="Times New Roman"/>
              </a:rPr>
              <a:t>Starting and managing services</a:t>
            </a:r>
          </a:p>
        </p:txBody>
      </p:sp>
      <p:sp>
        <p:nvSpPr>
          <p:cNvPr id="6" name="Rectangle 5"/>
          <p:cNvSpPr/>
          <p:nvPr/>
        </p:nvSpPr>
        <p:spPr>
          <a:xfrm>
            <a:off x="896112" y="4160520"/>
            <a:ext cx="1188720" cy="5080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430000" y="6382512"/>
            <a:ext cx="365760" cy="365760"/>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QUESTION 2 · STARTING SERVICES</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500" b="1" i="0">
                <a:solidFill>
                  <a:srgbClr val="1F3864"/>
                </a:solidFill>
                <a:latin typeface="Times New Roman"/>
              </a:rPr>
              <a:t>3 tools for managing services</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37360"/>
            <a:ext cx="3611880" cy="393192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41248" y="2011680"/>
            <a:ext cx="868680" cy="86868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monitor_FFFFFF.png"/>
          <p:cNvPicPr>
            <a:picLocks noChangeAspect="1"/>
          </p:cNvPicPr>
          <p:nvPr/>
        </p:nvPicPr>
        <p:blipFill>
          <a:blip r:embed="rId3"/>
          <a:stretch>
            <a:fillRect/>
          </a:stretch>
        </p:blipFill>
        <p:spPr>
          <a:xfrm>
            <a:off x="1084478" y="2254910"/>
            <a:ext cx="382220" cy="382220"/>
          </a:xfrm>
          <a:prstGeom prst="rect">
            <a:avLst/>
          </a:prstGeom>
        </p:spPr>
      </p:pic>
      <p:sp>
        <p:nvSpPr>
          <p:cNvPr id="9" name="TextBox 8"/>
          <p:cNvSpPr txBox="1"/>
          <p:nvPr/>
        </p:nvSpPr>
        <p:spPr>
          <a:xfrm>
            <a:off x="1847088" y="2057400"/>
            <a:ext cx="2103120" cy="41148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GUI</a:t>
            </a:r>
          </a:p>
        </p:txBody>
      </p:sp>
      <p:sp>
        <p:nvSpPr>
          <p:cNvPr id="10" name="TextBox 9"/>
          <p:cNvSpPr txBox="1"/>
          <p:nvPr/>
        </p:nvSpPr>
        <p:spPr>
          <a:xfrm>
            <a:off x="1847088" y="2450592"/>
            <a:ext cx="2194560" cy="457200"/>
          </a:xfrm>
          <a:prstGeom prst="rect">
            <a:avLst/>
          </a:prstGeom>
          <a:noFill/>
        </p:spPr>
        <p:txBody>
          <a:bodyPr wrap="square" lIns="0" tIns="0" rIns="0" bIns="0" anchor="t">
            <a:spAutoFit/>
          </a:bodyPr>
          <a:lstStyle/>
          <a:p>
            <a:pPr algn="l">
              <a:lnSpc>
                <a:spcPct val="112000"/>
              </a:lnSpc>
              <a:spcAft>
                <a:spcPts val="200"/>
              </a:spcAft>
            </a:pPr>
            <a:r>
              <a:rPr sz="1500" b="1" i="0">
                <a:solidFill>
                  <a:srgbClr val="1F3864"/>
                </a:solidFill>
                <a:latin typeface="Consolas"/>
              </a:rPr>
              <a:t>services.msc</a:t>
            </a:r>
          </a:p>
        </p:txBody>
      </p:sp>
      <p:sp>
        <p:nvSpPr>
          <p:cNvPr id="11" name="TextBox 10"/>
          <p:cNvSpPr txBox="1"/>
          <p:nvPr/>
        </p:nvSpPr>
        <p:spPr>
          <a:xfrm>
            <a:off x="841248" y="3200400"/>
            <a:ext cx="3063240" cy="2286000"/>
          </a:xfrm>
          <a:prstGeom prst="rect">
            <a:avLst/>
          </a:prstGeom>
          <a:noFill/>
        </p:spPr>
        <p:txBody>
          <a:bodyPr wrap="square" lIns="0" tIns="0" rIns="0" bIns="0" anchor="t">
            <a:spAutoFit/>
          </a:bodyPr>
          <a:lstStyle/>
          <a:p>
            <a:pPr algn="l">
              <a:lnSpc>
                <a:spcPct val="120000"/>
              </a:lnSpc>
              <a:spcAft>
                <a:spcPts val="200"/>
              </a:spcAft>
            </a:pPr>
            <a:r>
              <a:rPr sz="1300" b="0" i="0">
                <a:solidFill>
                  <a:srgbClr val="202A38"/>
                </a:solidFill>
                <a:latin typeface="Times New Roman"/>
              </a:rPr>
              <a:t>A graphical window used with the mouse. Shows all services, their state and the “Log On” column.</a:t>
            </a:r>
          </a:p>
        </p:txBody>
      </p:sp>
      <p:sp>
        <p:nvSpPr>
          <p:cNvPr id="12" name="Rounded Rectangle 11"/>
          <p:cNvSpPr/>
          <p:nvPr/>
        </p:nvSpPr>
        <p:spPr>
          <a:xfrm>
            <a:off x="4361688" y="1737360"/>
            <a:ext cx="3611880" cy="393192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636008" y="2011680"/>
            <a:ext cx="868680" cy="8686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terminal_FFFFFF.png"/>
          <p:cNvPicPr>
            <a:picLocks noChangeAspect="1"/>
          </p:cNvPicPr>
          <p:nvPr/>
        </p:nvPicPr>
        <p:blipFill>
          <a:blip r:embed="rId4"/>
          <a:stretch>
            <a:fillRect/>
          </a:stretch>
        </p:blipFill>
        <p:spPr>
          <a:xfrm>
            <a:off x="4879238" y="2254910"/>
            <a:ext cx="382220" cy="382220"/>
          </a:xfrm>
          <a:prstGeom prst="rect">
            <a:avLst/>
          </a:prstGeom>
        </p:spPr>
      </p:pic>
      <p:sp>
        <p:nvSpPr>
          <p:cNvPr id="15" name="TextBox 14"/>
          <p:cNvSpPr txBox="1"/>
          <p:nvPr/>
        </p:nvSpPr>
        <p:spPr>
          <a:xfrm>
            <a:off x="5641848" y="2057400"/>
            <a:ext cx="2103120" cy="411480"/>
          </a:xfrm>
          <a:prstGeom prst="rect">
            <a:avLst/>
          </a:prstGeom>
          <a:noFill/>
        </p:spPr>
        <p:txBody>
          <a:bodyPr wrap="square" lIns="0" tIns="0" rIns="0" bIns="0" anchor="t">
            <a:spAutoFit/>
          </a:bodyPr>
          <a:lstStyle/>
          <a:p>
            <a:pPr algn="l">
              <a:lnSpc>
                <a:spcPct val="112000"/>
              </a:lnSpc>
              <a:spcAft>
                <a:spcPts val="200"/>
              </a:spcAft>
            </a:pPr>
            <a:r>
              <a:rPr sz="1300" b="1" i="0">
                <a:solidFill>
                  <a:srgbClr val="1F3864"/>
                </a:solidFill>
                <a:latin typeface="Times New Roman"/>
              </a:rPr>
              <a:t>CMD</a:t>
            </a:r>
          </a:p>
        </p:txBody>
      </p:sp>
      <p:sp>
        <p:nvSpPr>
          <p:cNvPr id="16" name="TextBox 15"/>
          <p:cNvSpPr txBox="1"/>
          <p:nvPr/>
        </p:nvSpPr>
        <p:spPr>
          <a:xfrm>
            <a:off x="5641848" y="2450592"/>
            <a:ext cx="2194560" cy="457200"/>
          </a:xfrm>
          <a:prstGeom prst="rect">
            <a:avLst/>
          </a:prstGeom>
          <a:noFill/>
        </p:spPr>
        <p:txBody>
          <a:bodyPr wrap="square" lIns="0" tIns="0" rIns="0" bIns="0" anchor="t">
            <a:spAutoFit/>
          </a:bodyPr>
          <a:lstStyle/>
          <a:p>
            <a:pPr algn="l">
              <a:lnSpc>
                <a:spcPct val="112000"/>
              </a:lnSpc>
              <a:spcAft>
                <a:spcPts val="200"/>
              </a:spcAft>
            </a:pPr>
            <a:r>
              <a:rPr sz="1500" b="1" i="0">
                <a:solidFill>
                  <a:srgbClr val="1F3864"/>
                </a:solidFill>
                <a:latin typeface="Consolas"/>
              </a:rPr>
              <a:t>sc.exe</a:t>
            </a:r>
          </a:p>
        </p:txBody>
      </p:sp>
      <p:sp>
        <p:nvSpPr>
          <p:cNvPr id="17" name="TextBox 16"/>
          <p:cNvSpPr txBox="1"/>
          <p:nvPr/>
        </p:nvSpPr>
        <p:spPr>
          <a:xfrm>
            <a:off x="4636008" y="3200400"/>
            <a:ext cx="3063240" cy="2286000"/>
          </a:xfrm>
          <a:prstGeom prst="rect">
            <a:avLst/>
          </a:prstGeom>
          <a:noFill/>
        </p:spPr>
        <p:txBody>
          <a:bodyPr wrap="square" lIns="0" tIns="0" rIns="0" bIns="0" anchor="t">
            <a:spAutoFit/>
          </a:bodyPr>
          <a:lstStyle/>
          <a:p>
            <a:pPr algn="l">
              <a:lnSpc>
                <a:spcPct val="120000"/>
              </a:lnSpc>
              <a:spcAft>
                <a:spcPts val="200"/>
              </a:spcAft>
            </a:pPr>
            <a:r>
              <a:rPr sz="1300" b="0" i="0">
                <a:solidFill>
                  <a:srgbClr val="202A38"/>
                </a:solidFill>
                <a:latin typeface="Times New Roman"/>
              </a:rPr>
              <a:t>The classic command-line tool. Syntax: sc [command] [service_name] [parameters].</a:t>
            </a:r>
          </a:p>
        </p:txBody>
      </p:sp>
      <p:sp>
        <p:nvSpPr>
          <p:cNvPr id="18" name="Rounded Rectangle 17"/>
          <p:cNvSpPr/>
          <p:nvPr/>
        </p:nvSpPr>
        <p:spPr>
          <a:xfrm>
            <a:off x="8156448" y="1737360"/>
            <a:ext cx="3611880" cy="393192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430768" y="2011680"/>
            <a:ext cx="868680" cy="868680"/>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zap_FFFFFF.png"/>
          <p:cNvPicPr>
            <a:picLocks noChangeAspect="1"/>
          </p:cNvPicPr>
          <p:nvPr/>
        </p:nvPicPr>
        <p:blipFill>
          <a:blip r:embed="rId5"/>
          <a:stretch>
            <a:fillRect/>
          </a:stretch>
        </p:blipFill>
        <p:spPr>
          <a:xfrm>
            <a:off x="8673998" y="2254910"/>
            <a:ext cx="382220" cy="382220"/>
          </a:xfrm>
          <a:prstGeom prst="rect">
            <a:avLst/>
          </a:prstGeom>
        </p:spPr>
      </p:pic>
      <p:sp>
        <p:nvSpPr>
          <p:cNvPr id="21" name="TextBox 20"/>
          <p:cNvSpPr txBox="1"/>
          <p:nvPr/>
        </p:nvSpPr>
        <p:spPr>
          <a:xfrm>
            <a:off x="9436608" y="2057400"/>
            <a:ext cx="2103120" cy="411480"/>
          </a:xfrm>
          <a:prstGeom prst="rect">
            <a:avLst/>
          </a:prstGeom>
          <a:noFill/>
        </p:spPr>
        <p:txBody>
          <a:bodyPr wrap="square" lIns="0" tIns="0" rIns="0" bIns="0" anchor="t">
            <a:spAutoFit/>
          </a:bodyPr>
          <a:lstStyle/>
          <a:p>
            <a:pPr algn="l">
              <a:lnSpc>
                <a:spcPct val="112000"/>
              </a:lnSpc>
              <a:spcAft>
                <a:spcPts val="200"/>
              </a:spcAft>
            </a:pPr>
            <a:r>
              <a:rPr sz="1300" b="1" i="0">
                <a:solidFill>
                  <a:srgbClr val="E08E1D"/>
                </a:solidFill>
                <a:latin typeface="Times New Roman"/>
              </a:rPr>
              <a:t>PowerShell</a:t>
            </a:r>
          </a:p>
        </p:txBody>
      </p:sp>
      <p:sp>
        <p:nvSpPr>
          <p:cNvPr id="22" name="TextBox 21"/>
          <p:cNvSpPr txBox="1"/>
          <p:nvPr/>
        </p:nvSpPr>
        <p:spPr>
          <a:xfrm>
            <a:off x="9436608" y="2450592"/>
            <a:ext cx="2194560" cy="457200"/>
          </a:xfrm>
          <a:prstGeom prst="rect">
            <a:avLst/>
          </a:prstGeom>
          <a:noFill/>
        </p:spPr>
        <p:txBody>
          <a:bodyPr wrap="square" lIns="0" tIns="0" rIns="0" bIns="0" anchor="t">
            <a:spAutoFit/>
          </a:bodyPr>
          <a:lstStyle/>
          <a:p>
            <a:pPr algn="l">
              <a:lnSpc>
                <a:spcPct val="112000"/>
              </a:lnSpc>
              <a:spcAft>
                <a:spcPts val="200"/>
              </a:spcAft>
            </a:pPr>
            <a:r>
              <a:rPr sz="1500" b="1" i="0">
                <a:solidFill>
                  <a:srgbClr val="1F3864"/>
                </a:solidFill>
                <a:latin typeface="Consolas"/>
              </a:rPr>
              <a:t>Get-Service</a:t>
            </a:r>
          </a:p>
        </p:txBody>
      </p:sp>
      <p:sp>
        <p:nvSpPr>
          <p:cNvPr id="23" name="TextBox 22"/>
          <p:cNvSpPr txBox="1"/>
          <p:nvPr/>
        </p:nvSpPr>
        <p:spPr>
          <a:xfrm>
            <a:off x="8430768" y="3200400"/>
            <a:ext cx="3063240" cy="2286000"/>
          </a:xfrm>
          <a:prstGeom prst="rect">
            <a:avLst/>
          </a:prstGeom>
          <a:noFill/>
        </p:spPr>
        <p:txBody>
          <a:bodyPr wrap="square" lIns="0" tIns="0" rIns="0" bIns="0" anchor="t">
            <a:spAutoFit/>
          </a:bodyPr>
          <a:lstStyle/>
          <a:p>
            <a:pPr algn="l">
              <a:lnSpc>
                <a:spcPct val="120000"/>
              </a:lnSpc>
              <a:spcAft>
                <a:spcPts val="200"/>
              </a:spcAft>
            </a:pPr>
            <a:r>
              <a:rPr sz="1300" b="0" i="0">
                <a:solidFill>
                  <a:srgbClr val="202A38"/>
                </a:solidFill>
                <a:latin typeface="Times New Roman"/>
              </a:rPr>
              <a:t>Modern, great for automation. Verb-Noun cmdlets: Get-Service, Start-Service.</a:t>
            </a:r>
          </a:p>
        </p:txBody>
      </p:sp>
      <p:sp>
        <p:nvSpPr>
          <p:cNvPr id="24" name="TextBox 23"/>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25" name="Oval 24"/>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8965"/>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QUESTION 2 · STARTING SERVICES</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500" b="1" i="0">
                <a:solidFill>
                  <a:srgbClr val="1F3864"/>
                </a:solidFill>
                <a:latin typeface="Times New Roman"/>
              </a:rPr>
              <a:t>Via the GUI — services.msc</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600200"/>
            <a:ext cx="3200400" cy="365760"/>
          </a:xfrm>
          <a:prstGeom prst="rect">
            <a:avLst/>
          </a:prstGeom>
          <a:noFill/>
        </p:spPr>
        <p:txBody>
          <a:bodyPr wrap="square" lIns="0" tIns="0" rIns="0" bIns="0" anchor="t">
            <a:spAutoFit/>
          </a:bodyPr>
          <a:lstStyle/>
          <a:p>
            <a:pPr algn="l">
              <a:lnSpc>
                <a:spcPct val="112000"/>
              </a:lnSpc>
              <a:spcAft>
                <a:spcPts val="200"/>
              </a:spcAft>
            </a:pPr>
            <a:r>
              <a:rPr sz="1300" b="1" i="0">
                <a:solidFill>
                  <a:srgbClr val="1F3864"/>
                </a:solidFill>
                <a:latin typeface="Times New Roman"/>
              </a:rPr>
              <a:t>To open:</a:t>
            </a:r>
          </a:p>
        </p:txBody>
      </p:sp>
      <p:sp>
        <p:nvSpPr>
          <p:cNvPr id="7" name="Rounded Rectangle 6"/>
          <p:cNvSpPr/>
          <p:nvPr/>
        </p:nvSpPr>
        <p:spPr>
          <a:xfrm>
            <a:off x="1828800" y="1536192"/>
            <a:ext cx="461772" cy="384048"/>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1F3864"/>
                </a:solidFill>
                <a:latin typeface="Cambria Math"/>
              </a:rPr>
              <a:t>Win</a:t>
            </a:r>
          </a:p>
        </p:txBody>
      </p:sp>
      <p:sp>
        <p:nvSpPr>
          <p:cNvPr id="8" name="TextBox 7"/>
          <p:cNvSpPr txBox="1"/>
          <p:nvPr/>
        </p:nvSpPr>
        <p:spPr>
          <a:xfrm>
            <a:off x="2290572" y="1536192"/>
            <a:ext cx="219456" cy="384048"/>
          </a:xfrm>
          <a:prstGeom prst="rect">
            <a:avLst/>
          </a:prstGeom>
          <a:noFill/>
        </p:spPr>
        <p:txBody>
          <a:bodyPr wrap="square" lIns="0" tIns="0" rIns="0" bIns="0" anchor="ctr">
            <a:spAutoFit/>
          </a:bodyPr>
          <a:lstStyle/>
          <a:p>
            <a:pPr algn="ctr">
              <a:lnSpc>
                <a:spcPct val="112000"/>
              </a:lnSpc>
              <a:spcAft>
                <a:spcPts val="200"/>
              </a:spcAft>
            </a:pPr>
            <a:r>
              <a:rPr sz="1400" b="1" i="0">
                <a:solidFill>
                  <a:srgbClr val="54647A"/>
                </a:solidFill>
                <a:latin typeface="Times New Roman"/>
              </a:rPr>
              <a:t>+</a:t>
            </a:r>
          </a:p>
        </p:txBody>
      </p:sp>
      <p:sp>
        <p:nvSpPr>
          <p:cNvPr id="9" name="Rounded Rectangle 8"/>
          <p:cNvSpPr/>
          <p:nvPr/>
        </p:nvSpPr>
        <p:spPr>
          <a:xfrm>
            <a:off x="2510028" y="1536192"/>
            <a:ext cx="314553" cy="384048"/>
          </a:xfrm>
          <a:prstGeom prst="roundRect">
            <a:avLst>
              <a:gd name="adj" fmla="val 28000"/>
            </a:avLst>
          </a:prstGeom>
          <a:solidFill>
            <a:srgbClr val="ECEFF3"/>
          </a:solidFill>
          <a:ln w="15875">
            <a:solidFill>
              <a:srgbClr val="ADB8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1F3864"/>
                </a:solidFill>
                <a:latin typeface="Cambria Math"/>
              </a:rPr>
              <a:t>R</a:t>
            </a:r>
          </a:p>
        </p:txBody>
      </p:sp>
      <p:sp>
        <p:nvSpPr>
          <p:cNvPr id="10" name="TextBox 9"/>
          <p:cNvSpPr txBox="1"/>
          <p:nvPr/>
        </p:nvSpPr>
        <p:spPr>
          <a:xfrm>
            <a:off x="2961741" y="1536192"/>
            <a:ext cx="3840480" cy="384048"/>
          </a:xfrm>
          <a:prstGeom prst="rect">
            <a:avLst/>
          </a:prstGeom>
          <a:noFill/>
        </p:spPr>
        <p:txBody>
          <a:bodyPr wrap="square" lIns="0" tIns="0" rIns="0" bIns="0" anchor="ctr">
            <a:spAutoFit/>
          </a:bodyPr>
          <a:lstStyle/>
          <a:p>
            <a:pPr algn="l">
              <a:lnSpc>
                <a:spcPct val="112000"/>
              </a:lnSpc>
              <a:spcAft>
                <a:spcPts val="200"/>
              </a:spcAft>
            </a:pPr>
            <a:r>
              <a:rPr sz="1300" b="0" i="0" dirty="0">
                <a:solidFill>
                  <a:srgbClr val="202A38"/>
                </a:solidFill>
                <a:latin typeface="Consolas"/>
              </a:rPr>
              <a:t>→  </a:t>
            </a:r>
            <a:r>
              <a:rPr sz="1300" b="0" i="0" dirty="0" err="1">
                <a:solidFill>
                  <a:srgbClr val="202A38"/>
                </a:solidFill>
                <a:latin typeface="Consolas"/>
              </a:rPr>
              <a:t>services.msc</a:t>
            </a:r>
            <a:r>
              <a:rPr sz="1300" b="0" i="0" dirty="0">
                <a:solidFill>
                  <a:srgbClr val="202A38"/>
                </a:solidFill>
                <a:latin typeface="Consolas"/>
              </a:rPr>
              <a:t>  →  Enter</a:t>
            </a:r>
          </a:p>
        </p:txBody>
      </p:sp>
      <p:sp>
        <p:nvSpPr>
          <p:cNvPr id="11" name="Rectangle 10"/>
          <p:cNvSpPr/>
          <p:nvPr/>
        </p:nvSpPr>
        <p:spPr>
          <a:xfrm>
            <a:off x="566928" y="2157543"/>
            <a:ext cx="4023360" cy="2268593"/>
          </a:xfrm>
          <a:prstGeom prst="rect">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4.png"/>
          <p:cNvPicPr>
            <a:picLocks noChangeAspect="1"/>
          </p:cNvPicPr>
          <p:nvPr/>
        </p:nvPicPr>
        <p:blipFill>
          <a:blip r:embed="rId3"/>
          <a:stretch>
            <a:fillRect/>
          </a:stretch>
        </p:blipFill>
        <p:spPr>
          <a:xfrm>
            <a:off x="566928" y="2157543"/>
            <a:ext cx="4023360" cy="2268593"/>
          </a:xfrm>
          <a:prstGeom prst="rect">
            <a:avLst/>
          </a:prstGeom>
        </p:spPr>
      </p:pic>
      <p:sp>
        <p:nvSpPr>
          <p:cNvPr id="13" name="TextBox 12"/>
          <p:cNvSpPr txBox="1"/>
          <p:nvPr/>
        </p:nvSpPr>
        <p:spPr>
          <a:xfrm>
            <a:off x="566928" y="4480560"/>
            <a:ext cx="4023360" cy="274320"/>
          </a:xfrm>
          <a:prstGeom prst="rect">
            <a:avLst/>
          </a:prstGeom>
          <a:noFill/>
        </p:spPr>
        <p:txBody>
          <a:bodyPr wrap="square" lIns="0" tIns="0" rIns="0" bIns="0" anchor="t">
            <a:spAutoFit/>
          </a:bodyPr>
          <a:lstStyle/>
          <a:p>
            <a:pPr algn="ctr">
              <a:lnSpc>
                <a:spcPct val="112000"/>
              </a:lnSpc>
              <a:spcAft>
                <a:spcPts val="200"/>
              </a:spcAft>
            </a:pPr>
            <a:r>
              <a:rPr sz="1100" b="0" i="1">
                <a:solidFill>
                  <a:srgbClr val="54647A"/>
                </a:solidFill>
                <a:latin typeface="Times New Roman"/>
              </a:rPr>
              <a:t>Fig. 4. services.msc in the Run box</a:t>
            </a:r>
          </a:p>
        </p:txBody>
      </p:sp>
      <p:sp>
        <p:nvSpPr>
          <p:cNvPr id="14" name="Rectangle 13"/>
          <p:cNvSpPr/>
          <p:nvPr/>
        </p:nvSpPr>
        <p:spPr>
          <a:xfrm>
            <a:off x="5345385" y="2148840"/>
            <a:ext cx="5676989" cy="3566160"/>
          </a:xfrm>
          <a:prstGeom prst="rect">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5.png"/>
          <p:cNvPicPr>
            <a:picLocks noChangeAspect="1"/>
          </p:cNvPicPr>
          <p:nvPr/>
        </p:nvPicPr>
        <p:blipFill>
          <a:blip r:embed="rId4"/>
          <a:stretch>
            <a:fillRect/>
          </a:stretch>
        </p:blipFill>
        <p:spPr>
          <a:xfrm>
            <a:off x="5345385" y="2148840"/>
            <a:ext cx="5676989" cy="3566160"/>
          </a:xfrm>
          <a:prstGeom prst="rect">
            <a:avLst/>
          </a:prstGeom>
        </p:spPr>
      </p:pic>
      <p:sp>
        <p:nvSpPr>
          <p:cNvPr id="16" name="TextBox 15"/>
          <p:cNvSpPr txBox="1"/>
          <p:nvPr/>
        </p:nvSpPr>
        <p:spPr>
          <a:xfrm>
            <a:off x="4754880" y="5760720"/>
            <a:ext cx="6858000" cy="274320"/>
          </a:xfrm>
          <a:prstGeom prst="rect">
            <a:avLst/>
          </a:prstGeom>
          <a:noFill/>
        </p:spPr>
        <p:txBody>
          <a:bodyPr wrap="square" lIns="0" tIns="0" rIns="0" bIns="0" anchor="t">
            <a:spAutoFit/>
          </a:bodyPr>
          <a:lstStyle/>
          <a:p>
            <a:pPr algn="ctr">
              <a:lnSpc>
                <a:spcPct val="112000"/>
              </a:lnSpc>
              <a:spcAft>
                <a:spcPts val="200"/>
              </a:spcAft>
            </a:pPr>
            <a:r>
              <a:rPr sz="1100" b="0" i="1">
                <a:solidFill>
                  <a:srgbClr val="54647A"/>
                </a:solidFill>
                <a:latin typeface="Times New Roman"/>
              </a:rPr>
              <a:t>Fig. 5. Services window: Status, Startup Type and Log On As columns</a:t>
            </a:r>
          </a:p>
        </p:txBody>
      </p:sp>
      <p:sp>
        <p:nvSpPr>
          <p:cNvPr id="17" name="TextBox 16"/>
          <p:cNvSpPr txBox="1"/>
          <p:nvPr/>
        </p:nvSpPr>
        <p:spPr>
          <a:xfrm>
            <a:off x="566928" y="4663440"/>
            <a:ext cx="4114800" cy="1371600"/>
          </a:xfrm>
          <a:prstGeom prst="rect">
            <a:avLst/>
          </a:prstGeom>
          <a:noFill/>
        </p:spPr>
        <p:txBody>
          <a:bodyPr wrap="square" lIns="0" tIns="0" rIns="0" bIns="0" anchor="t">
            <a:spAutoFit/>
          </a:bodyPr>
          <a:lstStyle/>
          <a:p>
            <a:pPr algn="l">
              <a:lnSpc>
                <a:spcPct val="112000"/>
              </a:lnSpc>
              <a:spcAft>
                <a:spcPts val="600"/>
              </a:spcAft>
            </a:pPr>
            <a:r>
              <a:rPr sz="1200" b="1">
                <a:solidFill>
                  <a:srgbClr val="178A73"/>
                </a:solidFill>
                <a:latin typeface="Times New Roman"/>
              </a:rPr>
              <a:t>▸  </a:t>
            </a:r>
            <a:r>
              <a:rPr sz="1200" b="1">
                <a:solidFill>
                  <a:srgbClr val="178A73"/>
                </a:solidFill>
                <a:latin typeface="Consolas"/>
              </a:rPr>
              <a:t>Status</a:t>
            </a:r>
            <a:r>
              <a:rPr sz="1200">
                <a:solidFill>
                  <a:srgbClr val="202A38"/>
                </a:solidFill>
                <a:latin typeface="Times New Roman"/>
              </a:rPr>
              <a:t> — Running / Stopped</a:t>
            </a:r>
          </a:p>
          <a:p>
            <a:pPr algn="l">
              <a:lnSpc>
                <a:spcPct val="112000"/>
              </a:lnSpc>
              <a:spcAft>
                <a:spcPts val="600"/>
              </a:spcAft>
            </a:pPr>
            <a:r>
              <a:rPr sz="1200" b="1">
                <a:solidFill>
                  <a:srgbClr val="178A73"/>
                </a:solidFill>
                <a:latin typeface="Times New Roman"/>
              </a:rPr>
              <a:t>▸  </a:t>
            </a:r>
            <a:r>
              <a:rPr sz="1200" b="1">
                <a:solidFill>
                  <a:srgbClr val="178A73"/>
                </a:solidFill>
                <a:latin typeface="Consolas"/>
              </a:rPr>
              <a:t>Startup Type</a:t>
            </a:r>
            <a:r>
              <a:rPr sz="1200">
                <a:solidFill>
                  <a:srgbClr val="202A38"/>
                </a:solidFill>
                <a:latin typeface="Times New Roman"/>
              </a:rPr>
              <a:t> — Automatic / Manual…</a:t>
            </a:r>
          </a:p>
          <a:p>
            <a:pPr algn="l">
              <a:lnSpc>
                <a:spcPct val="112000"/>
              </a:lnSpc>
              <a:spcAft>
                <a:spcPts val="600"/>
              </a:spcAft>
            </a:pPr>
            <a:r>
              <a:rPr sz="1200" b="1">
                <a:solidFill>
                  <a:srgbClr val="178A73"/>
                </a:solidFill>
                <a:latin typeface="Times New Roman"/>
              </a:rPr>
              <a:t>▸  </a:t>
            </a:r>
            <a:r>
              <a:rPr sz="1200" b="1">
                <a:solidFill>
                  <a:srgbClr val="178A73"/>
                </a:solidFill>
                <a:latin typeface="Consolas"/>
              </a:rPr>
              <a:t>Log On As</a:t>
            </a:r>
            <a:r>
              <a:rPr sz="1200">
                <a:solidFill>
                  <a:srgbClr val="202A38"/>
                </a:solidFill>
                <a:latin typeface="Times New Roman"/>
              </a:rPr>
              <a:t> — under which account</a:t>
            </a:r>
          </a:p>
        </p:txBody>
      </p:sp>
      <p:sp>
        <p:nvSpPr>
          <p:cNvPr id="18" name="TextBox 17"/>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19" name="Oval 18"/>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QUESTION 2 · STARTING SERVICES</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500" b="1" i="0">
                <a:solidFill>
                  <a:srgbClr val="1F3864"/>
                </a:solidFill>
                <a:latin typeface="Times New Roman"/>
              </a:rPr>
              <a:t>Via CMD — sc.exe commands</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66928" y="1691640"/>
          <a:ext cx="11064240" cy="3621024"/>
        </p:xfrm>
        <a:graphic>
          <a:graphicData uri="http://schemas.openxmlformats.org/drawingml/2006/table">
            <a:tbl>
              <a:tblPr firstRow="1" bandRow="1">
                <a:tableStyleId>{5C22544A-7EE6-4342-B048-85BDC9FD1C3A}</a:tableStyleId>
              </a:tblPr>
              <a:tblGrid>
                <a:gridCol w="36880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603504">
                <a:tc>
                  <a:txBody>
                    <a:bodyPr/>
                    <a:lstStyle/>
                    <a:p>
                      <a:r>
                        <a:rPr sz="1250" b="1">
                          <a:solidFill>
                            <a:srgbClr val="FFFFFF"/>
                          </a:solidFill>
                          <a:latin typeface="Times New Roman"/>
                        </a:rPr>
                        <a:t>Command</a:t>
                      </a:r>
                    </a:p>
                  </a:txBody>
                  <a:tcPr anchor="ctr">
                    <a:solidFill>
                      <a:srgbClr val="1F3864"/>
                    </a:solidFill>
                  </a:tcPr>
                </a:tc>
                <a:tc>
                  <a:txBody>
                    <a:bodyPr/>
                    <a:lstStyle/>
                    <a:p>
                      <a:r>
                        <a:rPr sz="1250" b="1">
                          <a:solidFill>
                            <a:srgbClr val="FFFFFF"/>
                          </a:solidFill>
                          <a:latin typeface="Times New Roman"/>
                        </a:rPr>
                        <a:t>What it does</a:t>
                      </a:r>
                    </a:p>
                  </a:txBody>
                  <a:tcPr anchor="ctr">
                    <a:solidFill>
                      <a:srgbClr val="1F3864"/>
                    </a:solidFill>
                  </a:tcPr>
                </a:tc>
                <a:tc>
                  <a:txBody>
                    <a:bodyPr/>
                    <a:lstStyle/>
                    <a:p>
                      <a:r>
                        <a:rPr sz="1250" b="1">
                          <a:solidFill>
                            <a:srgbClr val="FFFFFF"/>
                          </a:solidFill>
                          <a:latin typeface="Times New Roman"/>
                        </a:rPr>
                        <a:t>Example</a:t>
                      </a:r>
                    </a:p>
                  </a:txBody>
                  <a:tcPr anchor="ctr">
                    <a:solidFill>
                      <a:srgbClr val="1F3864"/>
                    </a:solidFill>
                  </a:tcPr>
                </a:tc>
                <a:extLst>
                  <a:ext uri="{0D108BD9-81ED-4DB2-BD59-A6C34878D82A}">
                    <a16:rowId xmlns:a16="http://schemas.microsoft.com/office/drawing/2014/main" val="10000"/>
                  </a:ext>
                </a:extLst>
              </a:tr>
              <a:tr h="603504">
                <a:tc>
                  <a:txBody>
                    <a:bodyPr/>
                    <a:lstStyle/>
                    <a:p>
                      <a:r>
                        <a:rPr sz="1200" b="1">
                          <a:solidFill>
                            <a:srgbClr val="1F3864"/>
                          </a:solidFill>
                          <a:latin typeface="Consolas"/>
                        </a:rPr>
                        <a:t>sc query &lt;name&gt;</a:t>
                      </a:r>
                    </a:p>
                  </a:txBody>
                  <a:tcPr anchor="ctr">
                    <a:solidFill>
                      <a:srgbClr val="FFFFFF"/>
                    </a:solidFill>
                  </a:tcPr>
                </a:tc>
                <a:tc>
                  <a:txBody>
                    <a:bodyPr/>
                    <a:lstStyle/>
                    <a:p>
                      <a:r>
                        <a:rPr sz="1200">
                          <a:solidFill>
                            <a:srgbClr val="202A38"/>
                          </a:solidFill>
                          <a:latin typeface="Times New Roman"/>
                        </a:rPr>
                        <a:t>Shows the current state of a service</a:t>
                      </a:r>
                    </a:p>
                  </a:txBody>
                  <a:tcPr anchor="ctr">
                    <a:solidFill>
                      <a:srgbClr val="FFFFFF"/>
                    </a:solidFill>
                  </a:tcPr>
                </a:tc>
                <a:tc>
                  <a:txBody>
                    <a:bodyPr/>
                    <a:lstStyle/>
                    <a:p>
                      <a:r>
                        <a:rPr sz="1200">
                          <a:solidFill>
                            <a:srgbClr val="202A38"/>
                          </a:solidFill>
                          <a:latin typeface="Times New Roman"/>
                        </a:rPr>
                        <a:t>sc query Spooler</a:t>
                      </a:r>
                    </a:p>
                  </a:txBody>
                  <a:tcPr anchor="ctr">
                    <a:solidFill>
                      <a:srgbClr val="FFFFFF"/>
                    </a:solidFill>
                  </a:tcPr>
                </a:tc>
                <a:extLst>
                  <a:ext uri="{0D108BD9-81ED-4DB2-BD59-A6C34878D82A}">
                    <a16:rowId xmlns:a16="http://schemas.microsoft.com/office/drawing/2014/main" val="10001"/>
                  </a:ext>
                </a:extLst>
              </a:tr>
              <a:tr h="603504">
                <a:tc>
                  <a:txBody>
                    <a:bodyPr/>
                    <a:lstStyle/>
                    <a:p>
                      <a:r>
                        <a:rPr sz="1200" b="1">
                          <a:solidFill>
                            <a:srgbClr val="1F3864"/>
                          </a:solidFill>
                          <a:latin typeface="Consolas"/>
                        </a:rPr>
                        <a:t>sc start &lt;name&gt;</a:t>
                      </a:r>
                    </a:p>
                  </a:txBody>
                  <a:tcPr anchor="ctr">
                    <a:solidFill>
                      <a:srgbClr val="F5F8FC"/>
                    </a:solidFill>
                  </a:tcPr>
                </a:tc>
                <a:tc>
                  <a:txBody>
                    <a:bodyPr/>
                    <a:lstStyle/>
                    <a:p>
                      <a:r>
                        <a:rPr sz="1200">
                          <a:solidFill>
                            <a:srgbClr val="202A38"/>
                          </a:solidFill>
                          <a:latin typeface="Times New Roman"/>
                        </a:rPr>
                        <a:t>Starts a service</a:t>
                      </a:r>
                    </a:p>
                  </a:txBody>
                  <a:tcPr anchor="ctr">
                    <a:solidFill>
                      <a:srgbClr val="F5F8FC"/>
                    </a:solidFill>
                  </a:tcPr>
                </a:tc>
                <a:tc>
                  <a:txBody>
                    <a:bodyPr/>
                    <a:lstStyle/>
                    <a:p>
                      <a:r>
                        <a:rPr sz="1200">
                          <a:solidFill>
                            <a:srgbClr val="202A38"/>
                          </a:solidFill>
                          <a:latin typeface="Times New Roman"/>
                        </a:rPr>
                        <a:t>sc start Spooler</a:t>
                      </a:r>
                    </a:p>
                  </a:txBody>
                  <a:tcPr anchor="ctr">
                    <a:solidFill>
                      <a:srgbClr val="F5F8FC"/>
                    </a:solidFill>
                  </a:tcPr>
                </a:tc>
                <a:extLst>
                  <a:ext uri="{0D108BD9-81ED-4DB2-BD59-A6C34878D82A}">
                    <a16:rowId xmlns:a16="http://schemas.microsoft.com/office/drawing/2014/main" val="10002"/>
                  </a:ext>
                </a:extLst>
              </a:tr>
              <a:tr h="603504">
                <a:tc>
                  <a:txBody>
                    <a:bodyPr/>
                    <a:lstStyle/>
                    <a:p>
                      <a:r>
                        <a:rPr sz="1200" b="1">
                          <a:solidFill>
                            <a:srgbClr val="1F3864"/>
                          </a:solidFill>
                          <a:latin typeface="Consolas"/>
                        </a:rPr>
                        <a:t>sc stop &lt;name&gt;</a:t>
                      </a:r>
                    </a:p>
                  </a:txBody>
                  <a:tcPr anchor="ctr">
                    <a:solidFill>
                      <a:srgbClr val="FFFFFF"/>
                    </a:solidFill>
                  </a:tcPr>
                </a:tc>
                <a:tc>
                  <a:txBody>
                    <a:bodyPr/>
                    <a:lstStyle/>
                    <a:p>
                      <a:r>
                        <a:rPr sz="1200">
                          <a:solidFill>
                            <a:srgbClr val="202A38"/>
                          </a:solidFill>
                          <a:latin typeface="Times New Roman"/>
                        </a:rPr>
                        <a:t>Stops a service</a:t>
                      </a:r>
                    </a:p>
                  </a:txBody>
                  <a:tcPr anchor="ctr">
                    <a:solidFill>
                      <a:srgbClr val="FFFFFF"/>
                    </a:solidFill>
                  </a:tcPr>
                </a:tc>
                <a:tc>
                  <a:txBody>
                    <a:bodyPr/>
                    <a:lstStyle/>
                    <a:p>
                      <a:r>
                        <a:rPr sz="1200">
                          <a:solidFill>
                            <a:srgbClr val="202A38"/>
                          </a:solidFill>
                          <a:latin typeface="Times New Roman"/>
                        </a:rPr>
                        <a:t>sc stop Spooler</a:t>
                      </a:r>
                    </a:p>
                  </a:txBody>
                  <a:tcPr anchor="ctr">
                    <a:solidFill>
                      <a:srgbClr val="FFFFFF"/>
                    </a:solidFill>
                  </a:tcPr>
                </a:tc>
                <a:extLst>
                  <a:ext uri="{0D108BD9-81ED-4DB2-BD59-A6C34878D82A}">
                    <a16:rowId xmlns:a16="http://schemas.microsoft.com/office/drawing/2014/main" val="10003"/>
                  </a:ext>
                </a:extLst>
              </a:tr>
              <a:tr h="603504">
                <a:tc>
                  <a:txBody>
                    <a:bodyPr/>
                    <a:lstStyle/>
                    <a:p>
                      <a:r>
                        <a:rPr sz="1200" b="1">
                          <a:solidFill>
                            <a:srgbClr val="1F3864"/>
                          </a:solidFill>
                          <a:latin typeface="Consolas"/>
                        </a:rPr>
                        <a:t>sc qc &lt;name&gt;</a:t>
                      </a:r>
                    </a:p>
                  </a:txBody>
                  <a:tcPr anchor="ctr">
                    <a:solidFill>
                      <a:srgbClr val="F5F8FC"/>
                    </a:solidFill>
                  </a:tcPr>
                </a:tc>
                <a:tc>
                  <a:txBody>
                    <a:bodyPr/>
                    <a:lstStyle/>
                    <a:p>
                      <a:r>
                        <a:rPr sz="1200">
                          <a:solidFill>
                            <a:srgbClr val="202A38"/>
                          </a:solidFill>
                          <a:latin typeface="Times New Roman"/>
                        </a:rPr>
                        <a:t>Full configuration (file path, account)</a:t>
                      </a:r>
                    </a:p>
                  </a:txBody>
                  <a:tcPr anchor="ctr">
                    <a:solidFill>
                      <a:srgbClr val="F5F8FC"/>
                    </a:solidFill>
                  </a:tcPr>
                </a:tc>
                <a:tc>
                  <a:txBody>
                    <a:bodyPr/>
                    <a:lstStyle/>
                    <a:p>
                      <a:r>
                        <a:rPr sz="1200">
                          <a:solidFill>
                            <a:srgbClr val="202A38"/>
                          </a:solidFill>
                          <a:latin typeface="Times New Roman"/>
                        </a:rPr>
                        <a:t>sc qc Spooler</a:t>
                      </a:r>
                    </a:p>
                  </a:txBody>
                  <a:tcPr anchor="ctr">
                    <a:solidFill>
                      <a:srgbClr val="F5F8FC"/>
                    </a:solidFill>
                  </a:tcPr>
                </a:tc>
                <a:extLst>
                  <a:ext uri="{0D108BD9-81ED-4DB2-BD59-A6C34878D82A}">
                    <a16:rowId xmlns:a16="http://schemas.microsoft.com/office/drawing/2014/main" val="10004"/>
                  </a:ext>
                </a:extLst>
              </a:tr>
              <a:tr h="603504">
                <a:tc>
                  <a:txBody>
                    <a:bodyPr/>
                    <a:lstStyle/>
                    <a:p>
                      <a:r>
                        <a:rPr sz="1200" b="1">
                          <a:solidFill>
                            <a:srgbClr val="1F3864"/>
                          </a:solidFill>
                          <a:latin typeface="Consolas"/>
                        </a:rPr>
                        <a:t>sc config &lt;name&gt; start= disabled</a:t>
                      </a:r>
                    </a:p>
                  </a:txBody>
                  <a:tcPr anchor="ctr">
                    <a:solidFill>
                      <a:srgbClr val="FFFFFF"/>
                    </a:solidFill>
                  </a:tcPr>
                </a:tc>
                <a:tc>
                  <a:txBody>
                    <a:bodyPr/>
                    <a:lstStyle/>
                    <a:p>
                      <a:r>
                        <a:rPr sz="1200">
                          <a:solidFill>
                            <a:srgbClr val="202A38"/>
                          </a:solidFill>
                          <a:latin typeface="Times New Roman"/>
                        </a:rPr>
                        <a:t>Changes the startup type</a:t>
                      </a:r>
                    </a:p>
                  </a:txBody>
                  <a:tcPr anchor="ctr">
                    <a:solidFill>
                      <a:srgbClr val="FFFFFF"/>
                    </a:solidFill>
                  </a:tcPr>
                </a:tc>
                <a:tc>
                  <a:txBody>
                    <a:bodyPr/>
                    <a:lstStyle/>
                    <a:p>
                      <a:r>
                        <a:rPr sz="1200">
                          <a:solidFill>
                            <a:srgbClr val="202A38"/>
                          </a:solidFill>
                          <a:latin typeface="Times New Roman"/>
                        </a:rPr>
                        <a:t>sc config Spooler start= disabled</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566928" y="5806440"/>
            <a:ext cx="11064240" cy="502920"/>
          </a:xfrm>
          <a:prstGeom prst="roundRect">
            <a:avLst>
              <a:gd name="adj" fmla="val 20000"/>
            </a:avLst>
          </a:prstGeom>
          <a:solidFill>
            <a:srgbClr val="E3F3EE"/>
          </a:solidFill>
          <a:ln w="1270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warning_178A73.png"/>
          <p:cNvPicPr>
            <a:picLocks noChangeAspect="1"/>
          </p:cNvPicPr>
          <p:nvPr/>
        </p:nvPicPr>
        <p:blipFill>
          <a:blip r:embed="rId3"/>
          <a:stretch>
            <a:fillRect/>
          </a:stretch>
        </p:blipFill>
        <p:spPr>
          <a:xfrm>
            <a:off x="713232" y="5888736"/>
            <a:ext cx="329184" cy="329184"/>
          </a:xfrm>
          <a:prstGeom prst="rect">
            <a:avLst/>
          </a:prstGeom>
        </p:spPr>
      </p:pic>
      <p:sp>
        <p:nvSpPr>
          <p:cNvPr id="9" name="TextBox 8"/>
          <p:cNvSpPr txBox="1"/>
          <p:nvPr/>
        </p:nvSpPr>
        <p:spPr>
          <a:xfrm>
            <a:off x="1188720" y="5852160"/>
            <a:ext cx="10241280" cy="457200"/>
          </a:xfrm>
          <a:prstGeom prst="rect">
            <a:avLst/>
          </a:prstGeom>
          <a:noFill/>
        </p:spPr>
        <p:txBody>
          <a:bodyPr wrap="square" lIns="0" tIns="0" rIns="0" bIns="0" anchor="ctr">
            <a:spAutoFit/>
          </a:bodyPr>
          <a:lstStyle/>
          <a:p>
            <a:pPr algn="l">
              <a:lnSpc>
                <a:spcPct val="115000"/>
              </a:lnSpc>
              <a:spcAft>
                <a:spcPts val="400"/>
              </a:spcAft>
            </a:pPr>
            <a:r>
              <a:rPr sz="1150" b="1">
                <a:solidFill>
                  <a:srgbClr val="1F3864"/>
                </a:solidFill>
                <a:latin typeface="Times New Roman"/>
              </a:rPr>
              <a:t>Note: </a:t>
            </a:r>
            <a:r>
              <a:rPr sz="1150">
                <a:solidFill>
                  <a:srgbClr val="202A38"/>
                </a:solidFill>
                <a:latin typeface="Times New Roman"/>
              </a:rPr>
              <a:t>leave a space after the “</a:t>
            </a:r>
            <a:r>
              <a:rPr sz="1150" b="1">
                <a:solidFill>
                  <a:srgbClr val="178A73"/>
                </a:solidFill>
                <a:latin typeface="Consolas"/>
              </a:rPr>
              <a:t>=</a:t>
            </a:r>
            <a:r>
              <a:rPr sz="1150">
                <a:solidFill>
                  <a:srgbClr val="202A38"/>
                </a:solidFill>
                <a:latin typeface="Times New Roman"/>
              </a:rPr>
              <a:t>” sign (</a:t>
            </a:r>
            <a:r>
              <a:rPr sz="1150" b="1">
                <a:solidFill>
                  <a:srgbClr val="178A73"/>
                </a:solidFill>
                <a:latin typeface="Consolas"/>
              </a:rPr>
              <a:t>start= disabled</a:t>
            </a:r>
            <a:r>
              <a:rPr sz="1150">
                <a:solidFill>
                  <a:srgbClr val="202A38"/>
                </a:solidFill>
                <a:latin typeface="Times New Roman"/>
              </a:rPr>
              <a:t>), but no space before it.</a:t>
            </a:r>
          </a:p>
        </p:txBody>
      </p:sp>
      <p:sp>
        <p:nvSpPr>
          <p:cNvPr id="10" name="TextBox 9"/>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11" name="Oval 10"/>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QUESTION 2 · STARTING SERVICES</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500" b="1" i="0">
                <a:solidFill>
                  <a:srgbClr val="1F3864"/>
                </a:solidFill>
                <a:latin typeface="Times New Roman"/>
              </a:rPr>
              <a:t>Via PowerShell — cmdlets</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66928" y="1691640"/>
          <a:ext cx="11064239" cy="3017520"/>
        </p:xfrm>
        <a:graphic>
          <a:graphicData uri="http://schemas.openxmlformats.org/drawingml/2006/table">
            <a:tbl>
              <a:tblPr firstRow="1" bandRow="1">
                <a:tableStyleId>{5C22544A-7EE6-4342-B048-85BDC9FD1C3A}</a:tableStyleId>
              </a:tblPr>
              <a:tblGrid>
                <a:gridCol w="3358787">
                  <a:extLst>
                    <a:ext uri="{9D8B030D-6E8A-4147-A177-3AD203B41FA5}">
                      <a16:colId xmlns:a16="http://schemas.microsoft.com/office/drawing/2014/main" val="20000"/>
                    </a:ext>
                  </a:extLst>
                </a:gridCol>
                <a:gridCol w="4346665">
                  <a:extLst>
                    <a:ext uri="{9D8B030D-6E8A-4147-A177-3AD203B41FA5}">
                      <a16:colId xmlns:a16="http://schemas.microsoft.com/office/drawing/2014/main" val="20001"/>
                    </a:ext>
                  </a:extLst>
                </a:gridCol>
                <a:gridCol w="3358787">
                  <a:extLst>
                    <a:ext uri="{9D8B030D-6E8A-4147-A177-3AD203B41FA5}">
                      <a16:colId xmlns:a16="http://schemas.microsoft.com/office/drawing/2014/main" val="20002"/>
                    </a:ext>
                  </a:extLst>
                </a:gridCol>
              </a:tblGrid>
              <a:tr h="603504">
                <a:tc>
                  <a:txBody>
                    <a:bodyPr/>
                    <a:lstStyle/>
                    <a:p>
                      <a:r>
                        <a:rPr sz="1250" b="1">
                          <a:solidFill>
                            <a:srgbClr val="FFFFFF"/>
                          </a:solidFill>
                          <a:latin typeface="Times New Roman"/>
                        </a:rPr>
                        <a:t>Cmdlet</a:t>
                      </a:r>
                    </a:p>
                  </a:txBody>
                  <a:tcPr anchor="ctr">
                    <a:solidFill>
                      <a:srgbClr val="1F3864"/>
                    </a:solidFill>
                  </a:tcPr>
                </a:tc>
                <a:tc>
                  <a:txBody>
                    <a:bodyPr/>
                    <a:lstStyle/>
                    <a:p>
                      <a:r>
                        <a:rPr sz="1250" b="1">
                          <a:solidFill>
                            <a:srgbClr val="FFFFFF"/>
                          </a:solidFill>
                          <a:latin typeface="Times New Roman"/>
                        </a:rPr>
                        <a:t>Verb (what it does)</a:t>
                      </a:r>
                    </a:p>
                  </a:txBody>
                  <a:tcPr anchor="ctr">
                    <a:solidFill>
                      <a:srgbClr val="1F3864"/>
                    </a:solidFill>
                  </a:tcPr>
                </a:tc>
                <a:tc>
                  <a:txBody>
                    <a:bodyPr/>
                    <a:lstStyle/>
                    <a:p>
                      <a:r>
                        <a:rPr sz="1250" b="1">
                          <a:solidFill>
                            <a:srgbClr val="FFFFFF"/>
                          </a:solidFill>
                          <a:latin typeface="Times New Roman"/>
                        </a:rPr>
                        <a:t>Noun (on what)</a:t>
                      </a:r>
                    </a:p>
                  </a:txBody>
                  <a:tcPr anchor="ctr">
                    <a:solidFill>
                      <a:srgbClr val="1F3864"/>
                    </a:solidFill>
                  </a:tcPr>
                </a:tc>
                <a:extLst>
                  <a:ext uri="{0D108BD9-81ED-4DB2-BD59-A6C34878D82A}">
                    <a16:rowId xmlns:a16="http://schemas.microsoft.com/office/drawing/2014/main" val="10000"/>
                  </a:ext>
                </a:extLst>
              </a:tr>
              <a:tr h="603504">
                <a:tc>
                  <a:txBody>
                    <a:bodyPr/>
                    <a:lstStyle/>
                    <a:p>
                      <a:r>
                        <a:rPr sz="1200" b="1">
                          <a:solidFill>
                            <a:srgbClr val="1F3864"/>
                          </a:solidFill>
                          <a:latin typeface="Consolas"/>
                        </a:rPr>
                        <a:t>Get-Service</a:t>
                      </a:r>
                    </a:p>
                  </a:txBody>
                  <a:tcPr anchor="ctr">
                    <a:solidFill>
                      <a:srgbClr val="FFFFFF"/>
                    </a:solidFill>
                  </a:tcPr>
                </a:tc>
                <a:tc>
                  <a:txBody>
                    <a:bodyPr/>
                    <a:lstStyle/>
                    <a:p>
                      <a:r>
                        <a:rPr sz="1200">
                          <a:solidFill>
                            <a:srgbClr val="202A38"/>
                          </a:solidFill>
                          <a:latin typeface="Times New Roman"/>
                        </a:rPr>
                        <a:t>Get — retrieve, view</a:t>
                      </a:r>
                    </a:p>
                  </a:txBody>
                  <a:tcPr anchor="ctr">
                    <a:solidFill>
                      <a:srgbClr val="FFFFFF"/>
                    </a:solidFill>
                  </a:tcPr>
                </a:tc>
                <a:tc>
                  <a:txBody>
                    <a:bodyPr/>
                    <a:lstStyle/>
                    <a:p>
                      <a:r>
                        <a:rPr sz="1200">
                          <a:solidFill>
                            <a:srgbClr val="202A38"/>
                          </a:solidFill>
                          <a:latin typeface="Times New Roman"/>
                        </a:rPr>
                        <a:t>Service</a:t>
                      </a:r>
                    </a:p>
                  </a:txBody>
                  <a:tcPr anchor="ctr">
                    <a:solidFill>
                      <a:srgbClr val="FFFFFF"/>
                    </a:solidFill>
                  </a:tcPr>
                </a:tc>
                <a:extLst>
                  <a:ext uri="{0D108BD9-81ED-4DB2-BD59-A6C34878D82A}">
                    <a16:rowId xmlns:a16="http://schemas.microsoft.com/office/drawing/2014/main" val="10001"/>
                  </a:ext>
                </a:extLst>
              </a:tr>
              <a:tr h="603504">
                <a:tc>
                  <a:txBody>
                    <a:bodyPr/>
                    <a:lstStyle/>
                    <a:p>
                      <a:r>
                        <a:rPr sz="1200" b="1">
                          <a:solidFill>
                            <a:srgbClr val="1F3864"/>
                          </a:solidFill>
                          <a:latin typeface="Consolas"/>
                        </a:rPr>
                        <a:t>Start-Service</a:t>
                      </a:r>
                    </a:p>
                  </a:txBody>
                  <a:tcPr anchor="ctr">
                    <a:solidFill>
                      <a:srgbClr val="F5F8FC"/>
                    </a:solidFill>
                  </a:tcPr>
                </a:tc>
                <a:tc>
                  <a:txBody>
                    <a:bodyPr/>
                    <a:lstStyle/>
                    <a:p>
                      <a:r>
                        <a:rPr sz="1200">
                          <a:solidFill>
                            <a:srgbClr val="202A38"/>
                          </a:solidFill>
                          <a:latin typeface="Times New Roman"/>
                        </a:rPr>
                        <a:t>Start — launch</a:t>
                      </a:r>
                    </a:p>
                  </a:txBody>
                  <a:tcPr anchor="ctr">
                    <a:solidFill>
                      <a:srgbClr val="F5F8FC"/>
                    </a:solidFill>
                  </a:tcPr>
                </a:tc>
                <a:tc>
                  <a:txBody>
                    <a:bodyPr/>
                    <a:lstStyle/>
                    <a:p>
                      <a:r>
                        <a:rPr sz="1200">
                          <a:solidFill>
                            <a:srgbClr val="202A38"/>
                          </a:solidFill>
                          <a:latin typeface="Times New Roman"/>
                        </a:rPr>
                        <a:t>Service</a:t>
                      </a:r>
                    </a:p>
                  </a:txBody>
                  <a:tcPr anchor="ctr">
                    <a:solidFill>
                      <a:srgbClr val="F5F8FC"/>
                    </a:solidFill>
                  </a:tcPr>
                </a:tc>
                <a:extLst>
                  <a:ext uri="{0D108BD9-81ED-4DB2-BD59-A6C34878D82A}">
                    <a16:rowId xmlns:a16="http://schemas.microsoft.com/office/drawing/2014/main" val="10002"/>
                  </a:ext>
                </a:extLst>
              </a:tr>
              <a:tr h="603504">
                <a:tc>
                  <a:txBody>
                    <a:bodyPr/>
                    <a:lstStyle/>
                    <a:p>
                      <a:r>
                        <a:rPr sz="1200" b="1">
                          <a:solidFill>
                            <a:srgbClr val="1F3864"/>
                          </a:solidFill>
                          <a:latin typeface="Consolas"/>
                        </a:rPr>
                        <a:t>Stop-Service</a:t>
                      </a:r>
                    </a:p>
                  </a:txBody>
                  <a:tcPr anchor="ctr">
                    <a:solidFill>
                      <a:srgbClr val="FFFFFF"/>
                    </a:solidFill>
                  </a:tcPr>
                </a:tc>
                <a:tc>
                  <a:txBody>
                    <a:bodyPr/>
                    <a:lstStyle/>
                    <a:p>
                      <a:r>
                        <a:rPr sz="1200">
                          <a:solidFill>
                            <a:srgbClr val="202A38"/>
                          </a:solidFill>
                          <a:latin typeface="Times New Roman"/>
                        </a:rPr>
                        <a:t>Stop — halt</a:t>
                      </a:r>
                    </a:p>
                  </a:txBody>
                  <a:tcPr anchor="ctr">
                    <a:solidFill>
                      <a:srgbClr val="FFFFFF"/>
                    </a:solidFill>
                  </a:tcPr>
                </a:tc>
                <a:tc>
                  <a:txBody>
                    <a:bodyPr/>
                    <a:lstStyle/>
                    <a:p>
                      <a:r>
                        <a:rPr sz="1200">
                          <a:solidFill>
                            <a:srgbClr val="202A38"/>
                          </a:solidFill>
                          <a:latin typeface="Times New Roman"/>
                        </a:rPr>
                        <a:t>Service</a:t>
                      </a:r>
                    </a:p>
                  </a:txBody>
                  <a:tcPr anchor="ctr">
                    <a:solidFill>
                      <a:srgbClr val="FFFFFF"/>
                    </a:solidFill>
                  </a:tcPr>
                </a:tc>
                <a:extLst>
                  <a:ext uri="{0D108BD9-81ED-4DB2-BD59-A6C34878D82A}">
                    <a16:rowId xmlns:a16="http://schemas.microsoft.com/office/drawing/2014/main" val="10003"/>
                  </a:ext>
                </a:extLst>
              </a:tr>
              <a:tr h="603504">
                <a:tc>
                  <a:txBody>
                    <a:bodyPr/>
                    <a:lstStyle/>
                    <a:p>
                      <a:r>
                        <a:rPr sz="1200" b="1">
                          <a:solidFill>
                            <a:srgbClr val="1F3864"/>
                          </a:solidFill>
                          <a:latin typeface="Consolas"/>
                        </a:rPr>
                        <a:t>Set-Service</a:t>
                      </a:r>
                    </a:p>
                  </a:txBody>
                  <a:tcPr anchor="ctr">
                    <a:solidFill>
                      <a:srgbClr val="F5F8FC"/>
                    </a:solidFill>
                  </a:tcPr>
                </a:tc>
                <a:tc>
                  <a:txBody>
                    <a:bodyPr/>
                    <a:lstStyle/>
                    <a:p>
                      <a:r>
                        <a:rPr sz="1200">
                          <a:solidFill>
                            <a:srgbClr val="202A38"/>
                          </a:solidFill>
                          <a:latin typeface="Times New Roman"/>
                        </a:rPr>
                        <a:t>Set — configure</a:t>
                      </a:r>
                    </a:p>
                  </a:txBody>
                  <a:tcPr anchor="ctr">
                    <a:solidFill>
                      <a:srgbClr val="F5F8FC"/>
                    </a:solidFill>
                  </a:tcPr>
                </a:tc>
                <a:tc>
                  <a:txBody>
                    <a:bodyPr/>
                    <a:lstStyle/>
                    <a:p>
                      <a:r>
                        <a:rPr sz="1200">
                          <a:solidFill>
                            <a:srgbClr val="202A38"/>
                          </a:solidFill>
                          <a:latin typeface="Times New Roman"/>
                        </a:rPr>
                        <a:t>Service</a:t>
                      </a:r>
                    </a:p>
                  </a:txBody>
                  <a:tcPr anchor="ctr">
                    <a:solidFill>
                      <a:srgbClr val="F5F8FC"/>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566928" y="4480560"/>
            <a:ext cx="11064240" cy="1371600"/>
          </a:xfrm>
          <a:prstGeom prst="roundRect">
            <a:avLst>
              <a:gd name="adj" fmla="val 3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960" y="4709160"/>
            <a:ext cx="731520" cy="731520"/>
          </a:xfrm>
          <a:prstGeom prst="ellipse">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zap_FFFFFF.png"/>
          <p:cNvPicPr>
            <a:picLocks noChangeAspect="1"/>
          </p:cNvPicPr>
          <p:nvPr/>
        </p:nvPicPr>
        <p:blipFill>
          <a:blip r:embed="rId3"/>
          <a:stretch>
            <a:fillRect/>
          </a:stretch>
        </p:blipFill>
        <p:spPr>
          <a:xfrm>
            <a:off x="1027785" y="4913985"/>
            <a:ext cx="321870" cy="321870"/>
          </a:xfrm>
          <a:prstGeom prst="rect">
            <a:avLst/>
          </a:prstGeom>
        </p:spPr>
      </p:pic>
      <p:sp>
        <p:nvSpPr>
          <p:cNvPr id="10" name="TextBox 9"/>
          <p:cNvSpPr txBox="1"/>
          <p:nvPr/>
        </p:nvSpPr>
        <p:spPr>
          <a:xfrm>
            <a:off x="1783080" y="4709160"/>
            <a:ext cx="9509760" cy="1005840"/>
          </a:xfrm>
          <a:prstGeom prst="rect">
            <a:avLst/>
          </a:prstGeom>
          <a:noFill/>
        </p:spPr>
        <p:txBody>
          <a:bodyPr wrap="square" lIns="0" tIns="0" rIns="0" bIns="0" anchor="t">
            <a:spAutoFit/>
          </a:bodyPr>
          <a:lstStyle/>
          <a:p>
            <a:pPr algn="l">
              <a:lnSpc>
                <a:spcPct val="120000"/>
              </a:lnSpc>
              <a:spcAft>
                <a:spcPts val="600"/>
              </a:spcAft>
            </a:pPr>
            <a:r>
              <a:rPr sz="1250" b="1">
                <a:solidFill>
                  <a:srgbClr val="1F3864"/>
                </a:solidFill>
                <a:latin typeface="Times New Roman"/>
              </a:rPr>
              <a:t>A cmdlet</a:t>
            </a:r>
            <a:r>
              <a:rPr sz="1250">
                <a:solidFill>
                  <a:srgbClr val="202A38"/>
                </a:solidFill>
                <a:latin typeface="Times New Roman"/>
              </a:rPr>
              <a:t> — a command that lives only inside PowerShell (not an ordinary </a:t>
            </a:r>
            <a:r>
              <a:rPr sz="1250" b="1">
                <a:solidFill>
                  <a:srgbClr val="178A73"/>
                </a:solidFill>
                <a:latin typeface="Consolas"/>
              </a:rPr>
              <a:t>.exe</a:t>
            </a:r>
            <a:r>
              <a:rPr sz="1250">
                <a:solidFill>
                  <a:srgbClr val="202A38"/>
                </a:solidFill>
                <a:latin typeface="Times New Roman"/>
              </a:rPr>
              <a:t> file).</a:t>
            </a:r>
          </a:p>
          <a:p>
            <a:pPr algn="l">
              <a:lnSpc>
                <a:spcPct val="120000"/>
              </a:lnSpc>
              <a:spcAft>
                <a:spcPts val="600"/>
              </a:spcAft>
            </a:pPr>
            <a:r>
              <a:rPr sz="1250">
                <a:solidFill>
                  <a:srgbClr val="202A38"/>
                </a:solidFill>
                <a:latin typeface="Times New Roman"/>
              </a:rPr>
              <a:t>It is always named in </a:t>
            </a:r>
            <a:r>
              <a:rPr sz="1250" b="1">
                <a:solidFill>
                  <a:srgbClr val="202A38"/>
                </a:solidFill>
                <a:latin typeface="Times New Roman"/>
              </a:rPr>
              <a:t>Verb-Noun</a:t>
            </a:r>
            <a:r>
              <a:rPr sz="1250">
                <a:solidFill>
                  <a:srgbClr val="202A38"/>
                </a:solidFill>
                <a:latin typeface="Times New Roman"/>
              </a:rPr>
              <a:t> form: </a:t>
            </a:r>
            <a:r>
              <a:rPr sz="1250" b="1">
                <a:solidFill>
                  <a:srgbClr val="178A73"/>
                </a:solidFill>
                <a:latin typeface="Consolas"/>
              </a:rPr>
              <a:t>Get-Service</a:t>
            </a:r>
            <a:r>
              <a:rPr sz="1250">
                <a:solidFill>
                  <a:srgbClr val="202A38"/>
                </a:solidFill>
                <a:latin typeface="Times New Roman"/>
              </a:rPr>
              <a:t>, </a:t>
            </a:r>
            <a:r>
              <a:rPr sz="1250" b="1">
                <a:solidFill>
                  <a:srgbClr val="178A73"/>
                </a:solidFill>
                <a:latin typeface="Consolas"/>
              </a:rPr>
              <a:t>Start-Service</a:t>
            </a:r>
            <a:r>
              <a:rPr sz="1250">
                <a:solidFill>
                  <a:srgbClr val="202A38"/>
                </a:solidFill>
                <a:latin typeface="Times New Roman"/>
              </a:rPr>
              <a:t>. That is why </a:t>
            </a:r>
            <a:r>
              <a:rPr sz="1250" b="1">
                <a:solidFill>
                  <a:srgbClr val="178A73"/>
                </a:solidFill>
                <a:latin typeface="Consolas"/>
              </a:rPr>
              <a:t>Get-Service</a:t>
            </a:r>
            <a:r>
              <a:rPr sz="1250">
                <a:solidFill>
                  <a:srgbClr val="202A38"/>
                </a:solidFill>
                <a:latin typeface="Times New Roman"/>
              </a:rPr>
              <a:t> does not work in CMD — only in PowerShell.</a:t>
            </a:r>
          </a:p>
        </p:txBody>
      </p:sp>
      <p:sp>
        <p:nvSpPr>
          <p:cNvPr id="11" name="TextBox 10"/>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12" name="Oval 11"/>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QUESTION 2 · PRACTICAL SIGNIFICANCE</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300" b="1" i="0">
                <a:solidFill>
                  <a:srgbClr val="1F3864"/>
                </a:solidFill>
                <a:latin typeface="Times New Roman"/>
              </a:rPr>
              <a:t>sc qc — why it matters for security</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45920"/>
            <a:ext cx="5486400" cy="2194560"/>
          </a:xfrm>
          <a:prstGeom prst="roundRect">
            <a:avLst>
              <a:gd name="adj" fmla="val 3000"/>
            </a:avLst>
          </a:prstGeom>
          <a:solidFill>
            <a:srgbClr val="12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828800"/>
            <a:ext cx="5120640" cy="1828800"/>
          </a:xfrm>
          <a:prstGeom prst="rect">
            <a:avLst/>
          </a:prstGeom>
          <a:noFill/>
        </p:spPr>
        <p:txBody>
          <a:bodyPr wrap="square" lIns="0" tIns="0" rIns="0" bIns="0" anchor="t">
            <a:spAutoFit/>
          </a:bodyPr>
          <a:lstStyle/>
          <a:p>
            <a:pPr algn="l">
              <a:lnSpc>
                <a:spcPct val="130000"/>
              </a:lnSpc>
              <a:spcAft>
                <a:spcPts val="200"/>
              </a:spcAft>
            </a:pPr>
            <a:r>
              <a:rPr sz="1300" b="0" i="0">
                <a:solidFill>
                  <a:srgbClr val="8FE6C4"/>
                </a:solidFill>
                <a:latin typeface="Consolas"/>
              </a:rPr>
              <a:t>&gt; sc qc Spooler</a:t>
            </a:r>
          </a:p>
          <a:p>
            <a:pPr algn="l">
              <a:lnSpc>
                <a:spcPct val="130000"/>
              </a:lnSpc>
              <a:spcAft>
                <a:spcPts val="200"/>
              </a:spcAft>
            </a:pPr>
            <a:endParaRPr sz="1300" b="0" i="0">
              <a:solidFill>
                <a:srgbClr val="8FE6C4"/>
              </a:solidFill>
              <a:latin typeface="Consolas"/>
            </a:endParaRPr>
          </a:p>
          <a:p>
            <a:pPr algn="l">
              <a:lnSpc>
                <a:spcPct val="130000"/>
              </a:lnSpc>
              <a:spcAft>
                <a:spcPts val="200"/>
              </a:spcAft>
            </a:pPr>
            <a:r>
              <a:rPr sz="1300" b="0" i="0">
                <a:solidFill>
                  <a:srgbClr val="8FE6C4"/>
                </a:solidFill>
                <a:latin typeface="Consolas"/>
              </a:rPr>
              <a:t>BINARY_PATH_NAME :</a:t>
            </a:r>
          </a:p>
          <a:p>
            <a:pPr algn="l">
              <a:lnSpc>
                <a:spcPct val="130000"/>
              </a:lnSpc>
              <a:spcAft>
                <a:spcPts val="200"/>
              </a:spcAft>
            </a:pPr>
            <a:r>
              <a:rPr sz="1300" b="0" i="0">
                <a:solidFill>
                  <a:srgbClr val="8FE6C4"/>
                </a:solidFill>
                <a:latin typeface="Consolas"/>
              </a:rPr>
              <a:t>   C:\Windows\System32\spoolsv.exe</a:t>
            </a:r>
          </a:p>
          <a:p>
            <a:pPr algn="l">
              <a:lnSpc>
                <a:spcPct val="130000"/>
              </a:lnSpc>
              <a:spcAft>
                <a:spcPts val="200"/>
              </a:spcAft>
            </a:pPr>
            <a:r>
              <a:rPr sz="1300" b="0" i="0">
                <a:solidFill>
                  <a:srgbClr val="8FE6C4"/>
                </a:solidFill>
                <a:latin typeface="Consolas"/>
              </a:rPr>
              <a:t>SERVICE_START_NAME : LocalSystem</a:t>
            </a:r>
          </a:p>
        </p:txBody>
      </p:sp>
      <p:sp>
        <p:nvSpPr>
          <p:cNvPr id="8" name="TextBox 7"/>
          <p:cNvSpPr txBox="1"/>
          <p:nvPr/>
        </p:nvSpPr>
        <p:spPr>
          <a:xfrm>
            <a:off x="6309360" y="1691640"/>
            <a:ext cx="5303520" cy="2286000"/>
          </a:xfrm>
          <a:prstGeom prst="rect">
            <a:avLst/>
          </a:prstGeom>
          <a:noFill/>
        </p:spPr>
        <p:txBody>
          <a:bodyPr wrap="square" lIns="0" tIns="0" rIns="0" bIns="0" anchor="t">
            <a:spAutoFit/>
          </a:bodyPr>
          <a:lstStyle/>
          <a:p>
            <a:pPr algn="l">
              <a:lnSpc>
                <a:spcPct val="112000"/>
              </a:lnSpc>
              <a:spcAft>
                <a:spcPts val="900"/>
              </a:spcAft>
            </a:pPr>
            <a:r>
              <a:rPr sz="1250" b="1">
                <a:solidFill>
                  <a:srgbClr val="178A73"/>
                </a:solidFill>
                <a:latin typeface="Times New Roman"/>
              </a:rPr>
              <a:t>▸  </a:t>
            </a:r>
            <a:r>
              <a:rPr sz="1250" b="1">
                <a:solidFill>
                  <a:srgbClr val="178A73"/>
                </a:solidFill>
                <a:latin typeface="Consolas"/>
              </a:rPr>
              <a:t>BINARY_PATH_NAME</a:t>
            </a:r>
            <a:r>
              <a:rPr sz="1250">
                <a:solidFill>
                  <a:srgbClr val="202A38"/>
                </a:solidFill>
                <a:latin typeface="Times New Roman"/>
              </a:rPr>
              <a:t> — the file path. If unquoted and contains spaces — it may be an </a:t>
            </a:r>
            <a:r>
              <a:rPr sz="1250" b="1">
                <a:solidFill>
                  <a:srgbClr val="1F3864"/>
                </a:solidFill>
                <a:latin typeface="Times New Roman"/>
              </a:rPr>
              <a:t>unquoted service path</a:t>
            </a:r>
            <a:r>
              <a:rPr sz="1250">
                <a:solidFill>
                  <a:srgbClr val="202A38"/>
                </a:solidFill>
                <a:latin typeface="Times New Roman"/>
              </a:rPr>
              <a:t> vulnerability.</a:t>
            </a:r>
          </a:p>
          <a:p>
            <a:pPr algn="l">
              <a:lnSpc>
                <a:spcPct val="112000"/>
              </a:lnSpc>
              <a:spcAft>
                <a:spcPts val="900"/>
              </a:spcAft>
            </a:pPr>
            <a:r>
              <a:rPr sz="1250" b="1">
                <a:solidFill>
                  <a:srgbClr val="178A73"/>
                </a:solidFill>
                <a:latin typeface="Times New Roman"/>
              </a:rPr>
              <a:t>▸  </a:t>
            </a:r>
            <a:r>
              <a:rPr sz="1250" b="1">
                <a:solidFill>
                  <a:srgbClr val="178A73"/>
                </a:solidFill>
                <a:latin typeface="Consolas"/>
              </a:rPr>
              <a:t>SERVICE_START_NAME</a:t>
            </a:r>
            <a:r>
              <a:rPr sz="1250">
                <a:solidFill>
                  <a:srgbClr val="202A38"/>
                </a:solidFill>
                <a:latin typeface="Times New Roman"/>
              </a:rPr>
              <a:t> — shows which account the service runs under.</a:t>
            </a:r>
          </a:p>
          <a:p>
            <a:pPr algn="l">
              <a:lnSpc>
                <a:spcPct val="112000"/>
              </a:lnSpc>
              <a:spcAft>
                <a:spcPts val="900"/>
              </a:spcAft>
            </a:pPr>
            <a:r>
              <a:rPr sz="1250" b="1">
                <a:solidFill>
                  <a:srgbClr val="178A73"/>
                </a:solidFill>
                <a:latin typeface="Times New Roman"/>
              </a:rPr>
              <a:t>▸  </a:t>
            </a:r>
            <a:r>
              <a:rPr sz="1250">
                <a:solidFill>
                  <a:srgbClr val="202A38"/>
                </a:solidFill>
                <a:latin typeface="Times New Roman"/>
              </a:rPr>
              <a:t>In forensics and ethical hacking, </a:t>
            </a:r>
            <a:r>
              <a:rPr sz="1250" b="1">
                <a:solidFill>
                  <a:srgbClr val="178A73"/>
                </a:solidFill>
                <a:latin typeface="Consolas"/>
              </a:rPr>
              <a:t>sc qc</a:t>
            </a:r>
            <a:r>
              <a:rPr sz="1250">
                <a:solidFill>
                  <a:srgbClr val="202A38"/>
                </a:solidFill>
                <a:latin typeface="Times New Roman"/>
              </a:rPr>
              <a:t> is one of the first commands to check.</a:t>
            </a:r>
          </a:p>
        </p:txBody>
      </p:sp>
      <p:sp>
        <p:nvSpPr>
          <p:cNvPr id="9" name="Rounded Rectangle 8"/>
          <p:cNvSpPr/>
          <p:nvPr/>
        </p:nvSpPr>
        <p:spPr>
          <a:xfrm>
            <a:off x="566928" y="4069080"/>
            <a:ext cx="5440680" cy="1234440"/>
          </a:xfrm>
          <a:prstGeom prst="roundRect">
            <a:avLst>
              <a:gd name="adj" fmla="val 5000"/>
            </a:avLst>
          </a:prstGeom>
          <a:solidFill>
            <a:srgbClr val="E3F3EE"/>
          </a:solidFill>
          <a:ln w="1270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4279392"/>
            <a:ext cx="640080" cy="64008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hield_FFFFFF.png"/>
          <p:cNvPicPr>
            <a:picLocks noChangeAspect="1"/>
          </p:cNvPicPr>
          <p:nvPr/>
        </p:nvPicPr>
        <p:blipFill>
          <a:blip r:embed="rId3"/>
          <a:stretch>
            <a:fillRect/>
          </a:stretch>
        </p:blipFill>
        <p:spPr>
          <a:xfrm>
            <a:off x="956462" y="4458614"/>
            <a:ext cx="281636" cy="281636"/>
          </a:xfrm>
          <a:prstGeom prst="rect">
            <a:avLst/>
          </a:prstGeom>
        </p:spPr>
      </p:pic>
      <p:sp>
        <p:nvSpPr>
          <p:cNvPr id="12" name="TextBox 11"/>
          <p:cNvSpPr txBox="1"/>
          <p:nvPr/>
        </p:nvSpPr>
        <p:spPr>
          <a:xfrm>
            <a:off x="1554480" y="4224528"/>
            <a:ext cx="4297680" cy="1005840"/>
          </a:xfrm>
          <a:prstGeom prst="rect">
            <a:avLst/>
          </a:prstGeom>
          <a:noFill/>
        </p:spPr>
        <p:txBody>
          <a:bodyPr wrap="square" lIns="0" tIns="0" rIns="0" bIns="0" anchor="ctr">
            <a:spAutoFit/>
          </a:bodyPr>
          <a:lstStyle/>
          <a:p>
            <a:pPr algn="l">
              <a:lnSpc>
                <a:spcPct val="115000"/>
              </a:lnSpc>
              <a:spcAft>
                <a:spcPts val="400"/>
              </a:spcAft>
            </a:pPr>
            <a:r>
              <a:rPr sz="1200" b="1">
                <a:solidFill>
                  <a:srgbClr val="1F3864"/>
                </a:solidFill>
                <a:latin typeface="Times New Roman"/>
              </a:rPr>
              <a:t>Blue Team</a:t>
            </a:r>
            <a:r>
              <a:rPr sz="1200">
                <a:solidFill>
                  <a:srgbClr val="202A38"/>
                </a:solidFill>
                <a:latin typeface="Times New Roman"/>
              </a:rPr>
              <a:t>: sets unnecessary services to </a:t>
            </a:r>
            <a:r>
              <a:rPr sz="1200" b="1">
                <a:solidFill>
                  <a:srgbClr val="178A73"/>
                </a:solidFill>
                <a:latin typeface="Consolas"/>
              </a:rPr>
              <a:t>Disabled</a:t>
            </a:r>
            <a:r>
              <a:rPr sz="1200">
                <a:solidFill>
                  <a:srgbClr val="202A38"/>
                </a:solidFill>
                <a:latin typeface="Times New Roman"/>
              </a:rPr>
              <a:t> to reduce the attack surface.</a:t>
            </a:r>
          </a:p>
        </p:txBody>
      </p:sp>
      <p:sp>
        <p:nvSpPr>
          <p:cNvPr id="13" name="Rounded Rectangle 12"/>
          <p:cNvSpPr/>
          <p:nvPr/>
        </p:nvSpPr>
        <p:spPr>
          <a:xfrm>
            <a:off x="6190488" y="4069080"/>
            <a:ext cx="5440680" cy="1234440"/>
          </a:xfrm>
          <a:prstGeom prst="roundRect">
            <a:avLst>
              <a:gd name="adj" fmla="val 5000"/>
            </a:avLst>
          </a:prstGeom>
          <a:solidFill>
            <a:srgbClr val="FBECE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00800" y="4279392"/>
            <a:ext cx="640080" cy="6400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bug_FFFFFF.png"/>
          <p:cNvPicPr>
            <a:picLocks noChangeAspect="1"/>
          </p:cNvPicPr>
          <p:nvPr/>
        </p:nvPicPr>
        <p:blipFill>
          <a:blip r:embed="rId4"/>
          <a:stretch>
            <a:fillRect/>
          </a:stretch>
        </p:blipFill>
        <p:spPr>
          <a:xfrm>
            <a:off x="6580022" y="4458614"/>
            <a:ext cx="281636" cy="281636"/>
          </a:xfrm>
          <a:prstGeom prst="rect">
            <a:avLst/>
          </a:prstGeom>
        </p:spPr>
      </p:pic>
      <p:sp>
        <p:nvSpPr>
          <p:cNvPr id="16" name="TextBox 15"/>
          <p:cNvSpPr txBox="1"/>
          <p:nvPr/>
        </p:nvSpPr>
        <p:spPr>
          <a:xfrm>
            <a:off x="7178040" y="4224528"/>
            <a:ext cx="4297680" cy="1005840"/>
          </a:xfrm>
          <a:prstGeom prst="rect">
            <a:avLst/>
          </a:prstGeom>
          <a:noFill/>
        </p:spPr>
        <p:txBody>
          <a:bodyPr wrap="square" lIns="0" tIns="0" rIns="0" bIns="0" anchor="ctr">
            <a:spAutoFit/>
          </a:bodyPr>
          <a:lstStyle/>
          <a:p>
            <a:pPr algn="l">
              <a:lnSpc>
                <a:spcPct val="115000"/>
              </a:lnSpc>
              <a:spcAft>
                <a:spcPts val="400"/>
              </a:spcAft>
            </a:pPr>
            <a:r>
              <a:rPr sz="1200" b="1">
                <a:solidFill>
                  <a:srgbClr val="C0392B"/>
                </a:solidFill>
                <a:latin typeface="Times New Roman"/>
              </a:rPr>
              <a:t>Red Team / Forensics</a:t>
            </a:r>
            <a:r>
              <a:rPr sz="1200">
                <a:solidFill>
                  <a:srgbClr val="202A38"/>
                </a:solidFill>
                <a:latin typeface="Times New Roman"/>
              </a:rPr>
              <a:t>: hunts for newly created or misconfigured services.</a:t>
            </a:r>
          </a:p>
        </p:txBody>
      </p:sp>
      <p:sp>
        <p:nvSpPr>
          <p:cNvPr id="17" name="TextBox 16"/>
          <p:cNvSpPr txBox="1"/>
          <p:nvPr/>
        </p:nvSpPr>
        <p:spPr>
          <a:xfrm>
            <a:off x="566928" y="5532120"/>
            <a:ext cx="5486400" cy="320040"/>
          </a:xfrm>
          <a:prstGeom prst="rect">
            <a:avLst/>
          </a:prstGeom>
          <a:noFill/>
        </p:spPr>
        <p:txBody>
          <a:bodyPr wrap="square" lIns="0" tIns="0" rIns="0" bIns="0" anchor="t">
            <a:spAutoFit/>
          </a:bodyPr>
          <a:lstStyle/>
          <a:p>
            <a:pPr algn="l">
              <a:lnSpc>
                <a:spcPct val="112000"/>
              </a:lnSpc>
              <a:spcAft>
                <a:spcPts val="200"/>
              </a:spcAft>
            </a:pPr>
            <a:r>
              <a:rPr sz="1200" b="0" i="1">
                <a:solidFill>
                  <a:srgbClr val="54647A"/>
                </a:solidFill>
                <a:latin typeface="Times New Roman"/>
              </a:rPr>
              <a:t>Terms (click for explanation):</a:t>
            </a:r>
          </a:p>
        </p:txBody>
      </p:sp>
      <p:sp>
        <p:nvSpPr>
          <p:cNvPr id="18" name="Rounded Rectangle 17">
            <a:hlinkClick r:id="rId5" action="ppaction://hlinksldjump"/>
          </p:cNvPr>
          <p:cNvSpPr/>
          <p:nvPr/>
        </p:nvSpPr>
        <p:spPr>
          <a:xfrm>
            <a:off x="566928" y="5852160"/>
            <a:ext cx="2665476" cy="457200"/>
          </a:xfrm>
          <a:prstGeom prst="roundRect">
            <a:avLst>
              <a:gd name="adj" fmla="val 50000"/>
            </a:avLst>
          </a:prstGeom>
          <a:solidFill>
            <a:srgbClr val="E3F3EE"/>
          </a:solidFill>
          <a:ln w="12700">
            <a:solidFill>
              <a:srgbClr val="178A7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78A73"/>
                </a:solidFill>
                <a:latin typeface="Times New Roman"/>
              </a:rPr>
              <a:t>?  Unquoted service path</a:t>
            </a:r>
          </a:p>
        </p:txBody>
      </p:sp>
      <p:sp>
        <p:nvSpPr>
          <p:cNvPr id="19" name="Rounded Rectangle 18">
            <a:hlinkClick r:id="rId6" action="ppaction://hlinksldjump"/>
          </p:cNvPr>
          <p:cNvSpPr/>
          <p:nvPr/>
        </p:nvSpPr>
        <p:spPr>
          <a:xfrm>
            <a:off x="3461004" y="5852160"/>
            <a:ext cx="1719072" cy="457200"/>
          </a:xfrm>
          <a:prstGeom prst="roundRect">
            <a:avLst>
              <a:gd name="adj" fmla="val 50000"/>
            </a:avLst>
          </a:prstGeom>
          <a:solidFill>
            <a:srgbClr val="E3F3EE"/>
          </a:solidFill>
          <a:ln w="12700">
            <a:solidFill>
              <a:srgbClr val="178A7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78A73"/>
                </a:solidFill>
                <a:latin typeface="Times New Roman"/>
              </a:rPr>
              <a:t>?  MITRE ATT&amp;CK</a:t>
            </a:r>
          </a:p>
        </p:txBody>
      </p:sp>
      <p:sp>
        <p:nvSpPr>
          <p:cNvPr id="20" name="Rounded Rectangle 19">
            <a:hlinkClick r:id="rId7" action="ppaction://hlinksldjump"/>
          </p:cNvPr>
          <p:cNvSpPr/>
          <p:nvPr/>
        </p:nvSpPr>
        <p:spPr>
          <a:xfrm>
            <a:off x="5408676" y="5852160"/>
            <a:ext cx="1088136" cy="457200"/>
          </a:xfrm>
          <a:prstGeom prst="roundRect">
            <a:avLst>
              <a:gd name="adj" fmla="val 50000"/>
            </a:avLst>
          </a:prstGeom>
          <a:solidFill>
            <a:srgbClr val="E3F3EE"/>
          </a:solidFill>
          <a:ln w="12700">
            <a:solidFill>
              <a:srgbClr val="178A7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78A73"/>
                </a:solidFill>
                <a:latin typeface="Times New Roman"/>
              </a:rPr>
              <a:t>?  cmdlet</a:t>
            </a:r>
          </a:p>
        </p:txBody>
      </p:sp>
      <p:sp>
        <p:nvSpPr>
          <p:cNvPr id="21" name="TextBox 20"/>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22" name="Oval 21"/>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WRAP-UP</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700" b="1" i="0">
                <a:solidFill>
                  <a:srgbClr val="1F3864"/>
                </a:solidFill>
                <a:latin typeface="Times New Roman"/>
              </a:rPr>
              <a:t>Summary</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83080"/>
            <a:ext cx="11064240" cy="786384"/>
          </a:xfrm>
          <a:prstGeom prst="roundRect">
            <a:avLst>
              <a:gd name="adj" fmla="val 10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1901952"/>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gear_FFFFFF.png"/>
          <p:cNvPicPr>
            <a:picLocks noChangeAspect="1"/>
          </p:cNvPicPr>
          <p:nvPr/>
        </p:nvPicPr>
        <p:blipFill>
          <a:blip r:embed="rId3"/>
          <a:stretch>
            <a:fillRect/>
          </a:stretch>
        </p:blipFill>
        <p:spPr>
          <a:xfrm>
            <a:off x="885139" y="2055571"/>
            <a:ext cx="241402" cy="241402"/>
          </a:xfrm>
          <a:prstGeom prst="rect">
            <a:avLst/>
          </a:prstGeom>
        </p:spPr>
      </p:pic>
      <p:sp>
        <p:nvSpPr>
          <p:cNvPr id="9" name="TextBox 8"/>
          <p:cNvSpPr txBox="1"/>
          <p:nvPr/>
        </p:nvSpPr>
        <p:spPr>
          <a:xfrm>
            <a:off x="1508760" y="1783080"/>
            <a:ext cx="9875520" cy="786384"/>
          </a:xfrm>
          <a:prstGeom prst="rect">
            <a:avLst/>
          </a:prstGeom>
          <a:noFill/>
        </p:spPr>
        <p:txBody>
          <a:bodyPr wrap="square" lIns="0" tIns="0" rIns="0" bIns="0" anchor="ctr">
            <a:spAutoFit/>
          </a:bodyPr>
          <a:lstStyle/>
          <a:p>
            <a:pPr algn="l">
              <a:lnSpc>
                <a:spcPct val="105000"/>
              </a:lnSpc>
              <a:spcAft>
                <a:spcPts val="200"/>
              </a:spcAft>
            </a:pPr>
            <a:r>
              <a:rPr sz="1350" b="0" i="0">
                <a:solidFill>
                  <a:srgbClr val="202A38"/>
                </a:solidFill>
                <a:latin typeface="Times New Roman"/>
              </a:rPr>
              <a:t>Windows services — programs that run automatically in the background under special system accounts.</a:t>
            </a:r>
          </a:p>
        </p:txBody>
      </p:sp>
      <p:sp>
        <p:nvSpPr>
          <p:cNvPr id="10" name="Rounded Rectangle 9"/>
          <p:cNvSpPr/>
          <p:nvPr/>
        </p:nvSpPr>
        <p:spPr>
          <a:xfrm>
            <a:off x="566928" y="2642616"/>
            <a:ext cx="11064240" cy="786384"/>
          </a:xfrm>
          <a:prstGeom prst="roundRect">
            <a:avLst>
              <a:gd name="adj" fmla="val 10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31520" y="2761488"/>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pu_FFFFFF.png"/>
          <p:cNvPicPr>
            <a:picLocks noChangeAspect="1"/>
          </p:cNvPicPr>
          <p:nvPr/>
        </p:nvPicPr>
        <p:blipFill>
          <a:blip r:embed="rId4"/>
          <a:stretch>
            <a:fillRect/>
          </a:stretch>
        </p:blipFill>
        <p:spPr>
          <a:xfrm>
            <a:off x="885139" y="2915107"/>
            <a:ext cx="241402" cy="241402"/>
          </a:xfrm>
          <a:prstGeom prst="rect">
            <a:avLst/>
          </a:prstGeom>
        </p:spPr>
      </p:pic>
      <p:sp>
        <p:nvSpPr>
          <p:cNvPr id="13" name="TextBox 12"/>
          <p:cNvSpPr txBox="1"/>
          <p:nvPr/>
        </p:nvSpPr>
        <p:spPr>
          <a:xfrm>
            <a:off x="1508760" y="2642616"/>
            <a:ext cx="9875520" cy="786384"/>
          </a:xfrm>
          <a:prstGeom prst="rect">
            <a:avLst/>
          </a:prstGeom>
          <a:noFill/>
        </p:spPr>
        <p:txBody>
          <a:bodyPr wrap="square" lIns="0" tIns="0" rIns="0" bIns="0" anchor="ctr">
            <a:spAutoFit/>
          </a:bodyPr>
          <a:lstStyle/>
          <a:p>
            <a:pPr algn="l">
              <a:lnSpc>
                <a:spcPct val="105000"/>
              </a:lnSpc>
              <a:spcAft>
                <a:spcPts val="200"/>
              </a:spcAft>
            </a:pPr>
            <a:r>
              <a:rPr sz="1350" b="0" i="0">
                <a:solidFill>
                  <a:srgbClr val="202A38"/>
                </a:solidFill>
                <a:latin typeface="Times New Roman"/>
              </a:rPr>
              <a:t>All services are managed by the Service Control Manager (SCM); the list is stored in the registry.</a:t>
            </a:r>
          </a:p>
        </p:txBody>
      </p:sp>
      <p:sp>
        <p:nvSpPr>
          <p:cNvPr id="14" name="Rounded Rectangle 13"/>
          <p:cNvSpPr/>
          <p:nvPr/>
        </p:nvSpPr>
        <p:spPr>
          <a:xfrm>
            <a:off x="566928" y="3502152"/>
            <a:ext cx="11064240" cy="786384"/>
          </a:xfrm>
          <a:prstGeom prst="roundRect">
            <a:avLst>
              <a:gd name="adj" fmla="val 10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31520" y="3621024"/>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terminal_FFFFFF.png"/>
          <p:cNvPicPr>
            <a:picLocks noChangeAspect="1"/>
          </p:cNvPicPr>
          <p:nvPr/>
        </p:nvPicPr>
        <p:blipFill>
          <a:blip r:embed="rId5"/>
          <a:stretch>
            <a:fillRect/>
          </a:stretch>
        </p:blipFill>
        <p:spPr>
          <a:xfrm>
            <a:off x="885139" y="3774643"/>
            <a:ext cx="241402" cy="241402"/>
          </a:xfrm>
          <a:prstGeom prst="rect">
            <a:avLst/>
          </a:prstGeom>
        </p:spPr>
      </p:pic>
      <p:sp>
        <p:nvSpPr>
          <p:cNvPr id="17" name="TextBox 16"/>
          <p:cNvSpPr txBox="1"/>
          <p:nvPr/>
        </p:nvSpPr>
        <p:spPr>
          <a:xfrm>
            <a:off x="1508760" y="3502152"/>
            <a:ext cx="9875520" cy="786384"/>
          </a:xfrm>
          <a:prstGeom prst="rect">
            <a:avLst/>
          </a:prstGeom>
          <a:noFill/>
        </p:spPr>
        <p:txBody>
          <a:bodyPr wrap="square" lIns="0" tIns="0" rIns="0" bIns="0" anchor="ctr">
            <a:spAutoFit/>
          </a:bodyPr>
          <a:lstStyle/>
          <a:p>
            <a:pPr algn="l">
              <a:lnSpc>
                <a:spcPct val="105000"/>
              </a:lnSpc>
              <a:spcAft>
                <a:spcPts val="200"/>
              </a:spcAft>
            </a:pPr>
            <a:r>
              <a:rPr sz="1350" b="0" i="0">
                <a:solidFill>
                  <a:srgbClr val="202A38"/>
                </a:solidFill>
                <a:latin typeface="Times New Roman"/>
              </a:rPr>
              <a:t>Three ways to manage them: GUI (services.msc), CMD (sc.exe), PowerShell (cmdlets).</a:t>
            </a:r>
          </a:p>
        </p:txBody>
      </p:sp>
      <p:sp>
        <p:nvSpPr>
          <p:cNvPr id="18" name="Rounded Rectangle 17"/>
          <p:cNvSpPr/>
          <p:nvPr/>
        </p:nvSpPr>
        <p:spPr>
          <a:xfrm>
            <a:off x="566928" y="4361688"/>
            <a:ext cx="11064240" cy="786384"/>
          </a:xfrm>
          <a:prstGeom prst="roundRect">
            <a:avLst>
              <a:gd name="adj" fmla="val 10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31520" y="4480560"/>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warning_FFFFFF.png"/>
          <p:cNvPicPr>
            <a:picLocks noChangeAspect="1"/>
          </p:cNvPicPr>
          <p:nvPr/>
        </p:nvPicPr>
        <p:blipFill>
          <a:blip r:embed="rId6"/>
          <a:stretch>
            <a:fillRect/>
          </a:stretch>
        </p:blipFill>
        <p:spPr>
          <a:xfrm>
            <a:off x="885139" y="4634179"/>
            <a:ext cx="241402" cy="241402"/>
          </a:xfrm>
          <a:prstGeom prst="rect">
            <a:avLst/>
          </a:prstGeom>
        </p:spPr>
      </p:pic>
      <p:sp>
        <p:nvSpPr>
          <p:cNvPr id="21" name="TextBox 20"/>
          <p:cNvSpPr txBox="1"/>
          <p:nvPr/>
        </p:nvSpPr>
        <p:spPr>
          <a:xfrm>
            <a:off x="1508760" y="4361688"/>
            <a:ext cx="9875520" cy="786384"/>
          </a:xfrm>
          <a:prstGeom prst="rect">
            <a:avLst/>
          </a:prstGeom>
          <a:noFill/>
        </p:spPr>
        <p:txBody>
          <a:bodyPr wrap="square" lIns="0" tIns="0" rIns="0" bIns="0" anchor="ctr">
            <a:spAutoFit/>
          </a:bodyPr>
          <a:lstStyle/>
          <a:p>
            <a:pPr algn="l">
              <a:lnSpc>
                <a:spcPct val="105000"/>
              </a:lnSpc>
              <a:spcAft>
                <a:spcPts val="200"/>
              </a:spcAft>
            </a:pPr>
            <a:r>
              <a:rPr sz="1350" b="0" i="0">
                <a:solidFill>
                  <a:srgbClr val="202A38"/>
                </a:solidFill>
                <a:latin typeface="Times New Roman"/>
              </a:rPr>
              <a:t>A misconfigured service is a risk for privilege escalation and persistence.</a:t>
            </a:r>
          </a:p>
        </p:txBody>
      </p:sp>
      <p:sp>
        <p:nvSpPr>
          <p:cNvPr id="22" name="Rounded Rectangle 21"/>
          <p:cNvSpPr/>
          <p:nvPr/>
        </p:nvSpPr>
        <p:spPr>
          <a:xfrm>
            <a:off x="566928" y="5221224"/>
            <a:ext cx="11064240" cy="786384"/>
          </a:xfrm>
          <a:prstGeom prst="roundRect">
            <a:avLst>
              <a:gd name="adj" fmla="val 10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31520" y="5340096"/>
            <a:ext cx="548640" cy="548640"/>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layers_FFFFFF.png"/>
          <p:cNvPicPr>
            <a:picLocks noChangeAspect="1"/>
          </p:cNvPicPr>
          <p:nvPr/>
        </p:nvPicPr>
        <p:blipFill>
          <a:blip r:embed="rId7"/>
          <a:stretch>
            <a:fillRect/>
          </a:stretch>
        </p:blipFill>
        <p:spPr>
          <a:xfrm>
            <a:off x="885139" y="5493715"/>
            <a:ext cx="241402" cy="241402"/>
          </a:xfrm>
          <a:prstGeom prst="rect">
            <a:avLst/>
          </a:prstGeom>
        </p:spPr>
      </p:pic>
      <p:sp>
        <p:nvSpPr>
          <p:cNvPr id="25" name="TextBox 24"/>
          <p:cNvSpPr txBox="1"/>
          <p:nvPr/>
        </p:nvSpPr>
        <p:spPr>
          <a:xfrm>
            <a:off x="1508760" y="5221224"/>
            <a:ext cx="9875520" cy="786384"/>
          </a:xfrm>
          <a:prstGeom prst="rect">
            <a:avLst/>
          </a:prstGeom>
          <a:noFill/>
        </p:spPr>
        <p:txBody>
          <a:bodyPr wrap="square" lIns="0" tIns="0" rIns="0" bIns="0" anchor="ctr">
            <a:spAutoFit/>
          </a:bodyPr>
          <a:lstStyle/>
          <a:p>
            <a:pPr algn="l">
              <a:lnSpc>
                <a:spcPct val="105000"/>
              </a:lnSpc>
              <a:spcAft>
                <a:spcPts val="200"/>
              </a:spcAft>
            </a:pPr>
            <a:r>
              <a:rPr sz="1350" b="0" i="0">
                <a:solidFill>
                  <a:srgbClr val="202A38"/>
                </a:solidFill>
                <a:latin typeface="Times New Roman"/>
              </a:rPr>
              <a:t>This knowledge is the foundation for later topics (malware analysis, network monitoring).</a:t>
            </a:r>
          </a:p>
        </p:txBody>
      </p:sp>
      <p:sp>
        <p:nvSpPr>
          <p:cNvPr id="26" name="TextBox 25"/>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27" name="Oval 26"/>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WRAP-UP</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600" b="1" i="0">
                <a:solidFill>
                  <a:srgbClr val="1F3864"/>
                </a:solidFill>
                <a:latin typeface="Times New Roman"/>
              </a:rPr>
              <a:t>Review questions — Lesson 1</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83080"/>
            <a:ext cx="5394960" cy="914400"/>
          </a:xfrm>
          <a:prstGeom prst="roundRect">
            <a:avLst>
              <a:gd name="adj" fmla="val 8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9808" y="2002536"/>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1</a:t>
            </a:r>
          </a:p>
        </p:txBody>
      </p:sp>
      <p:sp>
        <p:nvSpPr>
          <p:cNvPr id="8" name="TextBox 7"/>
          <p:cNvSpPr txBox="1"/>
          <p:nvPr/>
        </p:nvSpPr>
        <p:spPr>
          <a:xfrm>
            <a:off x="1389888" y="1783080"/>
            <a:ext cx="4434840" cy="914400"/>
          </a:xfrm>
          <a:prstGeom prst="rect">
            <a:avLst/>
          </a:prstGeom>
          <a:noFill/>
        </p:spPr>
        <p:txBody>
          <a:bodyPr wrap="square" lIns="0" tIns="0" rIns="0" bIns="0" anchor="ctr">
            <a:spAutoFit/>
          </a:bodyPr>
          <a:lstStyle/>
          <a:p>
            <a:pPr algn="l">
              <a:lnSpc>
                <a:spcPct val="108000"/>
              </a:lnSpc>
              <a:spcAft>
                <a:spcPts val="200"/>
              </a:spcAft>
            </a:pPr>
            <a:r>
              <a:rPr sz="1250" b="0" i="0">
                <a:solidFill>
                  <a:srgbClr val="202A38"/>
                </a:solidFill>
                <a:latin typeface="Times New Roman"/>
              </a:rPr>
              <a:t>How does a Windows service differ from an ordinary program?</a:t>
            </a:r>
          </a:p>
        </p:txBody>
      </p:sp>
      <p:sp>
        <p:nvSpPr>
          <p:cNvPr id="9" name="Rounded Rectangle 8"/>
          <p:cNvSpPr/>
          <p:nvPr/>
        </p:nvSpPr>
        <p:spPr>
          <a:xfrm>
            <a:off x="566928" y="2770632"/>
            <a:ext cx="5394960" cy="914400"/>
          </a:xfrm>
          <a:prstGeom prst="roundRect">
            <a:avLst>
              <a:gd name="adj" fmla="val 8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49808" y="2990088"/>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2</a:t>
            </a:r>
          </a:p>
        </p:txBody>
      </p:sp>
      <p:sp>
        <p:nvSpPr>
          <p:cNvPr id="11" name="TextBox 10"/>
          <p:cNvSpPr txBox="1"/>
          <p:nvPr/>
        </p:nvSpPr>
        <p:spPr>
          <a:xfrm>
            <a:off x="1389888" y="2770632"/>
            <a:ext cx="4434840" cy="914400"/>
          </a:xfrm>
          <a:prstGeom prst="rect">
            <a:avLst/>
          </a:prstGeom>
          <a:noFill/>
        </p:spPr>
        <p:txBody>
          <a:bodyPr wrap="square" lIns="0" tIns="0" rIns="0" bIns="0" anchor="ctr">
            <a:spAutoFit/>
          </a:bodyPr>
          <a:lstStyle/>
          <a:p>
            <a:pPr algn="l">
              <a:lnSpc>
                <a:spcPct val="108000"/>
              </a:lnSpc>
              <a:spcAft>
                <a:spcPts val="200"/>
              </a:spcAft>
            </a:pPr>
            <a:r>
              <a:rPr sz="1250" b="0" i="0">
                <a:solidFill>
                  <a:srgbClr val="202A38"/>
                </a:solidFill>
                <a:latin typeface="Times New Roman"/>
              </a:rPr>
              <a:t>What is the difference between the SYSTEM, LocalService and NetworkService accounts?</a:t>
            </a:r>
          </a:p>
        </p:txBody>
      </p:sp>
      <p:sp>
        <p:nvSpPr>
          <p:cNvPr id="12" name="Rounded Rectangle 11"/>
          <p:cNvSpPr/>
          <p:nvPr/>
        </p:nvSpPr>
        <p:spPr>
          <a:xfrm>
            <a:off x="566928" y="3758184"/>
            <a:ext cx="5394960" cy="914400"/>
          </a:xfrm>
          <a:prstGeom prst="roundRect">
            <a:avLst>
              <a:gd name="adj" fmla="val 8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49808" y="3977640"/>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3</a:t>
            </a:r>
          </a:p>
        </p:txBody>
      </p:sp>
      <p:sp>
        <p:nvSpPr>
          <p:cNvPr id="14" name="TextBox 13"/>
          <p:cNvSpPr txBox="1"/>
          <p:nvPr/>
        </p:nvSpPr>
        <p:spPr>
          <a:xfrm>
            <a:off x="1389888" y="3758184"/>
            <a:ext cx="4434840" cy="914400"/>
          </a:xfrm>
          <a:prstGeom prst="rect">
            <a:avLst/>
          </a:prstGeom>
          <a:noFill/>
        </p:spPr>
        <p:txBody>
          <a:bodyPr wrap="square" lIns="0" tIns="0" rIns="0" bIns="0" anchor="ctr">
            <a:spAutoFit/>
          </a:bodyPr>
          <a:lstStyle/>
          <a:p>
            <a:pPr algn="l">
              <a:lnSpc>
                <a:spcPct val="108000"/>
              </a:lnSpc>
              <a:spcAft>
                <a:spcPts val="200"/>
              </a:spcAft>
            </a:pPr>
            <a:r>
              <a:rPr sz="1250" b="0" i="0">
                <a:solidFill>
                  <a:srgbClr val="202A38"/>
                </a:solidFill>
                <a:latin typeface="Times New Roman"/>
              </a:rPr>
              <a:t>What functions does the SCM perform and where is it located?</a:t>
            </a:r>
          </a:p>
        </p:txBody>
      </p:sp>
      <p:sp>
        <p:nvSpPr>
          <p:cNvPr id="15" name="Rounded Rectangle 14"/>
          <p:cNvSpPr/>
          <p:nvPr/>
        </p:nvSpPr>
        <p:spPr>
          <a:xfrm>
            <a:off x="566928" y="4745736"/>
            <a:ext cx="5394960" cy="914400"/>
          </a:xfrm>
          <a:prstGeom prst="roundRect">
            <a:avLst>
              <a:gd name="adj" fmla="val 8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49808" y="4965192"/>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4</a:t>
            </a:r>
          </a:p>
        </p:txBody>
      </p:sp>
      <p:sp>
        <p:nvSpPr>
          <p:cNvPr id="17" name="TextBox 16"/>
          <p:cNvSpPr txBox="1"/>
          <p:nvPr/>
        </p:nvSpPr>
        <p:spPr>
          <a:xfrm>
            <a:off x="1389888" y="4745736"/>
            <a:ext cx="4434840" cy="914400"/>
          </a:xfrm>
          <a:prstGeom prst="rect">
            <a:avLst/>
          </a:prstGeom>
          <a:noFill/>
        </p:spPr>
        <p:txBody>
          <a:bodyPr wrap="square" lIns="0" tIns="0" rIns="0" bIns="0" anchor="ctr">
            <a:spAutoFit/>
          </a:bodyPr>
          <a:lstStyle/>
          <a:p>
            <a:pPr algn="l">
              <a:lnSpc>
                <a:spcPct val="108000"/>
              </a:lnSpc>
              <a:spcAft>
                <a:spcPts val="200"/>
              </a:spcAft>
            </a:pPr>
            <a:r>
              <a:rPr sz="1250" b="0" i="0">
                <a:solidFill>
                  <a:srgbClr val="202A38"/>
                </a:solidFill>
                <a:latin typeface="Times New Roman"/>
              </a:rPr>
              <a:t>Name the 4 startup types and explain when each is used.</a:t>
            </a:r>
          </a:p>
        </p:txBody>
      </p:sp>
      <p:sp>
        <p:nvSpPr>
          <p:cNvPr id="18" name="Rounded Rectangle 17"/>
          <p:cNvSpPr/>
          <p:nvPr/>
        </p:nvSpPr>
        <p:spPr>
          <a:xfrm>
            <a:off x="6190488" y="1783080"/>
            <a:ext cx="5394960" cy="914400"/>
          </a:xfrm>
          <a:prstGeom prst="roundRect">
            <a:avLst>
              <a:gd name="adj" fmla="val 8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73368" y="2002536"/>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5</a:t>
            </a:r>
          </a:p>
        </p:txBody>
      </p:sp>
      <p:sp>
        <p:nvSpPr>
          <p:cNvPr id="20" name="TextBox 19"/>
          <p:cNvSpPr txBox="1"/>
          <p:nvPr/>
        </p:nvSpPr>
        <p:spPr>
          <a:xfrm>
            <a:off x="7013448" y="1783080"/>
            <a:ext cx="4434840" cy="914400"/>
          </a:xfrm>
          <a:prstGeom prst="rect">
            <a:avLst/>
          </a:prstGeom>
          <a:noFill/>
        </p:spPr>
        <p:txBody>
          <a:bodyPr wrap="square" lIns="0" tIns="0" rIns="0" bIns="0" anchor="ctr">
            <a:spAutoFit/>
          </a:bodyPr>
          <a:lstStyle/>
          <a:p>
            <a:pPr algn="l">
              <a:lnSpc>
                <a:spcPct val="108000"/>
              </a:lnSpc>
              <a:spcAft>
                <a:spcPts val="200"/>
              </a:spcAft>
            </a:pPr>
            <a:r>
              <a:rPr sz="1250" b="0" i="0">
                <a:solidFill>
                  <a:srgbClr val="202A38"/>
                </a:solidFill>
                <a:latin typeface="Times New Roman"/>
              </a:rPr>
              <a:t>Why can a misconfigured service lead to privilege escalation?</a:t>
            </a:r>
          </a:p>
        </p:txBody>
      </p:sp>
      <p:sp>
        <p:nvSpPr>
          <p:cNvPr id="21" name="Rounded Rectangle 20"/>
          <p:cNvSpPr/>
          <p:nvPr/>
        </p:nvSpPr>
        <p:spPr>
          <a:xfrm>
            <a:off x="6190488" y="2770632"/>
            <a:ext cx="5394960" cy="914400"/>
          </a:xfrm>
          <a:prstGeom prst="roundRect">
            <a:avLst>
              <a:gd name="adj" fmla="val 8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373368" y="2990088"/>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6</a:t>
            </a:r>
          </a:p>
        </p:txBody>
      </p:sp>
      <p:sp>
        <p:nvSpPr>
          <p:cNvPr id="23" name="TextBox 22"/>
          <p:cNvSpPr txBox="1"/>
          <p:nvPr/>
        </p:nvSpPr>
        <p:spPr>
          <a:xfrm>
            <a:off x="7013448" y="2770632"/>
            <a:ext cx="4434840" cy="914400"/>
          </a:xfrm>
          <a:prstGeom prst="rect">
            <a:avLst/>
          </a:prstGeom>
          <a:noFill/>
        </p:spPr>
        <p:txBody>
          <a:bodyPr wrap="square" lIns="0" tIns="0" rIns="0" bIns="0" anchor="ctr">
            <a:spAutoFit/>
          </a:bodyPr>
          <a:lstStyle/>
          <a:p>
            <a:pPr algn="l">
              <a:lnSpc>
                <a:spcPct val="108000"/>
              </a:lnSpc>
              <a:spcAft>
                <a:spcPts val="200"/>
              </a:spcAft>
            </a:pPr>
            <a:r>
              <a:rPr sz="1250" b="0" i="0">
                <a:solidFill>
                  <a:srgbClr val="202A38"/>
                </a:solidFill>
                <a:latin typeface="Times New Roman"/>
              </a:rPr>
              <a:t>What is the difference between the sc query and sc config commands?</a:t>
            </a:r>
          </a:p>
        </p:txBody>
      </p:sp>
      <p:sp>
        <p:nvSpPr>
          <p:cNvPr id="24" name="Rounded Rectangle 23"/>
          <p:cNvSpPr/>
          <p:nvPr/>
        </p:nvSpPr>
        <p:spPr>
          <a:xfrm>
            <a:off x="6190488" y="3758184"/>
            <a:ext cx="5394960" cy="914400"/>
          </a:xfrm>
          <a:prstGeom prst="roundRect">
            <a:avLst>
              <a:gd name="adj" fmla="val 8000"/>
            </a:avLst>
          </a:prstGeom>
          <a:solidFill>
            <a:srgbClr val="FFFFFF"/>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373368" y="3977640"/>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7</a:t>
            </a:r>
          </a:p>
        </p:txBody>
      </p:sp>
      <p:sp>
        <p:nvSpPr>
          <p:cNvPr id="26" name="TextBox 25"/>
          <p:cNvSpPr txBox="1"/>
          <p:nvPr/>
        </p:nvSpPr>
        <p:spPr>
          <a:xfrm>
            <a:off x="7013448" y="3758184"/>
            <a:ext cx="4434840" cy="914400"/>
          </a:xfrm>
          <a:prstGeom prst="rect">
            <a:avLst/>
          </a:prstGeom>
          <a:noFill/>
        </p:spPr>
        <p:txBody>
          <a:bodyPr wrap="square" lIns="0" tIns="0" rIns="0" bIns="0" anchor="ctr">
            <a:spAutoFit/>
          </a:bodyPr>
          <a:lstStyle/>
          <a:p>
            <a:pPr algn="l">
              <a:lnSpc>
                <a:spcPct val="108000"/>
              </a:lnSpc>
              <a:spcAft>
                <a:spcPts val="200"/>
              </a:spcAft>
            </a:pPr>
            <a:r>
              <a:rPr sz="1250" b="0" i="0">
                <a:solidFill>
                  <a:srgbClr val="202A38"/>
                </a:solidFill>
                <a:latin typeface="Times New Roman"/>
              </a:rPr>
              <a:t>Why is checking services important in forensic analysis?</a:t>
            </a:r>
          </a:p>
        </p:txBody>
      </p:sp>
      <p:sp>
        <p:nvSpPr>
          <p:cNvPr id="27" name="TextBox 26"/>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28" name="Oval 27"/>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ankyou.png"/>
          <p:cNvPicPr>
            <a:picLocks noChangeAspect="1"/>
          </p:cNvPicPr>
          <p:nvPr/>
        </p:nvPicPr>
        <p:blipFill>
          <a:blip r:embed="rId2"/>
          <a:stretch>
            <a:fillRect/>
          </a:stretch>
        </p:blipFill>
        <p:spPr>
          <a:xfrm>
            <a:off x="0" y="0"/>
            <a:ext cx="12191695" cy="6858000"/>
          </a:xfrm>
          <a:prstGeom prst="rect">
            <a:avLst/>
          </a:prstGeom>
        </p:spPr>
      </p:pic>
      <p:pic>
        <p:nvPicPr>
          <p:cNvPr id="3" name="Picture 2" descr="image1.png"/>
          <p:cNvPicPr>
            <a:picLocks noChangeAspect="1"/>
          </p:cNvPicPr>
          <p:nvPr/>
        </p:nvPicPr>
        <p:blipFill>
          <a:blip r:embed="rId3"/>
          <a:stretch>
            <a:fillRect/>
          </a:stretch>
        </p:blipFill>
        <p:spPr>
          <a:xfrm>
            <a:off x="5230368" y="1234440"/>
            <a:ext cx="1737360" cy="1764792"/>
          </a:xfrm>
          <a:prstGeom prst="rect">
            <a:avLst/>
          </a:prstGeom>
        </p:spPr>
      </p:pic>
      <p:sp>
        <p:nvSpPr>
          <p:cNvPr id="4" name="Rectangle 3"/>
          <p:cNvSpPr/>
          <p:nvPr/>
        </p:nvSpPr>
        <p:spPr>
          <a:xfrm>
            <a:off x="4114800" y="3246120"/>
            <a:ext cx="3959352" cy="5080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3429000"/>
            <a:ext cx="11247120" cy="640080"/>
          </a:xfrm>
          <a:prstGeom prst="rect">
            <a:avLst/>
          </a:prstGeom>
          <a:noFill/>
        </p:spPr>
        <p:txBody>
          <a:bodyPr wrap="square" lIns="0" tIns="0" rIns="0" bIns="0" anchor="t">
            <a:spAutoFit/>
          </a:bodyPr>
          <a:lstStyle/>
          <a:p>
            <a:pPr algn="ctr">
              <a:lnSpc>
                <a:spcPct val="112000"/>
              </a:lnSpc>
              <a:spcAft>
                <a:spcPts val="200"/>
              </a:spcAft>
            </a:pPr>
            <a:r>
              <a:rPr sz="3200" b="1" i="0">
                <a:solidFill>
                  <a:srgbClr val="FFFFFF"/>
                </a:solidFill>
                <a:latin typeface="Times New Roman"/>
              </a:rPr>
              <a:t>THANK YOU FOR YOUR ATTENTION!</a:t>
            </a:r>
          </a:p>
        </p:txBody>
      </p:sp>
      <p:sp>
        <p:nvSpPr>
          <p:cNvPr id="6" name="TextBox 5"/>
          <p:cNvSpPr txBox="1"/>
          <p:nvPr/>
        </p:nvSpPr>
        <p:spPr>
          <a:xfrm>
            <a:off x="457200" y="4206240"/>
            <a:ext cx="11247120" cy="457200"/>
          </a:xfrm>
          <a:prstGeom prst="rect">
            <a:avLst/>
          </a:prstGeom>
          <a:noFill/>
        </p:spPr>
        <p:txBody>
          <a:bodyPr wrap="square" lIns="0" tIns="0" rIns="0" bIns="0" anchor="t">
            <a:spAutoFit/>
          </a:bodyPr>
          <a:lstStyle/>
          <a:p>
            <a:pPr algn="ctr">
              <a:lnSpc>
                <a:spcPct val="112000"/>
              </a:lnSpc>
              <a:spcAft>
                <a:spcPts val="200"/>
              </a:spcAft>
            </a:pPr>
            <a:r>
              <a:rPr sz="1600" b="0" i="1">
                <a:solidFill>
                  <a:srgbClr val="C7D6E6"/>
                </a:solidFill>
                <a:latin typeface="Times New Roman"/>
              </a:rPr>
              <a:t>Questions are welcome.</a:t>
            </a:r>
          </a:p>
        </p:txBody>
      </p:sp>
      <p:sp>
        <p:nvSpPr>
          <p:cNvPr id="7" name="TextBox 6"/>
          <p:cNvSpPr txBox="1"/>
          <p:nvPr/>
        </p:nvSpPr>
        <p:spPr>
          <a:xfrm>
            <a:off x="457200" y="5943600"/>
            <a:ext cx="11247120" cy="457200"/>
          </a:xfrm>
          <a:prstGeom prst="rect">
            <a:avLst/>
          </a:prstGeom>
          <a:noFill/>
        </p:spPr>
        <p:txBody>
          <a:bodyPr wrap="square" lIns="0" tIns="0" rIns="0" bIns="0" anchor="t">
            <a:spAutoFit/>
          </a:bodyPr>
          <a:lstStyle/>
          <a:p>
            <a:pPr algn="ctr">
              <a:lnSpc>
                <a:spcPct val="112000"/>
              </a:lnSpc>
              <a:spcAft>
                <a:spcPts val="200"/>
              </a:spcAft>
            </a:pPr>
            <a:r>
              <a:rPr sz="1300" b="0" i="1">
                <a:solidFill>
                  <a:srgbClr val="8FD9C4"/>
                </a:solidFill>
                <a:latin typeface="Times New Roman"/>
              </a:rPr>
              <a:t>Next section — glossary of terms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10058400" cy="320040"/>
          </a:xfrm>
          <a:prstGeom prst="rect">
            <a:avLst/>
          </a:prstGeom>
          <a:noFill/>
        </p:spPr>
        <p:txBody>
          <a:bodyPr wrap="square" lIns="0" tIns="0" rIns="0" bIns="0" anchor="t">
            <a:spAutoFit/>
          </a:bodyPr>
          <a:lstStyle/>
          <a:p>
            <a:pPr algn="l">
              <a:lnSpc>
                <a:spcPct val="112000"/>
              </a:lnSpc>
              <a:spcAft>
                <a:spcPts val="200"/>
              </a:spcAft>
            </a:pPr>
            <a:r>
              <a:rPr sz="1300" b="1" i="0">
                <a:solidFill>
                  <a:srgbClr val="178A73"/>
                </a:solidFill>
                <a:latin typeface="Times New Roman"/>
              </a:rPr>
              <a:t>GLOSSARY</a:t>
            </a:r>
          </a:p>
        </p:txBody>
      </p:sp>
      <p:sp>
        <p:nvSpPr>
          <p:cNvPr id="4" name="TextBox 3"/>
          <p:cNvSpPr txBox="1"/>
          <p:nvPr/>
        </p:nvSpPr>
        <p:spPr>
          <a:xfrm>
            <a:off x="566928" y="676656"/>
            <a:ext cx="11155680" cy="868680"/>
          </a:xfrm>
          <a:prstGeom prst="rect">
            <a:avLst/>
          </a:prstGeom>
          <a:noFill/>
        </p:spPr>
        <p:txBody>
          <a:bodyPr wrap="square" lIns="0" tIns="0" rIns="0" bIns="0" anchor="t">
            <a:spAutoFit/>
          </a:bodyPr>
          <a:lstStyle/>
          <a:p>
            <a:pPr algn="l">
              <a:lnSpc>
                <a:spcPct val="102000"/>
              </a:lnSpc>
              <a:spcAft>
                <a:spcPts val="200"/>
              </a:spcAft>
            </a:pPr>
            <a:r>
              <a:rPr sz="2400" b="1" i="0">
                <a:solidFill>
                  <a:srgbClr val="1F3864"/>
                </a:solidFill>
                <a:latin typeface="Times New Roman"/>
              </a:rPr>
              <a:t>Glossary — this section explains the following</a:t>
            </a:r>
          </a:p>
        </p:txBody>
      </p:sp>
      <p:sp>
        <p:nvSpPr>
          <p:cNvPr id="5" name="Rectangle 4"/>
          <p:cNvSpPr/>
          <p:nvPr/>
        </p:nvSpPr>
        <p:spPr>
          <a:xfrm>
            <a:off x="585216" y="1371600"/>
            <a:ext cx="960120" cy="40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783080"/>
            <a:ext cx="274320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9808" y="1984248"/>
            <a:ext cx="566928" cy="566928"/>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gear_FFFFFF.png"/>
          <p:cNvPicPr>
            <a:picLocks noChangeAspect="1"/>
          </p:cNvPicPr>
          <p:nvPr/>
        </p:nvPicPr>
        <p:blipFill>
          <a:blip r:embed="rId3"/>
          <a:stretch>
            <a:fillRect/>
          </a:stretch>
        </p:blipFill>
        <p:spPr>
          <a:xfrm>
            <a:off x="908547" y="2142987"/>
            <a:ext cx="249450" cy="249450"/>
          </a:xfrm>
          <a:prstGeom prst="rect">
            <a:avLst/>
          </a:prstGeom>
        </p:spPr>
      </p:pic>
      <p:sp>
        <p:nvSpPr>
          <p:cNvPr id="9" name="TextBox 8"/>
          <p:cNvSpPr txBox="1"/>
          <p:nvPr/>
        </p:nvSpPr>
        <p:spPr>
          <a:xfrm>
            <a:off x="1435608" y="1965960"/>
            <a:ext cx="1783080" cy="548640"/>
          </a:xfrm>
          <a:prstGeom prst="rect">
            <a:avLst/>
          </a:prstGeom>
          <a:noFill/>
        </p:spPr>
        <p:txBody>
          <a:bodyPr wrap="square" lIns="0" tIns="0" rIns="0" bIns="0" anchor="t">
            <a:spAutoFit/>
          </a:bodyPr>
          <a:lstStyle/>
          <a:p>
            <a:pPr algn="l">
              <a:lnSpc>
                <a:spcPct val="100000"/>
              </a:lnSpc>
              <a:spcAft>
                <a:spcPts val="200"/>
              </a:spcAft>
            </a:pPr>
            <a:r>
              <a:rPr sz="1250" b="1" i="0">
                <a:solidFill>
                  <a:srgbClr val="1F3864"/>
                </a:solidFill>
                <a:latin typeface="Times New Roman"/>
              </a:rPr>
              <a:t>Service</a:t>
            </a:r>
          </a:p>
        </p:txBody>
      </p:sp>
      <p:sp>
        <p:nvSpPr>
          <p:cNvPr id="10" name="TextBox 9"/>
          <p:cNvSpPr txBox="1"/>
          <p:nvPr/>
        </p:nvSpPr>
        <p:spPr>
          <a:xfrm>
            <a:off x="749808" y="2624328"/>
            <a:ext cx="2468880" cy="365760"/>
          </a:xfrm>
          <a:prstGeom prst="rect">
            <a:avLst/>
          </a:prstGeom>
          <a:noFill/>
        </p:spPr>
        <p:txBody>
          <a:bodyPr wrap="square" lIns="0" tIns="0" rIns="0" bIns="0" anchor="t">
            <a:spAutoFit/>
          </a:bodyPr>
          <a:lstStyle/>
          <a:p>
            <a:pPr algn="l">
              <a:lnSpc>
                <a:spcPct val="112000"/>
              </a:lnSpc>
              <a:spcAft>
                <a:spcPts val="200"/>
              </a:spcAft>
            </a:pPr>
            <a:r>
              <a:rPr sz="1050" b="0" i="1">
                <a:solidFill>
                  <a:srgbClr val="54647A"/>
                </a:solidFill>
                <a:latin typeface="Times New Roman"/>
              </a:rPr>
              <a:t>a program running in the background</a:t>
            </a:r>
          </a:p>
        </p:txBody>
      </p:sp>
      <p:sp>
        <p:nvSpPr>
          <p:cNvPr id="11" name="Rounded Rectangle 10"/>
          <p:cNvSpPr/>
          <p:nvPr/>
        </p:nvSpPr>
        <p:spPr>
          <a:xfrm>
            <a:off x="3355848" y="1783080"/>
            <a:ext cx="274320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538728" y="1984248"/>
            <a:ext cx="566928" cy="566928"/>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cpu_FFFFFF.png"/>
          <p:cNvPicPr>
            <a:picLocks noChangeAspect="1"/>
          </p:cNvPicPr>
          <p:nvPr/>
        </p:nvPicPr>
        <p:blipFill>
          <a:blip r:embed="rId4"/>
          <a:stretch>
            <a:fillRect/>
          </a:stretch>
        </p:blipFill>
        <p:spPr>
          <a:xfrm>
            <a:off x="3697467" y="2142987"/>
            <a:ext cx="249450" cy="249450"/>
          </a:xfrm>
          <a:prstGeom prst="rect">
            <a:avLst/>
          </a:prstGeom>
        </p:spPr>
      </p:pic>
      <p:sp>
        <p:nvSpPr>
          <p:cNvPr id="14" name="TextBox 13"/>
          <p:cNvSpPr txBox="1"/>
          <p:nvPr/>
        </p:nvSpPr>
        <p:spPr>
          <a:xfrm>
            <a:off x="4224528" y="1965960"/>
            <a:ext cx="1783080" cy="548640"/>
          </a:xfrm>
          <a:prstGeom prst="rect">
            <a:avLst/>
          </a:prstGeom>
          <a:noFill/>
        </p:spPr>
        <p:txBody>
          <a:bodyPr wrap="square" lIns="0" tIns="0" rIns="0" bIns="0" anchor="t">
            <a:spAutoFit/>
          </a:bodyPr>
          <a:lstStyle/>
          <a:p>
            <a:pPr algn="l">
              <a:lnSpc>
                <a:spcPct val="100000"/>
              </a:lnSpc>
              <a:spcAft>
                <a:spcPts val="200"/>
              </a:spcAft>
            </a:pPr>
            <a:r>
              <a:rPr sz="1250" b="1" i="0">
                <a:solidFill>
                  <a:srgbClr val="1F3864"/>
                </a:solidFill>
                <a:latin typeface="Times New Roman"/>
              </a:rPr>
              <a:t>Service Control Manager</a:t>
            </a:r>
          </a:p>
        </p:txBody>
      </p:sp>
      <p:sp>
        <p:nvSpPr>
          <p:cNvPr id="15" name="TextBox 14"/>
          <p:cNvSpPr txBox="1"/>
          <p:nvPr/>
        </p:nvSpPr>
        <p:spPr>
          <a:xfrm>
            <a:off x="3538728" y="2624328"/>
            <a:ext cx="2468880" cy="365760"/>
          </a:xfrm>
          <a:prstGeom prst="rect">
            <a:avLst/>
          </a:prstGeom>
          <a:noFill/>
        </p:spPr>
        <p:txBody>
          <a:bodyPr wrap="square" lIns="0" tIns="0" rIns="0" bIns="0" anchor="t">
            <a:spAutoFit/>
          </a:bodyPr>
          <a:lstStyle/>
          <a:p>
            <a:pPr algn="l">
              <a:lnSpc>
                <a:spcPct val="112000"/>
              </a:lnSpc>
              <a:spcAft>
                <a:spcPts val="200"/>
              </a:spcAft>
            </a:pPr>
            <a:r>
              <a:rPr sz="1050" b="0" i="1">
                <a:solidFill>
                  <a:srgbClr val="54647A"/>
                </a:solidFill>
                <a:latin typeface="Times New Roman"/>
              </a:rPr>
              <a:t>the services dispatcher</a:t>
            </a:r>
          </a:p>
        </p:txBody>
      </p:sp>
      <p:sp>
        <p:nvSpPr>
          <p:cNvPr id="16" name="Rounded Rectangle 15"/>
          <p:cNvSpPr/>
          <p:nvPr/>
        </p:nvSpPr>
        <p:spPr>
          <a:xfrm>
            <a:off x="6144768" y="1783080"/>
            <a:ext cx="274320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327648" y="1984248"/>
            <a:ext cx="566928" cy="566928"/>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database_FFFFFF.png"/>
          <p:cNvPicPr>
            <a:picLocks noChangeAspect="1"/>
          </p:cNvPicPr>
          <p:nvPr/>
        </p:nvPicPr>
        <p:blipFill>
          <a:blip r:embed="rId5"/>
          <a:stretch>
            <a:fillRect/>
          </a:stretch>
        </p:blipFill>
        <p:spPr>
          <a:xfrm>
            <a:off x="6486387" y="2142987"/>
            <a:ext cx="249450" cy="249450"/>
          </a:xfrm>
          <a:prstGeom prst="rect">
            <a:avLst/>
          </a:prstGeom>
        </p:spPr>
      </p:pic>
      <p:sp>
        <p:nvSpPr>
          <p:cNvPr id="19" name="TextBox 18"/>
          <p:cNvSpPr txBox="1"/>
          <p:nvPr/>
        </p:nvSpPr>
        <p:spPr>
          <a:xfrm>
            <a:off x="7013448" y="1965960"/>
            <a:ext cx="1783080" cy="548640"/>
          </a:xfrm>
          <a:prstGeom prst="rect">
            <a:avLst/>
          </a:prstGeom>
          <a:noFill/>
        </p:spPr>
        <p:txBody>
          <a:bodyPr wrap="square" lIns="0" tIns="0" rIns="0" bIns="0" anchor="t">
            <a:spAutoFit/>
          </a:bodyPr>
          <a:lstStyle/>
          <a:p>
            <a:pPr algn="l">
              <a:lnSpc>
                <a:spcPct val="100000"/>
              </a:lnSpc>
              <a:spcAft>
                <a:spcPts val="200"/>
              </a:spcAft>
            </a:pPr>
            <a:r>
              <a:rPr sz="1250" b="1" i="0">
                <a:solidFill>
                  <a:srgbClr val="1F3864"/>
                </a:solidFill>
                <a:latin typeface="Times New Roman"/>
              </a:rPr>
              <a:t>Registry</a:t>
            </a:r>
          </a:p>
        </p:txBody>
      </p:sp>
      <p:sp>
        <p:nvSpPr>
          <p:cNvPr id="20" name="TextBox 19"/>
          <p:cNvSpPr txBox="1"/>
          <p:nvPr/>
        </p:nvSpPr>
        <p:spPr>
          <a:xfrm>
            <a:off x="6327648" y="2624328"/>
            <a:ext cx="2468880" cy="365760"/>
          </a:xfrm>
          <a:prstGeom prst="rect">
            <a:avLst/>
          </a:prstGeom>
          <a:noFill/>
        </p:spPr>
        <p:txBody>
          <a:bodyPr wrap="square" lIns="0" tIns="0" rIns="0" bIns="0" anchor="t">
            <a:spAutoFit/>
          </a:bodyPr>
          <a:lstStyle/>
          <a:p>
            <a:pPr algn="l">
              <a:lnSpc>
                <a:spcPct val="112000"/>
              </a:lnSpc>
              <a:spcAft>
                <a:spcPts val="200"/>
              </a:spcAft>
            </a:pPr>
            <a:r>
              <a:rPr sz="1050" b="0" i="1">
                <a:solidFill>
                  <a:srgbClr val="54647A"/>
                </a:solidFill>
                <a:latin typeface="Times New Roman"/>
              </a:rPr>
              <a:t>the Windows settings database</a:t>
            </a:r>
          </a:p>
        </p:txBody>
      </p:sp>
      <p:sp>
        <p:nvSpPr>
          <p:cNvPr id="21" name="Rounded Rectangle 20"/>
          <p:cNvSpPr/>
          <p:nvPr/>
        </p:nvSpPr>
        <p:spPr>
          <a:xfrm>
            <a:off x="8933688" y="1783080"/>
            <a:ext cx="274320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116568" y="1984248"/>
            <a:ext cx="566928" cy="566928"/>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power_FFFFFF.png"/>
          <p:cNvPicPr>
            <a:picLocks noChangeAspect="1"/>
          </p:cNvPicPr>
          <p:nvPr/>
        </p:nvPicPr>
        <p:blipFill>
          <a:blip r:embed="rId6"/>
          <a:stretch>
            <a:fillRect/>
          </a:stretch>
        </p:blipFill>
        <p:spPr>
          <a:xfrm>
            <a:off x="9275307" y="2142987"/>
            <a:ext cx="249450" cy="249450"/>
          </a:xfrm>
          <a:prstGeom prst="rect">
            <a:avLst/>
          </a:prstGeom>
        </p:spPr>
      </p:pic>
      <p:sp>
        <p:nvSpPr>
          <p:cNvPr id="24" name="TextBox 23"/>
          <p:cNvSpPr txBox="1"/>
          <p:nvPr/>
        </p:nvSpPr>
        <p:spPr>
          <a:xfrm>
            <a:off x="9802368" y="1965960"/>
            <a:ext cx="1783080" cy="548640"/>
          </a:xfrm>
          <a:prstGeom prst="rect">
            <a:avLst/>
          </a:prstGeom>
          <a:noFill/>
        </p:spPr>
        <p:txBody>
          <a:bodyPr wrap="square" lIns="0" tIns="0" rIns="0" bIns="0" anchor="t">
            <a:spAutoFit/>
          </a:bodyPr>
          <a:lstStyle/>
          <a:p>
            <a:pPr algn="l">
              <a:lnSpc>
                <a:spcPct val="100000"/>
              </a:lnSpc>
              <a:spcAft>
                <a:spcPts val="200"/>
              </a:spcAft>
            </a:pPr>
            <a:r>
              <a:rPr sz="1250" b="1" i="0">
                <a:solidFill>
                  <a:srgbClr val="1F3864"/>
                </a:solidFill>
                <a:latin typeface="Times New Roman"/>
              </a:rPr>
              <a:t>Startup type</a:t>
            </a:r>
          </a:p>
        </p:txBody>
      </p:sp>
      <p:sp>
        <p:nvSpPr>
          <p:cNvPr id="25" name="TextBox 24"/>
          <p:cNvSpPr txBox="1"/>
          <p:nvPr/>
        </p:nvSpPr>
        <p:spPr>
          <a:xfrm>
            <a:off x="9116568" y="2624328"/>
            <a:ext cx="2468880" cy="365760"/>
          </a:xfrm>
          <a:prstGeom prst="rect">
            <a:avLst/>
          </a:prstGeom>
          <a:noFill/>
        </p:spPr>
        <p:txBody>
          <a:bodyPr wrap="square" lIns="0" tIns="0" rIns="0" bIns="0" anchor="t">
            <a:spAutoFit/>
          </a:bodyPr>
          <a:lstStyle/>
          <a:p>
            <a:pPr algn="l">
              <a:lnSpc>
                <a:spcPct val="112000"/>
              </a:lnSpc>
              <a:spcAft>
                <a:spcPts val="200"/>
              </a:spcAft>
            </a:pPr>
            <a:r>
              <a:rPr sz="1050" b="0" i="1">
                <a:solidFill>
                  <a:srgbClr val="54647A"/>
                </a:solidFill>
                <a:latin typeface="Times New Roman"/>
              </a:rPr>
              <a:t>when it starts</a:t>
            </a:r>
          </a:p>
        </p:txBody>
      </p:sp>
      <p:sp>
        <p:nvSpPr>
          <p:cNvPr id="26" name="Rounded Rectangle 25"/>
          <p:cNvSpPr/>
          <p:nvPr/>
        </p:nvSpPr>
        <p:spPr>
          <a:xfrm>
            <a:off x="566928" y="3154680"/>
            <a:ext cx="274320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49808" y="3355848"/>
            <a:ext cx="566928" cy="566928"/>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shield_FFFFFF.png"/>
          <p:cNvPicPr>
            <a:picLocks noChangeAspect="1"/>
          </p:cNvPicPr>
          <p:nvPr/>
        </p:nvPicPr>
        <p:blipFill>
          <a:blip r:embed="rId7"/>
          <a:stretch>
            <a:fillRect/>
          </a:stretch>
        </p:blipFill>
        <p:spPr>
          <a:xfrm>
            <a:off x="908547" y="3514587"/>
            <a:ext cx="249450" cy="249450"/>
          </a:xfrm>
          <a:prstGeom prst="rect">
            <a:avLst/>
          </a:prstGeom>
        </p:spPr>
      </p:pic>
      <p:sp>
        <p:nvSpPr>
          <p:cNvPr id="29" name="TextBox 28"/>
          <p:cNvSpPr txBox="1"/>
          <p:nvPr/>
        </p:nvSpPr>
        <p:spPr>
          <a:xfrm>
            <a:off x="1435608" y="3337560"/>
            <a:ext cx="1783080" cy="548640"/>
          </a:xfrm>
          <a:prstGeom prst="rect">
            <a:avLst/>
          </a:prstGeom>
          <a:noFill/>
        </p:spPr>
        <p:txBody>
          <a:bodyPr wrap="square" lIns="0" tIns="0" rIns="0" bIns="0" anchor="t">
            <a:spAutoFit/>
          </a:bodyPr>
          <a:lstStyle/>
          <a:p>
            <a:pPr algn="l">
              <a:lnSpc>
                <a:spcPct val="100000"/>
              </a:lnSpc>
              <a:spcAft>
                <a:spcPts val="200"/>
              </a:spcAft>
            </a:pPr>
            <a:r>
              <a:rPr sz="1250" b="1" i="0">
                <a:solidFill>
                  <a:srgbClr val="1F3864"/>
                </a:solidFill>
                <a:latin typeface="Times New Roman"/>
              </a:rPr>
              <a:t>Service accounts</a:t>
            </a:r>
          </a:p>
        </p:txBody>
      </p:sp>
      <p:sp>
        <p:nvSpPr>
          <p:cNvPr id="30" name="TextBox 29"/>
          <p:cNvSpPr txBox="1"/>
          <p:nvPr/>
        </p:nvSpPr>
        <p:spPr>
          <a:xfrm>
            <a:off x="749808" y="3995928"/>
            <a:ext cx="2468880" cy="365760"/>
          </a:xfrm>
          <a:prstGeom prst="rect">
            <a:avLst/>
          </a:prstGeom>
          <a:noFill/>
        </p:spPr>
        <p:txBody>
          <a:bodyPr wrap="square" lIns="0" tIns="0" rIns="0" bIns="0" anchor="t">
            <a:spAutoFit/>
          </a:bodyPr>
          <a:lstStyle/>
          <a:p>
            <a:pPr algn="l">
              <a:lnSpc>
                <a:spcPct val="112000"/>
              </a:lnSpc>
              <a:spcAft>
                <a:spcPts val="200"/>
              </a:spcAft>
            </a:pPr>
            <a:r>
              <a:rPr sz="1050" b="0" i="1">
                <a:solidFill>
                  <a:srgbClr val="54647A"/>
                </a:solidFill>
                <a:latin typeface="Times New Roman"/>
              </a:rPr>
              <a:t>SYSTEM/LocalService…</a:t>
            </a:r>
          </a:p>
        </p:txBody>
      </p:sp>
      <p:sp>
        <p:nvSpPr>
          <p:cNvPr id="31" name="Rounded Rectangle 30"/>
          <p:cNvSpPr/>
          <p:nvPr/>
        </p:nvSpPr>
        <p:spPr>
          <a:xfrm>
            <a:off x="3355848" y="3154680"/>
            <a:ext cx="274320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538728" y="3355848"/>
            <a:ext cx="566928" cy="566928"/>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warning_FFFFFF.png"/>
          <p:cNvPicPr>
            <a:picLocks noChangeAspect="1"/>
          </p:cNvPicPr>
          <p:nvPr/>
        </p:nvPicPr>
        <p:blipFill>
          <a:blip r:embed="rId8"/>
          <a:stretch>
            <a:fillRect/>
          </a:stretch>
        </p:blipFill>
        <p:spPr>
          <a:xfrm>
            <a:off x="3697467" y="3514587"/>
            <a:ext cx="249450" cy="249450"/>
          </a:xfrm>
          <a:prstGeom prst="rect">
            <a:avLst/>
          </a:prstGeom>
        </p:spPr>
      </p:pic>
      <p:sp>
        <p:nvSpPr>
          <p:cNvPr id="34" name="TextBox 33"/>
          <p:cNvSpPr txBox="1"/>
          <p:nvPr/>
        </p:nvSpPr>
        <p:spPr>
          <a:xfrm>
            <a:off x="4224528" y="3337560"/>
            <a:ext cx="1783080" cy="548640"/>
          </a:xfrm>
          <a:prstGeom prst="rect">
            <a:avLst/>
          </a:prstGeom>
          <a:noFill/>
        </p:spPr>
        <p:txBody>
          <a:bodyPr wrap="square" lIns="0" tIns="0" rIns="0" bIns="0" anchor="t">
            <a:spAutoFit/>
          </a:bodyPr>
          <a:lstStyle/>
          <a:p>
            <a:pPr algn="l">
              <a:lnSpc>
                <a:spcPct val="100000"/>
              </a:lnSpc>
              <a:spcAft>
                <a:spcPts val="200"/>
              </a:spcAft>
            </a:pPr>
            <a:r>
              <a:rPr sz="1250" b="1" i="0">
                <a:solidFill>
                  <a:srgbClr val="1F3864"/>
                </a:solidFill>
                <a:latin typeface="Times New Roman"/>
              </a:rPr>
              <a:t>Unquoted service path</a:t>
            </a:r>
          </a:p>
        </p:txBody>
      </p:sp>
      <p:sp>
        <p:nvSpPr>
          <p:cNvPr id="35" name="TextBox 34"/>
          <p:cNvSpPr txBox="1"/>
          <p:nvPr/>
        </p:nvSpPr>
        <p:spPr>
          <a:xfrm>
            <a:off x="3538728" y="3995928"/>
            <a:ext cx="2468880" cy="365760"/>
          </a:xfrm>
          <a:prstGeom prst="rect">
            <a:avLst/>
          </a:prstGeom>
          <a:noFill/>
        </p:spPr>
        <p:txBody>
          <a:bodyPr wrap="square" lIns="0" tIns="0" rIns="0" bIns="0" anchor="t">
            <a:spAutoFit/>
          </a:bodyPr>
          <a:lstStyle/>
          <a:p>
            <a:pPr algn="l">
              <a:lnSpc>
                <a:spcPct val="112000"/>
              </a:lnSpc>
              <a:spcAft>
                <a:spcPts val="200"/>
              </a:spcAft>
            </a:pPr>
            <a:r>
              <a:rPr sz="1050" b="0" i="1">
                <a:solidFill>
                  <a:srgbClr val="54647A"/>
                </a:solidFill>
                <a:latin typeface="Times New Roman"/>
              </a:rPr>
              <a:t>a dangerous vulnerability</a:t>
            </a:r>
          </a:p>
        </p:txBody>
      </p:sp>
      <p:sp>
        <p:nvSpPr>
          <p:cNvPr id="36" name="Rounded Rectangle 35"/>
          <p:cNvSpPr/>
          <p:nvPr/>
        </p:nvSpPr>
        <p:spPr>
          <a:xfrm>
            <a:off x="6144768" y="3154680"/>
            <a:ext cx="274320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327648" y="3355848"/>
            <a:ext cx="566928" cy="566928"/>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crosshair_FFFFFF.png"/>
          <p:cNvPicPr>
            <a:picLocks noChangeAspect="1"/>
          </p:cNvPicPr>
          <p:nvPr/>
        </p:nvPicPr>
        <p:blipFill>
          <a:blip r:embed="rId9"/>
          <a:stretch>
            <a:fillRect/>
          </a:stretch>
        </p:blipFill>
        <p:spPr>
          <a:xfrm>
            <a:off x="6486387" y="3514587"/>
            <a:ext cx="249450" cy="249450"/>
          </a:xfrm>
          <a:prstGeom prst="rect">
            <a:avLst/>
          </a:prstGeom>
        </p:spPr>
      </p:pic>
      <p:sp>
        <p:nvSpPr>
          <p:cNvPr id="39" name="TextBox 38"/>
          <p:cNvSpPr txBox="1"/>
          <p:nvPr/>
        </p:nvSpPr>
        <p:spPr>
          <a:xfrm>
            <a:off x="7013448" y="3337560"/>
            <a:ext cx="1783080" cy="548640"/>
          </a:xfrm>
          <a:prstGeom prst="rect">
            <a:avLst/>
          </a:prstGeom>
          <a:noFill/>
        </p:spPr>
        <p:txBody>
          <a:bodyPr wrap="square" lIns="0" tIns="0" rIns="0" bIns="0" anchor="t">
            <a:spAutoFit/>
          </a:bodyPr>
          <a:lstStyle/>
          <a:p>
            <a:pPr algn="l">
              <a:lnSpc>
                <a:spcPct val="100000"/>
              </a:lnSpc>
              <a:spcAft>
                <a:spcPts val="200"/>
              </a:spcAft>
            </a:pPr>
            <a:r>
              <a:rPr sz="1250" b="1" i="0">
                <a:solidFill>
                  <a:srgbClr val="1F3864"/>
                </a:solidFill>
                <a:latin typeface="Times New Roman"/>
              </a:rPr>
              <a:t>MITRE ATT&amp;CK</a:t>
            </a:r>
          </a:p>
        </p:txBody>
      </p:sp>
      <p:sp>
        <p:nvSpPr>
          <p:cNvPr id="40" name="TextBox 39"/>
          <p:cNvSpPr txBox="1"/>
          <p:nvPr/>
        </p:nvSpPr>
        <p:spPr>
          <a:xfrm>
            <a:off x="6327648" y="3995928"/>
            <a:ext cx="2468880" cy="365760"/>
          </a:xfrm>
          <a:prstGeom prst="rect">
            <a:avLst/>
          </a:prstGeom>
          <a:noFill/>
        </p:spPr>
        <p:txBody>
          <a:bodyPr wrap="square" lIns="0" tIns="0" rIns="0" bIns="0" anchor="t">
            <a:spAutoFit/>
          </a:bodyPr>
          <a:lstStyle/>
          <a:p>
            <a:pPr algn="l">
              <a:lnSpc>
                <a:spcPct val="112000"/>
              </a:lnSpc>
              <a:spcAft>
                <a:spcPts val="200"/>
              </a:spcAft>
            </a:pPr>
            <a:r>
              <a:rPr sz="1050" b="0" i="1">
                <a:solidFill>
                  <a:srgbClr val="54647A"/>
                </a:solidFill>
                <a:latin typeface="Times New Roman"/>
              </a:rPr>
              <a:t>a knowledge base of attack techniques</a:t>
            </a:r>
          </a:p>
        </p:txBody>
      </p:sp>
      <p:sp>
        <p:nvSpPr>
          <p:cNvPr id="41" name="Rounded Rectangle 40"/>
          <p:cNvSpPr/>
          <p:nvPr/>
        </p:nvSpPr>
        <p:spPr>
          <a:xfrm>
            <a:off x="8933688" y="3154680"/>
            <a:ext cx="2743200" cy="1234440"/>
          </a:xfrm>
          <a:prstGeom prst="roundRect">
            <a:avLst>
              <a:gd name="adj" fmla="val 6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116568" y="3355848"/>
            <a:ext cx="566928" cy="566928"/>
          </a:xfrm>
          <a:prstGeom prst="ellipse">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zap_FFFFFF.png"/>
          <p:cNvPicPr>
            <a:picLocks noChangeAspect="1"/>
          </p:cNvPicPr>
          <p:nvPr/>
        </p:nvPicPr>
        <p:blipFill>
          <a:blip r:embed="rId10"/>
          <a:stretch>
            <a:fillRect/>
          </a:stretch>
        </p:blipFill>
        <p:spPr>
          <a:xfrm>
            <a:off x="9275307" y="3514587"/>
            <a:ext cx="249450" cy="249450"/>
          </a:xfrm>
          <a:prstGeom prst="rect">
            <a:avLst/>
          </a:prstGeom>
        </p:spPr>
      </p:pic>
      <p:sp>
        <p:nvSpPr>
          <p:cNvPr id="44" name="TextBox 43"/>
          <p:cNvSpPr txBox="1"/>
          <p:nvPr/>
        </p:nvSpPr>
        <p:spPr>
          <a:xfrm>
            <a:off x="9802368" y="3337560"/>
            <a:ext cx="1783080" cy="548640"/>
          </a:xfrm>
          <a:prstGeom prst="rect">
            <a:avLst/>
          </a:prstGeom>
          <a:noFill/>
        </p:spPr>
        <p:txBody>
          <a:bodyPr wrap="square" lIns="0" tIns="0" rIns="0" bIns="0" anchor="t">
            <a:spAutoFit/>
          </a:bodyPr>
          <a:lstStyle/>
          <a:p>
            <a:pPr algn="l">
              <a:lnSpc>
                <a:spcPct val="100000"/>
              </a:lnSpc>
              <a:spcAft>
                <a:spcPts val="200"/>
              </a:spcAft>
            </a:pPr>
            <a:r>
              <a:rPr sz="1250" b="1" i="0">
                <a:solidFill>
                  <a:srgbClr val="1F3864"/>
                </a:solidFill>
                <a:latin typeface="Times New Roman"/>
              </a:rPr>
              <a:t>cmdlet</a:t>
            </a:r>
          </a:p>
        </p:txBody>
      </p:sp>
      <p:sp>
        <p:nvSpPr>
          <p:cNvPr id="45" name="TextBox 44"/>
          <p:cNvSpPr txBox="1"/>
          <p:nvPr/>
        </p:nvSpPr>
        <p:spPr>
          <a:xfrm>
            <a:off x="9116568" y="3995928"/>
            <a:ext cx="2468880" cy="365760"/>
          </a:xfrm>
          <a:prstGeom prst="rect">
            <a:avLst/>
          </a:prstGeom>
          <a:noFill/>
        </p:spPr>
        <p:txBody>
          <a:bodyPr wrap="square" lIns="0" tIns="0" rIns="0" bIns="0" anchor="t">
            <a:spAutoFit/>
          </a:bodyPr>
          <a:lstStyle/>
          <a:p>
            <a:pPr algn="l">
              <a:lnSpc>
                <a:spcPct val="112000"/>
              </a:lnSpc>
              <a:spcAft>
                <a:spcPts val="200"/>
              </a:spcAft>
            </a:pPr>
            <a:r>
              <a:rPr sz="1050" b="0" i="1">
                <a:solidFill>
                  <a:srgbClr val="54647A"/>
                </a:solidFill>
                <a:latin typeface="Times New Roman"/>
              </a:rPr>
              <a:t>a PowerShell command</a:t>
            </a:r>
          </a:p>
        </p:txBody>
      </p:sp>
      <p:sp>
        <p:nvSpPr>
          <p:cNvPr id="46" name="TextBox 45"/>
          <p:cNvSpPr txBox="1"/>
          <p:nvPr/>
        </p:nvSpPr>
        <p:spPr>
          <a:xfrm>
            <a:off x="566928" y="4663440"/>
            <a:ext cx="10972800" cy="457200"/>
          </a:xfrm>
          <a:prstGeom prst="rect">
            <a:avLst/>
          </a:prstGeom>
          <a:noFill/>
        </p:spPr>
        <p:txBody>
          <a:bodyPr wrap="square" lIns="0" tIns="0" rIns="0" bIns="0" anchor="t">
            <a:spAutoFit/>
          </a:bodyPr>
          <a:lstStyle/>
          <a:p>
            <a:pPr algn="l">
              <a:lnSpc>
                <a:spcPct val="112000"/>
              </a:lnSpc>
              <a:spcAft>
                <a:spcPts val="200"/>
              </a:spcAft>
            </a:pPr>
            <a:r>
              <a:rPr sz="1250" b="0" i="1">
                <a:solidFill>
                  <a:srgbClr val="54647A"/>
                </a:solidFill>
                <a:latin typeface="Times New Roman"/>
              </a:rPr>
              <a:t>Each term is explained in beginner-friendly language, with an example and a diagram.</a:t>
            </a:r>
          </a:p>
        </p:txBody>
      </p:sp>
      <p:sp>
        <p:nvSpPr>
          <p:cNvPr id="47" name="TextBox 46"/>
          <p:cNvSpPr txBox="1"/>
          <p:nvPr/>
        </p:nvSpPr>
        <p:spPr>
          <a:xfrm>
            <a:off x="566928" y="6473952"/>
            <a:ext cx="8229600" cy="274320"/>
          </a:xfrm>
          <a:prstGeom prst="rect">
            <a:avLst/>
          </a:prstGeom>
          <a:noFill/>
        </p:spPr>
        <p:txBody>
          <a:bodyPr wrap="square" lIns="0" tIns="0" rIns="0" bIns="0" anchor="t">
            <a:spAutoFit/>
          </a:bodyPr>
          <a:lstStyle/>
          <a:p>
            <a:pPr algn="l">
              <a:lnSpc>
                <a:spcPct val="112000"/>
              </a:lnSpc>
              <a:spcAft>
                <a:spcPts val="200"/>
              </a:spcAft>
            </a:pPr>
            <a:r>
              <a:rPr sz="950" b="0" i="1">
                <a:solidFill>
                  <a:srgbClr val="54647A"/>
                </a:solidFill>
                <a:latin typeface="Times New Roman"/>
              </a:rPr>
              <a:t>KKvaEH · Topic 1 · Windows OS Security</a:t>
            </a:r>
          </a:p>
        </p:txBody>
      </p:sp>
      <p:sp>
        <p:nvSpPr>
          <p:cNvPr id="48" name="Oval 47"/>
          <p:cNvSpPr/>
          <p:nvPr/>
        </p:nvSpPr>
        <p:spPr>
          <a:xfrm>
            <a:off x="11430000" y="6382512"/>
            <a:ext cx="365760" cy="3657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Times New Roman"/>
              </a:rPr>
              <a:t>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1417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91695" cy="5080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92608"/>
            <a:ext cx="10058400" cy="320040"/>
          </a:xfrm>
          <a:prstGeom prst="rect">
            <a:avLst/>
          </a:prstGeom>
          <a:noFill/>
        </p:spPr>
        <p:txBody>
          <a:bodyPr wrap="square" lIns="0" tIns="0" rIns="0" bIns="0" anchor="t">
            <a:spAutoFit/>
          </a:bodyPr>
          <a:lstStyle/>
          <a:p>
            <a:pPr algn="l">
              <a:lnSpc>
                <a:spcPct val="112000"/>
              </a:lnSpc>
              <a:spcAft>
                <a:spcPts val="200"/>
              </a:spcAft>
            </a:pPr>
            <a:r>
              <a:rPr sz="1200" b="1" i="0">
                <a:solidFill>
                  <a:srgbClr val="8FD9C4"/>
                </a:solidFill>
                <a:latin typeface="Times New Roman"/>
              </a:rPr>
              <a:t>GLOSSARY · TERM EXPLAINED</a:t>
            </a:r>
          </a:p>
        </p:txBody>
      </p:sp>
      <p:sp>
        <p:nvSpPr>
          <p:cNvPr id="6" name="TextBox 5"/>
          <p:cNvSpPr txBox="1"/>
          <p:nvPr/>
        </p:nvSpPr>
        <p:spPr>
          <a:xfrm>
            <a:off x="566928" y="621792"/>
            <a:ext cx="10515600" cy="640080"/>
          </a:xfrm>
          <a:prstGeom prst="rect">
            <a:avLst/>
          </a:prstGeom>
          <a:noFill/>
        </p:spPr>
        <p:txBody>
          <a:bodyPr wrap="square" lIns="0" tIns="0" rIns="0" bIns="0" anchor="t">
            <a:spAutoFit/>
          </a:bodyPr>
          <a:lstStyle/>
          <a:p>
            <a:pPr algn="l">
              <a:lnSpc>
                <a:spcPct val="112000"/>
              </a:lnSpc>
              <a:spcAft>
                <a:spcPts val="200"/>
              </a:spcAft>
            </a:pPr>
            <a:r>
              <a:rPr sz="2700" b="1" i="0">
                <a:solidFill>
                  <a:srgbClr val="FFFFFF"/>
                </a:solidFill>
                <a:latin typeface="Times New Roman"/>
              </a:rPr>
              <a:t>Service Control Manager (SCM)</a:t>
            </a:r>
          </a:p>
        </p:txBody>
      </p:sp>
      <p:sp>
        <p:nvSpPr>
          <p:cNvPr id="7" name="Oval 6"/>
          <p:cNvSpPr/>
          <p:nvPr/>
        </p:nvSpPr>
        <p:spPr>
          <a:xfrm>
            <a:off x="11430000" y="457200"/>
            <a:ext cx="384048" cy="384048"/>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Times New Roman"/>
              </a:rPr>
              <a:t>22</a:t>
            </a:r>
          </a:p>
        </p:txBody>
      </p:sp>
      <p:sp>
        <p:nvSpPr>
          <p:cNvPr id="8" name="TextBox 7"/>
          <p:cNvSpPr txBox="1"/>
          <p:nvPr/>
        </p:nvSpPr>
        <p:spPr>
          <a:xfrm>
            <a:off x="566928" y="1645920"/>
            <a:ext cx="5577840" cy="365760"/>
          </a:xfrm>
          <a:prstGeom prst="rect">
            <a:avLst/>
          </a:prstGeom>
          <a:noFill/>
        </p:spPr>
        <p:txBody>
          <a:bodyPr wrap="square" lIns="0" tIns="0" rIns="0" bIns="0" anchor="t">
            <a:spAutoFit/>
          </a:bodyPr>
          <a:lstStyle/>
          <a:p>
            <a:pPr algn="l">
              <a:lnSpc>
                <a:spcPct val="112000"/>
              </a:lnSpc>
              <a:spcAft>
                <a:spcPts val="200"/>
              </a:spcAft>
            </a:pPr>
            <a:r>
              <a:rPr sz="1400" b="1" i="0">
                <a:solidFill>
                  <a:srgbClr val="178A73"/>
                </a:solidFill>
                <a:latin typeface="Times New Roman"/>
              </a:rPr>
              <a:t>In plain terms:</a:t>
            </a:r>
          </a:p>
        </p:txBody>
      </p:sp>
      <p:sp>
        <p:nvSpPr>
          <p:cNvPr id="9" name="TextBox 8"/>
          <p:cNvSpPr txBox="1"/>
          <p:nvPr/>
        </p:nvSpPr>
        <p:spPr>
          <a:xfrm>
            <a:off x="566928" y="2011680"/>
            <a:ext cx="5577840" cy="1828800"/>
          </a:xfrm>
          <a:prstGeom prst="rect">
            <a:avLst/>
          </a:prstGeom>
          <a:noFill/>
        </p:spPr>
        <p:txBody>
          <a:bodyPr wrap="square" lIns="0" tIns="0" rIns="0" bIns="0" anchor="t">
            <a:spAutoFit/>
          </a:bodyPr>
          <a:lstStyle/>
          <a:p>
            <a:pPr algn="l">
              <a:lnSpc>
                <a:spcPct val="125000"/>
              </a:lnSpc>
              <a:spcAft>
                <a:spcPts val="200"/>
              </a:spcAft>
            </a:pPr>
            <a:r>
              <a:rPr sz="1300" b="0" i="0">
                <a:solidFill>
                  <a:srgbClr val="202A38"/>
                </a:solidFill>
                <a:latin typeface="Times New Roman"/>
              </a:rPr>
              <a:t>The SCM is the “boss” or dispatcher of all services. It runs as the services.exe file. When Windows boots, the kernel launches it; then the SCM reads the list in the registry and starts, stops and monitors each service.</a:t>
            </a:r>
          </a:p>
        </p:txBody>
      </p:sp>
      <p:sp>
        <p:nvSpPr>
          <p:cNvPr id="10" name="TextBox 9"/>
          <p:cNvSpPr txBox="1"/>
          <p:nvPr/>
        </p:nvSpPr>
        <p:spPr>
          <a:xfrm>
            <a:off x="566928" y="3931920"/>
            <a:ext cx="5577840" cy="365760"/>
          </a:xfrm>
          <a:prstGeom prst="rect">
            <a:avLst/>
          </a:prstGeom>
          <a:noFill/>
        </p:spPr>
        <p:txBody>
          <a:bodyPr wrap="square" lIns="0" tIns="0" rIns="0" bIns="0" anchor="t">
            <a:spAutoFit/>
          </a:bodyPr>
          <a:lstStyle/>
          <a:p>
            <a:pPr algn="l">
              <a:lnSpc>
                <a:spcPct val="112000"/>
              </a:lnSpc>
              <a:spcAft>
                <a:spcPts val="200"/>
              </a:spcAft>
            </a:pPr>
            <a:r>
              <a:rPr sz="1400" b="1" i="0">
                <a:solidFill>
                  <a:srgbClr val="178A73"/>
                </a:solidFill>
                <a:latin typeface="Times New Roman"/>
              </a:rPr>
              <a:t>Why it matters:</a:t>
            </a:r>
          </a:p>
        </p:txBody>
      </p:sp>
      <p:sp>
        <p:nvSpPr>
          <p:cNvPr id="11" name="TextBox 10"/>
          <p:cNvSpPr txBox="1"/>
          <p:nvPr/>
        </p:nvSpPr>
        <p:spPr>
          <a:xfrm>
            <a:off x="566928" y="4297680"/>
            <a:ext cx="5577840" cy="1280160"/>
          </a:xfrm>
          <a:prstGeom prst="rect">
            <a:avLst/>
          </a:prstGeom>
          <a:noFill/>
        </p:spPr>
        <p:txBody>
          <a:bodyPr wrap="square" lIns="0" tIns="0" rIns="0" bIns="0" anchor="t">
            <a:spAutoFit/>
          </a:bodyPr>
          <a:lstStyle/>
          <a:p>
            <a:pPr algn="l">
              <a:lnSpc>
                <a:spcPct val="125000"/>
              </a:lnSpc>
              <a:spcAft>
                <a:spcPts val="200"/>
              </a:spcAft>
            </a:pPr>
            <a:r>
              <a:rPr sz="1300" b="0" i="0">
                <a:solidFill>
                  <a:srgbClr val="202A38"/>
                </a:solidFill>
                <a:latin typeface="Times New Roman"/>
              </a:rPr>
              <a:t>If you say “stop the Spooler”, the command does not go straight to the service — it goes to the SCM first, and the SCM carries it out. All control passes through the SCM.</a:t>
            </a:r>
          </a:p>
        </p:txBody>
      </p:sp>
      <p:sp>
        <p:nvSpPr>
          <p:cNvPr id="12" name="Rounded Rectangle 11"/>
          <p:cNvSpPr/>
          <p:nvPr/>
        </p:nvSpPr>
        <p:spPr>
          <a:xfrm>
            <a:off x="6400800" y="1691640"/>
            <a:ext cx="4754880" cy="59436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691640"/>
            <a:ext cx="4754880" cy="594360"/>
          </a:xfrm>
          <a:prstGeom prst="rect">
            <a:avLst/>
          </a:prstGeom>
          <a:noFill/>
        </p:spPr>
        <p:txBody>
          <a:bodyPr wrap="square" lIns="0" tIns="0" rIns="0" bIns="0" anchor="ctr">
            <a:spAutoFit/>
          </a:bodyPr>
          <a:lstStyle/>
          <a:p>
            <a:pPr algn="ctr">
              <a:lnSpc>
                <a:spcPct val="100000"/>
              </a:lnSpc>
              <a:spcAft>
                <a:spcPts val="200"/>
              </a:spcAft>
            </a:pPr>
            <a:r>
              <a:rPr sz="1150" b="1" i="0">
                <a:solidFill>
                  <a:srgbClr val="FFFFFF"/>
                </a:solidFill>
                <a:latin typeface="Times New Roman"/>
              </a:rPr>
              <a:t>Kernel (ntoskrnl.exe)</a:t>
            </a:r>
          </a:p>
        </p:txBody>
      </p:sp>
      <p:sp>
        <p:nvSpPr>
          <p:cNvPr id="14" name="Down Arrow 13"/>
          <p:cNvSpPr/>
          <p:nvPr/>
        </p:nvSpPr>
        <p:spPr>
          <a:xfrm>
            <a:off x="8677656" y="2331720"/>
            <a:ext cx="201168" cy="320040"/>
          </a:xfrm>
          <a:prstGeom prst="down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0" y="2697480"/>
            <a:ext cx="4754880" cy="640080"/>
          </a:xfrm>
          <a:prstGeom prst="roundRect">
            <a:avLst>
              <a:gd name="adj" fmla="val 12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2697480"/>
            <a:ext cx="4754880" cy="640080"/>
          </a:xfrm>
          <a:prstGeom prst="rect">
            <a:avLst/>
          </a:prstGeom>
          <a:noFill/>
        </p:spPr>
        <p:txBody>
          <a:bodyPr wrap="square" lIns="0" tIns="0" rIns="0" bIns="0" anchor="ctr">
            <a:spAutoFit/>
          </a:bodyPr>
          <a:lstStyle/>
          <a:p>
            <a:pPr algn="ctr">
              <a:lnSpc>
                <a:spcPct val="100000"/>
              </a:lnSpc>
              <a:spcAft>
                <a:spcPts val="200"/>
              </a:spcAft>
            </a:pPr>
            <a:r>
              <a:rPr sz="1300" b="1" i="0">
                <a:solidFill>
                  <a:srgbClr val="FFFFFF"/>
                </a:solidFill>
                <a:latin typeface="Times New Roman"/>
              </a:rPr>
              <a:t>SCM — services.exe</a:t>
            </a:r>
          </a:p>
        </p:txBody>
      </p:sp>
      <p:sp>
        <p:nvSpPr>
          <p:cNvPr id="17" name="Down Arrow 16"/>
          <p:cNvSpPr/>
          <p:nvPr/>
        </p:nvSpPr>
        <p:spPr>
          <a:xfrm>
            <a:off x="8677656" y="3383280"/>
            <a:ext cx="201168" cy="320040"/>
          </a:xfrm>
          <a:prstGeom prst="down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400800" y="3749039"/>
            <a:ext cx="4754880" cy="594360"/>
          </a:xfrm>
          <a:prstGeom prst="roundRect">
            <a:avLst>
              <a:gd name="adj" fmla="val 12000"/>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3749039"/>
            <a:ext cx="4754880" cy="594360"/>
          </a:xfrm>
          <a:prstGeom prst="rect">
            <a:avLst/>
          </a:prstGeom>
          <a:noFill/>
        </p:spPr>
        <p:txBody>
          <a:bodyPr wrap="square" lIns="0" tIns="0" rIns="0" bIns="0" anchor="ctr">
            <a:spAutoFit/>
          </a:bodyPr>
          <a:lstStyle/>
          <a:p>
            <a:pPr algn="ctr">
              <a:lnSpc>
                <a:spcPct val="100000"/>
              </a:lnSpc>
              <a:spcAft>
                <a:spcPts val="200"/>
              </a:spcAft>
            </a:pPr>
            <a:r>
              <a:rPr sz="1150" b="1" i="0">
                <a:solidFill>
                  <a:srgbClr val="FFFFFF"/>
                </a:solidFill>
                <a:latin typeface="Times New Roman"/>
              </a:rPr>
              <a:t>Registry: HKLM\SYSTEM\...\Services</a:t>
            </a:r>
          </a:p>
        </p:txBody>
      </p:sp>
      <p:sp>
        <p:nvSpPr>
          <p:cNvPr id="20" name="Down Arrow 19"/>
          <p:cNvSpPr/>
          <p:nvPr/>
        </p:nvSpPr>
        <p:spPr>
          <a:xfrm>
            <a:off x="8677656" y="4389120"/>
            <a:ext cx="201168" cy="320040"/>
          </a:xfrm>
          <a:prstGeom prst="downArrow">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400800" y="4754880"/>
            <a:ext cx="1481328" cy="548640"/>
          </a:xfrm>
          <a:prstGeom prst="roundRect">
            <a:avLst>
              <a:gd name="adj" fmla="val 12000"/>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4754880"/>
            <a:ext cx="1481328" cy="548640"/>
          </a:xfrm>
          <a:prstGeom prst="rect">
            <a:avLst/>
          </a:prstGeom>
          <a:noFill/>
        </p:spPr>
        <p:txBody>
          <a:bodyPr wrap="square" lIns="0" tIns="0" rIns="0" bIns="0" anchor="ctr">
            <a:spAutoFit/>
          </a:bodyPr>
          <a:lstStyle/>
          <a:p>
            <a:pPr algn="ctr">
              <a:lnSpc>
                <a:spcPct val="100000"/>
              </a:lnSpc>
              <a:spcAft>
                <a:spcPts val="200"/>
              </a:spcAft>
            </a:pPr>
            <a:r>
              <a:rPr sz="1100" b="1" i="0">
                <a:solidFill>
                  <a:srgbClr val="FFFFFF"/>
                </a:solidFill>
                <a:latin typeface="Times New Roman"/>
              </a:rPr>
              <a:t>Spooler</a:t>
            </a:r>
          </a:p>
        </p:txBody>
      </p:sp>
      <p:sp>
        <p:nvSpPr>
          <p:cNvPr id="23" name="Rounded Rectangle 22"/>
          <p:cNvSpPr/>
          <p:nvPr/>
        </p:nvSpPr>
        <p:spPr>
          <a:xfrm>
            <a:off x="8028432" y="4754880"/>
            <a:ext cx="1481328" cy="548640"/>
          </a:xfrm>
          <a:prstGeom prst="roundRect">
            <a:avLst>
              <a:gd name="adj" fmla="val 12000"/>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28432" y="4754880"/>
            <a:ext cx="1481328" cy="548640"/>
          </a:xfrm>
          <a:prstGeom prst="rect">
            <a:avLst/>
          </a:prstGeom>
          <a:noFill/>
        </p:spPr>
        <p:txBody>
          <a:bodyPr wrap="square" lIns="0" tIns="0" rIns="0" bIns="0" anchor="ctr">
            <a:spAutoFit/>
          </a:bodyPr>
          <a:lstStyle/>
          <a:p>
            <a:pPr algn="ctr">
              <a:lnSpc>
                <a:spcPct val="100000"/>
              </a:lnSpc>
              <a:spcAft>
                <a:spcPts val="200"/>
              </a:spcAft>
            </a:pPr>
            <a:r>
              <a:rPr sz="1100" b="1" i="0">
                <a:solidFill>
                  <a:srgbClr val="FFFFFF"/>
                </a:solidFill>
                <a:latin typeface="Times New Roman"/>
              </a:rPr>
              <a:t>Wuauserv</a:t>
            </a:r>
          </a:p>
        </p:txBody>
      </p:sp>
      <p:sp>
        <p:nvSpPr>
          <p:cNvPr id="25" name="Rounded Rectangle 24"/>
          <p:cNvSpPr/>
          <p:nvPr/>
        </p:nvSpPr>
        <p:spPr>
          <a:xfrm>
            <a:off x="9656064" y="4754880"/>
            <a:ext cx="1481328" cy="548640"/>
          </a:xfrm>
          <a:prstGeom prst="roundRect">
            <a:avLst>
              <a:gd name="adj" fmla="val 12000"/>
            </a:avLst>
          </a:prstGeom>
          <a:solidFill>
            <a:srgbClr val="5464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56064" y="4754880"/>
            <a:ext cx="1481328" cy="548640"/>
          </a:xfrm>
          <a:prstGeom prst="rect">
            <a:avLst/>
          </a:prstGeom>
          <a:noFill/>
        </p:spPr>
        <p:txBody>
          <a:bodyPr wrap="square" lIns="0" tIns="0" rIns="0" bIns="0" anchor="ctr">
            <a:spAutoFit/>
          </a:bodyPr>
          <a:lstStyle/>
          <a:p>
            <a:pPr algn="ctr">
              <a:lnSpc>
                <a:spcPct val="100000"/>
              </a:lnSpc>
              <a:spcAft>
                <a:spcPts val="200"/>
              </a:spcAft>
            </a:pPr>
            <a:r>
              <a:rPr sz="1100" b="1" i="0">
                <a:solidFill>
                  <a:srgbClr val="FFFFFF"/>
                </a:solidFill>
                <a:latin typeface="Times New Roman"/>
              </a:rPr>
              <a:t>Dhcp</a:t>
            </a:r>
          </a:p>
        </p:txBody>
      </p:sp>
      <p:sp>
        <p:nvSpPr>
          <p:cNvPr id="27" name="Rounded Rectangle 26">
            <a:hlinkClick r:id="rId3" action="ppaction://hlinksldjump"/>
          </p:cNvPr>
          <p:cNvSpPr/>
          <p:nvPr/>
        </p:nvSpPr>
        <p:spPr>
          <a:xfrm>
            <a:off x="566928" y="6144768"/>
            <a:ext cx="2926080" cy="502920"/>
          </a:xfrm>
          <a:prstGeom prst="roundRect">
            <a:avLst>
              <a:gd name="adj" fmla="val 50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 Back to lesson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1417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91695" cy="5080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92608"/>
            <a:ext cx="10058400" cy="320040"/>
          </a:xfrm>
          <a:prstGeom prst="rect">
            <a:avLst/>
          </a:prstGeom>
          <a:noFill/>
        </p:spPr>
        <p:txBody>
          <a:bodyPr wrap="square" lIns="0" tIns="0" rIns="0" bIns="0" anchor="t">
            <a:spAutoFit/>
          </a:bodyPr>
          <a:lstStyle/>
          <a:p>
            <a:pPr algn="l">
              <a:lnSpc>
                <a:spcPct val="112000"/>
              </a:lnSpc>
              <a:spcAft>
                <a:spcPts val="200"/>
              </a:spcAft>
            </a:pPr>
            <a:r>
              <a:rPr sz="1200" b="1" i="0">
                <a:solidFill>
                  <a:srgbClr val="8FD9C4"/>
                </a:solidFill>
                <a:latin typeface="Times New Roman"/>
              </a:rPr>
              <a:t>GLOSSARY · TERM EXPLAINED</a:t>
            </a:r>
          </a:p>
        </p:txBody>
      </p:sp>
      <p:sp>
        <p:nvSpPr>
          <p:cNvPr id="6" name="TextBox 5"/>
          <p:cNvSpPr txBox="1"/>
          <p:nvPr/>
        </p:nvSpPr>
        <p:spPr>
          <a:xfrm>
            <a:off x="566928" y="621792"/>
            <a:ext cx="10515600" cy="640080"/>
          </a:xfrm>
          <a:prstGeom prst="rect">
            <a:avLst/>
          </a:prstGeom>
          <a:noFill/>
        </p:spPr>
        <p:txBody>
          <a:bodyPr wrap="square" lIns="0" tIns="0" rIns="0" bIns="0" anchor="t">
            <a:spAutoFit/>
          </a:bodyPr>
          <a:lstStyle/>
          <a:p>
            <a:pPr algn="l">
              <a:lnSpc>
                <a:spcPct val="112000"/>
              </a:lnSpc>
              <a:spcAft>
                <a:spcPts val="200"/>
              </a:spcAft>
            </a:pPr>
            <a:r>
              <a:rPr sz="2700" b="1" i="0">
                <a:solidFill>
                  <a:srgbClr val="FFFFFF"/>
                </a:solidFill>
                <a:latin typeface="Times New Roman"/>
              </a:rPr>
              <a:t>Unquoted Service Path (vulnerability)</a:t>
            </a:r>
          </a:p>
        </p:txBody>
      </p:sp>
      <p:sp>
        <p:nvSpPr>
          <p:cNvPr id="7" name="Oval 6"/>
          <p:cNvSpPr/>
          <p:nvPr/>
        </p:nvSpPr>
        <p:spPr>
          <a:xfrm>
            <a:off x="11430000" y="457200"/>
            <a:ext cx="384048" cy="384048"/>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Times New Roman"/>
              </a:rPr>
              <a:t>23</a:t>
            </a:r>
          </a:p>
        </p:txBody>
      </p:sp>
      <p:sp>
        <p:nvSpPr>
          <p:cNvPr id="8" name="TextBox 7"/>
          <p:cNvSpPr txBox="1"/>
          <p:nvPr/>
        </p:nvSpPr>
        <p:spPr>
          <a:xfrm>
            <a:off x="566928" y="1600200"/>
            <a:ext cx="10972800" cy="640080"/>
          </a:xfrm>
          <a:prstGeom prst="rect">
            <a:avLst/>
          </a:prstGeom>
          <a:noFill/>
        </p:spPr>
        <p:txBody>
          <a:bodyPr wrap="square" lIns="0" tIns="0" rIns="0" bIns="0" anchor="t">
            <a:spAutoFit/>
          </a:bodyPr>
          <a:lstStyle/>
          <a:p>
            <a:pPr algn="l">
              <a:lnSpc>
                <a:spcPct val="110000"/>
              </a:lnSpc>
              <a:spcAft>
                <a:spcPts val="200"/>
              </a:spcAft>
            </a:pPr>
            <a:r>
              <a:rPr sz="1350" b="0" i="0">
                <a:solidFill>
                  <a:srgbClr val="202A38"/>
                </a:solidFill>
                <a:latin typeface="Times New Roman"/>
              </a:rPr>
              <a:t>The problem: a service file path is unquoted and contains spaces. For example:</a:t>
            </a:r>
          </a:p>
        </p:txBody>
      </p:sp>
      <p:sp>
        <p:nvSpPr>
          <p:cNvPr id="9" name="Rounded Rectangle 8"/>
          <p:cNvSpPr/>
          <p:nvPr/>
        </p:nvSpPr>
        <p:spPr>
          <a:xfrm>
            <a:off x="566928" y="2194560"/>
            <a:ext cx="6675120" cy="502920"/>
          </a:xfrm>
          <a:prstGeom prst="roundRect">
            <a:avLst>
              <a:gd name="adj" fmla="val 6000"/>
            </a:avLst>
          </a:prstGeom>
          <a:solidFill>
            <a:srgbClr val="12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194560"/>
            <a:ext cx="6400800" cy="502920"/>
          </a:xfrm>
          <a:prstGeom prst="rect">
            <a:avLst/>
          </a:prstGeom>
          <a:noFill/>
        </p:spPr>
        <p:txBody>
          <a:bodyPr wrap="square" lIns="0" tIns="0" rIns="0" bIns="0" anchor="ctr">
            <a:spAutoFit/>
          </a:bodyPr>
          <a:lstStyle/>
          <a:p>
            <a:pPr algn="l">
              <a:lnSpc>
                <a:spcPct val="112000"/>
              </a:lnSpc>
              <a:spcAft>
                <a:spcPts val="200"/>
              </a:spcAft>
            </a:pPr>
            <a:r>
              <a:rPr sz="1300" b="0" i="0">
                <a:solidFill>
                  <a:srgbClr val="8FE6C4"/>
                </a:solidFill>
                <a:latin typeface="Consolas"/>
              </a:rPr>
              <a:t>C:\Program Files\My App\service.exe</a:t>
            </a:r>
          </a:p>
        </p:txBody>
      </p:sp>
      <p:sp>
        <p:nvSpPr>
          <p:cNvPr id="11" name="TextBox 10"/>
          <p:cNvSpPr txBox="1"/>
          <p:nvPr/>
        </p:nvSpPr>
        <p:spPr>
          <a:xfrm>
            <a:off x="566928" y="2880360"/>
            <a:ext cx="10972800" cy="365760"/>
          </a:xfrm>
          <a:prstGeom prst="rect">
            <a:avLst/>
          </a:prstGeom>
          <a:noFill/>
        </p:spPr>
        <p:txBody>
          <a:bodyPr wrap="square" lIns="0" tIns="0" rIns="0" bIns="0" anchor="t">
            <a:spAutoFit/>
          </a:bodyPr>
          <a:lstStyle/>
          <a:p>
            <a:pPr algn="l">
              <a:lnSpc>
                <a:spcPct val="112000"/>
              </a:lnSpc>
              <a:spcAft>
                <a:spcPts val="200"/>
              </a:spcAft>
            </a:pPr>
            <a:r>
              <a:rPr sz="1300" b="1" i="0">
                <a:solidFill>
                  <a:srgbClr val="202A38"/>
                </a:solidFill>
                <a:latin typeface="Times New Roman"/>
              </a:rPr>
              <a:t>When it hits a space, Windows tries each of these in order:</a:t>
            </a:r>
          </a:p>
        </p:txBody>
      </p:sp>
      <p:sp>
        <p:nvSpPr>
          <p:cNvPr id="12" name="Rectangle 11"/>
          <p:cNvSpPr/>
          <p:nvPr/>
        </p:nvSpPr>
        <p:spPr>
          <a:xfrm>
            <a:off x="566928" y="3291840"/>
            <a:ext cx="128016" cy="5486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77240" y="3291840"/>
            <a:ext cx="4572000" cy="548640"/>
          </a:xfrm>
          <a:prstGeom prst="roundRect">
            <a:avLst>
              <a:gd name="adj" fmla="val 8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291840"/>
            <a:ext cx="4297680" cy="548640"/>
          </a:xfrm>
          <a:prstGeom prst="rect">
            <a:avLst/>
          </a:prstGeom>
          <a:noFill/>
        </p:spPr>
        <p:txBody>
          <a:bodyPr wrap="square" lIns="0" tIns="0" rIns="0" bIns="0" anchor="ctr">
            <a:spAutoFit/>
          </a:bodyPr>
          <a:lstStyle/>
          <a:p>
            <a:pPr algn="l">
              <a:lnSpc>
                <a:spcPct val="112000"/>
              </a:lnSpc>
              <a:spcAft>
                <a:spcPts val="200"/>
              </a:spcAft>
            </a:pPr>
            <a:r>
              <a:rPr sz="1200" b="0" i="0">
                <a:solidFill>
                  <a:srgbClr val="1F3864"/>
                </a:solidFill>
                <a:latin typeface="Consolas"/>
              </a:rPr>
              <a:t>C:\Program.exe</a:t>
            </a:r>
          </a:p>
        </p:txBody>
      </p:sp>
      <p:sp>
        <p:nvSpPr>
          <p:cNvPr id="15" name="TextBox 14"/>
          <p:cNvSpPr txBox="1"/>
          <p:nvPr/>
        </p:nvSpPr>
        <p:spPr>
          <a:xfrm>
            <a:off x="5486400" y="3291840"/>
            <a:ext cx="6035040" cy="548640"/>
          </a:xfrm>
          <a:prstGeom prst="rect">
            <a:avLst/>
          </a:prstGeom>
          <a:noFill/>
        </p:spPr>
        <p:txBody>
          <a:bodyPr wrap="square" lIns="0" tIns="0" rIns="0" bIns="0" anchor="ctr">
            <a:spAutoFit/>
          </a:bodyPr>
          <a:lstStyle/>
          <a:p>
            <a:pPr algn="l">
              <a:lnSpc>
                <a:spcPct val="100000"/>
              </a:lnSpc>
              <a:spcAft>
                <a:spcPts val="200"/>
              </a:spcAft>
            </a:pPr>
            <a:r>
              <a:rPr sz="1200" b="1" i="0">
                <a:solidFill>
                  <a:srgbClr val="C0392B"/>
                </a:solidFill>
                <a:latin typeface="Times New Roman"/>
              </a:rPr>
              <a:t>← if an attacker places a malicious file here, this runs first!</a:t>
            </a:r>
          </a:p>
        </p:txBody>
      </p:sp>
      <p:sp>
        <p:nvSpPr>
          <p:cNvPr id="16" name="Rectangle 15"/>
          <p:cNvSpPr/>
          <p:nvPr/>
        </p:nvSpPr>
        <p:spPr>
          <a:xfrm>
            <a:off x="566928" y="3950208"/>
            <a:ext cx="128016" cy="548640"/>
          </a:xfrm>
          <a:prstGeom prst="rect">
            <a:avLst/>
          </a:prstGeom>
          <a:solidFill>
            <a:srgbClr val="E08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77240" y="3950208"/>
            <a:ext cx="4572000" cy="548640"/>
          </a:xfrm>
          <a:prstGeom prst="roundRect">
            <a:avLst>
              <a:gd name="adj" fmla="val 8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950208"/>
            <a:ext cx="4297680" cy="548640"/>
          </a:xfrm>
          <a:prstGeom prst="rect">
            <a:avLst/>
          </a:prstGeom>
          <a:noFill/>
        </p:spPr>
        <p:txBody>
          <a:bodyPr wrap="square" lIns="0" tIns="0" rIns="0" bIns="0" anchor="ctr">
            <a:spAutoFit/>
          </a:bodyPr>
          <a:lstStyle/>
          <a:p>
            <a:pPr algn="l">
              <a:lnSpc>
                <a:spcPct val="112000"/>
              </a:lnSpc>
              <a:spcAft>
                <a:spcPts val="200"/>
              </a:spcAft>
            </a:pPr>
            <a:r>
              <a:rPr sz="1200" b="0" i="0">
                <a:solidFill>
                  <a:srgbClr val="1F3864"/>
                </a:solidFill>
                <a:latin typeface="Consolas"/>
              </a:rPr>
              <a:t>C:\Program Files\My.exe</a:t>
            </a:r>
          </a:p>
        </p:txBody>
      </p:sp>
      <p:sp>
        <p:nvSpPr>
          <p:cNvPr id="19" name="TextBox 18"/>
          <p:cNvSpPr txBox="1"/>
          <p:nvPr/>
        </p:nvSpPr>
        <p:spPr>
          <a:xfrm>
            <a:off x="5486400" y="3950208"/>
            <a:ext cx="6035040" cy="548640"/>
          </a:xfrm>
          <a:prstGeom prst="rect">
            <a:avLst/>
          </a:prstGeom>
          <a:noFill/>
        </p:spPr>
        <p:txBody>
          <a:bodyPr wrap="square" lIns="0" tIns="0" rIns="0" bIns="0" anchor="ctr">
            <a:spAutoFit/>
          </a:bodyPr>
          <a:lstStyle/>
          <a:p>
            <a:pPr algn="l">
              <a:lnSpc>
                <a:spcPct val="100000"/>
              </a:lnSpc>
              <a:spcAft>
                <a:spcPts val="200"/>
              </a:spcAft>
            </a:pPr>
            <a:r>
              <a:rPr sz="1200" b="1" i="0">
                <a:solidFill>
                  <a:srgbClr val="B06E10"/>
                </a:solidFill>
                <a:latin typeface="Times New Roman"/>
              </a:rPr>
              <a:t>← this is also tried</a:t>
            </a:r>
          </a:p>
        </p:txBody>
      </p:sp>
      <p:sp>
        <p:nvSpPr>
          <p:cNvPr id="20" name="Rectangle 19"/>
          <p:cNvSpPr/>
          <p:nvPr/>
        </p:nvSpPr>
        <p:spPr>
          <a:xfrm>
            <a:off x="566928" y="4608576"/>
            <a:ext cx="128016" cy="54864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77240" y="4608576"/>
            <a:ext cx="4572000" cy="548640"/>
          </a:xfrm>
          <a:prstGeom prst="roundRect">
            <a:avLst>
              <a:gd name="adj" fmla="val 8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608576"/>
            <a:ext cx="4297680" cy="548640"/>
          </a:xfrm>
          <a:prstGeom prst="rect">
            <a:avLst/>
          </a:prstGeom>
          <a:noFill/>
        </p:spPr>
        <p:txBody>
          <a:bodyPr wrap="square" lIns="0" tIns="0" rIns="0" bIns="0" anchor="ctr">
            <a:spAutoFit/>
          </a:bodyPr>
          <a:lstStyle/>
          <a:p>
            <a:pPr algn="l">
              <a:lnSpc>
                <a:spcPct val="112000"/>
              </a:lnSpc>
              <a:spcAft>
                <a:spcPts val="200"/>
              </a:spcAft>
            </a:pPr>
            <a:r>
              <a:rPr sz="1200" b="0" i="0">
                <a:solidFill>
                  <a:srgbClr val="1F3864"/>
                </a:solidFill>
                <a:latin typeface="Consolas"/>
              </a:rPr>
              <a:t>C:\Program Files\My App\service.exe</a:t>
            </a:r>
          </a:p>
        </p:txBody>
      </p:sp>
      <p:sp>
        <p:nvSpPr>
          <p:cNvPr id="23" name="TextBox 22"/>
          <p:cNvSpPr txBox="1"/>
          <p:nvPr/>
        </p:nvSpPr>
        <p:spPr>
          <a:xfrm>
            <a:off x="5486400" y="4608576"/>
            <a:ext cx="6035040" cy="548640"/>
          </a:xfrm>
          <a:prstGeom prst="rect">
            <a:avLst/>
          </a:prstGeom>
          <a:noFill/>
        </p:spPr>
        <p:txBody>
          <a:bodyPr wrap="square" lIns="0" tIns="0" rIns="0" bIns="0" anchor="ctr">
            <a:spAutoFit/>
          </a:bodyPr>
          <a:lstStyle/>
          <a:p>
            <a:pPr algn="l">
              <a:lnSpc>
                <a:spcPct val="100000"/>
              </a:lnSpc>
              <a:spcAft>
                <a:spcPts val="200"/>
              </a:spcAft>
            </a:pPr>
            <a:r>
              <a:rPr sz="1200" b="1" i="0">
                <a:solidFill>
                  <a:srgbClr val="43B02A"/>
                </a:solidFill>
                <a:latin typeface="Times New Roman"/>
              </a:rPr>
              <a:t>← the real, correct file (last of all)</a:t>
            </a:r>
          </a:p>
        </p:txBody>
      </p:sp>
      <p:sp>
        <p:nvSpPr>
          <p:cNvPr id="24" name="Rounded Rectangle 23"/>
          <p:cNvSpPr/>
          <p:nvPr/>
        </p:nvSpPr>
        <p:spPr>
          <a:xfrm>
            <a:off x="566928" y="5440680"/>
            <a:ext cx="11064240" cy="640080"/>
          </a:xfrm>
          <a:prstGeom prst="roundRect">
            <a:avLst>
              <a:gd name="adj" fmla="val 6000"/>
            </a:avLst>
          </a:prstGeom>
          <a:solidFill>
            <a:srgbClr val="FBECEA"/>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warning_C0392B.png"/>
          <p:cNvPicPr>
            <a:picLocks noChangeAspect="1"/>
          </p:cNvPicPr>
          <p:nvPr/>
        </p:nvPicPr>
        <p:blipFill>
          <a:blip r:embed="rId3"/>
          <a:stretch>
            <a:fillRect/>
          </a:stretch>
        </p:blipFill>
        <p:spPr>
          <a:xfrm>
            <a:off x="731520" y="5532120"/>
            <a:ext cx="457200" cy="457200"/>
          </a:xfrm>
          <a:prstGeom prst="rect">
            <a:avLst/>
          </a:prstGeom>
        </p:spPr>
      </p:pic>
      <p:sp>
        <p:nvSpPr>
          <p:cNvPr id="26" name="TextBox 25"/>
          <p:cNvSpPr txBox="1"/>
          <p:nvPr/>
        </p:nvSpPr>
        <p:spPr>
          <a:xfrm>
            <a:off x="1371600" y="5468112"/>
            <a:ext cx="10058400" cy="594360"/>
          </a:xfrm>
          <a:prstGeom prst="rect">
            <a:avLst/>
          </a:prstGeom>
          <a:noFill/>
        </p:spPr>
        <p:txBody>
          <a:bodyPr wrap="square" lIns="0" tIns="0" rIns="0" bIns="0" anchor="ctr">
            <a:spAutoFit/>
          </a:bodyPr>
          <a:lstStyle/>
          <a:p>
            <a:pPr algn="l">
              <a:lnSpc>
                <a:spcPct val="110000"/>
              </a:lnSpc>
              <a:spcAft>
                <a:spcPts val="400"/>
              </a:spcAft>
            </a:pPr>
            <a:r>
              <a:rPr sz="1200" b="1">
                <a:solidFill>
                  <a:srgbClr val="C0392B"/>
                </a:solidFill>
                <a:latin typeface="Times New Roman"/>
              </a:rPr>
              <a:t>Worst of all: </a:t>
            </a:r>
            <a:r>
              <a:rPr sz="1200">
                <a:solidFill>
                  <a:srgbClr val="202A38"/>
                </a:solidFill>
                <a:latin typeface="Times New Roman"/>
              </a:rPr>
              <a:t>because the service runs with </a:t>
            </a:r>
            <a:r>
              <a:rPr sz="1200" b="1">
                <a:solidFill>
                  <a:srgbClr val="178A73"/>
                </a:solidFill>
                <a:latin typeface="Consolas"/>
              </a:rPr>
              <a:t>SYSTEM</a:t>
            </a:r>
            <a:r>
              <a:rPr sz="1200">
                <a:solidFill>
                  <a:srgbClr val="202A38"/>
                </a:solidFill>
                <a:latin typeface="Times New Roman"/>
              </a:rPr>
              <a:t> rights, the malicious file also runs with SYSTEM rights — an ordinary user takes over the whole system. Fix: always put the path in quotes.</a:t>
            </a:r>
          </a:p>
        </p:txBody>
      </p:sp>
      <p:sp>
        <p:nvSpPr>
          <p:cNvPr id="27" name="Rounded Rectangle 26">
            <a:hlinkClick r:id="rId4" action="ppaction://hlinksldjump"/>
          </p:cNvPr>
          <p:cNvSpPr/>
          <p:nvPr/>
        </p:nvSpPr>
        <p:spPr>
          <a:xfrm>
            <a:off x="566928" y="6144768"/>
            <a:ext cx="2926080" cy="502920"/>
          </a:xfrm>
          <a:prstGeom prst="roundRect">
            <a:avLst>
              <a:gd name="adj" fmla="val 50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 Back to lesson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1417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91695" cy="5080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92608"/>
            <a:ext cx="10058400" cy="320040"/>
          </a:xfrm>
          <a:prstGeom prst="rect">
            <a:avLst/>
          </a:prstGeom>
          <a:noFill/>
        </p:spPr>
        <p:txBody>
          <a:bodyPr wrap="square" lIns="0" tIns="0" rIns="0" bIns="0" anchor="t">
            <a:spAutoFit/>
          </a:bodyPr>
          <a:lstStyle/>
          <a:p>
            <a:pPr algn="l">
              <a:lnSpc>
                <a:spcPct val="112000"/>
              </a:lnSpc>
              <a:spcAft>
                <a:spcPts val="200"/>
              </a:spcAft>
            </a:pPr>
            <a:r>
              <a:rPr sz="1200" b="1" i="0">
                <a:solidFill>
                  <a:srgbClr val="8FD9C4"/>
                </a:solidFill>
                <a:latin typeface="Times New Roman"/>
              </a:rPr>
              <a:t>GLOSSARY · TERM EXPLAINED</a:t>
            </a:r>
          </a:p>
        </p:txBody>
      </p:sp>
      <p:sp>
        <p:nvSpPr>
          <p:cNvPr id="6" name="TextBox 5"/>
          <p:cNvSpPr txBox="1"/>
          <p:nvPr/>
        </p:nvSpPr>
        <p:spPr>
          <a:xfrm>
            <a:off x="566928" y="621792"/>
            <a:ext cx="10515600" cy="640080"/>
          </a:xfrm>
          <a:prstGeom prst="rect">
            <a:avLst/>
          </a:prstGeom>
          <a:noFill/>
        </p:spPr>
        <p:txBody>
          <a:bodyPr wrap="square" lIns="0" tIns="0" rIns="0" bIns="0" anchor="t">
            <a:spAutoFit/>
          </a:bodyPr>
          <a:lstStyle/>
          <a:p>
            <a:pPr algn="l">
              <a:lnSpc>
                <a:spcPct val="112000"/>
              </a:lnSpc>
              <a:spcAft>
                <a:spcPts val="200"/>
              </a:spcAft>
            </a:pPr>
            <a:r>
              <a:rPr sz="2700" b="1" i="0">
                <a:solidFill>
                  <a:srgbClr val="FFFFFF"/>
                </a:solidFill>
                <a:latin typeface="Times New Roman"/>
              </a:rPr>
              <a:t>MITRE ATT&amp;CK</a:t>
            </a:r>
          </a:p>
        </p:txBody>
      </p:sp>
      <p:sp>
        <p:nvSpPr>
          <p:cNvPr id="7" name="Oval 6"/>
          <p:cNvSpPr/>
          <p:nvPr/>
        </p:nvSpPr>
        <p:spPr>
          <a:xfrm>
            <a:off x="11430000" y="457200"/>
            <a:ext cx="384048" cy="384048"/>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Times New Roman"/>
              </a:rPr>
              <a:t>24</a:t>
            </a:r>
          </a:p>
        </p:txBody>
      </p:sp>
      <p:sp>
        <p:nvSpPr>
          <p:cNvPr id="8" name="TextBox 7"/>
          <p:cNvSpPr txBox="1"/>
          <p:nvPr/>
        </p:nvSpPr>
        <p:spPr>
          <a:xfrm>
            <a:off x="566928" y="1691640"/>
            <a:ext cx="6400800" cy="365760"/>
          </a:xfrm>
          <a:prstGeom prst="rect">
            <a:avLst/>
          </a:prstGeom>
          <a:noFill/>
        </p:spPr>
        <p:txBody>
          <a:bodyPr wrap="square" lIns="0" tIns="0" rIns="0" bIns="0" anchor="t">
            <a:spAutoFit/>
          </a:bodyPr>
          <a:lstStyle/>
          <a:p>
            <a:pPr algn="l">
              <a:lnSpc>
                <a:spcPct val="112000"/>
              </a:lnSpc>
              <a:spcAft>
                <a:spcPts val="200"/>
              </a:spcAft>
            </a:pPr>
            <a:r>
              <a:rPr sz="1400" b="1" i="0">
                <a:solidFill>
                  <a:srgbClr val="178A73"/>
                </a:solidFill>
                <a:latin typeface="Times New Roman"/>
              </a:rPr>
              <a:t>In plain terms:</a:t>
            </a:r>
          </a:p>
        </p:txBody>
      </p:sp>
      <p:sp>
        <p:nvSpPr>
          <p:cNvPr id="9" name="TextBox 8"/>
          <p:cNvSpPr txBox="1"/>
          <p:nvPr/>
        </p:nvSpPr>
        <p:spPr>
          <a:xfrm>
            <a:off x="566928" y="2057400"/>
            <a:ext cx="6400800" cy="2011680"/>
          </a:xfrm>
          <a:prstGeom prst="rect">
            <a:avLst/>
          </a:prstGeom>
          <a:noFill/>
        </p:spPr>
        <p:txBody>
          <a:bodyPr wrap="square" lIns="0" tIns="0" rIns="0" bIns="0" anchor="t">
            <a:spAutoFit/>
          </a:bodyPr>
          <a:lstStyle/>
          <a:p>
            <a:pPr algn="l">
              <a:lnSpc>
                <a:spcPct val="125000"/>
              </a:lnSpc>
              <a:spcAft>
                <a:spcPts val="200"/>
              </a:spcAft>
            </a:pPr>
            <a:r>
              <a:rPr sz="1300" b="0" i="0">
                <a:solidFill>
                  <a:srgbClr val="202A38"/>
                </a:solidFill>
                <a:latin typeface="Times New Roman"/>
              </a:rPr>
              <a:t>MITRE ATT&amp;CK is a free, open knowledge base that organizes and catalogs the tactics and techniques attackers use in the real world (for example, “unquoted service path”).</a:t>
            </a:r>
          </a:p>
          <a:p>
            <a:pPr algn="l">
              <a:lnSpc>
                <a:spcPct val="125000"/>
              </a:lnSpc>
              <a:spcAft>
                <a:spcPts val="200"/>
              </a:spcAft>
            </a:pPr>
            <a:endParaRPr sz="1300" b="0" i="0">
              <a:solidFill>
                <a:srgbClr val="202A38"/>
              </a:solidFill>
              <a:latin typeface="Times New Roman"/>
            </a:endParaRPr>
          </a:p>
          <a:p>
            <a:pPr algn="l">
              <a:lnSpc>
                <a:spcPct val="125000"/>
              </a:lnSpc>
              <a:spcAft>
                <a:spcPts val="200"/>
              </a:spcAft>
            </a:pPr>
            <a:r>
              <a:rPr sz="1300" b="0" i="0">
                <a:solidFill>
                  <a:srgbClr val="202A38"/>
                </a:solidFill>
                <a:latin typeface="Times New Roman"/>
              </a:rPr>
              <a:t>Cybersecurity professionals use it to understand, detect and defend against attacks — it is the shared “vocabulary” of the field.</a:t>
            </a:r>
          </a:p>
        </p:txBody>
      </p:sp>
      <p:sp>
        <p:nvSpPr>
          <p:cNvPr id="10" name="Rounded Rectangle 9"/>
          <p:cNvSpPr/>
          <p:nvPr/>
        </p:nvSpPr>
        <p:spPr>
          <a:xfrm>
            <a:off x="7223760" y="1691640"/>
            <a:ext cx="4434840" cy="3566160"/>
          </a:xfrm>
          <a:prstGeom prst="roundRect">
            <a:avLst>
              <a:gd name="adj" fmla="val 4000"/>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452360" y="1920240"/>
            <a:ext cx="822960" cy="8229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rosshair_FFFFFF.png"/>
          <p:cNvPicPr>
            <a:picLocks noChangeAspect="1"/>
          </p:cNvPicPr>
          <p:nvPr/>
        </p:nvPicPr>
        <p:blipFill>
          <a:blip r:embed="rId3"/>
          <a:stretch>
            <a:fillRect/>
          </a:stretch>
        </p:blipFill>
        <p:spPr>
          <a:xfrm>
            <a:off x="7682788" y="2150668"/>
            <a:ext cx="362104" cy="362104"/>
          </a:xfrm>
          <a:prstGeom prst="rect">
            <a:avLst/>
          </a:prstGeom>
        </p:spPr>
      </p:pic>
      <p:sp>
        <p:nvSpPr>
          <p:cNvPr id="13" name="TextBox 12"/>
          <p:cNvSpPr txBox="1"/>
          <p:nvPr/>
        </p:nvSpPr>
        <p:spPr>
          <a:xfrm>
            <a:off x="8458200" y="2011680"/>
            <a:ext cx="3017520" cy="548640"/>
          </a:xfrm>
          <a:prstGeom prst="rect">
            <a:avLst/>
          </a:prstGeom>
          <a:noFill/>
        </p:spPr>
        <p:txBody>
          <a:bodyPr wrap="square" lIns="0" tIns="0" rIns="0" bIns="0" anchor="t">
            <a:spAutoFit/>
          </a:bodyPr>
          <a:lstStyle/>
          <a:p>
            <a:pPr algn="l">
              <a:lnSpc>
                <a:spcPct val="112000"/>
              </a:lnSpc>
              <a:spcAft>
                <a:spcPts val="200"/>
              </a:spcAft>
            </a:pPr>
            <a:r>
              <a:rPr sz="1500" b="1" i="0">
                <a:solidFill>
                  <a:srgbClr val="1F3864"/>
                </a:solidFill>
                <a:latin typeface="Times New Roman"/>
              </a:rPr>
              <a:t>Example</a:t>
            </a:r>
          </a:p>
        </p:txBody>
      </p:sp>
      <p:sp>
        <p:nvSpPr>
          <p:cNvPr id="14" name="TextBox 13"/>
          <p:cNvSpPr txBox="1"/>
          <p:nvPr/>
        </p:nvSpPr>
        <p:spPr>
          <a:xfrm>
            <a:off x="7452360" y="2926080"/>
            <a:ext cx="3977639" cy="2194560"/>
          </a:xfrm>
          <a:prstGeom prst="rect">
            <a:avLst/>
          </a:prstGeom>
          <a:noFill/>
        </p:spPr>
        <p:txBody>
          <a:bodyPr wrap="square" lIns="0" tIns="0" rIns="0" bIns="0" anchor="t">
            <a:spAutoFit/>
          </a:bodyPr>
          <a:lstStyle/>
          <a:p>
            <a:pPr algn="l">
              <a:lnSpc>
                <a:spcPct val="130000"/>
              </a:lnSpc>
              <a:spcAft>
                <a:spcPts val="800"/>
              </a:spcAft>
            </a:pPr>
            <a:r>
              <a:rPr sz="1300">
                <a:solidFill>
                  <a:srgbClr val="202A38"/>
                </a:solidFill>
                <a:latin typeface="Times New Roman"/>
              </a:rPr>
              <a:t>Our vulnerability is coded in the base as:</a:t>
            </a:r>
          </a:p>
          <a:p>
            <a:pPr algn="l">
              <a:lnSpc>
                <a:spcPct val="130000"/>
              </a:lnSpc>
              <a:spcAft>
                <a:spcPts val="800"/>
              </a:spcAft>
            </a:pPr>
            <a:r>
              <a:rPr sz="1300" b="1">
                <a:solidFill>
                  <a:srgbClr val="178A73"/>
                </a:solidFill>
                <a:latin typeface="Consolas"/>
              </a:rPr>
              <a:t>T1574.009</a:t>
            </a:r>
          </a:p>
          <a:p>
            <a:pPr algn="l">
              <a:lnSpc>
                <a:spcPct val="130000"/>
              </a:lnSpc>
              <a:spcAft>
                <a:spcPts val="800"/>
              </a:spcAft>
            </a:pPr>
            <a:r>
              <a:rPr sz="1300">
                <a:solidFill>
                  <a:srgbClr val="54647A"/>
                </a:solidFill>
                <a:latin typeface="Times New Roman"/>
              </a:rPr>
              <a:t>Hijack Execution Flow: Path Interception by Unquoted Path</a:t>
            </a:r>
          </a:p>
          <a:p>
            <a:pPr algn="l">
              <a:lnSpc>
                <a:spcPct val="130000"/>
              </a:lnSpc>
              <a:spcAft>
                <a:spcPts val="800"/>
              </a:spcAft>
            </a:pPr>
            <a:r>
              <a:rPr sz="1300">
                <a:solidFill>
                  <a:srgbClr val="202A38"/>
                </a:solidFill>
                <a:latin typeface="Times New Roman"/>
              </a:rPr>
              <a:t>Source: </a:t>
            </a:r>
            <a:r>
              <a:rPr sz="1300" b="1">
                <a:solidFill>
                  <a:srgbClr val="178A73"/>
                </a:solidFill>
                <a:latin typeface="Consolas"/>
              </a:rPr>
              <a:t>attack.mitre.org</a:t>
            </a:r>
          </a:p>
        </p:txBody>
      </p:sp>
      <p:sp>
        <p:nvSpPr>
          <p:cNvPr id="15" name="Rounded Rectangle 14">
            <a:hlinkClick r:id="rId4" action="ppaction://hlinksldjump"/>
          </p:cNvPr>
          <p:cNvSpPr/>
          <p:nvPr/>
        </p:nvSpPr>
        <p:spPr>
          <a:xfrm>
            <a:off x="566928" y="6144768"/>
            <a:ext cx="2926080" cy="502920"/>
          </a:xfrm>
          <a:prstGeom prst="roundRect">
            <a:avLst>
              <a:gd name="adj" fmla="val 50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 Back to lesson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1417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91695" cy="50800"/>
          </a:xfrm>
          <a:prstGeom prst="rect">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92608"/>
            <a:ext cx="10058400" cy="320040"/>
          </a:xfrm>
          <a:prstGeom prst="rect">
            <a:avLst/>
          </a:prstGeom>
          <a:noFill/>
        </p:spPr>
        <p:txBody>
          <a:bodyPr wrap="square" lIns="0" tIns="0" rIns="0" bIns="0" anchor="t">
            <a:spAutoFit/>
          </a:bodyPr>
          <a:lstStyle/>
          <a:p>
            <a:pPr algn="l">
              <a:lnSpc>
                <a:spcPct val="112000"/>
              </a:lnSpc>
              <a:spcAft>
                <a:spcPts val="200"/>
              </a:spcAft>
            </a:pPr>
            <a:r>
              <a:rPr sz="1200" b="1" i="0">
                <a:solidFill>
                  <a:srgbClr val="8FD9C4"/>
                </a:solidFill>
                <a:latin typeface="Times New Roman"/>
              </a:rPr>
              <a:t>GLOSSARY · TERM EXPLAINED</a:t>
            </a:r>
          </a:p>
        </p:txBody>
      </p:sp>
      <p:sp>
        <p:nvSpPr>
          <p:cNvPr id="6" name="TextBox 5"/>
          <p:cNvSpPr txBox="1"/>
          <p:nvPr/>
        </p:nvSpPr>
        <p:spPr>
          <a:xfrm>
            <a:off x="566928" y="621792"/>
            <a:ext cx="10515600" cy="640080"/>
          </a:xfrm>
          <a:prstGeom prst="rect">
            <a:avLst/>
          </a:prstGeom>
          <a:noFill/>
        </p:spPr>
        <p:txBody>
          <a:bodyPr wrap="square" lIns="0" tIns="0" rIns="0" bIns="0" anchor="t">
            <a:spAutoFit/>
          </a:bodyPr>
          <a:lstStyle/>
          <a:p>
            <a:pPr algn="l">
              <a:lnSpc>
                <a:spcPct val="112000"/>
              </a:lnSpc>
              <a:spcAft>
                <a:spcPts val="200"/>
              </a:spcAft>
            </a:pPr>
            <a:r>
              <a:rPr sz="2700" b="1" i="0">
                <a:solidFill>
                  <a:srgbClr val="FFFFFF"/>
                </a:solidFill>
                <a:latin typeface="Times New Roman"/>
              </a:rPr>
              <a:t>cmdlet (a PowerShell command)</a:t>
            </a:r>
          </a:p>
        </p:txBody>
      </p:sp>
      <p:sp>
        <p:nvSpPr>
          <p:cNvPr id="7" name="Oval 6"/>
          <p:cNvSpPr/>
          <p:nvPr/>
        </p:nvSpPr>
        <p:spPr>
          <a:xfrm>
            <a:off x="11430000" y="457200"/>
            <a:ext cx="384048" cy="384048"/>
          </a:xfrm>
          <a:prstGeom prst="ellipse">
            <a:avLst/>
          </a:prstGeom>
          <a:solidFill>
            <a:srgbClr val="43B0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Times New Roman"/>
              </a:rPr>
              <a:t>25</a:t>
            </a:r>
          </a:p>
        </p:txBody>
      </p:sp>
      <p:sp>
        <p:nvSpPr>
          <p:cNvPr id="8" name="TextBox 7"/>
          <p:cNvSpPr txBox="1"/>
          <p:nvPr/>
        </p:nvSpPr>
        <p:spPr>
          <a:xfrm>
            <a:off x="566928" y="1691640"/>
            <a:ext cx="6400800" cy="365760"/>
          </a:xfrm>
          <a:prstGeom prst="rect">
            <a:avLst/>
          </a:prstGeom>
          <a:noFill/>
        </p:spPr>
        <p:txBody>
          <a:bodyPr wrap="square" lIns="0" tIns="0" rIns="0" bIns="0" anchor="t">
            <a:spAutoFit/>
          </a:bodyPr>
          <a:lstStyle/>
          <a:p>
            <a:pPr algn="l">
              <a:lnSpc>
                <a:spcPct val="112000"/>
              </a:lnSpc>
              <a:spcAft>
                <a:spcPts val="200"/>
              </a:spcAft>
            </a:pPr>
            <a:r>
              <a:rPr sz="1400" b="1" i="0">
                <a:solidFill>
                  <a:srgbClr val="178A73"/>
                </a:solidFill>
                <a:latin typeface="Times New Roman"/>
              </a:rPr>
              <a:t>In plain terms:</a:t>
            </a:r>
          </a:p>
        </p:txBody>
      </p:sp>
      <p:sp>
        <p:nvSpPr>
          <p:cNvPr id="9" name="TextBox 8"/>
          <p:cNvSpPr txBox="1"/>
          <p:nvPr/>
        </p:nvSpPr>
        <p:spPr>
          <a:xfrm>
            <a:off x="566928" y="2057400"/>
            <a:ext cx="6400800" cy="2103120"/>
          </a:xfrm>
          <a:prstGeom prst="rect">
            <a:avLst/>
          </a:prstGeom>
          <a:noFill/>
        </p:spPr>
        <p:txBody>
          <a:bodyPr wrap="square" lIns="0" tIns="0" rIns="0" bIns="0" anchor="t">
            <a:spAutoFit/>
          </a:bodyPr>
          <a:lstStyle/>
          <a:p>
            <a:pPr algn="l">
              <a:lnSpc>
                <a:spcPct val="125000"/>
              </a:lnSpc>
              <a:spcAft>
                <a:spcPts val="200"/>
              </a:spcAft>
            </a:pPr>
            <a:r>
              <a:rPr sz="1300" b="0" i="0">
                <a:solidFill>
                  <a:srgbClr val="202A38"/>
                </a:solidFill>
                <a:latin typeface="Times New Roman"/>
              </a:rPr>
              <a:t>A cmdlet (pronounced “command-let”) is a small PowerShell command that does one specific job. It is not an ordinary .exe program — it runs only inside PowerShell.</a:t>
            </a:r>
          </a:p>
          <a:p>
            <a:pPr algn="l">
              <a:lnSpc>
                <a:spcPct val="125000"/>
              </a:lnSpc>
              <a:spcAft>
                <a:spcPts val="200"/>
              </a:spcAft>
            </a:pPr>
            <a:endParaRPr sz="1300" b="0" i="0">
              <a:solidFill>
                <a:srgbClr val="202A38"/>
              </a:solidFill>
              <a:latin typeface="Times New Roman"/>
            </a:endParaRPr>
          </a:p>
          <a:p>
            <a:pPr algn="l">
              <a:lnSpc>
                <a:spcPct val="125000"/>
              </a:lnSpc>
              <a:spcAft>
                <a:spcPts val="200"/>
              </a:spcAft>
            </a:pPr>
            <a:r>
              <a:rPr sz="1300" b="0" i="0">
                <a:solidFill>
                  <a:srgbClr val="202A38"/>
                </a:solidFill>
                <a:latin typeface="Times New Roman"/>
              </a:rPr>
              <a:t>A cmdlet is always named in “Verb-Noun” form: first what it does (verb), then on what (noun).</a:t>
            </a:r>
          </a:p>
        </p:txBody>
      </p:sp>
      <p:sp>
        <p:nvSpPr>
          <p:cNvPr id="10" name="Rounded Rectangle 9"/>
          <p:cNvSpPr/>
          <p:nvPr/>
        </p:nvSpPr>
        <p:spPr>
          <a:xfrm>
            <a:off x="7223760" y="1737360"/>
            <a:ext cx="4434840" cy="457200"/>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23760" y="1737360"/>
            <a:ext cx="4434840" cy="457200"/>
          </a:xfrm>
          <a:prstGeom prst="rect">
            <a:avLst/>
          </a:prstGeom>
          <a:noFill/>
        </p:spPr>
        <p:txBody>
          <a:bodyPr wrap="square" lIns="0" tIns="0" rIns="0" bIns="0" anchor="ctr">
            <a:spAutoFit/>
          </a:bodyPr>
          <a:lstStyle/>
          <a:p>
            <a:pPr algn="ctr">
              <a:lnSpc>
                <a:spcPct val="112000"/>
              </a:lnSpc>
              <a:spcAft>
                <a:spcPts val="200"/>
              </a:spcAft>
            </a:pPr>
            <a:r>
              <a:rPr sz="1300" b="1" i="0">
                <a:solidFill>
                  <a:srgbClr val="FFFFFF"/>
                </a:solidFill>
                <a:latin typeface="Times New Roman"/>
              </a:rPr>
              <a:t>Verb  +  Noun  =  cmdlet</a:t>
            </a:r>
          </a:p>
        </p:txBody>
      </p:sp>
      <p:sp>
        <p:nvSpPr>
          <p:cNvPr id="12" name="Rectangle 11"/>
          <p:cNvSpPr/>
          <p:nvPr/>
        </p:nvSpPr>
        <p:spPr>
          <a:xfrm>
            <a:off x="7223760" y="2286000"/>
            <a:ext cx="4434840" cy="502920"/>
          </a:xfrm>
          <a:prstGeom prst="rect">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60920" y="2286000"/>
            <a:ext cx="1828800" cy="502920"/>
          </a:xfrm>
          <a:prstGeom prst="rect">
            <a:avLst/>
          </a:prstGeom>
          <a:noFill/>
        </p:spPr>
        <p:txBody>
          <a:bodyPr wrap="square" lIns="0" tIns="0" rIns="0" bIns="0" anchor="ctr">
            <a:spAutoFit/>
          </a:bodyPr>
          <a:lstStyle/>
          <a:p>
            <a:pPr algn="l">
              <a:lnSpc>
                <a:spcPct val="112000"/>
              </a:lnSpc>
              <a:spcAft>
                <a:spcPts val="200"/>
              </a:spcAft>
            </a:pPr>
            <a:r>
              <a:rPr sz="1200" b="1" i="0">
                <a:solidFill>
                  <a:srgbClr val="1F3864"/>
                </a:solidFill>
                <a:latin typeface="Consolas"/>
              </a:rPr>
              <a:t>Get-Service</a:t>
            </a:r>
          </a:p>
        </p:txBody>
      </p:sp>
      <p:sp>
        <p:nvSpPr>
          <p:cNvPr id="14" name="TextBox 13"/>
          <p:cNvSpPr txBox="1"/>
          <p:nvPr/>
        </p:nvSpPr>
        <p:spPr>
          <a:xfrm>
            <a:off x="9144000" y="2286000"/>
            <a:ext cx="2377440" cy="502920"/>
          </a:xfrm>
          <a:prstGeom prst="rect">
            <a:avLst/>
          </a:prstGeom>
          <a:noFill/>
        </p:spPr>
        <p:txBody>
          <a:bodyPr wrap="square" lIns="0" tIns="0" rIns="0" bIns="0" anchor="ctr">
            <a:spAutoFit/>
          </a:bodyPr>
          <a:lstStyle/>
          <a:p>
            <a:pPr algn="l">
              <a:lnSpc>
                <a:spcPct val="112000"/>
              </a:lnSpc>
              <a:spcAft>
                <a:spcPts val="200"/>
              </a:spcAft>
            </a:pPr>
            <a:r>
              <a:rPr sz="1050" b="0" i="0">
                <a:solidFill>
                  <a:srgbClr val="54647A"/>
                </a:solidFill>
                <a:latin typeface="Times New Roman"/>
              </a:rPr>
              <a:t>Get (retrieve) · Service</a:t>
            </a:r>
          </a:p>
        </p:txBody>
      </p:sp>
      <p:sp>
        <p:nvSpPr>
          <p:cNvPr id="15" name="Rectangle 14"/>
          <p:cNvSpPr/>
          <p:nvPr/>
        </p:nvSpPr>
        <p:spPr>
          <a:xfrm>
            <a:off x="7223760" y="2834640"/>
            <a:ext cx="4434840" cy="502920"/>
          </a:xfrm>
          <a:prstGeom prst="rect">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60920" y="2834640"/>
            <a:ext cx="1828800" cy="502920"/>
          </a:xfrm>
          <a:prstGeom prst="rect">
            <a:avLst/>
          </a:prstGeom>
          <a:noFill/>
        </p:spPr>
        <p:txBody>
          <a:bodyPr wrap="square" lIns="0" tIns="0" rIns="0" bIns="0" anchor="ctr">
            <a:spAutoFit/>
          </a:bodyPr>
          <a:lstStyle/>
          <a:p>
            <a:pPr algn="l">
              <a:lnSpc>
                <a:spcPct val="112000"/>
              </a:lnSpc>
              <a:spcAft>
                <a:spcPts val="200"/>
              </a:spcAft>
            </a:pPr>
            <a:r>
              <a:rPr sz="1200" b="1" i="0">
                <a:solidFill>
                  <a:srgbClr val="1F3864"/>
                </a:solidFill>
                <a:latin typeface="Consolas"/>
              </a:rPr>
              <a:t>Start-Service</a:t>
            </a:r>
          </a:p>
        </p:txBody>
      </p:sp>
      <p:sp>
        <p:nvSpPr>
          <p:cNvPr id="17" name="TextBox 16"/>
          <p:cNvSpPr txBox="1"/>
          <p:nvPr/>
        </p:nvSpPr>
        <p:spPr>
          <a:xfrm>
            <a:off x="9144000" y="2834640"/>
            <a:ext cx="2377440" cy="502920"/>
          </a:xfrm>
          <a:prstGeom prst="rect">
            <a:avLst/>
          </a:prstGeom>
          <a:noFill/>
        </p:spPr>
        <p:txBody>
          <a:bodyPr wrap="square" lIns="0" tIns="0" rIns="0" bIns="0" anchor="ctr">
            <a:spAutoFit/>
          </a:bodyPr>
          <a:lstStyle/>
          <a:p>
            <a:pPr algn="l">
              <a:lnSpc>
                <a:spcPct val="112000"/>
              </a:lnSpc>
              <a:spcAft>
                <a:spcPts val="200"/>
              </a:spcAft>
            </a:pPr>
            <a:r>
              <a:rPr sz="1050" b="0" i="0">
                <a:solidFill>
                  <a:srgbClr val="54647A"/>
                </a:solidFill>
                <a:latin typeface="Times New Roman"/>
              </a:rPr>
              <a:t>Start (launch) · Service</a:t>
            </a:r>
          </a:p>
        </p:txBody>
      </p:sp>
      <p:sp>
        <p:nvSpPr>
          <p:cNvPr id="18" name="Rectangle 17"/>
          <p:cNvSpPr/>
          <p:nvPr/>
        </p:nvSpPr>
        <p:spPr>
          <a:xfrm>
            <a:off x="7223760" y="3383280"/>
            <a:ext cx="4434840" cy="502920"/>
          </a:xfrm>
          <a:prstGeom prst="rect">
            <a:avLst/>
          </a:prstGeom>
          <a:solidFill>
            <a:srgbClr val="F5F8FC"/>
          </a:solidFill>
          <a:ln w="12700">
            <a:solidFill>
              <a:srgbClr val="D8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60920" y="3383280"/>
            <a:ext cx="1828800" cy="502920"/>
          </a:xfrm>
          <a:prstGeom prst="rect">
            <a:avLst/>
          </a:prstGeom>
          <a:noFill/>
        </p:spPr>
        <p:txBody>
          <a:bodyPr wrap="square" lIns="0" tIns="0" rIns="0" bIns="0" anchor="ctr">
            <a:spAutoFit/>
          </a:bodyPr>
          <a:lstStyle/>
          <a:p>
            <a:pPr algn="l">
              <a:lnSpc>
                <a:spcPct val="112000"/>
              </a:lnSpc>
              <a:spcAft>
                <a:spcPts val="200"/>
              </a:spcAft>
            </a:pPr>
            <a:r>
              <a:rPr sz="1200" b="1" i="0">
                <a:solidFill>
                  <a:srgbClr val="1F3864"/>
                </a:solidFill>
                <a:latin typeface="Consolas"/>
              </a:rPr>
              <a:t>Stop-Service</a:t>
            </a:r>
          </a:p>
        </p:txBody>
      </p:sp>
      <p:sp>
        <p:nvSpPr>
          <p:cNvPr id="20" name="TextBox 19"/>
          <p:cNvSpPr txBox="1"/>
          <p:nvPr/>
        </p:nvSpPr>
        <p:spPr>
          <a:xfrm>
            <a:off x="9144000" y="3383280"/>
            <a:ext cx="2377440" cy="502920"/>
          </a:xfrm>
          <a:prstGeom prst="rect">
            <a:avLst/>
          </a:prstGeom>
          <a:noFill/>
        </p:spPr>
        <p:txBody>
          <a:bodyPr wrap="square" lIns="0" tIns="0" rIns="0" bIns="0" anchor="ctr">
            <a:spAutoFit/>
          </a:bodyPr>
          <a:lstStyle/>
          <a:p>
            <a:pPr algn="l">
              <a:lnSpc>
                <a:spcPct val="112000"/>
              </a:lnSpc>
              <a:spcAft>
                <a:spcPts val="200"/>
              </a:spcAft>
            </a:pPr>
            <a:r>
              <a:rPr sz="1050" b="0" i="0">
                <a:solidFill>
                  <a:srgbClr val="54647A"/>
                </a:solidFill>
                <a:latin typeface="Times New Roman"/>
              </a:rPr>
              <a:t>Stop (halt) · Service</a:t>
            </a:r>
          </a:p>
        </p:txBody>
      </p:sp>
      <p:sp>
        <p:nvSpPr>
          <p:cNvPr id="21" name="Rounded Rectangle 20"/>
          <p:cNvSpPr/>
          <p:nvPr/>
        </p:nvSpPr>
        <p:spPr>
          <a:xfrm>
            <a:off x="566928" y="4480560"/>
            <a:ext cx="6400800" cy="822960"/>
          </a:xfrm>
          <a:prstGeom prst="roundRect">
            <a:avLst>
              <a:gd name="adj" fmla="val 6000"/>
            </a:avLst>
          </a:prstGeom>
          <a:solidFill>
            <a:srgbClr val="E3F3EE"/>
          </a:solidFill>
          <a:ln w="12700">
            <a:solidFill>
              <a:srgbClr val="178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553712"/>
            <a:ext cx="6035040" cy="685800"/>
          </a:xfrm>
          <a:prstGeom prst="rect">
            <a:avLst/>
          </a:prstGeom>
          <a:noFill/>
        </p:spPr>
        <p:txBody>
          <a:bodyPr wrap="square" lIns="0" tIns="0" rIns="0" bIns="0" anchor="ctr">
            <a:spAutoFit/>
          </a:bodyPr>
          <a:lstStyle/>
          <a:p>
            <a:pPr algn="l">
              <a:lnSpc>
                <a:spcPct val="115000"/>
              </a:lnSpc>
              <a:spcAft>
                <a:spcPts val="400"/>
              </a:spcAft>
            </a:pPr>
            <a:r>
              <a:rPr sz="1250" b="1">
                <a:solidFill>
                  <a:srgbClr val="1F3864"/>
                </a:solidFill>
                <a:latin typeface="Times New Roman"/>
              </a:rPr>
              <a:t>Note: </a:t>
            </a:r>
            <a:r>
              <a:rPr sz="1250" b="1">
                <a:solidFill>
                  <a:srgbClr val="178A73"/>
                </a:solidFill>
                <a:latin typeface="Consolas"/>
              </a:rPr>
              <a:t>Get-Service</a:t>
            </a:r>
            <a:r>
              <a:rPr sz="1250">
                <a:solidFill>
                  <a:srgbClr val="202A38"/>
                </a:solidFill>
                <a:latin typeface="Times New Roman"/>
              </a:rPr>
              <a:t> will not work if you type it in CMD — only in PowerShell.</a:t>
            </a:r>
          </a:p>
        </p:txBody>
      </p:sp>
      <p:sp>
        <p:nvSpPr>
          <p:cNvPr id="23" name="Rounded Rectangle 22">
            <a:hlinkClick r:id="rId3" action="ppaction://hlinksldjump"/>
          </p:cNvPr>
          <p:cNvSpPr/>
          <p:nvPr/>
        </p:nvSpPr>
        <p:spPr>
          <a:xfrm>
            <a:off x="566928" y="6144768"/>
            <a:ext cx="2926080" cy="502920"/>
          </a:xfrm>
          <a:prstGeom prst="roundRect">
            <a:avLst>
              <a:gd name="adj" fmla="val 50000"/>
            </a:avLst>
          </a:prstGeom>
          <a:solidFill>
            <a:srgbClr val="178A7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Times New Roman"/>
              </a:rPr>
              <a:t>← Back to lesson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2363</Words>
  <Application>Microsoft Office PowerPoint</Application>
  <PresentationFormat>Широкоэкранный</PresentationFormat>
  <Paragraphs>351</Paragraphs>
  <Slides>26</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26</vt:i4>
      </vt:variant>
    </vt:vector>
  </HeadingPairs>
  <TitlesOfParts>
    <vt:vector size="32" baseType="lpstr">
      <vt:lpstr>Arial</vt:lpstr>
      <vt:lpstr>Calibri</vt:lpstr>
      <vt:lpstr>Cambria Math</vt:lpstr>
      <vt:lpstr>Consolas</vt:lpstr>
      <vt:lpstr>Times New Roman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
  <cp:keywords/>
  <dc:description>generated using python-pptx</dc:description>
  <cp:lastModifiedBy>user</cp:lastModifiedBy>
  <cp:revision>4</cp:revision>
  <dcterms:created xsi:type="dcterms:W3CDTF">2013-01-27T09:14:16Z</dcterms:created>
  <dcterms:modified xsi:type="dcterms:W3CDTF">2026-09-21T17:43:44Z</dcterms:modified>
  <cp:category/>
</cp:coreProperties>
</file>