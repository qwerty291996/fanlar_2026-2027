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47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slide" Target="slide27.xml"/><Relationship Id="rId5" Type="http://schemas.openxmlformats.org/officeDocument/2006/relationships/slide" Target="slide2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.png"/><Relationship Id="rId4" Type="http://schemas.openxmlformats.org/officeDocument/2006/relationships/slide" Target="slide26.xml"/><Relationship Id="rId5" Type="http://schemas.openxmlformats.org/officeDocument/2006/relationships/slide" Target="slide2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1.png"/><Relationship Id="rId4" Type="http://schemas.openxmlformats.org/officeDocument/2006/relationships/image" Target="../media/image10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slide" Target="slide29.xml"/><Relationship Id="rId8" Type="http://schemas.openxmlformats.org/officeDocument/2006/relationships/slide" Target="slide3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4.png"/><Relationship Id="rId4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9.png"/><Relationship Id="rId7" Type="http://schemas.openxmlformats.org/officeDocument/2006/relationships/image" Target="../media/image33.png"/><Relationship Id="rId8" Type="http://schemas.openxmlformats.org/officeDocument/2006/relationships/slide" Target="slide3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2.png"/><Relationship Id="rId4" Type="http://schemas.openxmlformats.org/officeDocument/2006/relationships/image" Target="../media/image29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22.png"/><Relationship Id="rId8" Type="http://schemas.openxmlformats.org/officeDocument/2006/relationships/image" Target="../media/image3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slide" Target="slide3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6.png"/><Relationship Id="rId4" Type="http://schemas.openxmlformats.org/officeDocument/2006/relationships/slide" Target="slide3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3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Relationship Id="rId6" Type="http://schemas.openxmlformats.org/officeDocument/2006/relationships/image" Target="../media/image47.png"/><Relationship Id="rId7" Type="http://schemas.openxmlformats.org/officeDocument/2006/relationships/image" Target="../media/image10.png"/><Relationship Id="rId8" Type="http://schemas.openxmlformats.org/officeDocument/2006/relationships/image" Target="../media/image48.png"/><Relationship Id="rId9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21.png"/><Relationship Id="rId5" Type="http://schemas.openxmlformats.org/officeDocument/2006/relationships/image" Target="../media/image19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26.xml"/><Relationship Id="rId4" Type="http://schemas.openxmlformats.org/officeDocument/2006/relationships/image" Target="../media/image7.png"/><Relationship Id="rId5" Type="http://schemas.openxmlformats.org/officeDocument/2006/relationships/slide" Target="slide27.xml"/><Relationship Id="rId6" Type="http://schemas.openxmlformats.org/officeDocument/2006/relationships/image" Target="../media/image13.png"/><Relationship Id="rId7" Type="http://schemas.openxmlformats.org/officeDocument/2006/relationships/slide" Target="slide28.xml"/><Relationship Id="rId8" Type="http://schemas.openxmlformats.org/officeDocument/2006/relationships/image" Target="../media/image23.png"/><Relationship Id="rId9" Type="http://schemas.openxmlformats.org/officeDocument/2006/relationships/slide" Target="slide29.xml"/><Relationship Id="rId10" Type="http://schemas.openxmlformats.org/officeDocument/2006/relationships/image" Target="../media/image21.png"/><Relationship Id="rId11" Type="http://schemas.openxmlformats.org/officeDocument/2006/relationships/slide" Target="slide30.xml"/><Relationship Id="rId12" Type="http://schemas.openxmlformats.org/officeDocument/2006/relationships/image" Target="../media/image50.png"/><Relationship Id="rId13" Type="http://schemas.openxmlformats.org/officeDocument/2006/relationships/slide" Target="slide31.xml"/><Relationship Id="rId14" Type="http://schemas.openxmlformats.org/officeDocument/2006/relationships/image" Target="../media/image33.png"/><Relationship Id="rId15" Type="http://schemas.openxmlformats.org/officeDocument/2006/relationships/slide" Target="slide32.xml"/><Relationship Id="rId16" Type="http://schemas.openxmlformats.org/officeDocument/2006/relationships/image" Target="../media/image48.png"/><Relationship Id="rId17" Type="http://schemas.openxmlformats.org/officeDocument/2006/relationships/slide" Target="slide33.xml"/><Relationship Id="rId18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9.xml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1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17.xml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94560"/>
            <a:ext cx="2468880" cy="2505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4892040"/>
            <a:ext cx="27432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050" b="0" i="1">
                <a:solidFill>
                  <a:srgbClr val="FFFFFF"/>
                </a:solidFill>
                <a:latin typeface="Times New Roman"/>
              </a:rPr>
              <a:t>O‘ZBEKISTON RESPUBLIKASI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050" b="0" i="1">
                <a:solidFill>
                  <a:srgbClr val="FFFFFF"/>
                </a:solidFill>
                <a:latin typeface="Times New Roman"/>
              </a:rPr>
              <a:t>HARBIY XAVFSIZLIK VA MUDOFAA UNIVERSITETI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050" b="0" i="1">
                <a:solidFill>
                  <a:srgbClr val="FFFFFF"/>
                </a:solidFill>
                <a:latin typeface="Times New Roman"/>
              </a:rPr>
              <a:t>Axborot-kommunikatsiya texnologiyalari va harbiy aloqa instituti · Kiberxavfsizlik kafedrasi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14173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8FD9C4"/>
                </a:solidFill>
                <a:latin typeface="Times New Roman"/>
              </a:rPr>
              <a:t>FAN: “KIBER KRIMINALISTIKA VA ETIKAL HAKING”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0440" y="19659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Times New Roman"/>
              </a:rPr>
              <a:t>1-MAVZU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2514600"/>
            <a:ext cx="8321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5200" b="1" i="0">
                <a:solidFill>
                  <a:srgbClr val="FFFFFF"/>
                </a:solidFill>
                <a:latin typeface="Times New Roman"/>
              </a:rPr>
              <a:t>WINDOWS OT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5200" b="1" i="0">
                <a:solidFill>
                  <a:srgbClr val="FFFFFF"/>
                </a:solidFill>
                <a:latin typeface="Times New Roman"/>
              </a:rPr>
              <a:t>XAVFSIZLIGI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4343400"/>
            <a:ext cx="1280160" cy="5080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457200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700" b="0" i="0">
                <a:solidFill>
                  <a:srgbClr val="D6E2EE"/>
                </a:solidFill>
                <a:latin typeface="Times New Roman"/>
              </a:rPr>
              <a:t>2-mashg‘ulot · Windows OT servislari  |  Seminar, 2 soat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598932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 i="1">
                <a:solidFill>
                  <a:srgbClr val="B9CDE0"/>
                </a:solidFill>
                <a:latin typeface="Times New Roman"/>
              </a:rPr>
              <a:t>Ma’ruzachi: Kiberxavfsizlik kafedrasi katta o‘qituvchisi — kapitan M. Isakov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1-MAVZU · WINDOWS OT XAVFSIZLIGI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2-mashg‘ulot: Windows OT servislari (seminar)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91640"/>
            <a:ext cx="3566160" cy="123444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95528" y="1938528"/>
            <a:ext cx="731520" cy="73152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53" y="2143353"/>
            <a:ext cx="321870" cy="32187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64208" y="19202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54647A"/>
                </a:solidFill>
                <a:latin typeface="Times New Roman"/>
              </a:rPr>
              <a:t>Mavzu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8" y="22860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</a:rPr>
              <a:t>Windows OT xavfsizligi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24528" y="1691640"/>
            <a:ext cx="3566160" cy="123444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453128" y="1938528"/>
            <a:ext cx="731520" cy="73152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boo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953" y="2143353"/>
            <a:ext cx="321870" cy="32187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21808" y="19202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54647A"/>
                </a:solidFill>
                <a:latin typeface="Times New Roman"/>
              </a:rPr>
              <a:t>Mashg‘ulot turi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22860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</a:rPr>
              <a:t>Seminar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82127" y="1691640"/>
            <a:ext cx="3566160" cy="123444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110727" y="1938528"/>
            <a:ext cx="731520" cy="73152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clo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5552" y="2143353"/>
            <a:ext cx="321870" cy="32187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979407" y="19202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54647A"/>
                </a:solidFill>
                <a:latin typeface="Times New Roman"/>
              </a:rPr>
              <a:t>Davomiyligi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9407" y="22860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</a:rPr>
              <a:t>2 soat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154680"/>
            <a:ext cx="6949440" cy="3063240"/>
          </a:xfrm>
          <a:prstGeom prst="roundRect">
            <a:avLst>
              <a:gd name="adj" fmla="val 4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3364992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Times New Roman"/>
              </a:rPr>
              <a:t>O‘quv savollari</a:t>
            </a:r>
          </a:p>
        </p:txBody>
      </p:sp>
      <p:sp>
        <p:nvSpPr>
          <p:cNvPr id="25" name="Oval 24"/>
          <p:cNvSpPr/>
          <p:nvPr/>
        </p:nvSpPr>
        <p:spPr>
          <a:xfrm>
            <a:off x="868680" y="4023360"/>
            <a:ext cx="502920" cy="502920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023360"/>
            <a:ext cx="57607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User Account Control, AppLocker va SmartScreen xavfsizlik tizimlari</a:t>
            </a:r>
          </a:p>
        </p:txBody>
      </p:sp>
      <p:sp>
        <p:nvSpPr>
          <p:cNvPr id="27" name="Oval 26"/>
          <p:cNvSpPr/>
          <p:nvPr/>
        </p:nvSpPr>
        <p:spPr>
          <a:xfrm>
            <a:off x="868680" y="4892040"/>
            <a:ext cx="502920" cy="502920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892040"/>
            <a:ext cx="57607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Defender va Firewall xavfsizlik tizimlari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26679" y="3154680"/>
            <a:ext cx="3904487" cy="3063240"/>
          </a:xfrm>
          <a:prstGeom prst="roundRect">
            <a:avLst>
              <a:gd name="adj" fmla="val 5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955279" y="3364992"/>
            <a:ext cx="566928" cy="56692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layer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4018" y="3523731"/>
            <a:ext cx="249450" cy="2494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641080" y="338328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178A73"/>
                </a:solidFill>
                <a:latin typeface="Times New Roman"/>
              </a:rPr>
              <a:t>1-mashg‘ulot bilan bog‘liqlik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069080"/>
            <a:ext cx="356616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 b="1">
                <a:solidFill>
                  <a:srgbClr val="178A73"/>
                </a:solidFill>
                <a:latin typeface="Consolas"/>
              </a:rPr>
              <a:t>AppLocker</a:t>
            </a:r>
            <a:r>
              <a:rPr sz="1250">
                <a:solidFill>
                  <a:srgbClr val="202A38"/>
                </a:solidFill>
                <a:latin typeface="Times New Roman"/>
              </a:rPr>
              <a:t> faqat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Application Identity</a:t>
            </a:r>
            <a:r>
              <a:rPr sz="1250">
                <a:solidFill>
                  <a:srgbClr val="202A38"/>
                </a:solidFill>
                <a:latin typeface="Times New Roman"/>
              </a:rPr>
              <a:t> servisi ishlab turgandagina ishlaydi.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 b="1">
                <a:solidFill>
                  <a:srgbClr val="178A73"/>
                </a:solidFill>
                <a:latin typeface="Consolas"/>
              </a:rPr>
              <a:t>Defender</a:t>
            </a:r>
            <a:r>
              <a:rPr sz="1250">
                <a:solidFill>
                  <a:srgbClr val="202A38"/>
                </a:solidFill>
                <a:latin typeface="Times New Roman"/>
              </a:rPr>
              <a:t> va </a:t>
            </a:r>
            <a:r>
              <a:rPr sz="1250" b="1">
                <a:solidFill>
                  <a:srgbClr val="178A73"/>
                </a:solidFill>
                <a:latin typeface="Consolas"/>
              </a:rPr>
              <a:t>Firewall</a:t>
            </a:r>
            <a:r>
              <a:rPr sz="1250">
                <a:solidFill>
                  <a:srgbClr val="202A38"/>
                </a:solidFill>
                <a:latin typeface="Times New Roman"/>
              </a:rPr>
              <a:t> ham aslida servislardir (WinDefend, MpsSvc).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>
                <a:solidFill>
                  <a:srgbClr val="202A38"/>
                </a:solidFill>
                <a:latin typeface="Times New Roman"/>
              </a:rPr>
              <a:t>Bugun: hujumni boshlanishidan oldin va keyin to‘xtatadigan vositalar.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697480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8FD9C4"/>
                </a:solidFill>
                <a:latin typeface="Times New Roman"/>
              </a:rPr>
              <a:t>1-SAVOL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089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Times New Roman"/>
              </a:rPr>
              <a:t>UAC, AppLocker va SmartScreen xavfsizlik tizimlari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4160520"/>
            <a:ext cx="1188720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1-SAVOL · USER ACCOUNT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UAC — nima uchun joriy qilingan va nima qiladi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5394960" cy="2103120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22960" y="1874519"/>
            <a:ext cx="685800" cy="6858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warnin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2066543"/>
            <a:ext cx="301752" cy="3017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91640" y="1901952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C0392B"/>
                </a:solidFill>
                <a:latin typeface="Times New Roman"/>
              </a:rPr>
              <a:t>Muammo (Windows XP)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51760"/>
            <a:ext cx="49377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C0392B"/>
                </a:solidFill>
                <a:latin typeface="Times New Roman"/>
              </a:rPr>
              <a:t>▸  </a:t>
            </a:r>
            <a:r>
              <a:rPr sz="1250">
                <a:solidFill>
                  <a:srgbClr val="202A38"/>
                </a:solidFill>
                <a:latin typeface="Times New Roman"/>
              </a:rPr>
              <a:t>Foydalanuvchilar doimo administrator huquqlari bilan ishlagan.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C0392B"/>
                </a:solidFill>
                <a:latin typeface="Times New Roman"/>
              </a:rPr>
              <a:t>▸  </a:t>
            </a:r>
            <a:r>
              <a:rPr sz="1250">
                <a:solidFill>
                  <a:srgbClr val="202A38"/>
                </a:solidFill>
                <a:latin typeface="Times New Roman"/>
              </a:rPr>
              <a:t>Ular ishga tushirgan har qanday zararli dastur darhol to‘liq admin huquqlarini olgan.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645920"/>
            <a:ext cx="5394960" cy="2103120"/>
          </a:xfrm>
          <a:prstGeom prst="roundRect">
            <a:avLst>
              <a:gd name="adj" fmla="val 5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92240" y="1874519"/>
            <a:ext cx="685800" cy="68580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2066543"/>
            <a:ext cx="301752" cy="3017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60920" y="1901952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178A73"/>
                </a:solidFill>
                <a:latin typeface="Times New Roman"/>
              </a:rPr>
              <a:t>Yechim (Windows Vistadan boshlab)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651760"/>
            <a:ext cx="49377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>
                <a:solidFill>
                  <a:srgbClr val="202A38"/>
                </a:solidFill>
                <a:latin typeface="Times New Roman"/>
              </a:rPr>
              <a:t>Hatto admin ham cheklangan (standart) huquqlar bilan ishlaydi.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>
                <a:solidFill>
                  <a:srgbClr val="202A38"/>
                </a:solidFill>
                <a:latin typeface="Times New Roman"/>
              </a:rPr>
              <a:t>Admin huquqlari faqat aniq “Ha” javobidan keyin ishlatiladi.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9319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UAC nimani so‘raydi — kimligingizga bog‘liq: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389120"/>
            <a:ext cx="361188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68096" y="4590288"/>
            <a:ext cx="603504" cy="603504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use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077" y="4759269"/>
            <a:ext cx="265542" cy="26554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481328" y="4553712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Administrator → Consent prompt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5230368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54647A"/>
                </a:solidFill>
                <a:latin typeface="Times New Roman"/>
              </a:rPr>
              <a:t>Faqat “Ha” yoki “Yo‘q” tugmasini bosish kifoya.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0248" y="4389120"/>
            <a:ext cx="361188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471416" y="4590288"/>
            <a:ext cx="603504" cy="603504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user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0397" y="4759269"/>
            <a:ext cx="265542" cy="26554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184648" y="4553712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Standart foydalanuvchi → Credential prompt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1416" y="5230368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54647A"/>
                </a:solidFill>
                <a:latin typeface="Times New Roman"/>
              </a:rPr>
              <a:t>Administratorning foydalanuvchi nomi va paroli kiritilishi shart.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73567" y="4389120"/>
            <a:ext cx="361188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174735" y="4590288"/>
            <a:ext cx="603504" cy="603504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monitor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3716" y="4759269"/>
            <a:ext cx="265542" cy="26554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887967" y="4553712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Secure Desktop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4735" y="5230368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54647A"/>
                </a:solidFill>
                <a:latin typeface="Times New Roman"/>
              </a:rPr>
              <a:t>Ekran xiralashadi — zararli dastur soxta “Ha” tugmasini bosa olmaydi.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5943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Qayerdan ochiladi: </a:t>
            </a:r>
            <a:r>
              <a:rPr sz="1200">
                <a:solidFill>
                  <a:srgbClr val="202A38"/>
                </a:solidFill>
                <a:latin typeface="Times New Roman"/>
              </a:rPr>
              <a:t>Start → “User Account Control” deb yozing → </a:t>
            </a:r>
            <a:r>
              <a:rPr sz="1200" b="1">
                <a:solidFill>
                  <a:srgbClr val="178A73"/>
                </a:solidFill>
                <a:latin typeface="Consolas"/>
              </a:rPr>
              <a:t>Change User Account Control settings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1-SAVOL · USER ACCOUNT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UAC qanday ishlaydi — bosqichma-bosqich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47803"/>
            <a:ext cx="6309360" cy="415675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647803"/>
            <a:ext cx="6309360" cy="41567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859421"/>
            <a:ext cx="6309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00" b="0" i="1">
                <a:solidFill>
                  <a:srgbClr val="54647A"/>
                </a:solidFill>
                <a:latin typeface="Times New Roman"/>
              </a:rPr>
              <a:t>1-rasm. UAC (User Account Control) ning ishlash tartibi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645920"/>
            <a:ext cx="4480560" cy="34290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360920" y="1828800"/>
            <a:ext cx="411480" cy="41148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1801368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Dastur ishga tushadi — </a:t>
            </a:r>
            <a:r>
              <a:rPr sz="1200">
                <a:solidFill>
                  <a:srgbClr val="202A38"/>
                </a:solidFill>
                <a:latin typeface="Times New Roman"/>
              </a:rPr>
              <a:t>oddiy (filtrlangan) token bilan.</a:t>
            </a:r>
          </a:p>
        </p:txBody>
      </p:sp>
      <p:sp>
        <p:nvSpPr>
          <p:cNvPr id="14" name="Oval 13"/>
          <p:cNvSpPr/>
          <p:nvPr/>
        </p:nvSpPr>
        <p:spPr>
          <a:xfrm>
            <a:off x="7360920" y="2468880"/>
            <a:ext cx="411480" cy="41148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441448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Admin huquqlari kerakmi? — </a:t>
            </a:r>
            <a:r>
              <a:rPr sz="1200">
                <a:solidFill>
                  <a:srgbClr val="202A38"/>
                </a:solidFill>
                <a:latin typeface="Times New Roman"/>
              </a:rPr>
              <a:t>Yo‘q → odatdagidek ishlaydi. Ha → davom etadi.</a:t>
            </a:r>
          </a:p>
        </p:txBody>
      </p:sp>
      <p:sp>
        <p:nvSpPr>
          <p:cNvPr id="16" name="Oval 15"/>
          <p:cNvSpPr/>
          <p:nvPr/>
        </p:nvSpPr>
        <p:spPr>
          <a:xfrm>
            <a:off x="7360920" y="3108960"/>
            <a:ext cx="411480" cy="41148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081528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Secure Desktop — </a:t>
            </a:r>
            <a:r>
              <a:rPr sz="1200">
                <a:solidFill>
                  <a:srgbClr val="202A38"/>
                </a:solidFill>
                <a:latin typeface="Times New Roman"/>
              </a:rPr>
              <a:t>ekran xiralashadi, faqat so‘rov oynasi faol bo‘ladi.</a:t>
            </a:r>
          </a:p>
        </p:txBody>
      </p:sp>
      <p:sp>
        <p:nvSpPr>
          <p:cNvPr id="18" name="Oval 17"/>
          <p:cNvSpPr/>
          <p:nvPr/>
        </p:nvSpPr>
        <p:spPr>
          <a:xfrm>
            <a:off x="7360920" y="3749039"/>
            <a:ext cx="411480" cy="41148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3721607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So‘rov — </a:t>
            </a:r>
            <a:r>
              <a:rPr sz="1200">
                <a:solidFill>
                  <a:srgbClr val="202A38"/>
                </a:solidFill>
                <a:latin typeface="Times New Roman"/>
              </a:rPr>
              <a:t>Admin: Ha/Yo‘q. Standart foydalanuvchi: parol.</a:t>
            </a:r>
          </a:p>
        </p:txBody>
      </p:sp>
      <p:sp>
        <p:nvSpPr>
          <p:cNvPr id="20" name="Oval 19"/>
          <p:cNvSpPr/>
          <p:nvPr/>
        </p:nvSpPr>
        <p:spPr>
          <a:xfrm>
            <a:off x="7360920" y="4389120"/>
            <a:ext cx="411480" cy="411480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4361688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Ruxsat berildi — </a:t>
            </a:r>
            <a:r>
              <a:rPr sz="1200">
                <a:solidFill>
                  <a:srgbClr val="202A38"/>
                </a:solidFill>
                <a:latin typeface="Times New Roman"/>
              </a:rPr>
              <a:t>dastur to‘liq token bilan ishlaydi.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52578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54647A"/>
                </a:solidFill>
                <a:latin typeface="Times New Roman"/>
              </a:rPr>
              <a:t>Atamalar (izoh uchun bosing):</a:t>
            </a:r>
          </a:p>
        </p:txBody>
      </p:sp>
      <p:sp>
        <p:nvSpPr>
          <p:cNvPr id="23" name="Rounded Rectangle 22">
            <a:hlinkClick r:id="rId4" action="ppaction://hlinksldjump"/>
          </p:cNvPr>
          <p:cNvSpPr/>
          <p:nvPr/>
        </p:nvSpPr>
        <p:spPr>
          <a:xfrm>
            <a:off x="7132320" y="5577840"/>
            <a:ext cx="1474012" cy="457200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00" b="1">
                <a:solidFill>
                  <a:srgbClr val="178A73"/>
                </a:solidFill>
                <a:latin typeface="Times New Roman"/>
              </a:rPr>
              <a:t>?  Secure Desktop</a:t>
            </a:r>
          </a:p>
        </p:txBody>
      </p:sp>
      <p:sp>
        <p:nvSpPr>
          <p:cNvPr id="24" name="Rounded Rectangle 23">
            <a:hlinkClick r:id="rId5" action="ppaction://hlinksldjump"/>
          </p:cNvPr>
          <p:cNvSpPr/>
          <p:nvPr/>
        </p:nvSpPr>
        <p:spPr>
          <a:xfrm>
            <a:off x="8761780" y="5577840"/>
            <a:ext cx="1322222" cy="457200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00" b="1">
                <a:solidFill>
                  <a:srgbClr val="178A73"/>
                </a:solidFill>
                <a:latin typeface="Times New Roman"/>
              </a:rPr>
              <a:t>?  Access token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1-SAVOL · USER ACCOUNT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Ikki token va yaxlitlik darajalari — UAC nimaga tayanadi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1691640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1F3864"/>
                </a:solidFill>
                <a:latin typeface="Times New Roman"/>
              </a:rPr>
              <a:t>Kirish (Administrator)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2267712"/>
            <a:ext cx="91440" cy="320040"/>
          </a:xfrm>
          <a:prstGeom prst="rect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6928" y="2651760"/>
            <a:ext cx="2697480" cy="1097280"/>
          </a:xfrm>
          <a:prstGeom prst="roundRect">
            <a:avLst>
              <a:gd name="adj" fmla="val 1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Times New Roman"/>
              </a:rPr>
              <a:t>FILTRLANGAN TOKEN</a:t>
            </a:r>
          </a:p>
          <a:p>
            <a:pPr algn="ctr"/>
            <a:r>
              <a:rPr sz="1250" b="1">
                <a:solidFill>
                  <a:srgbClr val="FFFFFF"/>
                </a:solidFill>
                <a:latin typeface="Times New Roman"/>
              </a:rPr>
              <a:t>standart huquqlar</a:t>
            </a:r>
          </a:p>
          <a:p>
            <a:pPr algn="ctr"/>
            <a:r>
              <a:rPr sz="1250" b="1">
                <a:solidFill>
                  <a:srgbClr val="FFFFFF"/>
                </a:solidFill>
                <a:latin typeface="Times New Roman"/>
              </a:rPr>
              <a:t>kundalik 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2651760"/>
            <a:ext cx="2697480" cy="109728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Times New Roman"/>
              </a:rPr>
              <a:t>TO‘LIQ ADMIN TOKENI</a:t>
            </a:r>
          </a:p>
          <a:p>
            <a:pPr algn="ctr"/>
            <a:r>
              <a:rPr sz="1250" b="1">
                <a:solidFill>
                  <a:srgbClr val="FFFFFF"/>
                </a:solidFill>
                <a:latin typeface="Times New Roman"/>
              </a:rPr>
              <a:t>barcha huquqlar</a:t>
            </a:r>
          </a:p>
          <a:p>
            <a:pPr algn="ctr"/>
            <a:r>
              <a:rPr sz="1250" b="1">
                <a:solidFill>
                  <a:srgbClr val="FFFFFF"/>
                </a:solidFill>
                <a:latin typeface="Times New Roman"/>
              </a:rPr>
              <a:t>faqat UAC “Ha”dan keyin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931920"/>
            <a:ext cx="55321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Admin Approval Mode: </a:t>
            </a:r>
            <a:r>
              <a:rPr sz="1250">
                <a:solidFill>
                  <a:srgbClr val="202A38"/>
                </a:solidFill>
                <a:latin typeface="Times New Roman"/>
              </a:rPr>
              <a:t>administrator tizimga kirganda ikkita token oladi. Kundalik dasturlar filtrlanganini oladi; to‘liq token faqat tasdiqlangan dastur uchun faollashadi.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Bu — amaliyotdagi </a:t>
            </a:r>
            <a:r>
              <a:rPr sz="1250" b="1">
                <a:solidFill>
                  <a:srgbClr val="178A73"/>
                </a:solidFill>
                <a:latin typeface="Consolas"/>
              </a:rPr>
              <a:t>least privilege</a:t>
            </a:r>
            <a:r>
              <a:rPr sz="1250">
                <a:solidFill>
                  <a:srgbClr val="202A38"/>
                </a:solidFill>
                <a:latin typeface="Times New Roman"/>
              </a:rPr>
              <a:t> (eng kam imtiyoz) tamoyili.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2537564"/>
            <a:ext cx="5257800" cy="1782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537564"/>
            <a:ext cx="5257800" cy="17828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55080" y="4375300"/>
            <a:ext cx="5257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00" b="0" i="1">
                <a:solidFill>
                  <a:srgbClr val="54647A"/>
                </a:solidFill>
                <a:latin typeface="Times New Roman"/>
              </a:rPr>
              <a:t>2-rasm. Windows yaxlitlik darajalari (Integrity Levels)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440680"/>
            <a:ext cx="5532120" cy="77724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5504688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8FD9C4"/>
                </a:solidFill>
                <a:latin typeface="Times New Roman"/>
              </a:rPr>
              <a:t>&gt; whoami /groups</a:t>
            </a:r>
            <a:r>
              <a:rPr sz="1300">
                <a:solidFill>
                  <a:srgbClr val="FFFFFF"/>
                </a:solidFill>
                <a:latin typeface="Times New Roman"/>
              </a:rPr>
              <a:t>   →  Mandatory Label\Medium / 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55778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54647A"/>
                </a:solidFill>
                <a:latin typeface="Times New Roman"/>
              </a:rPr>
              <a:t>Atamalar:</a:t>
            </a:r>
          </a:p>
        </p:txBody>
      </p:sp>
      <p:sp>
        <p:nvSpPr>
          <p:cNvPr id="19" name="Rounded Rectangle 18">
            <a:hlinkClick r:id="rId4" action="ppaction://hlinksldjump"/>
          </p:cNvPr>
          <p:cNvSpPr/>
          <p:nvPr/>
        </p:nvSpPr>
        <p:spPr>
          <a:xfrm>
            <a:off x="6355080" y="5897880"/>
            <a:ext cx="1549908" cy="457200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00" b="1">
                <a:solidFill>
                  <a:srgbClr val="178A73"/>
                </a:solidFill>
                <a:latin typeface="Times New Roman"/>
              </a:rPr>
              <a:t>?  Integrity level</a:t>
            </a:r>
          </a:p>
        </p:txBody>
      </p:sp>
      <p:sp>
        <p:nvSpPr>
          <p:cNvPr id="20" name="Rounded Rectangle 19">
            <a:hlinkClick r:id="rId5" action="ppaction://hlinksldjump"/>
          </p:cNvPr>
          <p:cNvSpPr/>
          <p:nvPr/>
        </p:nvSpPr>
        <p:spPr>
          <a:xfrm>
            <a:off x="8060436" y="5897880"/>
            <a:ext cx="1322222" cy="457200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00" b="1">
                <a:solidFill>
                  <a:srgbClr val="178A73"/>
                </a:solidFill>
                <a:latin typeface="Times New Roman"/>
              </a:rPr>
              <a:t>?  Access token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1-SAVOL · USER ACCOUNT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UAC so‘rov oynasi qanday ko‘rinadi — uni o‘qishni o‘rganing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34808"/>
            <a:ext cx="3611880" cy="1571063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uac_cons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934808"/>
            <a:ext cx="3611880" cy="15710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3560735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3-rasm. Imzolangan dastur — Verified publisher (yashil)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224528"/>
            <a:ext cx="3611880" cy="457200"/>
          </a:xfrm>
          <a:prstGeom prst="roundRect">
            <a:avLst>
              <a:gd name="adj" fmla="val 1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Times New Roman"/>
              </a:rPr>
              <a:t>Ishonchli: Microsoft Windows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956874"/>
            <a:ext cx="3611880" cy="15269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uac_unkn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1956874"/>
            <a:ext cx="3611880" cy="15269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15968" y="353867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4-rasm. Imzolanmagan dastur — Unknown publisher (qizil)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4224528"/>
            <a:ext cx="3611880" cy="45720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Times New Roman"/>
              </a:rPr>
              <a:t>Ogohlantiruvchi belgi → “Yo‘q” ni bosing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0632" y="1600200"/>
            <a:ext cx="360063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uac_c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0632" y="1600200"/>
            <a:ext cx="3600630" cy="22402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065007" y="3895344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5-rasm. Standart foydalanuvchi — Credential prompt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5007" y="4224528"/>
            <a:ext cx="3611880" cy="4572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Times New Roman"/>
              </a:rPr>
              <a:t>Admin nomi + paroli kerak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8463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“Ha” ni bosishdan oldin o‘qish kerak bo‘lgan uch qator: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57800"/>
            <a:ext cx="361188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31520" y="5413248"/>
            <a:ext cx="640080" cy="64008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monitor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742" y="5592470"/>
            <a:ext cx="281636" cy="28163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481328" y="5285232"/>
            <a:ext cx="26060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F3864"/>
                </a:solidFill>
                <a:latin typeface="Times New Roman"/>
              </a:rPr>
              <a:t>Dastur nomi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>
                <a:solidFill>
                  <a:srgbClr val="54647A"/>
                </a:solidFill>
                <a:latin typeface="Times New Roman"/>
              </a:rPr>
              <a:t>buni o‘zingiz ishga tushirganmisiz?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15968" y="5257800"/>
            <a:ext cx="361188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480560" y="5413248"/>
            <a:ext cx="640080" cy="64008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9782" y="5592470"/>
            <a:ext cx="281636" cy="28163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230368" y="5285232"/>
            <a:ext cx="26060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F3864"/>
                </a:solidFill>
                <a:latin typeface="Times New Roman"/>
              </a:rPr>
              <a:t>Verified publisher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>
                <a:solidFill>
                  <a:srgbClr val="54647A"/>
                </a:solidFill>
                <a:latin typeface="Times New Roman"/>
              </a:rPr>
              <a:t>yashil nom = imzolangan; qizil “Unknown” = imzolanmagan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65007" y="5257800"/>
            <a:ext cx="361188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229599" y="5413248"/>
            <a:ext cx="640080" cy="64008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globe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8821" y="5592470"/>
            <a:ext cx="281636" cy="28163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979407" y="5285232"/>
            <a:ext cx="26060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F3864"/>
                </a:solidFill>
                <a:latin typeface="Times New Roman"/>
              </a:rPr>
              <a:t>Fayl manbai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>
                <a:solidFill>
                  <a:srgbClr val="54647A"/>
                </a:solidFill>
                <a:latin typeface="Times New Roman"/>
              </a:rPr>
              <a:t>“Downloaded from the Internet” — alohida e’tibor talab qiladi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1-SAVOL · USER ACCOUNT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UAC darajalari — slayder va u nimani o‘zgartiradi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91640"/>
            <a:ext cx="576072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691640"/>
            <a:ext cx="128016" cy="96012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764792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1" i="0">
                <a:solidFill>
                  <a:srgbClr val="1F3864"/>
                </a:solidFill>
                <a:latin typeface="Times New Roman"/>
              </a:rPr>
              <a:t>Always notify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30552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54647A"/>
                </a:solidFill>
                <a:latin typeface="Times New Roman"/>
              </a:rPr>
              <a:t>Har bir o‘zgarishda, hatto Windows sozlamalarida ham ogohlantiradi. Secure Desktop ishlatiladi.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1947672"/>
            <a:ext cx="1417320" cy="457200"/>
          </a:xfrm>
          <a:prstGeom prst="roundRect">
            <a:avLst>
              <a:gd name="adj" fmla="val 30000"/>
            </a:avLst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Harbiy / davlat tarmoqlari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770632"/>
            <a:ext cx="576072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2770632"/>
            <a:ext cx="128016" cy="96012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843784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1" i="0">
                <a:solidFill>
                  <a:srgbClr val="1F3864"/>
                </a:solidFill>
                <a:latin typeface="Times New Roman"/>
              </a:rPr>
              <a:t>Notify when apps change (standart)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209544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54647A"/>
                </a:solidFill>
                <a:latin typeface="Times New Roman"/>
              </a:rPr>
              <a:t>Faqat dasturlar uchun ogohlantiradi. Secure Desktop ishlatiladi.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0600" y="3026664"/>
            <a:ext cx="1417320" cy="457200"/>
          </a:xfrm>
          <a:prstGeom prst="roundRect">
            <a:avLst>
              <a:gd name="adj" fmla="val 3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Ko‘pchilik foydalanuvchilar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849624"/>
            <a:ext cx="576072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6928" y="3849624"/>
            <a:ext cx="128016" cy="960120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3922776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1" i="0">
                <a:solidFill>
                  <a:srgbClr val="1F3864"/>
                </a:solidFill>
                <a:latin typeface="Times New Roman"/>
              </a:rPr>
              <a:t>Notify — do not dim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288536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54647A"/>
                </a:solidFill>
                <a:latin typeface="Times New Roman"/>
              </a:rPr>
              <a:t>Xuddi shunday, lekin Secure Desktopsiz — kuchsizroq.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4105656"/>
            <a:ext cx="1417320" cy="457200"/>
          </a:xfrm>
          <a:prstGeom prst="roundRect">
            <a:avLst>
              <a:gd name="adj" fmla="val 30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Tavsiya etilmaydi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928616"/>
            <a:ext cx="576072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66928" y="4928616"/>
            <a:ext cx="128016" cy="960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5001768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1" i="0">
                <a:solidFill>
                  <a:srgbClr val="1F3864"/>
                </a:solidFill>
                <a:latin typeface="Times New Roman"/>
              </a:rPr>
              <a:t>Never notify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367528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54647A"/>
                </a:solidFill>
                <a:latin typeface="Times New Roman"/>
              </a:rPr>
              <a:t>UAC amalda o‘chiq — juda xavfli.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00600" y="5184648"/>
            <a:ext cx="1417320" cy="457200"/>
          </a:xfrm>
          <a:prstGeom prst="roundRect">
            <a:avLst>
              <a:gd name="adj" fmla="val 3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Hech qachon ishlatmang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1690365"/>
            <a:ext cx="5029200" cy="247143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uac_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690365"/>
            <a:ext cx="5029200" cy="247143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583680" y="4216659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6-rasm. UAC sozlamalari oynasi — slayder “Always notify” holatida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4572000"/>
            <a:ext cx="5029200" cy="160020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66560" y="466344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1">
                <a:solidFill>
                  <a:srgbClr val="8FD9C4"/>
                </a:solidFill>
                <a:latin typeface="Times New Roman"/>
              </a:rPr>
              <a:t>Registr: HKLM\...\Policies\System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FFFFFF"/>
                </a:solidFill>
                <a:latin typeface="Times New Roman"/>
              </a:rPr>
              <a:t>EnableLUA = 1  → UAC yoqilgan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FFFFFF"/>
                </a:solidFill>
                <a:latin typeface="Times New Roman"/>
              </a:rPr>
              <a:t>ConsentPromptBehaviorAdmin = 2 doimo · 5 standart · 0 hech qachon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FFFFFF"/>
                </a:solidFill>
                <a:latin typeface="Times New Roman"/>
              </a:rPr>
              <a:t>PromptOnSecureDesktop = 1 xiralashadi · 0 xiralashmaydi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1-SAVOL · APPLOCKER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AppLocker — “faqat ruxsat berilgan dasturlar ishlaydi”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11064240" cy="1051560"/>
          </a:xfrm>
          <a:prstGeom prst="roundRect">
            <a:avLst>
              <a:gd name="adj" fmla="val 5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77240" y="1819656"/>
            <a:ext cx="685800" cy="68580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011680"/>
            <a:ext cx="301752" cy="3017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45920" y="1691640"/>
            <a:ext cx="978408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202A38"/>
                </a:solidFill>
                <a:latin typeface="Times New Roman"/>
              </a:rPr>
              <a:t>UAC </a:t>
            </a:r>
            <a:r>
              <a:rPr sz="1350" b="1">
                <a:solidFill>
                  <a:srgbClr val="1F3864"/>
                </a:solidFill>
                <a:latin typeface="Times New Roman"/>
              </a:rPr>
              <a:t>kim nima qila olishini</a:t>
            </a:r>
            <a:r>
              <a:rPr sz="1350">
                <a:solidFill>
                  <a:srgbClr val="202A38"/>
                </a:solidFill>
                <a:latin typeface="Times New Roman"/>
              </a:rPr>
              <a:t> nazorat qiladi; AppLocker esa </a:t>
            </a:r>
            <a:r>
              <a:rPr sz="1350" b="1">
                <a:solidFill>
                  <a:srgbClr val="1F3864"/>
                </a:solidFill>
                <a:latin typeface="Times New Roman"/>
              </a:rPr>
              <a:t>qaysi dasturlar umuman ishga tushishi mumkinligini</a:t>
            </a:r>
            <a:r>
              <a:rPr sz="1350">
                <a:solidFill>
                  <a:srgbClr val="202A38"/>
                </a:solidFill>
                <a:latin typeface="Times New Roman"/>
              </a:rPr>
              <a:t> nazorat qiladi. Administrator ruxsat etilganlar ro‘yxatini (</a:t>
            </a:r>
            <a:r>
              <a:rPr sz="1350" b="1">
                <a:solidFill>
                  <a:srgbClr val="178A73"/>
                </a:solidFill>
                <a:latin typeface="Consolas"/>
              </a:rPr>
              <a:t>whitelist</a:t>
            </a:r>
            <a:r>
              <a:rPr sz="1350">
                <a:solidFill>
                  <a:srgbClr val="202A38"/>
                </a:solidFill>
                <a:latin typeface="Times New Roman"/>
              </a:rPr>
              <a:t>) tuzadi — qolgan hammasi bloklanadi, hatto foydalanuvchi “Ha” desa ham.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8803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5 ta qoidalar to‘plami — fayl turi bo‘yicha: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91840"/>
            <a:ext cx="2121408" cy="566928"/>
          </a:xfrm>
          <a:prstGeom prst="roundRect">
            <a:avLst>
              <a:gd name="adj" fmla="val 1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Executable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904487"/>
            <a:ext cx="21214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54647A"/>
                </a:solidFill>
                <a:latin typeface="Consolas"/>
              </a:rPr>
              <a:t>.exe  .com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98064" y="3291840"/>
            <a:ext cx="2121408" cy="566928"/>
          </a:xfrm>
          <a:prstGeom prst="roundRect">
            <a:avLst>
              <a:gd name="adj" fmla="val 10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Windows Installer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8064" y="3904487"/>
            <a:ext cx="21214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54647A"/>
                </a:solidFill>
                <a:latin typeface="Consolas"/>
              </a:rPr>
              <a:t>.msi  .msp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291840"/>
            <a:ext cx="2121408" cy="566928"/>
          </a:xfrm>
          <a:prstGeom prst="roundRect">
            <a:avLst>
              <a:gd name="adj" fmla="val 10000"/>
            </a:avLst>
          </a:prstGeom>
          <a:solidFill>
            <a:srgbClr val="6E5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904487"/>
            <a:ext cx="21214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54647A"/>
                </a:solidFill>
                <a:latin typeface="Consolas"/>
              </a:rPr>
              <a:t>.ps1 .vbs .js .bat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0336" y="3291840"/>
            <a:ext cx="2121408" cy="566928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Packaged 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0336" y="3904487"/>
            <a:ext cx="21214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54647A"/>
                </a:solidFill>
                <a:latin typeface="Consolas"/>
              </a:rPr>
              <a:t>UWP ilovalar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91472" y="3291840"/>
            <a:ext cx="2121408" cy="566928"/>
          </a:xfrm>
          <a:prstGeom prst="roundRect">
            <a:avLst>
              <a:gd name="adj" fmla="val 10000"/>
            </a:avLst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DLL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91472" y="3904487"/>
            <a:ext cx="21214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54647A"/>
                </a:solidFill>
                <a:latin typeface="Consolas"/>
              </a:rPr>
              <a:t>.dll  .ocx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43434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Har bir qoida 3 ta shartdan birini ishlatadi: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754880"/>
            <a:ext cx="36118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49808" y="4956048"/>
            <a:ext cx="640080" cy="64008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30" y="5135270"/>
            <a:ext cx="281636" cy="28163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527048" y="4846320"/>
            <a:ext cx="25603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Publisher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raqamli imzo bo‘yicha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54647A"/>
                </a:solidFill>
                <a:latin typeface="Times New Roman"/>
              </a:rPr>
              <a:t>Eng moslashuvchan — yangilanishlarda ham saqlanadi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70248" y="4754880"/>
            <a:ext cx="36118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453128" y="4956048"/>
            <a:ext cx="640080" cy="64008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olde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2350" y="5135270"/>
            <a:ext cx="281636" cy="28163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230368" y="4846320"/>
            <a:ext cx="25603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Path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fayl joylashuvi bo‘yicha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54647A"/>
                </a:solidFill>
                <a:latin typeface="Times New Roman"/>
              </a:rPr>
              <a:t>masalan, faqat C:\Program Files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73567" y="4754880"/>
            <a:ext cx="36118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156447" y="4956048"/>
            <a:ext cx="640080" cy="64008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key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5669" y="5135270"/>
            <a:ext cx="281636" cy="28163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933687" y="4846320"/>
            <a:ext cx="25603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File hash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faylning “barmoq izi” bo‘yicha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54647A"/>
                </a:solidFill>
                <a:latin typeface="Times New Roman"/>
              </a:rPr>
              <a:t>Eng qat’iy — har bir yangilanishda buziladi</a:t>
            </a:r>
          </a:p>
        </p:txBody>
      </p:sp>
      <p:sp>
        <p:nvSpPr>
          <p:cNvPr id="36" name="Rounded Rectangle 35">
            <a:hlinkClick r:id="rId7" action="ppaction://hlinksldjump"/>
          </p:cNvPr>
          <p:cNvSpPr/>
          <p:nvPr/>
        </p:nvSpPr>
        <p:spPr>
          <a:xfrm>
            <a:off x="566928" y="5897880"/>
            <a:ext cx="1094536" cy="457200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00" b="1">
                <a:solidFill>
                  <a:srgbClr val="178A73"/>
                </a:solidFill>
                <a:latin typeface="Times New Roman"/>
              </a:rPr>
              <a:t>?  Whitelist</a:t>
            </a:r>
          </a:p>
        </p:txBody>
      </p:sp>
      <p:sp>
        <p:nvSpPr>
          <p:cNvPr id="37" name="Rounded Rectangle 36">
            <a:hlinkClick r:id="rId8" action="ppaction://hlinksldjump"/>
          </p:cNvPr>
          <p:cNvSpPr/>
          <p:nvPr/>
        </p:nvSpPr>
        <p:spPr>
          <a:xfrm>
            <a:off x="1816912" y="5897880"/>
            <a:ext cx="1094536" cy="457200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00" b="1">
                <a:solidFill>
                  <a:srgbClr val="178A73"/>
                </a:solidFill>
                <a:latin typeface="Times New Roman"/>
              </a:rPr>
              <a:t>?  File hash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1-SAVOL · APPLOCKER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AppLocker qanday qaror qiladi: ishga tushirishmi yoki bloklashmi?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441282"/>
            <a:ext cx="6949440" cy="26155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441282"/>
            <a:ext cx="6949440" cy="26155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111662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00" b="0" i="1">
                <a:solidFill>
                  <a:srgbClr val="54647A"/>
                </a:solidFill>
                <a:latin typeface="Times New Roman"/>
              </a:rPr>
              <a:t>7-rasm. AppLocker qaror qabul qilish algoritmi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645920"/>
            <a:ext cx="3858768" cy="2103120"/>
          </a:xfrm>
          <a:prstGeom prst="roundRect">
            <a:avLst>
              <a:gd name="adj" fmla="val 5000"/>
            </a:avLst>
          </a:prstGeom>
          <a:solidFill>
            <a:srgbClr val="FDF1DF"/>
          </a:solidFill>
          <a:ln w="12700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973568" y="1828800"/>
            <a:ext cx="566928" cy="566928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warning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2307" y="1987539"/>
            <a:ext cx="249450" cy="249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686800" y="1847088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E08E1D"/>
                </a:solidFill>
                <a:latin typeface="Times New Roman"/>
              </a:rPr>
              <a:t>Muhim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251460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E08E1D"/>
                </a:solidFill>
                <a:latin typeface="Times New Roman"/>
              </a:rPr>
              <a:t>▸  </a:t>
            </a:r>
            <a:r>
              <a:rPr sz="1200" b="1">
                <a:solidFill>
                  <a:srgbClr val="178A73"/>
                </a:solidFill>
                <a:latin typeface="Consolas"/>
              </a:rPr>
              <a:t>Application Identity</a:t>
            </a:r>
            <a:r>
              <a:rPr sz="1200">
                <a:solidFill>
                  <a:srgbClr val="202A38"/>
                </a:solidFill>
                <a:latin typeface="Times New Roman"/>
              </a:rPr>
              <a:t> (AppIDSvc) ishlab turishi shart.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E08E1D"/>
                </a:solidFill>
                <a:latin typeface="Times New Roman"/>
              </a:rPr>
              <a:t>▸  </a:t>
            </a:r>
            <a:r>
              <a:rPr sz="1200">
                <a:solidFill>
                  <a:srgbClr val="202A38"/>
                </a:solidFill>
                <a:latin typeface="Times New Roman"/>
              </a:rPr>
              <a:t>To‘liq qo‘llab-quvvatlash: faqat Enterprise / Education / Server.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931920"/>
            <a:ext cx="3858768" cy="19202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73568" y="404164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Ikki rejim: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4434840"/>
            <a:ext cx="35661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Enforce rules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haqiqatan bloklaydi.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Audit only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faqat “bloklangan bo‘lardi” deb jurnalga yozadi (Event ID 8003). Qoidalarni avval shu rejimda sinang.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1-SAVOL · APPLOCKER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AppLocker qayerda joylashgan va foydalanuvchi nimani ko‘radi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801667" y="1645920"/>
            <a:ext cx="6205641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pplocker_t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67" y="1645920"/>
            <a:ext cx="6205641" cy="3017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4718304"/>
            <a:ext cx="6675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8-rasm. secpol.msc → Application Control Policies → AppLocker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1816072"/>
            <a:ext cx="4114800" cy="1122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pplocker_block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1816072"/>
            <a:ext cx="4114800" cy="11227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98079" y="2993672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9-rasm. AppLocker tomonidan bloklangan dastur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3520440"/>
            <a:ext cx="4114800" cy="118872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0960" y="3611880"/>
            <a:ext cx="38404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>
                <a:solidFill>
                  <a:srgbClr val="8FD9C4"/>
                </a:solidFill>
                <a:latin typeface="Times New Roman"/>
              </a:rPr>
              <a:t>Ochish: </a:t>
            </a:r>
            <a:r>
              <a:rPr sz="1150">
                <a:solidFill>
                  <a:srgbClr val="FFFFFF"/>
                </a:solidFill>
                <a:latin typeface="Times New Roman"/>
              </a:rPr>
              <a:t>Win + R → secpol.msc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>
                <a:solidFill>
                  <a:srgbClr val="FFFFFF"/>
                </a:solidFill>
                <a:latin typeface="Times New Roman"/>
              </a:rPr>
              <a:t>→ Application Control Policies → AppLocker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>
                <a:solidFill>
                  <a:srgbClr val="FFFFFF"/>
                </a:solidFill>
                <a:latin typeface="Times New Roman"/>
              </a:rPr>
              <a:t>(yoki gpedit.msc → Computer Configuration → … 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074920"/>
            <a:ext cx="11064240" cy="1143000"/>
          </a:xfrm>
          <a:prstGeom prst="roundRect">
            <a:avLst>
              <a:gd name="adj" fmla="val 5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77240" y="5303520"/>
            <a:ext cx="658368" cy="65836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targe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583" y="5487863"/>
            <a:ext cx="289682" cy="28968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5120640"/>
            <a:ext cx="978408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Times New Roman"/>
              </a:rPr>
              <a:t>Amaliy misol: </a:t>
            </a:r>
            <a:r>
              <a:rPr sz="1300">
                <a:solidFill>
                  <a:srgbClr val="202A38"/>
                </a:solidFill>
                <a:latin typeface="Times New Roman"/>
              </a:rPr>
              <a:t>Path qoidasi dasturlarni faqat </a:t>
            </a:r>
            <a:r>
              <a:rPr sz="1300" b="1">
                <a:solidFill>
                  <a:srgbClr val="178A73"/>
                </a:solidFill>
                <a:latin typeface="Consolas"/>
              </a:rPr>
              <a:t>C:\Windows</a:t>
            </a:r>
            <a:r>
              <a:rPr sz="1300">
                <a:solidFill>
                  <a:srgbClr val="202A38"/>
                </a:solidFill>
                <a:latin typeface="Times New Roman"/>
              </a:rPr>
              <a:t> va </a:t>
            </a:r>
            <a:r>
              <a:rPr sz="1300" b="1">
                <a:solidFill>
                  <a:srgbClr val="178A73"/>
                </a:solidFill>
                <a:latin typeface="Consolas"/>
              </a:rPr>
              <a:t>C:\Program Files</a:t>
            </a:r>
            <a:r>
              <a:rPr sz="1300">
                <a:solidFill>
                  <a:srgbClr val="202A38"/>
                </a:solidFill>
                <a:latin typeface="Times New Roman"/>
              </a:rPr>
              <a:t> papkalaridan ishga tushirishga ruxsat beradi. Downloads papkasidan yoki USB fleshkadan olingan har qanday </a:t>
            </a:r>
            <a:r>
              <a:rPr sz="1300" b="1">
                <a:solidFill>
                  <a:srgbClr val="178A73"/>
                </a:solidFill>
                <a:latin typeface="Consolas"/>
              </a:rPr>
              <a:t>.exe</a:t>
            </a:r>
            <a:r>
              <a:rPr sz="1300">
                <a:solidFill>
                  <a:srgbClr val="202A38"/>
                </a:solidFill>
                <a:latin typeface="Times New Roman"/>
              </a:rPr>
              <a:t> fayl avtomatik bloklanadi — hatto administrator uchun ham.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1-SAVOL · SMARTSCREEN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SmartScreen — fayl ishga tushishidan oldin obro‘sini tekshirish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801368"/>
            <a:ext cx="6035040" cy="3621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01368"/>
            <a:ext cx="6035040" cy="36210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477256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00" b="0" i="1">
                <a:solidFill>
                  <a:srgbClr val="54647A"/>
                </a:solidFill>
                <a:latin typeface="Times New Roman"/>
              </a:rPr>
              <a:t>10-rasm. Windows SmartScreen qanday ishlaydi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645920"/>
            <a:ext cx="4773168" cy="21488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059168" y="1828800"/>
            <a:ext cx="640080" cy="64008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lou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390" y="2008022"/>
            <a:ext cx="281636" cy="2816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18120" y="1847088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</a:rPr>
              <a:t>Bulutdagi obro‘ (reputation)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560320"/>
            <a:ext cx="44348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>
                <a:solidFill>
                  <a:srgbClr val="202A38"/>
                </a:solidFill>
                <a:latin typeface="Times New Roman"/>
              </a:rPr>
              <a:t>Microsoft millionlab fayl va saytlarning “obro‘sini” saqlaydi.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>
                <a:solidFill>
                  <a:srgbClr val="202A38"/>
                </a:solidFill>
                <a:latin typeface="Times New Roman"/>
              </a:rPr>
              <a:t>Yangi yoki kam yuklab olingan fayllar xavfli deb hisoblanadi.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3977639"/>
            <a:ext cx="4773168" cy="1600200"/>
          </a:xfrm>
          <a:prstGeom prst="roundRect">
            <a:avLst>
              <a:gd name="adj" fmla="val 5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86600" y="406908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Nima uchun samarali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4480560"/>
            <a:ext cx="4434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>
                <a:solidFill>
                  <a:srgbClr val="202A38"/>
                </a:solidFill>
                <a:latin typeface="Times New Roman"/>
              </a:rPr>
              <a:t>Fishing saytlari va mutlaqo yangi zararli dasturlarni ushlaydi —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>
                <a:solidFill>
                  <a:srgbClr val="202A38"/>
                </a:solidFill>
                <a:latin typeface="Times New Roman"/>
              </a:rPr>
              <a:t>hatto antivirus signaturasi hali mavjud bo‘lmasa ham.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943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78A73"/>
                </a:solidFill>
                <a:latin typeface="Consolas"/>
              </a:rPr>
              <a:t>AppLocker</a:t>
            </a:r>
            <a:r>
              <a:rPr sz="1250">
                <a:solidFill>
                  <a:srgbClr val="202A38"/>
                </a:solidFill>
                <a:latin typeface="Times New Roman"/>
              </a:rPr>
              <a:t> tizimdagi dasturlarni nazorat qiladi; </a:t>
            </a:r>
            <a:r>
              <a:rPr sz="1250" b="1">
                <a:solidFill>
                  <a:srgbClr val="178A73"/>
                </a:solidFill>
                <a:latin typeface="Consolas"/>
              </a:rPr>
              <a:t>SmartScreen</a:t>
            </a:r>
            <a:r>
              <a:rPr sz="1250">
                <a:solidFill>
                  <a:srgbClr val="202A38"/>
                </a:solidFill>
                <a:latin typeface="Times New Roman"/>
              </a:rPr>
              <a:t> esa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internetdan kelgan</a:t>
            </a:r>
            <a:r>
              <a:rPr sz="1250">
                <a:solidFill>
                  <a:srgbClr val="202A38"/>
                </a:solidFill>
                <a:latin typeface="Times New Roman"/>
              </a:rPr>
              <a:t> narsalarni tekshiradi.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1-SAVOL · SMARTSCREEN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SmartScreen ogohlantirishi va Mark of the Web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804637"/>
            <a:ext cx="5120640" cy="1877125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mart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04637"/>
            <a:ext cx="5120640" cy="18771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3736626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11-rasm. “Windows protected your PC” — More info / Run anyway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97880" y="1899929"/>
            <a:ext cx="5733288" cy="168654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1899929"/>
            <a:ext cx="5733288" cy="168654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97880" y="3641335"/>
            <a:ext cx="57332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12-rasm. Mark of the Web (Zone.Identifier)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43400"/>
            <a:ext cx="36118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49808" y="4526280"/>
            <a:ext cx="640080" cy="64008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ey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030" y="4705502"/>
            <a:ext cx="281636" cy="28163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527048" y="4389120"/>
            <a:ext cx="256032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F3864"/>
                </a:solidFill>
                <a:latin typeface="Times New Roman"/>
              </a:rPr>
              <a:t>“More info”</a:t>
            </a:r>
            <a:r>
              <a:rPr sz="1150">
                <a:solidFill>
                  <a:srgbClr val="202A38"/>
                </a:solidFill>
                <a:latin typeface="Times New Roman"/>
              </a:rPr>
              <a:t> — fayl nomi va nashriyotchisini ko‘rsatadi.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70248" y="4343400"/>
            <a:ext cx="36118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453128" y="4526280"/>
            <a:ext cx="640080" cy="640080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warning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2350" y="4705502"/>
            <a:ext cx="281636" cy="28163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230368" y="4389120"/>
            <a:ext cx="256032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F3864"/>
                </a:solidFill>
                <a:latin typeface="Times New Roman"/>
              </a:rPr>
              <a:t>“Run anyway”</a:t>
            </a:r>
            <a:r>
              <a:rPr sz="1150">
                <a:solidFill>
                  <a:srgbClr val="202A38"/>
                </a:solidFill>
                <a:latin typeface="Times New Roman"/>
              </a:rPr>
              <a:t> — xavfni o‘z zimmangizga olib davom etish — foydalanuvchini to‘xtab o‘ylashga majbur qiladi.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7" y="4343400"/>
            <a:ext cx="36118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156447" y="4526280"/>
            <a:ext cx="640080" cy="64008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download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5669" y="4705502"/>
            <a:ext cx="281636" cy="28163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933687" y="4389120"/>
            <a:ext cx="256032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F3864"/>
                </a:solidFill>
                <a:latin typeface="Times New Roman"/>
              </a:rPr>
              <a:t>ZoneId = 3</a:t>
            </a:r>
            <a:r>
              <a:rPr sz="1150">
                <a:solidFill>
                  <a:srgbClr val="202A38"/>
                </a:solidFill>
                <a:latin typeface="Times New Roman"/>
              </a:rPr>
              <a:t> — fayl internetdan kelgan → SmartScreen uni tekshiradi.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5321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Sozlamalar: </a:t>
            </a:r>
            <a:r>
              <a:rPr sz="1200">
                <a:solidFill>
                  <a:srgbClr val="202A38"/>
                </a:solidFill>
                <a:latin typeface="Times New Roman"/>
              </a:rPr>
              <a:t>Windows Security → App &amp; browser control → </a:t>
            </a:r>
            <a:r>
              <a:rPr sz="1200" b="1">
                <a:solidFill>
                  <a:srgbClr val="178A73"/>
                </a:solidFill>
                <a:latin typeface="Consolas"/>
              </a:rPr>
              <a:t>Reputation-based protection</a:t>
            </a:r>
          </a:p>
        </p:txBody>
      </p:sp>
      <p:sp>
        <p:nvSpPr>
          <p:cNvPr id="27" name="Rounded Rectangle 26">
            <a:hlinkClick r:id="rId8" action="ppaction://hlinksldjump"/>
          </p:cNvPr>
          <p:cNvSpPr/>
          <p:nvPr/>
        </p:nvSpPr>
        <p:spPr>
          <a:xfrm>
            <a:off x="566928" y="5806440"/>
            <a:ext cx="1549908" cy="457200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00" b="1">
                <a:solidFill>
                  <a:srgbClr val="178A73"/>
                </a:solidFill>
                <a:latin typeface="Times New Roman"/>
              </a:rPr>
              <a:t>?  Mark of the Web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1-SAVOL · AMALIY AHAMIYATI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UAC, AppLocker va SmartScreen — kim nimani to‘xtatadi?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91640"/>
          <a:ext cx="110642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532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UAC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AppLocker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SmartScreen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3864"/>
                          </a:solidFill>
                          <a:latin typeface="Times New Roman"/>
                        </a:rPr>
                        <a:t>Qanday savol beradi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Bu dastur admin huquqlarini olishi mumkinmi?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Bu dastur umuman ishga tushishi mumkinmi?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Bu fayl/sayt ishonchlimi?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3864"/>
                          </a:solidFill>
                          <a:latin typeface="Times New Roman"/>
                        </a:rPr>
                        <a:t>Qachon ishlaydi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Admin huquqlari so‘ralganda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Har safar fayl ishga tushganda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Yuklab olingan fayl ishga tushganda / sayt ochilganda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3864"/>
                          </a:solidFill>
                          <a:latin typeface="Times New Roman"/>
                        </a:rPr>
                        <a:t>Foydalanuvchi bekor qila oladimi?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Ha — “Ha” ni bosish (yoki parol kiritish)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Yo‘q — faqat administrator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Ha — “More info → Run anyway”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3864"/>
                          </a:solidFill>
                          <a:latin typeface="Times New Roman"/>
                        </a:rPr>
                        <a:t>Qayerda sozlanadi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Control Panel → User Accounts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secpol.msc / gpedit.msc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Windows Security → App &amp; browser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3864"/>
                          </a:solidFill>
                          <a:latin typeface="Times New Roman"/>
                        </a:rPr>
                        <a:t>Nashrlar (editions)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Barchasi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Enterprise / Education / Server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Barchasi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5760720"/>
            <a:ext cx="11064240" cy="548640"/>
          </a:xfrm>
          <a:prstGeom prst="roundRect">
            <a:avLst>
              <a:gd name="adj" fmla="val 5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78815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Seminar topshirig‘i: </a:t>
            </a:r>
            <a:r>
              <a:rPr sz="1250">
                <a:solidFill>
                  <a:srgbClr val="202A38"/>
                </a:solidFill>
                <a:latin typeface="Times New Roman"/>
              </a:rPr>
              <a:t>foydalanuvchi saytdan </a:t>
            </a:r>
            <a:r>
              <a:rPr sz="1250" b="1">
                <a:solidFill>
                  <a:srgbClr val="178A73"/>
                </a:solidFill>
                <a:latin typeface="Consolas"/>
              </a:rPr>
              <a:t>game.exe</a:t>
            </a:r>
            <a:r>
              <a:rPr sz="1250">
                <a:solidFill>
                  <a:srgbClr val="202A38"/>
                </a:solidFill>
                <a:latin typeface="Times New Roman"/>
              </a:rPr>
              <a:t> faylini yuklab oldi. Uchta vositadan qaysi biri birinchi, ikkinchi, uchinchi bo‘lib ishga tushadi — va nima uchun?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697480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8FD9C4"/>
                </a:solidFill>
                <a:latin typeface="Times New Roman"/>
              </a:rPr>
              <a:t>2-SAVOL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089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Times New Roman"/>
              </a:rPr>
              <a:t>Defender va Firewall xavfsizlik tizimlari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4160520"/>
            <a:ext cx="1188720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2-SAVOL · MICROSOFT DEFENDER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Windows Defender — o‘rnatilgan antivirus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5852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UAC, AppLocker va SmartScreen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oldindan bloklaydi</a:t>
            </a:r>
            <a:r>
              <a:rPr sz="1300">
                <a:solidFill>
                  <a:srgbClr val="202A38"/>
                </a:solidFill>
                <a:latin typeface="Times New Roman"/>
              </a:rPr>
              <a:t>. Defender esa mavjud yoki ishlab turgan fayllarni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skanerlaydi</a:t>
            </a:r>
            <a:r>
              <a:rPr sz="1300">
                <a:solidFill>
                  <a:srgbClr val="202A38"/>
                </a:solidFill>
                <a:latin typeface="Times New Roman"/>
              </a:rPr>
              <a:t> va zararli xatti-harakatni aniqlaydi.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377440"/>
            <a:ext cx="585216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85800" y="2459736"/>
            <a:ext cx="521207" cy="521207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ey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737" y="2605673"/>
            <a:ext cx="229333" cy="22933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71600" y="237744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Real-time protection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har bir faylni ochilganda, yuklab olinganda yoki ishga tushganda tekshiradi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154680"/>
            <a:ext cx="585216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85800" y="3236976"/>
            <a:ext cx="521207" cy="521207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clou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737" y="3382913"/>
            <a:ext cx="229333" cy="22933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71600" y="315468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Cloud-delivered protection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yangi tahdidlarni bulutdagi baza yordamida aniqlaydi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931920"/>
            <a:ext cx="585216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85800" y="4014216"/>
            <a:ext cx="521207" cy="521207"/>
          </a:xfrm>
          <a:prstGeom prst="ellipse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downloa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737" y="4160153"/>
            <a:ext cx="229333" cy="22933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71600" y="393192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Automatic sample submission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shubhali noma’lum fayllarni Microsoftga yuboradi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709160"/>
            <a:ext cx="585216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85800" y="4791456"/>
            <a:ext cx="521207" cy="521207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lo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737" y="4937393"/>
            <a:ext cx="229333" cy="22933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71600" y="470916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Tamper Protection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zararli dastur Defenderni o‘chira olmaydi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486400"/>
            <a:ext cx="585216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85800" y="5568696"/>
            <a:ext cx="521207" cy="521207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folder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737" y="5714633"/>
            <a:ext cx="229333" cy="22933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371600" y="548640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Controlled folder access</a:t>
            </a:r>
            <a:r>
              <a:rPr sz="1200">
                <a:solidFill>
                  <a:srgbClr val="202A38"/>
                </a:solidFill>
                <a:latin typeface="Times New Roman"/>
              </a:rPr>
              <a:t> — Documents/Pictures papkalarini ransomwaredan himoya qiladi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6100" y="1645920"/>
            <a:ext cx="495408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2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6100" y="1645920"/>
            <a:ext cx="4954088" cy="33832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675120" y="5084064"/>
            <a:ext cx="4956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13-rasm. Windows Security → Virus &amp; threat protection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75120" y="5440680"/>
            <a:ext cx="4956048" cy="77724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58000" y="5468112"/>
            <a:ext cx="46634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1">
                <a:solidFill>
                  <a:srgbClr val="8FD9C4"/>
                </a:solidFill>
                <a:latin typeface="Times New Roman"/>
              </a:rPr>
              <a:t>PS&gt; Get-MpComputerStatus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>
                <a:solidFill>
                  <a:srgbClr val="FFFFFF"/>
                </a:solidFill>
                <a:latin typeface="Times New Roman"/>
              </a:rPr>
              <a:t>RealTimeProtectionEnabled : True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2-SAVOL · WINDOWS FIREWALL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Windows Firewall — yo‘nalishlar va tarmoq profillari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548640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68096" y="1874519"/>
            <a:ext cx="731520" cy="73152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arrow-i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921" y="2079344"/>
            <a:ext cx="321870" cy="32187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64208" y="1691640"/>
            <a:ext cx="425196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Inbound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kompyuterga KIRAYOTGAN trafik — agar qoida ruxsat bermasa, standart holatda bloklanadi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645920"/>
            <a:ext cx="548640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345936" y="1874519"/>
            <a:ext cx="731520" cy="73152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arrow-ou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0761" y="2079344"/>
            <a:ext cx="321870" cy="32187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42048" y="1691640"/>
            <a:ext cx="425196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Outbound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kompyuterdan CHIQAYOTGAN trafik — agar qoida bloklamasa, standart holatda ruxsat etiladi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0175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Har bir qoida: port, dastur yoki protokol → Allow yoki Block. Uch profil — uch xil qoidalar to‘plami: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520440"/>
            <a:ext cx="361188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3520440"/>
            <a:ext cx="3611880" cy="109728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68096" y="3794760"/>
            <a:ext cx="685800" cy="68580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building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986784"/>
            <a:ext cx="301752" cy="30175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72768" y="384048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700" b="1" i="0">
                <a:solidFill>
                  <a:srgbClr val="1F3864"/>
                </a:solidFill>
                <a:latin typeface="Times New Roman"/>
              </a:rPr>
              <a:t>Domain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4572000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Kompyuter korporativ domenga (Active Directory) ulangan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5138928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178A73"/>
                </a:solidFill>
                <a:latin typeface="Times New Roman"/>
              </a:rPr>
              <a:t>O‘rtacha — ichki tarmoqqa ko‘proq ishoniladi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0248" y="3520440"/>
            <a:ext cx="361188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70248" y="3520440"/>
            <a:ext cx="3611880" cy="109728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471416" y="3794760"/>
            <a:ext cx="685800" cy="685800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hom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3986784"/>
            <a:ext cx="301752" cy="30175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276088" y="384048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700" b="1" i="0">
                <a:solidFill>
                  <a:srgbClr val="1F3864"/>
                </a:solidFill>
                <a:latin typeface="Times New Roman"/>
              </a:rPr>
              <a:t>Private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71416" y="4572000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Uy yoki ishonchli xususiy tarmoq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71416" y="5138928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E08E1D"/>
                </a:solidFill>
                <a:latin typeface="Times New Roman"/>
              </a:rPr>
              <a:t>O‘rtacha — masalan, fayl almashishga ruxsat bor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73567" y="3520440"/>
            <a:ext cx="361188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73567" y="3520440"/>
            <a:ext cx="3611880" cy="109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174735" y="3794760"/>
            <a:ext cx="685800" cy="6858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coffe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6759" y="3986784"/>
            <a:ext cx="301752" cy="30175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979407" y="384048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700" b="1" i="0">
                <a:solidFill>
                  <a:srgbClr val="1F3864"/>
                </a:solidFill>
                <a:latin typeface="Times New Roman"/>
              </a:rPr>
              <a:t>Public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74735" y="4572000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Kafe, aeroport, mehmonxona — noma’lum tarmoqlar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74735" y="5138928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C0392B"/>
                </a:solidFill>
                <a:latin typeface="Times New Roman"/>
              </a:rPr>
              <a:t>Eng qat’iy — kiruvchi ulanishlarning aksariyati bloklanadi</a:t>
            </a:r>
          </a:p>
        </p:txBody>
      </p:sp>
      <p:sp>
        <p:nvSpPr>
          <p:cNvPr id="38" name="Rounded Rectangle 37">
            <a:hlinkClick r:id="rId8" action="ppaction://hlinksldjump"/>
          </p:cNvPr>
          <p:cNvSpPr/>
          <p:nvPr/>
        </p:nvSpPr>
        <p:spPr>
          <a:xfrm>
            <a:off x="566928" y="5806440"/>
            <a:ext cx="1625803" cy="457200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00" b="1">
                <a:solidFill>
                  <a:srgbClr val="178A73"/>
                </a:solidFill>
                <a:latin typeface="Times New Roman"/>
              </a:rPr>
              <a:t>?  Firewall profile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2-SAVOL · WINDOWS FIREWALL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Firewall qayerda sozlanadi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87776"/>
            <a:ext cx="5486400" cy="1968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irewall_c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987776"/>
            <a:ext cx="5486400" cy="1968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401068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14-rasm. Control Panel → Windows Defender Firewall — uchta profil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48704"/>
            <a:ext cx="5413248" cy="244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rewall_ad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748704"/>
            <a:ext cx="5413248" cy="24461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17920" y="4249760"/>
            <a:ext cx="54132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15-rasm. wf.msc — Inbound qoidalar (Allow / Block)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754880"/>
            <a:ext cx="1554480" cy="566928"/>
          </a:xfrm>
          <a:prstGeom prst="roundRect">
            <a:avLst>
              <a:gd name="adj" fmla="val 1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Tezkor ko‘rish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94560" y="4754880"/>
            <a:ext cx="384048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50008" y="4754880"/>
            <a:ext cx="3657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1F3864"/>
                </a:solidFill>
                <a:latin typeface="Times New Roman"/>
              </a:rPr>
              <a:t>Windows Security → Firewall &amp; network protection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4754880"/>
            <a:ext cx="1554480" cy="566928"/>
          </a:xfrm>
          <a:prstGeom prst="roundRect">
            <a:avLst>
              <a:gd name="adj" fmla="val 1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Klassik usul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4754880"/>
            <a:ext cx="384048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27848" y="4754880"/>
            <a:ext cx="3657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1F3864"/>
                </a:solidFill>
                <a:latin typeface="Times New Roman"/>
              </a:rPr>
              <a:t>Win + R → control → Windows Defender Firewall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486400"/>
            <a:ext cx="1554480" cy="566928"/>
          </a:xfrm>
          <a:prstGeom prst="roundRect">
            <a:avLst>
              <a:gd name="adj" fmla="val 1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Kengaytirilgan qoidalar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94560" y="5486400"/>
            <a:ext cx="384048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350008" y="5486400"/>
            <a:ext cx="3657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1F3864"/>
                </a:solidFill>
                <a:latin typeface="Times New Roman"/>
              </a:rPr>
              <a:t>Win + R → wf.msc  (yoki “Advanced settings”)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5486400"/>
            <a:ext cx="1554480" cy="566928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PowerShell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5486400"/>
            <a:ext cx="384048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27848" y="5486400"/>
            <a:ext cx="3657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0">
                <a:solidFill>
                  <a:srgbClr val="1F3864"/>
                </a:solidFill>
                <a:latin typeface="Consolas"/>
              </a:rPr>
              <a:t>Get-NetFirewallProfile | Select Name, Enabled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2-SAVOL · WINDOWS FIREWALL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Firewall kiruvchi paket haqida qanday qaror qiladi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509197"/>
            <a:ext cx="7315200" cy="243396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509197"/>
            <a:ext cx="7315200" cy="243396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4998027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00" b="0" i="1">
                <a:solidFill>
                  <a:srgbClr val="54647A"/>
                </a:solidFill>
                <a:latin typeface="Times New Roman"/>
              </a:rPr>
              <a:t>16-rasm. Windows Firewall — kiruvchi paketni tekshirish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91640"/>
            <a:ext cx="3493008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302752" y="1965960"/>
            <a:ext cx="658368" cy="65836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ba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7095" y="2150303"/>
            <a:ext cx="289682" cy="28968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098280" y="1737360"/>
            <a:ext cx="246888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Block Allowdan ustun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54647A"/>
                </a:solidFill>
                <a:latin typeface="Times New Roman"/>
              </a:rPr>
              <a:t>agar ikkala qoida mos kelsa, paket tashlab yuboriladi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3063240"/>
            <a:ext cx="3493008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302752" y="3337560"/>
            <a:ext cx="658368" cy="65836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networ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7095" y="3521903"/>
            <a:ext cx="289682" cy="28968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098280" y="3108960"/>
            <a:ext cx="246888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Stateful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54647A"/>
                </a:solidFill>
                <a:latin typeface="Times New Roman"/>
              </a:rPr>
              <a:t>o‘zingiz yuborgan so‘rovlarga javoblar avtomatik o‘tadi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4434840"/>
            <a:ext cx="3493008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302752" y="4709160"/>
            <a:ext cx="658368" cy="658368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coffe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7095" y="4893503"/>
            <a:ext cx="289682" cy="28968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098280" y="4480560"/>
            <a:ext cx="246888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3864"/>
                </a:solidFill>
                <a:latin typeface="Times New Roman"/>
              </a:rPr>
              <a:t>Public = eng qat’iy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54647A"/>
                </a:solidFill>
                <a:latin typeface="Times New Roman"/>
              </a:rPr>
              <a:t>noma’lum tarmoqlarga eng qattiq qoidalar qo‘llanadi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2-SAVOL · QO‘SHIMCHA MUHIM MA’LUMOT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Barcha vositalar birgalikda — defense in depth (ko‘p qatlamli himoya)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86153"/>
            <a:ext cx="5394960" cy="36685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686153"/>
            <a:ext cx="5394960" cy="36685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409589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00" b="0" i="1">
                <a:solidFill>
                  <a:srgbClr val="54647A"/>
                </a:solidFill>
                <a:latin typeface="Times New Roman"/>
              </a:rPr>
              <a:t>17-rasm. Windows OT: ko‘p qatlamli himoya qatlamlari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459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Har bir qatlam asosan nimadan himoya qiladi: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10312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UAC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2103120"/>
            <a:ext cx="3675887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92440" y="210312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foydalanuvchi bilmagan holda admin huquqlaridan foydalanish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761487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6E5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AppLocker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2761487"/>
            <a:ext cx="3675887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92440" y="2761487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ruxsatsiz / noma’lum dasturlarning ishga tushishi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419856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SmartScreen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3419856"/>
            <a:ext cx="3675887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92440" y="3419856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zararli yuklamalar va fishing saytlari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078224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Defender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79" y="4078224"/>
            <a:ext cx="3675887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92440" y="4078224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kompyuterda allaqachon mavjud zararli kod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736592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Firewall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4736592"/>
            <a:ext cx="3675887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92440" y="4736592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ruxsatsiz tarmoq ulanishlari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5486400"/>
            <a:ext cx="5367528" cy="731520"/>
          </a:xfrm>
          <a:prstGeom prst="roundRect">
            <a:avLst>
              <a:gd name="adj" fmla="val 5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5504688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G‘oya: </a:t>
            </a:r>
            <a:r>
              <a:rPr sz="1250">
                <a:solidFill>
                  <a:srgbClr val="202A38"/>
                </a:solidFill>
                <a:latin typeface="Times New Roman"/>
              </a:rPr>
              <a:t>hujumchi bitta qatlamdan o‘tsa, keyingisi uni to‘xtatadi.</a:t>
            </a:r>
          </a:p>
        </p:txBody>
      </p:sp>
      <p:sp>
        <p:nvSpPr>
          <p:cNvPr id="29" name="Rounded Rectangle 28">
            <a:hlinkClick r:id="rId4" action="ppaction://hlinksldjump"/>
          </p:cNvPr>
          <p:cNvSpPr/>
          <p:nvPr/>
        </p:nvSpPr>
        <p:spPr>
          <a:xfrm>
            <a:off x="566928" y="5806440"/>
            <a:ext cx="1625803" cy="457200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00" b="1">
                <a:solidFill>
                  <a:srgbClr val="178A73"/>
                </a:solidFill>
                <a:latin typeface="Times New Roman"/>
              </a:rPr>
              <a:t>?  Defense in depth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2-SAVOL · AMALIY AHAMIYATI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Bitta hujum — bir necha himoya qatlami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91640"/>
            <a:ext cx="141732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32688" y="1828800"/>
            <a:ext cx="685800" cy="685800"/>
          </a:xfrm>
          <a:prstGeom prst="ellipse">
            <a:avLst/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downloa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2020824"/>
            <a:ext cx="301752" cy="3017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2606040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USB / internetdan kelgan fayl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84248" y="2148840"/>
            <a:ext cx="201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2400" b="1" i="0">
                <a:solidFill>
                  <a:srgbClr val="C0392B"/>
                </a:solidFill>
                <a:latin typeface="Times New Roman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85416" y="1691640"/>
            <a:ext cx="141732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551176" y="1828800"/>
            <a:ext cx="685800" cy="68580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glob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2020824"/>
            <a:ext cx="301752" cy="3017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85416" y="2606040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SmartScreen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2736" y="2148840"/>
            <a:ext cx="201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2400" b="1" i="0">
                <a:solidFill>
                  <a:srgbClr val="C0392B"/>
                </a:solidFill>
                <a:latin typeface="Times New Roman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03904" y="1691640"/>
            <a:ext cx="141732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169664" y="1828800"/>
            <a:ext cx="685800" cy="685800"/>
          </a:xfrm>
          <a:prstGeom prst="ellipse">
            <a:avLst/>
          </a:prstGeom>
          <a:solidFill>
            <a:srgbClr val="6E5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1688" y="2020824"/>
            <a:ext cx="301752" cy="30175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803904" y="2606040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AppLocker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2148840"/>
            <a:ext cx="201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2400" b="1" i="0">
                <a:solidFill>
                  <a:srgbClr val="C0392B"/>
                </a:solidFill>
                <a:latin typeface="Times New Roman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22392" y="1691640"/>
            <a:ext cx="141732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788152" y="1828800"/>
            <a:ext cx="685800" cy="6858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0176" y="2020824"/>
            <a:ext cx="301752" cy="30175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422392" y="2606040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Defender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9712" y="2148840"/>
            <a:ext cx="201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2400" b="1" i="0">
                <a:solidFill>
                  <a:srgbClr val="C0392B"/>
                </a:solidFill>
                <a:latin typeface="Times New Roman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40880" y="1691640"/>
            <a:ext cx="141732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406640" y="1828800"/>
            <a:ext cx="685800" cy="685800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8664" y="2020824"/>
            <a:ext cx="301752" cy="30175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040880" y="2606040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UAC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2148840"/>
            <a:ext cx="201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2400" b="1" i="0">
                <a:solidFill>
                  <a:srgbClr val="C0392B"/>
                </a:solidFill>
                <a:latin typeface="Times New Roman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59367" y="1691640"/>
            <a:ext cx="141732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025127" y="1828800"/>
            <a:ext cx="685800" cy="6858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wall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7151" y="2020824"/>
            <a:ext cx="301752" cy="30175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659367" y="2606040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Firewall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76687" y="2148840"/>
            <a:ext cx="201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2400" b="1" i="0">
                <a:solidFill>
                  <a:srgbClr val="C0392B"/>
                </a:solidFill>
                <a:latin typeface="Times New Roman"/>
              </a:rPr>
              <a:t>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277856" y="1691640"/>
            <a:ext cx="141732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0643616" y="1828800"/>
            <a:ext cx="685800" cy="685800"/>
          </a:xfrm>
          <a:prstGeom prst="ellipse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book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35640" y="2020824"/>
            <a:ext cx="301752" cy="30175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277856" y="2606040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Event Log (hodisalar jurnali)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3429000"/>
            <a:ext cx="54864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731520" y="3602736"/>
            <a:ext cx="429768" cy="42976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98448" y="3429000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Kursant crack.exe ni yuklab oladi. SmartScreen “unknown publisher” deb ogohlantiradi; foydalanuvchi “Run anyway” ni bosadi.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44768" y="3429000"/>
            <a:ext cx="54864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6309360" y="3602736"/>
            <a:ext cx="429768" cy="42976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76288" y="3429000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AppLocker: fayl Downloads papkasida — Allow qoidasi yo‘q → bloklandi.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6928" y="4325112"/>
            <a:ext cx="54864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731520" y="4498848"/>
            <a:ext cx="429768" cy="42976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98448" y="4325112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AppLocker bo‘lmasa → Defender zararli kodni signatura yoki xatti-harakati bo‘yicha aniqlaydi.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44768" y="4325112"/>
            <a:ext cx="54864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6309360" y="4498848"/>
            <a:ext cx="429768" cy="42976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76288" y="4325112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Defenderdan o‘tib ketib, admin huquqlarini so‘rasa → UAC uni to‘xtatadi.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66928" y="5221224"/>
            <a:ext cx="54864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731520" y="5394960"/>
            <a:ext cx="429768" cy="42976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98448" y="5221224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Hatto ishga tushsa ham, Firewall uning hujumchi serveriga ulanishini cheklaydi.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144768" y="5221224"/>
            <a:ext cx="54864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6309360" y="5394960"/>
            <a:ext cx="429768" cy="42976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76288" y="5221224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Har bir qadam Event Logga yoziladi → kriminalist hujumni qayta tiklaydi.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YAKUNLASH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700" b="1" i="0">
                <a:solidFill>
                  <a:srgbClr val="1F3864"/>
                </a:solidFill>
                <a:latin typeface="Times New Roman"/>
              </a:rPr>
              <a:t>Xulosa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11064240" cy="786384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31520" y="1901952"/>
            <a:ext cx="548640" cy="54864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39" y="2055571"/>
            <a:ext cx="241402" cy="2414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08760" y="1783080"/>
            <a:ext cx="987552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UAC — admin huquqlari faqat aniq tasdiqlashdan keyin; hatto administrator ham filtrlangan token bilan ishlaydi.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615"/>
            <a:ext cx="11064240" cy="786384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31520" y="2761487"/>
            <a:ext cx="548640" cy="54864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139" y="2915106"/>
            <a:ext cx="241402" cy="24140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508760" y="2642615"/>
            <a:ext cx="987552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AppLocker — faqat ruxsat berilgan dasturlar ishlaydi (Publisher / Path / File hash); AppIDSvc servisi kerak.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02152"/>
            <a:ext cx="11064240" cy="786384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31520" y="3621024"/>
            <a:ext cx="548640" cy="54864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glob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139" y="3774643"/>
            <a:ext cx="241402" cy="24140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08760" y="3502152"/>
            <a:ext cx="987552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SmartScreen — internetdan kelgan fayl va saytlarning obro‘sini tekshiradi (Mark of the Web).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1688"/>
            <a:ext cx="11064240" cy="786384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31520" y="4480560"/>
            <a:ext cx="548640" cy="54864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139" y="4634179"/>
            <a:ext cx="241402" cy="24140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508760" y="4361688"/>
            <a:ext cx="987552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Defender — mavjud va ishlab turgan fayllarni skanerlaydi; Tamper Protection va Controlled folder access uni ham, ma’lumotlaringizni ham himoya qiladi.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21224"/>
            <a:ext cx="11064240" cy="786384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31520" y="5340096"/>
            <a:ext cx="548640" cy="54864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wall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139" y="5493715"/>
            <a:ext cx="241402" cy="24140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508760" y="5221224"/>
            <a:ext cx="987552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Firewall — Domain, Private va Public profillaridagi Inbound/Outbound qoidalar; beshalasi birgalikda ko‘p qatlamli himoyani (defense in depth) tashkil etadi.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YAKUNLASH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Nazorat savollari — 2-mashg‘ulot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91640"/>
            <a:ext cx="54864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31520" y="1938528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1691640"/>
            <a:ext cx="45720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UAC nima uchun joriy qilingan va qaysi muammoni hal qiladi?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770632"/>
            <a:ext cx="54864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31520" y="3017520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2770632"/>
            <a:ext cx="45720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Consent prompt va Credential prompt o‘rtasidagi farq nimada?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849624"/>
            <a:ext cx="54864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31520" y="4096512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3849624"/>
            <a:ext cx="45720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Filtrlangan token va to‘liq admin tokeni nima uchun kerak?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928616"/>
            <a:ext cx="54864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31520" y="5175504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928616"/>
            <a:ext cx="45720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AppLockerning uchta qoida shartini (Publisher, Path, File Hash) tushuntiring.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1691640"/>
            <a:ext cx="54864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09360" y="1938528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2008" y="1691640"/>
            <a:ext cx="45720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SmartScreen qanday tahdidlarga qarshi ayniqsa samarali?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2770632"/>
            <a:ext cx="54864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309360" y="3017520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22008" y="2770632"/>
            <a:ext cx="45720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Defenderning Controlled folder access funksiyasi nimadan himoya qiladi?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3849624"/>
            <a:ext cx="54864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309360" y="4096512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2008" y="3849624"/>
            <a:ext cx="45720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Domain, Private va Public profillari o‘rtasidagi farqni tushuntiring.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44768" y="4928616"/>
            <a:ext cx="54864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309360" y="5175504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4928616"/>
            <a:ext cx="45720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“Defense in depth” (ko‘p qatlamli himoya) tamoyili nimani anglatadi?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ankyo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368" y="1234440"/>
            <a:ext cx="1737360" cy="17647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14800" y="3246120"/>
            <a:ext cx="3959352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42900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3200" b="1" i="0">
                <a:solidFill>
                  <a:srgbClr val="FFFFFF"/>
                </a:solidFill>
                <a:latin typeface="Times New Roman"/>
              </a:rPr>
              <a:t>E’TIBORINGIZ UCHUN RAHMAT!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600" b="0" i="1">
                <a:solidFill>
                  <a:srgbClr val="C7D6E6"/>
                </a:solidFill>
                <a:latin typeface="Times New Roman"/>
              </a:rPr>
              <a:t>Savollaringiz bo‘lsa, marhamat.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300" b="0" i="1">
                <a:solidFill>
                  <a:srgbClr val="8FD9C4"/>
                </a:solidFill>
                <a:latin typeface="Times New Roman"/>
              </a:rPr>
              <a:t>Keyingi bo‘lim — atamalar lug‘ati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LUG‘AT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400" b="1" i="0">
                <a:solidFill>
                  <a:srgbClr val="1F3864"/>
                </a:solidFill>
                <a:latin typeface="Times New Roman"/>
              </a:rPr>
              <a:t>Lug‘at — ushbu bo‘limda quyidagilar tushuntiriladi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28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566928" y="1783080"/>
            <a:ext cx="2743200" cy="12344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1984248"/>
            <a:ext cx="566928" cy="56692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laye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547" y="2142987"/>
            <a:ext cx="249450" cy="249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35608" y="196596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Integrity level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62432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Low / Medium / High / System</a:t>
            </a:r>
          </a:p>
        </p:txBody>
      </p:sp>
      <p:sp>
        <p:nvSpPr>
          <p:cNvPr id="13" name="Rounded Rectangle 12">
            <a:hlinkClick r:id="rId5" action="ppaction://hlinksldjump"/>
          </p:cNvPr>
          <p:cNvSpPr/>
          <p:nvPr/>
        </p:nvSpPr>
        <p:spPr>
          <a:xfrm>
            <a:off x="3355848" y="1783080"/>
            <a:ext cx="2743200" cy="12344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538728" y="1984248"/>
            <a:ext cx="566928" cy="56692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monitor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7467" y="2142987"/>
            <a:ext cx="249450" cy="249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224528" y="196596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Secure Desktop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262432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xiralashgan, himoyalangan ekran</a:t>
            </a:r>
          </a:p>
        </p:txBody>
      </p:sp>
      <p:sp>
        <p:nvSpPr>
          <p:cNvPr id="18" name="Rounded Rectangle 17">
            <a:hlinkClick r:id="rId7" action="ppaction://hlinksldjump"/>
          </p:cNvPr>
          <p:cNvSpPr/>
          <p:nvPr/>
        </p:nvSpPr>
        <p:spPr>
          <a:xfrm>
            <a:off x="6144768" y="1783080"/>
            <a:ext cx="2743200" cy="12344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327648" y="1984248"/>
            <a:ext cx="566928" cy="56692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key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387" y="2142987"/>
            <a:ext cx="249450" cy="249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13448" y="196596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Access token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62432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dasturning “shaxsiy guvohnomasi”</a:t>
            </a:r>
          </a:p>
        </p:txBody>
      </p:sp>
      <p:sp>
        <p:nvSpPr>
          <p:cNvPr id="23" name="Rounded Rectangle 22">
            <a:hlinkClick r:id="rId9" action="ppaction://hlinksldjump"/>
          </p:cNvPr>
          <p:cNvSpPr/>
          <p:nvPr/>
        </p:nvSpPr>
        <p:spPr>
          <a:xfrm>
            <a:off x="8933687" y="1783080"/>
            <a:ext cx="2743200" cy="12344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116567" y="1984248"/>
            <a:ext cx="566928" cy="56692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75306" y="2142987"/>
            <a:ext cx="249450" cy="2494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802367" y="196596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Whitelist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7" y="262432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“ruxsat etilganlar” ro‘yxati</a:t>
            </a:r>
          </a:p>
        </p:txBody>
      </p:sp>
      <p:sp>
        <p:nvSpPr>
          <p:cNvPr id="28" name="Rounded Rectangle 27">
            <a:hlinkClick r:id="rId11" action="ppaction://hlinksldjump"/>
          </p:cNvPr>
          <p:cNvSpPr/>
          <p:nvPr/>
        </p:nvSpPr>
        <p:spPr>
          <a:xfrm>
            <a:off x="566928" y="3154680"/>
            <a:ext cx="2743200" cy="12344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49808" y="3355848"/>
            <a:ext cx="566928" cy="56692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ile_FFFFF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8547" y="3514587"/>
            <a:ext cx="249450" cy="2494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435608" y="333756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File hash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399592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faylning “barmoq izi”</a:t>
            </a:r>
          </a:p>
        </p:txBody>
      </p:sp>
      <p:sp>
        <p:nvSpPr>
          <p:cNvPr id="33" name="Rounded Rectangle 32">
            <a:hlinkClick r:id="rId13" action="ppaction://hlinksldjump"/>
          </p:cNvPr>
          <p:cNvSpPr/>
          <p:nvPr/>
        </p:nvSpPr>
        <p:spPr>
          <a:xfrm>
            <a:off x="3355848" y="3154680"/>
            <a:ext cx="2743200" cy="12344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538728" y="3355848"/>
            <a:ext cx="566928" cy="56692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download_FFFFFF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97467" y="3514587"/>
            <a:ext cx="249450" cy="2494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224528" y="333756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Mark of the Web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38728" y="399592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“internetdan kelgan” yorlig‘i</a:t>
            </a:r>
          </a:p>
        </p:txBody>
      </p:sp>
      <p:sp>
        <p:nvSpPr>
          <p:cNvPr id="38" name="Rounded Rectangle 37">
            <a:hlinkClick r:id="rId15" action="ppaction://hlinksldjump"/>
          </p:cNvPr>
          <p:cNvSpPr/>
          <p:nvPr/>
        </p:nvSpPr>
        <p:spPr>
          <a:xfrm>
            <a:off x="6144768" y="3154680"/>
            <a:ext cx="2743200" cy="12344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327648" y="3355848"/>
            <a:ext cx="566928" cy="56692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wall_FFFFFF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86387" y="3514587"/>
            <a:ext cx="249450" cy="24945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013448" y="333756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Firewall profile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27648" y="399592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Domain / Private / Public</a:t>
            </a:r>
          </a:p>
        </p:txBody>
      </p:sp>
      <p:sp>
        <p:nvSpPr>
          <p:cNvPr id="43" name="Rounded Rectangle 42">
            <a:hlinkClick r:id="rId17" action="ppaction://hlinksldjump"/>
          </p:cNvPr>
          <p:cNvSpPr/>
          <p:nvPr/>
        </p:nvSpPr>
        <p:spPr>
          <a:xfrm>
            <a:off x="8933687" y="3154680"/>
            <a:ext cx="2743200" cy="12344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116567" y="3355848"/>
            <a:ext cx="566928" cy="56692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75306" y="3514587"/>
            <a:ext cx="249450" cy="24945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802367" y="333756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Defense in depth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16567" y="399592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bir necha himoya qatlami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46634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1">
                <a:solidFill>
                  <a:srgbClr val="54647A"/>
                </a:solidFill>
                <a:latin typeface="Times New Roman"/>
              </a:rPr>
              <a:t>Har bir atama boshlang‘ich darajaga mos tilda, misol va diagramma bilan tushuntiriladi.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8FD9C4"/>
                </a:solidFill>
                <a:latin typeface="Times New Roman"/>
              </a:rPr>
              <a:t>LUG‘AT · ATAMA IZOHI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Integrity level (jarayonning ishonch darajasi)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457200"/>
            <a:ext cx="384048" cy="38404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29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566928" y="6144768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← Mavzuga qaytish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Oddiy qilib aytganda: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11680"/>
            <a:ext cx="55778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Ishlayotgan har bir dasturga ishonch yorlig‘i beriladi: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Low</a:t>
            </a:r>
            <a:r>
              <a:rPr sz="1300">
                <a:solidFill>
                  <a:srgbClr val="202A38"/>
                </a:solidFill>
                <a:latin typeface="Times New Roman"/>
              </a:rPr>
              <a:t>,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Medium</a:t>
            </a:r>
            <a:r>
              <a:rPr sz="1300">
                <a:solidFill>
                  <a:srgbClr val="202A38"/>
                </a:solidFill>
                <a:latin typeface="Times New Roman"/>
              </a:rPr>
              <a:t>,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High</a:t>
            </a:r>
            <a:r>
              <a:rPr sz="1300">
                <a:solidFill>
                  <a:srgbClr val="202A38"/>
                </a:solidFill>
                <a:latin typeface="Times New Roman"/>
              </a:rPr>
              <a:t> yoki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System</a:t>
            </a:r>
            <a:r>
              <a:rPr sz="1300">
                <a:solidFill>
                  <a:srgbClr val="202A38"/>
                </a:solidFill>
                <a:latin typeface="Times New Roman"/>
              </a:rPr>
              <a:t>. Darajasi pastroq dastur darajasi yuqoriroq dasturni o‘zgartira olmaydi.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3192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Nima uchun muhim: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97680"/>
            <a:ext cx="55778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UAC — aynan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Medium</a:t>
            </a:r>
            <a:r>
              <a:rPr sz="1300">
                <a:solidFill>
                  <a:srgbClr val="202A38"/>
                </a:solidFill>
                <a:latin typeface="Times New Roman"/>
              </a:rPr>
              <a:t> dan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High</a:t>
            </a:r>
            <a:r>
              <a:rPr sz="1300">
                <a:solidFill>
                  <a:srgbClr val="202A38"/>
                </a:solidFill>
                <a:latin typeface="Times New Roman"/>
              </a:rPr>
              <a:t> ga o‘tishdir. Brauzeringiz Medium darajada ishlaydi (uning sandboxi hatto Low da), shuning uchun buzilgan veb-sahifa tizim fayllariga tega olmaydi.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Times New Roman"/>
              </a:rPr>
              <a:t>Tekshirish: </a:t>
            </a:r>
            <a:r>
              <a:rPr sz="1300" b="1">
                <a:solidFill>
                  <a:srgbClr val="178A73"/>
                </a:solidFill>
                <a:latin typeface="Consolas"/>
              </a:rPr>
              <a:t>whoami /groups</a:t>
            </a:r>
            <a:r>
              <a:rPr sz="1300">
                <a:solidFill>
                  <a:srgbClr val="202A38"/>
                </a:solidFill>
                <a:latin typeface="Times New Roman"/>
              </a:rPr>
              <a:t> → “Mandatory Label”.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73736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173736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servislar, yadro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2724912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724912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Run as administrator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3712464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Medium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19" y="3712464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oddiy dasturlar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3800" y="4700016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59" y="4700016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brauzer sandboxi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6692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1">
                <a:solidFill>
                  <a:srgbClr val="54647A"/>
                </a:solidFill>
                <a:latin typeface="Times New Roman"/>
              </a:rPr>
              <a:t>▲ yuqoriroq = ishonchliroq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8FD9C4"/>
                </a:solidFill>
                <a:latin typeface="Times New Roman"/>
              </a:rPr>
              <a:t>LUG‘AT · ATAMA IZOHI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Secure Desktop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457200"/>
            <a:ext cx="384048" cy="38404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30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566928" y="6144768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← Mavzuga qaytish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Oddiy qilib aytganda: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11680"/>
            <a:ext cx="55778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UAC “Do you want to allow…?” deb so‘raganda, Windows alohida, himoyalangan ish stoliga o‘tadi: orqadagi ekran xiralashadi va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faqat so‘rov oynasini bosish mumkin</a:t>
            </a:r>
            <a:r>
              <a:rPr sz="1300">
                <a:solidFill>
                  <a:srgbClr val="202A38"/>
                </a:solidFill>
                <a:latin typeface="Times New Roman"/>
              </a:rPr>
              <a:t>. Oddiy dasturlar uni ko‘ra ham, boshqara ham olmaydi.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3192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Nima uchun muhim: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97680"/>
            <a:ext cx="55778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Usiz zararli dastur soxta oyna chizishi yoki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Yes</a:t>
            </a:r>
            <a:r>
              <a:rPr sz="1300">
                <a:solidFill>
                  <a:srgbClr val="202A38"/>
                </a:solidFill>
                <a:latin typeface="Times New Roman"/>
              </a:rPr>
              <a:t> tugmasini o‘zi “bosishi” mumkin edi. Secure Desktopda faqat sichqoncha/klaviatura bilan ishlayotgan haqiqiy inson javob bera oladi.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737360"/>
            <a:ext cx="5212080" cy="3566160"/>
          </a:xfrm>
          <a:prstGeom prst="roundRect">
            <a:avLst>
              <a:gd name="adj" fmla="val 3000"/>
            </a:avLst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00" b="0" i="1">
                <a:solidFill>
                  <a:srgbClr val="9AA8B8"/>
                </a:solidFill>
                <a:latin typeface="Times New Roman"/>
              </a:rPr>
              <a:t>oddiy ish stoli — xiralashgan, “muzlatilgan”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2377440"/>
            <a:ext cx="301752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498079" y="2377440"/>
            <a:ext cx="3017520" cy="411480"/>
          </a:xfrm>
          <a:prstGeom prst="roundRect">
            <a:avLst>
              <a:gd name="adj" fmla="val 4000"/>
            </a:avLst>
          </a:prstGeom>
          <a:solidFill>
            <a:srgbClr val="0B3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User Account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880360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202A38"/>
                </a:solidFill>
                <a:latin typeface="Times New Roman"/>
              </a:rPr>
              <a:t>Do you want to allow this app to make changes?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3931920"/>
            <a:ext cx="1234440" cy="411480"/>
          </a:xfrm>
          <a:prstGeom prst="roundRect">
            <a:avLst>
              <a:gd name="adj" fmla="val 10000"/>
            </a:avLst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Yes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3931920"/>
            <a:ext cx="1234440" cy="411480"/>
          </a:xfrm>
          <a:prstGeom prst="roundRect">
            <a:avLst>
              <a:gd name="adj" fmla="val 10000"/>
            </a:avLst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84632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00" b="1" i="0">
                <a:solidFill>
                  <a:srgbClr val="8FD9C4"/>
                </a:solidFill>
                <a:latin typeface="Times New Roman"/>
              </a:rPr>
              <a:t>faqat shu oyna faol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8FD9C4"/>
                </a:solidFill>
                <a:latin typeface="Times New Roman"/>
              </a:rPr>
              <a:t>LUG‘AT · ATAMA IZOHI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Access token (filtrlangan va to‘liq)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457200"/>
            <a:ext cx="384048" cy="38404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31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566928" y="6144768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← Mavzuga qaytish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Oddiy qilib aytganda: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11680"/>
            <a:ext cx="55778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Access token — dasturning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“shaxsiy guvohnomasi”</a:t>
            </a:r>
            <a:r>
              <a:rPr sz="1300">
                <a:solidFill>
                  <a:srgbClr val="202A38"/>
                </a:solidFill>
                <a:latin typeface="Times New Roman"/>
              </a:rPr>
              <a:t>: unda siz kimligingiz (SID), guruhlaringiz va imtiyozlaringiz yozilgan. Dastur fayl ochganda yoki sozlamani o‘zgartirganda Windows har safar shu guvohnomani tekshiradi.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3192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Nima uchun muhim: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97680"/>
            <a:ext cx="55778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Administrator tizimga kirganda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ikkita guvohnoma</a:t>
            </a:r>
            <a:r>
              <a:rPr sz="1300">
                <a:solidFill>
                  <a:srgbClr val="202A38"/>
                </a:solidFill>
                <a:latin typeface="Times New Roman"/>
              </a:rPr>
              <a:t> oladi: kundalik ish uchun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filtrlangan</a:t>
            </a:r>
            <a:r>
              <a:rPr sz="1300">
                <a:solidFill>
                  <a:srgbClr val="202A38"/>
                </a:solidFill>
                <a:latin typeface="Times New Roman"/>
              </a:rPr>
              <a:t> va faqat UAC “Ha”dan keyin ishlatiladigan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to‘liq</a:t>
            </a:r>
            <a:r>
              <a:rPr sz="1300">
                <a:solidFill>
                  <a:srgbClr val="202A38"/>
                </a:solidFill>
                <a:latin typeface="Times New Roman"/>
              </a:rPr>
              <a:t> guvohnoma. UAC hatto adminlarni ham shu tarzda himoya qiladi.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1737360"/>
            <a:ext cx="2926080" cy="54864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Times New Roman"/>
              </a:rPr>
              <a:t>Administrator sifatida kirish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51976" y="2331720"/>
            <a:ext cx="201168" cy="292608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00800" y="2697480"/>
            <a:ext cx="2468880" cy="1645920"/>
          </a:xfrm>
          <a:prstGeom prst="roundRect">
            <a:avLst>
              <a:gd name="adj" fmla="val 1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FILTRLANGAN TOKEN</a:t>
            </a:r>
          </a:p>
          <a:p>
            <a:pPr algn="ctr"/>
            <a:endParaRPr sz="1200" b="1">
              <a:solidFill>
                <a:srgbClr val="FFFFFF"/>
              </a:solidFill>
              <a:latin typeface="Times New Roman"/>
            </a:endParaRPr>
          </a:p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foydalanuvchi SID · guruhlar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standart huquqlar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→ Medium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2697480"/>
            <a:ext cx="2468880" cy="164592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TO‘LIQ TOKEN</a:t>
            </a:r>
          </a:p>
          <a:p>
            <a:pPr algn="ctr"/>
            <a:endParaRPr sz="1200" b="1">
              <a:solidFill>
                <a:srgbClr val="FFFFFF"/>
              </a:solidFill>
              <a:latin typeface="Times New Roman"/>
            </a:endParaRPr>
          </a:p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foydalanuvchi SID · guruhlar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barcha admin huquqlari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→ High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572000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UAC “Ha” = filtrlangan tokendan to‘liq tokenga o‘tish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8FD9C4"/>
                </a:solidFill>
                <a:latin typeface="Times New Roman"/>
              </a:rPr>
              <a:t>LUG‘AT · ATAMA IZOHI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Whitelist (ruxsat etilganlar ro‘yxati)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457200"/>
            <a:ext cx="384048" cy="38404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32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566928" y="6144768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← Mavzuga qaytish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Oddiy qilib aytganda: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11680"/>
            <a:ext cx="55778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Whitelist —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ruxsat etilgan</a:t>
            </a:r>
            <a:r>
              <a:rPr sz="1300">
                <a:solidFill>
                  <a:srgbClr val="202A38"/>
                </a:solidFill>
                <a:latin typeface="Times New Roman"/>
              </a:rPr>
              <a:t> narsalar ro‘yxati. Ro‘yxatda yo‘q har qanday narsa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standart holatda taqiqlanadi</a:t>
            </a:r>
            <a:r>
              <a:rPr sz="1300">
                <a:solidFill>
                  <a:srgbClr val="202A38"/>
                </a:solidFill>
                <a:latin typeface="Times New Roman"/>
              </a:rPr>
              <a:t>. Uning teskarisi — blacklist: ro‘yxatdagilardan boshqa hammasiga ruxsat.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3192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Nima uchun muhim: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97680"/>
            <a:ext cx="55778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Yangi zararli dastur hali hech qaysi blacklistda bo‘lmaydi — lekin whitelistda ham yo‘q, shuning uchun bloklanadi. Shu sababli AppLocker (whitelist) harbiy va korporativ tarmoqlarda juda kuchli.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783080"/>
            <a:ext cx="52120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3B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heck-circle_178A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938528"/>
            <a:ext cx="411480" cy="411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78040" y="1783080"/>
            <a:ext cx="42976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Consolas"/>
              </a:rPr>
              <a:t>notepad.exe  (Microsoft, imzolangan)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651760"/>
            <a:ext cx="52120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3B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check-circle_178A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807208"/>
            <a:ext cx="411480" cy="411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178040" y="2651760"/>
            <a:ext cx="42976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Consolas"/>
              </a:rPr>
              <a:t>C:\Program Files\*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520439"/>
            <a:ext cx="52120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ban_C0392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3675887"/>
            <a:ext cx="411480" cy="4114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178040" y="3520439"/>
            <a:ext cx="42976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Consolas"/>
              </a:rPr>
              <a:t>game.exe  (Downloads)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389120"/>
            <a:ext cx="52120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ban_C0392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4544568"/>
            <a:ext cx="411480" cy="411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178040" y="4389120"/>
            <a:ext cx="42976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Consolas"/>
              </a:rPr>
              <a:t>crack.exe  (USB fleshka)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34924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 i="1">
                <a:solidFill>
                  <a:srgbClr val="54647A"/>
                </a:solidFill>
                <a:latin typeface="Times New Roman"/>
              </a:rPr>
              <a:t>yashil = ro‘yxatda bor · qizil = ro‘yxatda yo‘q → bloklanadi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8FD9C4"/>
                </a:solidFill>
                <a:latin typeface="Times New Roman"/>
              </a:rPr>
              <a:t>LUG‘AT · ATAMA IZOHI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File hash (faylning “barmoq izi”)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457200"/>
            <a:ext cx="384048" cy="38404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33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566928" y="6144768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← Mavzuga qaytish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Oddiy qilib aytganda: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11680"/>
            <a:ext cx="55778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Hash funksiyasi butun faylni qisqa, belgilangan uzunlikdagi kodga aylantiradi (masalan, </a:t>
            </a:r>
            <a:r>
              <a:rPr sz="1300" b="1">
                <a:solidFill>
                  <a:srgbClr val="178A73"/>
                </a:solidFill>
                <a:latin typeface="Consolas"/>
              </a:rPr>
              <a:t>SHA-256</a:t>
            </a:r>
            <a:r>
              <a:rPr sz="1300">
                <a:solidFill>
                  <a:srgbClr val="202A38"/>
                </a:solidFill>
                <a:latin typeface="Times New Roman"/>
              </a:rPr>
              <a:t>). Bir xil fayl doimo bir xil hash beradi; hatto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bitta baytni</a:t>
            </a:r>
            <a:r>
              <a:rPr sz="1300">
                <a:solidFill>
                  <a:srgbClr val="202A38"/>
                </a:solidFill>
                <a:latin typeface="Times New Roman"/>
              </a:rPr>
              <a:t> o‘zgartirsangiz ham, hash butunlay boshqacha bo‘ladi.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3192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Nima uchun muhim: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97680"/>
            <a:ext cx="55778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AppLockerning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File hash</a:t>
            </a:r>
            <a:r>
              <a:rPr sz="1300">
                <a:solidFill>
                  <a:srgbClr val="202A38"/>
                </a:solidFill>
                <a:latin typeface="Times New Roman"/>
              </a:rPr>
              <a:t> qoidasi aynan bitta faylning aynan bitta versiyasiga ruxsat beradi. Bu eng qat’iy shart — lekin har bir yangilanishdan keyin hash o‘zgaradi va qoidani qayta yozish kerak bo‘ladi.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783080"/>
            <a:ext cx="2103120" cy="6858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Times New Roman"/>
              </a:rPr>
              <a:t>setup.exe v1.0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1783080"/>
            <a:ext cx="3657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 i="0">
                <a:solidFill>
                  <a:srgbClr val="54647A"/>
                </a:solidFill>
                <a:latin typeface="Times New Roman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1783080"/>
            <a:ext cx="2697480" cy="685800"/>
          </a:xfrm>
          <a:prstGeom prst="roundRect">
            <a:avLst>
              <a:gd name="adj" fmla="val 1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3F9A…C21B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834640"/>
            <a:ext cx="2103120" cy="6858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Times New Roman"/>
              </a:rPr>
              <a:t>setup.exe v1.1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834640"/>
            <a:ext cx="3657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 i="0">
                <a:solidFill>
                  <a:srgbClr val="54647A"/>
                </a:solidFill>
                <a:latin typeface="Times New Roman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2834640"/>
            <a:ext cx="2697480" cy="68580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A04D…77E9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840480"/>
            <a:ext cx="5212080" cy="1188720"/>
          </a:xfrm>
          <a:prstGeom prst="roundRect">
            <a:avLst>
              <a:gd name="adj" fmla="val 5000"/>
            </a:avLst>
          </a:prstGeom>
          <a:solidFill>
            <a:srgbClr val="FDF1DF"/>
          </a:solidFill>
          <a:ln w="12700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388620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02A38"/>
                </a:solidFill>
                <a:latin typeface="Times New Roman"/>
              </a:rPr>
              <a:t>Kichik o‘zgarish → yangi hash → eski AppLocker qoidasi endi mos kelmaydi.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Hashni tekshirish: </a:t>
            </a:r>
            <a:r>
              <a:rPr sz="1200" b="1">
                <a:solidFill>
                  <a:srgbClr val="178A73"/>
                </a:solidFill>
                <a:latin typeface="Consolas"/>
              </a:rPr>
              <a:t>Get-FileHash setup.exe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8FD9C4"/>
                </a:solidFill>
                <a:latin typeface="Times New Roman"/>
              </a:rPr>
              <a:t>LUG‘AT · ATAMA IZOHI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Mark of the Web (Zone.Identifier)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457200"/>
            <a:ext cx="384048" cy="38404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34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566928" y="6144768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← Mavzuga qaytish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Oddiy qilib aytganda: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11680"/>
            <a:ext cx="55778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Brauzer internetdan faylni saqlaganda, Windows unga sezdirmasdan yashirin yorliq qo‘shadi — </a:t>
            </a:r>
            <a:r>
              <a:rPr sz="1300" b="1">
                <a:solidFill>
                  <a:srgbClr val="178A73"/>
                </a:solidFill>
                <a:latin typeface="Consolas"/>
              </a:rPr>
              <a:t>Zone.Identifier</a:t>
            </a:r>
            <a:r>
              <a:rPr sz="1300">
                <a:solidFill>
                  <a:srgbClr val="202A38"/>
                </a:solidFill>
                <a:latin typeface="Times New Roman"/>
              </a:rPr>
              <a:t> oqimi. U fayl qayerdan kelganini bildiradi (</a:t>
            </a:r>
            <a:r>
              <a:rPr sz="1300" b="1">
                <a:solidFill>
                  <a:srgbClr val="178A73"/>
                </a:solidFill>
                <a:latin typeface="Consolas"/>
              </a:rPr>
              <a:t>ZoneId=3</a:t>
            </a:r>
            <a:r>
              <a:rPr sz="1300">
                <a:solidFill>
                  <a:srgbClr val="202A38"/>
                </a:solidFill>
                <a:latin typeface="Times New Roman"/>
              </a:rPr>
              <a:t> — “Internet” degani).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3192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Nima uchun muhim: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97680"/>
            <a:ext cx="55778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SmartScreen va Office shu yorliqqa qaraydi: “internetdan kelgan” fayl tekshiriladi va himoyalangan rejimda ochilishi mumkin. USB fleshkadan nusxalangan faylda odatda yorliq bo‘lmaydi — shuning uchun SmartScreen uni tekshirmaydi.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78308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1874519"/>
            <a:ext cx="4846320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8FD9C4"/>
                </a:solidFill>
                <a:latin typeface="Times New Roman"/>
              </a:rPr>
              <a:t>PS&gt; Get-Content .\setup.exe -Stream Zone.Identifier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>
                <a:solidFill>
                  <a:srgbClr val="FFFFFF"/>
                </a:solidFill>
                <a:latin typeface="Times New Roman"/>
              </a:rPr>
              <a:t>[ZoneTransfer]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>
                <a:solidFill>
                  <a:srgbClr val="FFFFFF"/>
                </a:solidFill>
                <a:latin typeface="Times New Roman"/>
              </a:rPr>
              <a:t>ZoneId=3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>
                <a:solidFill>
                  <a:srgbClr val="FFFFFF"/>
                </a:solidFill>
                <a:latin typeface="Times New Roman"/>
              </a:rPr>
              <a:t>HostUrl=https://example.com/setup.exe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886200"/>
            <a:ext cx="960120" cy="548640"/>
          </a:xfrm>
          <a:prstGeom prst="roundRect">
            <a:avLst>
              <a:gd name="adj" fmla="val 10000"/>
            </a:avLst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480560"/>
            <a:ext cx="960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0">
                <a:solidFill>
                  <a:srgbClr val="202A38"/>
                </a:solidFill>
                <a:latin typeface="Times New Roman"/>
              </a:rPr>
              <a:t>shu kompyuter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3886200"/>
            <a:ext cx="960120" cy="548640"/>
          </a:xfrm>
          <a:prstGeom prst="roundRect">
            <a:avLst>
              <a:gd name="adj" fmla="val 10000"/>
            </a:avLst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4480560"/>
            <a:ext cx="960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0">
                <a:solidFill>
                  <a:srgbClr val="202A38"/>
                </a:solidFill>
                <a:latin typeface="Times New Roman"/>
              </a:rPr>
              <a:t>intranet (ichki tarmoq)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3886200"/>
            <a:ext cx="960120" cy="548640"/>
          </a:xfrm>
          <a:prstGeom prst="roundRect">
            <a:avLst>
              <a:gd name="adj" fmla="val 10000"/>
            </a:avLst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480560"/>
            <a:ext cx="960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0">
                <a:solidFill>
                  <a:srgbClr val="202A38"/>
                </a:solidFill>
                <a:latin typeface="Times New Roman"/>
              </a:rPr>
              <a:t>ishonchli saytlar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55480" y="3886200"/>
            <a:ext cx="960120" cy="548640"/>
          </a:xfrm>
          <a:prstGeom prst="roundRect">
            <a:avLst>
              <a:gd name="adj" fmla="val 10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4480560"/>
            <a:ext cx="960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0">
                <a:solidFill>
                  <a:srgbClr val="202A38"/>
                </a:solidFill>
                <a:latin typeface="Times New Roman"/>
              </a:rPr>
              <a:t>Internet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607040" y="3886200"/>
            <a:ext cx="960120" cy="548640"/>
          </a:xfrm>
          <a:prstGeom prst="roundRect">
            <a:avLst>
              <a:gd name="adj" fmla="val 10000"/>
            </a:avLst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4480560"/>
            <a:ext cx="960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0">
                <a:solidFill>
                  <a:srgbClr val="202A38"/>
                </a:solidFill>
                <a:latin typeface="Times New Roman"/>
              </a:rPr>
              <a:t>cheklangan saytlar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8FD9C4"/>
                </a:solidFill>
                <a:latin typeface="Times New Roman"/>
              </a:rPr>
              <a:t>LUG‘AT · ATAMA IZOHI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Firewall profile (Domain / Private / Public)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457200"/>
            <a:ext cx="384048" cy="38404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35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566928" y="6144768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← Mavzuga qaytish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Oddiy qilib aytganda: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11680"/>
            <a:ext cx="55778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Profil — tarmoq turiga bog‘langan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firewall qoidalari to‘plami</a:t>
            </a:r>
            <a:r>
              <a:rPr sz="1300">
                <a:solidFill>
                  <a:srgbClr val="202A38"/>
                </a:solidFill>
                <a:latin typeface="Times New Roman"/>
              </a:rPr>
              <a:t>. Ulanganingizda Windows profilni avtomatik tanlaydi: domen tarmog‘i → Domain; “xususiy” deb belgilagan bo‘lsangiz → Private; aks holda → Public.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3192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Nima uchun muhim: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97680"/>
            <a:ext cx="55778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Bir noutbukning o‘ziga ofisda va kafeda turlicha himoya kerak. Public profilida deyarli barcha kiruvchi ulanishlar bloklanadi, shuning uchun bitta Wi-Fi dagi begonalar umumiy papkalaringizga kira olmaydi.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Times New Roman"/>
              </a:rPr>
              <a:t>Tekshirish: </a:t>
            </a:r>
            <a:r>
              <a:rPr sz="1300" b="1">
                <a:solidFill>
                  <a:srgbClr val="178A73"/>
                </a:solidFill>
                <a:latin typeface="Consolas"/>
              </a:rPr>
              <a:t>Get-NetConnectionProfile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783080"/>
            <a:ext cx="52120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83680" y="1938528"/>
            <a:ext cx="685800" cy="68580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building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5704" y="2130552"/>
            <a:ext cx="301752" cy="3017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452360" y="1783080"/>
            <a:ext cx="40233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1F3864"/>
                </a:solidFill>
                <a:latin typeface="Times New Roman"/>
              </a:rPr>
              <a:t>Domain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54647A"/>
                </a:solidFill>
                <a:latin typeface="Times New Roman"/>
              </a:rPr>
              <a:t>ofis, Active Directory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971800"/>
            <a:ext cx="52120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83680" y="3127248"/>
            <a:ext cx="685800" cy="685800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hom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5704" y="3319272"/>
            <a:ext cx="301752" cy="30175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452360" y="2971800"/>
            <a:ext cx="40233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1F3864"/>
                </a:solidFill>
                <a:latin typeface="Times New Roman"/>
              </a:rPr>
              <a:t>Private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54647A"/>
                </a:solidFill>
                <a:latin typeface="Times New Roman"/>
              </a:rPr>
              <a:t>uy, ishonchli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160520"/>
            <a:ext cx="52120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583680" y="4315968"/>
            <a:ext cx="685800" cy="6858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coffe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5704" y="4507992"/>
            <a:ext cx="301752" cy="30175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452360" y="4160520"/>
            <a:ext cx="40233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1F3864"/>
                </a:solidFill>
                <a:latin typeface="Times New Roman"/>
              </a:rPr>
              <a:t>Public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>
                <a:solidFill>
                  <a:srgbClr val="54647A"/>
                </a:solidFill>
                <a:latin typeface="Times New Roman"/>
              </a:rPr>
              <a:t>kafe, aeroport — eng qat’iy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8FD9C4"/>
                </a:solidFill>
                <a:latin typeface="Times New Roman"/>
              </a:rPr>
              <a:t>LUG‘AT · ATAMA IZOHI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Defense in depth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457200"/>
            <a:ext cx="384048" cy="38404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36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566928" y="6144768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← Mavzuga qaytish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Oddiy qilib aytganda: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11680"/>
            <a:ext cx="55778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Bitta mustahkam devorga ishonish o‘rniga,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bir necha mustaqil qatlam</a:t>
            </a:r>
            <a:r>
              <a:rPr sz="1300">
                <a:solidFill>
                  <a:srgbClr val="202A38"/>
                </a:solidFill>
                <a:latin typeface="Times New Roman"/>
              </a:rPr>
              <a:t> quriladi. Har bir qatlam ishdan chiqishi mumkin — lekin muvaffaqiyatga erishish uchun hujumchi ularning barchasini yengishi kerak.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3192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Nima uchun muhim: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97680"/>
            <a:ext cx="55778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Hech bir vosita mukammal emas: foydalanuvchilar “Run anyway” ni bosadi, yangi zararli dasturning hali signaturasi yo‘q. Besh qatlam (SmartScreen, AppLocker, Defender, UAC, Firewall) bo‘lsa, bitta xato tizim buzilganini anglatmaydi.</a:t>
            </a:r>
          </a:p>
        </p:txBody>
      </p:sp>
      <p:sp>
        <p:nvSpPr>
          <p:cNvPr id="13" name="Oval 12"/>
          <p:cNvSpPr/>
          <p:nvPr/>
        </p:nvSpPr>
        <p:spPr>
          <a:xfrm>
            <a:off x="6995159" y="1783080"/>
            <a:ext cx="4023360" cy="4023360"/>
          </a:xfrm>
          <a:prstGeom prst="ellipse">
            <a:avLst/>
          </a:prstGeom>
          <a:solidFill>
            <a:srgbClr val="CBD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09560" y="182880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Firewall</a:t>
            </a:r>
          </a:p>
        </p:txBody>
      </p:sp>
      <p:sp>
        <p:nvSpPr>
          <p:cNvPr id="15" name="Oval 14"/>
          <p:cNvSpPr/>
          <p:nvPr/>
        </p:nvSpPr>
        <p:spPr>
          <a:xfrm>
            <a:off x="7351775" y="2139696"/>
            <a:ext cx="3310128" cy="3310128"/>
          </a:xfrm>
          <a:prstGeom prst="ellipse">
            <a:avLst/>
          </a:prstGeom>
          <a:solidFill>
            <a:srgbClr val="A9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09560" y="2185416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Defender</a:t>
            </a:r>
          </a:p>
        </p:txBody>
      </p:sp>
      <p:sp>
        <p:nvSpPr>
          <p:cNvPr id="17" name="Oval 16"/>
          <p:cNvSpPr/>
          <p:nvPr/>
        </p:nvSpPr>
        <p:spPr>
          <a:xfrm>
            <a:off x="7708392" y="2496312"/>
            <a:ext cx="2596896" cy="2596896"/>
          </a:xfrm>
          <a:prstGeom prst="ellipse">
            <a:avLst/>
          </a:prstGeom>
          <a:solidFill>
            <a:srgbClr val="7FA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09560" y="2542032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Times New Roman"/>
              </a:rPr>
              <a:t>SmartScreen</a:t>
            </a:r>
          </a:p>
        </p:txBody>
      </p:sp>
      <p:sp>
        <p:nvSpPr>
          <p:cNvPr id="19" name="Oval 18"/>
          <p:cNvSpPr/>
          <p:nvPr/>
        </p:nvSpPr>
        <p:spPr>
          <a:xfrm>
            <a:off x="8065008" y="2852928"/>
            <a:ext cx="1883664" cy="1883664"/>
          </a:xfrm>
          <a:prstGeom prst="ellipse">
            <a:avLst/>
          </a:prstGeom>
          <a:solidFill>
            <a:srgbClr val="6E5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09560" y="2898648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imes New Roman"/>
              </a:rPr>
              <a:t>AppLocker</a:t>
            </a:r>
          </a:p>
        </p:txBody>
      </p:sp>
      <p:sp>
        <p:nvSpPr>
          <p:cNvPr id="21" name="Oval 20"/>
          <p:cNvSpPr/>
          <p:nvPr/>
        </p:nvSpPr>
        <p:spPr>
          <a:xfrm>
            <a:off x="8421624" y="3209544"/>
            <a:ext cx="1170432" cy="1170432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09560" y="3255264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imes New Roman"/>
              </a:rPr>
              <a:t>UAC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3520440"/>
            <a:ext cx="1005840" cy="54864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ma’lumot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3475</Words>
  <Application>Microsoft Office PowerPoint</Application>
  <PresentationFormat>Широкоэкранный</PresentationFormat>
  <Paragraphs>511</Paragraphs>
  <Slides>33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38" baseType="lpstr">
      <vt:lpstr>Arial</vt:lpstr>
      <vt:lpstr>Calibri</vt:lpstr>
      <vt:lpstr>Consolas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Isakov Muxriddin</cp:lastModifiedBy>
  <cp:revision>5</cp:revision>
  <dcterms:created xsi:type="dcterms:W3CDTF">2013-01-27T09:14:16Z</dcterms:created>
  <dcterms:modified xsi:type="dcterms:W3CDTF">2026-09-23T05:57:22Z</dcterms:modified>
  <cp:category/>
</cp:coreProperties>
</file>