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" Target="slide3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39.xml"/><Relationship Id="rId6" Type="http://schemas.openxmlformats.org/officeDocument/2006/relationships/slide" Target="slide4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slide" Target="slide3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slide" Target="slide4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7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20.png"/><Relationship Id="rId10" Type="http://schemas.openxmlformats.org/officeDocument/2006/relationships/image" Target="../media/image30.png"/><Relationship Id="rId11" Type="http://schemas.openxmlformats.org/officeDocument/2006/relationships/image" Target="../media/image9.png"/><Relationship Id="rId12" Type="http://schemas.openxmlformats.org/officeDocument/2006/relationships/slide" Target="slide41.xml"/><Relationship Id="rId13" Type="http://schemas.openxmlformats.org/officeDocument/2006/relationships/slide" Target="slide4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1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2.png"/><Relationship Id="rId4" Type="http://schemas.openxmlformats.org/officeDocument/2006/relationships/image" Target="../media/image15.png"/><Relationship Id="rId5" Type="http://schemas.openxmlformats.org/officeDocument/2006/relationships/slide" Target="slide41.xml"/><Relationship Id="rId6" Type="http://schemas.openxmlformats.org/officeDocument/2006/relationships/slide" Target="slide4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3.png"/><Relationship Id="rId4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4.png"/><Relationship Id="rId4" Type="http://schemas.openxmlformats.org/officeDocument/2006/relationships/image" Target="../media/image29.png"/><Relationship Id="rId5" Type="http://schemas.openxmlformats.org/officeDocument/2006/relationships/slide" Target="slide44.xml"/><Relationship Id="rId6" Type="http://schemas.openxmlformats.org/officeDocument/2006/relationships/slide" Target="slide45.xml"/><Relationship Id="rId7" Type="http://schemas.openxmlformats.org/officeDocument/2006/relationships/slide" Target="slide4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slide" Target="slide43.xml"/><Relationship Id="rId5" Type="http://schemas.openxmlformats.org/officeDocument/2006/relationships/slide" Target="slide4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slide" Target="slide4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2.png"/><Relationship Id="rId4" Type="http://schemas.openxmlformats.org/officeDocument/2006/relationships/image" Target="../media/image9.png"/><Relationship Id="rId5" Type="http://schemas.openxmlformats.org/officeDocument/2006/relationships/slide" Target="slide3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3.png"/><Relationship Id="rId4" Type="http://schemas.openxmlformats.org/officeDocument/2006/relationships/slide" Target="slide4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8.png"/><Relationship Id="rId4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9.png"/><Relationship Id="rId4" Type="http://schemas.openxmlformats.org/officeDocument/2006/relationships/image" Target="../media/image15.png"/><Relationship Id="rId5" Type="http://schemas.openxmlformats.org/officeDocument/2006/relationships/slide" Target="slide4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7.png"/><Relationship Id="rId4" Type="http://schemas.openxmlformats.org/officeDocument/2006/relationships/image" Target="../media/image7.png"/><Relationship Id="rId5" Type="http://schemas.openxmlformats.org/officeDocument/2006/relationships/image" Target="../media/image29.png"/><Relationship Id="rId6" Type="http://schemas.openxmlformats.org/officeDocument/2006/relationships/image" Target="../media/image4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7.png"/><Relationship Id="rId4" Type="http://schemas.openxmlformats.org/officeDocument/2006/relationships/image" Target="../media/image50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40.png"/><Relationship Id="rId8" Type="http://schemas.openxmlformats.org/officeDocument/2006/relationships/image" Target="../media/image5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3.png"/><Relationship Id="rId5" Type="http://schemas.openxmlformats.org/officeDocument/2006/relationships/image" Target="../media/image50.png"/><Relationship Id="rId6" Type="http://schemas.openxmlformats.org/officeDocument/2006/relationships/image" Target="../media/image7.png"/><Relationship Id="rId7" Type="http://schemas.openxmlformats.org/officeDocument/2006/relationships/image" Target="../media/image29.png"/><Relationship Id="rId8" Type="http://schemas.openxmlformats.org/officeDocument/2006/relationships/image" Target="../media/image40.png"/><Relationship Id="rId9" Type="http://schemas.openxmlformats.org/officeDocument/2006/relationships/image" Target="../media/image28.png"/><Relationship Id="rId10" Type="http://schemas.openxmlformats.org/officeDocument/2006/relationships/image" Target="../media/image54.png"/><Relationship Id="rId11" Type="http://schemas.openxmlformats.org/officeDocument/2006/relationships/image" Target="../media/image51.png"/><Relationship Id="rId12" Type="http://schemas.openxmlformats.org/officeDocument/2006/relationships/slide" Target="slide38.xml"/><Relationship Id="rId13" Type="http://schemas.openxmlformats.org/officeDocument/2006/relationships/slide" Target="slide39.xml"/><Relationship Id="rId14" Type="http://schemas.openxmlformats.org/officeDocument/2006/relationships/slide" Target="slide40.xml"/><Relationship Id="rId15" Type="http://schemas.openxmlformats.org/officeDocument/2006/relationships/slide" Target="slide41.xml"/><Relationship Id="rId16" Type="http://schemas.openxmlformats.org/officeDocument/2006/relationships/slide" Target="slide42.xml"/><Relationship Id="rId17" Type="http://schemas.openxmlformats.org/officeDocument/2006/relationships/slide" Target="slide43.xml"/><Relationship Id="rId18" Type="http://schemas.openxmlformats.org/officeDocument/2006/relationships/slide" Target="slide44.xml"/><Relationship Id="rId19" Type="http://schemas.openxmlformats.org/officeDocument/2006/relationships/slide" Target="slide45.xml"/><Relationship Id="rId20" Type="http://schemas.openxmlformats.org/officeDocument/2006/relationships/slide" Target="slide4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slide" Target="slide1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1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1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4560"/>
            <a:ext cx="2468880" cy="2505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8920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C9D6E6"/>
                </a:solidFill>
                <a:latin typeface="Times New Roman"/>
              </a:rPr>
              <a:t>REPUBLIC OF UZBEKISTAN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C9D6E6"/>
                </a:solidFill>
                <a:latin typeface="Times New Roman"/>
              </a:rPr>
              <a:t>UNIVERSITY OF MILITARY SECURITY AND DEFENSE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C9D6E6"/>
                </a:solidFill>
                <a:latin typeface="Times New Roman"/>
              </a:rPr>
              <a:t>Institute of ICT and Military Communications · Cybersecurity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417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43B02A"/>
                </a:solidFill>
                <a:latin typeface="Times New Roman"/>
              </a:rPr>
              <a:t>COURSE: “CYBER FORENSICS AND ETHICAL HACKING”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9659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TOPIC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514600"/>
            <a:ext cx="8321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Times New Roman"/>
              </a:rPr>
              <a:t>WINDOWS OS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Times New Roman"/>
              </a:rPr>
              <a:t>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4343400"/>
            <a:ext cx="1280160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4572000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0" i="0">
                <a:solidFill>
                  <a:srgbClr val="DDE6F0"/>
                </a:solidFill>
                <a:latin typeface="Times New Roman"/>
              </a:rPr>
              <a:t>Lesson 3 · Windows OS Services  |  Practical, 4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989320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1">
                <a:solidFill>
                  <a:srgbClr val="B8C6D8"/>
                </a:solidFill>
                <a:latin typeface="Times New Roman"/>
              </a:rPr>
              <a:t>Lecturer: Senior Lecturer, Cybersecurity Department — Captain M. Isakov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TOPIC 1 · WINDOWS OS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Lesson 3: Windows OS Services (Practical)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" y="2114092"/>
            <a:ext cx="380392" cy="380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4208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Windows OS 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691640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3128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ermina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692" y="2114092"/>
            <a:ext cx="380392" cy="3803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21808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Session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Practical (lab)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82127" y="1691640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10727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291" y="2114092"/>
            <a:ext cx="380392" cy="3803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79407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7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4 hours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154680"/>
            <a:ext cx="6949440" cy="306324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36499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Learning questions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3977639"/>
            <a:ext cx="502920" cy="50292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977639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User Account Control (UAC) — configuring in 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389119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1">
                <a:solidFill>
                  <a:srgbClr val="B8D8CC"/>
                </a:solidFill>
                <a:latin typeface="Times New Roman"/>
              </a:rPr>
              <a:t>level · registry · two tokens · integrity level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4983479"/>
            <a:ext cx="502920" cy="50292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983479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AppLocker and SmartScreen security systems — configuring in practice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94959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1">
                <a:solidFill>
                  <a:srgbClr val="B8D8CC"/>
                </a:solidFill>
                <a:latin typeface="Times New Roman"/>
              </a:rPr>
              <a:t>rules · exercises A–E · SmartScreen test · Mark of the Web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3154680"/>
            <a:ext cx="3904487" cy="3063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55279" y="3364992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ist-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1341" y="3501054"/>
            <a:ext cx="294804" cy="29480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41080" y="3383280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Before you start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069080"/>
            <a:ext cx="35661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A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Windows 11 Pro / Enterprise</a:t>
            </a:r>
            <a:r>
              <a:rPr sz="1250">
                <a:solidFill>
                  <a:srgbClr val="202A38"/>
                </a:solidFill>
                <a:latin typeface="Times New Roman"/>
              </a:rPr>
              <a:t> virtual machine (not Home).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Take a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snapshot</a:t>
            </a:r>
            <a:r>
              <a:rPr sz="1250">
                <a:solidFill>
                  <a:srgbClr val="202A38"/>
                </a:solidFill>
                <a:latin typeface="Times New Roman"/>
              </a:rPr>
              <a:t> before you begin.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Sign in with an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ordinary</a:t>
            </a:r>
            <a:r>
              <a:rPr sz="1250">
                <a:solidFill>
                  <a:srgbClr val="202A38"/>
                </a:solidFill>
                <a:latin typeface="Times New Roman"/>
              </a:rPr>
              <a:t> account in the Administrators group (not the built-in Administrator).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Never practise on a work or personal PC.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PRACTICAL LESSON ·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Lab plan for 4 hours and the lab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6459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64592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Change the UAC level and test it (msconfig)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4592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94560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219456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19456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Check UAC with PowerShell (EnableLUA)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19456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10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743200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274320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274320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See the two tokens and the integrity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74320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15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291839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3291839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3291839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The four slider positions and registry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291839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15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840480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384048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384048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AppLocker: service → rules → test + exercises A–E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84048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75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89120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17320" y="43891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438912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SmartScreen: 5 settings and the safe test 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38912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25 min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937759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17320" y="4937759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4937759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Mark of the Web: read, remove,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937759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20 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486400"/>
            <a:ext cx="777240" cy="4572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Lab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17320" y="548640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54480" y="548640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Final assignment + report with screenshots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548640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08E1D"/>
                </a:solidFill>
                <a:latin typeface="Times New Roman"/>
              </a:rPr>
              <a:t>45 min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1687068"/>
            <a:ext cx="5257800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87068"/>
            <a:ext cx="5257800" cy="13807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355080" y="3154680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1. Training lab layout: virtual machine and snapshots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361188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37960" y="3840480"/>
            <a:ext cx="566928" cy="5669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warn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022" y="3976542"/>
            <a:ext cx="294804" cy="29480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269480" y="3675887"/>
            <a:ext cx="42062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Safety rules:</a:t>
            </a:r>
            <a:r>
              <a:rPr sz="1200">
                <a:solidFill>
                  <a:srgbClr val="202A38"/>
                </a:solidFill>
                <a:latin typeface="Times New Roman"/>
              </a:rPr>
              <a:t> work only in the VM · take a snapshot before each task · if something breaks,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Restore</a:t>
            </a:r>
            <a:r>
              <a:rPr sz="1200">
                <a:solidFill>
                  <a:srgbClr val="202A38"/>
                </a:solidFill>
                <a:latin typeface="Times New Roman"/>
              </a:rPr>
              <a:t> the snapshot instead of “fixing” the system. At the end of the exercises, restore the lab to its previous state.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5120640"/>
            <a:ext cx="5257800" cy="10972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5175504"/>
            <a:ext cx="49377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Total: 240 minutes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215 minutes of lab work + 25 minutes for the introduction, review and wrap-up. Every task ends with a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“Result”</a:t>
            </a:r>
            <a:r>
              <a:rPr sz="1200">
                <a:solidFill>
                  <a:srgbClr val="202A38"/>
                </a:solidFill>
                <a:latin typeface="Times New Roman"/>
              </a:rPr>
              <a:t> box: what we did and what we achieved.</a:t>
            </a:r>
          </a:p>
        </p:txBody>
      </p:sp>
      <p:sp>
        <p:nvSpPr>
          <p:cNvPr id="49" name="Rounded Rectangle 48">
            <a:hlinkClick action="ppaction://hlinksldjump" r:id="rId5"/>
          </p:cNvPr>
          <p:cNvSpPr/>
          <p:nvPr/>
        </p:nvSpPr>
        <p:spPr>
          <a:xfrm>
            <a:off x="3657600" y="6373368"/>
            <a:ext cx="11750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Snapshot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43B02A"/>
                </a:solidFill>
                <a:latin typeface="Times New Roman"/>
              </a:rPr>
              <a:t>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User Account Control (UAC) — configuring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160520"/>
            <a:ext cx="1188720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QUICK RECAP FROM 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What we change — the UAC levels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45392"/>
            <a:ext cx="6309360" cy="191001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5392"/>
            <a:ext cx="6309360" cy="19100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75488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2. UAC slider positions and their registry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691640"/>
            <a:ext cx="44348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91640"/>
            <a:ext cx="82296" cy="713232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691640"/>
            <a:ext cx="4114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Always notify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most secure — use it on military networks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2514600"/>
            <a:ext cx="44348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8040" y="2514600"/>
            <a:ext cx="82296" cy="713232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514600"/>
            <a:ext cx="4114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Notify… (default)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warns only for programs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3337560"/>
            <a:ext cx="44348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8040" y="3337560"/>
            <a:ext cx="82296" cy="713232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3337560"/>
            <a:ext cx="4114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Do not dim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no Secure Desktop — weaker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4160520"/>
            <a:ext cx="44348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78040" y="4160520"/>
            <a:ext cx="82296" cy="7132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4160520"/>
            <a:ext cx="4114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Never notify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never asks — never use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4068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ey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577840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52728" y="5440680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Today’s goal: </a:t>
            </a:r>
            <a:r>
              <a:rPr sz="1250">
                <a:solidFill>
                  <a:srgbClr val="202A38"/>
                </a:solidFill>
                <a:latin typeface="Times New Roman"/>
              </a:rPr>
              <a:t>move the slider, see the result on screen (msconfig), prove it in the registry with PowerShell, and finally see the two tokens and the integrity level with your own eyes.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3657600" y="6373368"/>
            <a:ext cx="16413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Registry value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5408676" y="6373368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Integrity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PRACTICAL TASK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Task 1.1 — set UAC to “Always notify”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48463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922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114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In Start menu search, type </a:t>
            </a:r>
            <a:r>
              <a:rPr sz="1162" b="1">
                <a:solidFill>
                  <a:srgbClr val="178A73"/>
                </a:solidFill>
                <a:latin typeface="Consolas"/>
              </a:rPr>
              <a:t>User Account Control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95728"/>
            <a:ext cx="48463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4203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95728"/>
            <a:ext cx="4114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Open </a:t>
            </a:r>
            <a:r>
              <a:rPr sz="1162" b="1">
                <a:solidFill>
                  <a:srgbClr val="178A73"/>
                </a:solidFill>
                <a:latin typeface="Consolas"/>
              </a:rPr>
              <a:t>Change User Account Control settings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45536"/>
            <a:ext cx="48463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29184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45536"/>
            <a:ext cx="4114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The window shows a slider — it indicates the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four levels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95344"/>
            <a:ext cx="48463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04164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95344"/>
            <a:ext cx="4114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Move the slider to the top —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Always notify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and click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OK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45152"/>
            <a:ext cx="48463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79145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45152"/>
            <a:ext cx="4114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The system itself asks for confirmation — answer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Yes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1976595"/>
            <a:ext cx="2926080" cy="1533209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976595"/>
            <a:ext cx="2926080" cy="15332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23560" y="3886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3. Searching for the UAC setting in the Start menu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1656706"/>
            <a:ext cx="2926080" cy="2172987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656706"/>
            <a:ext cx="2926080" cy="217298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0" y="3886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4. The slider at “Always notify”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4251960"/>
            <a:ext cx="5989320" cy="11887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4297680"/>
            <a:ext cx="5669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Quick ways:</a:t>
            </a:r>
            <a:r>
              <a:rPr sz="1200">
                <a:solidFill>
                  <a:srgbClr val="202A38"/>
                </a:solidFill>
                <a:latin typeface="Times New Roman"/>
              </a:rPr>
              <a:t> </a:t>
            </a:r>
            <a:r>
              <a:rPr sz="1116" b="1">
                <a:solidFill>
                  <a:srgbClr val="178A73"/>
                </a:solidFill>
                <a:latin typeface="Consolas"/>
              </a:rPr>
              <a:t>Win + R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UserAccountControlSettings</a:t>
            </a:r>
            <a:r>
              <a:rPr sz="1200">
                <a:solidFill>
                  <a:srgbClr val="202A38"/>
                </a:solidFill>
                <a:latin typeface="Times New Roman"/>
              </a:rPr>
              <a:t> (the fastest) or </a:t>
            </a:r>
            <a:r>
              <a:rPr sz="1116" b="1">
                <a:solidFill>
                  <a:srgbClr val="178A73"/>
                </a:solidFill>
                <a:latin typeface="Consolas"/>
              </a:rPr>
              <a:t>Win + R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control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User Accounts → User Accounts → “Change User Account Control settings”.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eck-circle_178A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733288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52728" y="5596128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Expected result: </a:t>
            </a:r>
            <a:r>
              <a:rPr sz="1250">
                <a:solidFill>
                  <a:srgbClr val="202A38"/>
                </a:solidFill>
                <a:latin typeface="Times New Roman"/>
              </a:rPr>
              <a:t>the slider stays at the top when the window is reopened; the change itself also required UAC confirmation.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PRACTICAL TASK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Task 1.1 — test the new level with msconfig, then revert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48640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922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754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In the </a:t>
            </a:r>
            <a:r>
              <a:rPr sz="1162" b="1">
                <a:solidFill>
                  <a:srgbClr val="178A73"/>
                </a:solidFill>
                <a:latin typeface="Consolas"/>
              </a:rPr>
              <a:t>Win + R</a:t>
            </a:r>
            <a:r>
              <a:rPr sz="1250">
                <a:solidFill>
                  <a:srgbClr val="202A38"/>
                </a:solidFill>
                <a:latin typeface="Times New Roman"/>
              </a:rPr>
              <a:t> box, enter </a:t>
            </a:r>
            <a:r>
              <a:rPr sz="1162" b="1">
                <a:solidFill>
                  <a:srgbClr val="178A73"/>
                </a:solidFill>
                <a:latin typeface="Consolas"/>
              </a:rPr>
              <a:t>msconfig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95728"/>
            <a:ext cx="548640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4203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95728"/>
            <a:ext cx="4754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Observe: at the default level this window opened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without a prompt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now UAC asks even for Windows’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own program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45536"/>
            <a:ext cx="548640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29184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45536"/>
            <a:ext cx="4754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Read the prompt: the program name (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System Configuration Utility</a:t>
            </a:r>
            <a:r>
              <a:rPr sz="1250">
                <a:solidFill>
                  <a:srgbClr val="202A38"/>
                </a:solidFill>
                <a:latin typeface="Times New Roman"/>
              </a:rPr>
              <a:t>), the publisher —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Microsoft Windows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95344"/>
            <a:ext cx="548640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04164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95344"/>
            <a:ext cx="4754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Return the slider to the default level (“Notify only when apps try to make changes”).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45152"/>
            <a:ext cx="548640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79145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45152"/>
            <a:ext cx="4754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Run </a:t>
            </a:r>
            <a:r>
              <a:rPr sz="1162" b="1">
                <a:solidFill>
                  <a:srgbClr val="178A73"/>
                </a:solidFill>
                <a:latin typeface="Consolas"/>
              </a:rPr>
              <a:t>msconfig</a:t>
            </a:r>
            <a:r>
              <a:rPr sz="1250">
                <a:solidFill>
                  <a:srgbClr val="202A38"/>
                </a:solidFill>
                <a:latin typeface="Times New Roman"/>
              </a:rPr>
              <a:t> again — now the window opens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without a prompt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0340" y="1645920"/>
            <a:ext cx="48158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340" y="1645920"/>
            <a:ext cx="4815840" cy="3611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3640" y="530352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5. At “Always notify” even msconfig asks for confirmation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33288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2728" y="5596128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Result: </a:t>
            </a:r>
            <a:r>
              <a:rPr sz="1250">
                <a:solidFill>
                  <a:srgbClr val="202A38"/>
                </a:solidFill>
                <a:latin typeface="Times New Roman"/>
              </a:rPr>
              <a:t>at “Always notify” Windows asks for confirmation even for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its own settings programs</a:t>
            </a:r>
            <a:r>
              <a:rPr sz="1250">
                <a:solidFill>
                  <a:srgbClr val="202A38"/>
                </a:solidFill>
                <a:latin typeface="Times New Roman"/>
              </a:rPr>
              <a:t>. The higher the slider, the stricter the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PRACTICAL TASK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Task 1.2 — check UAC with PowerShell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4846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Open PowerShell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with administrator rights</a:t>
            </a:r>
            <a:r>
              <a:rPr sz="1250">
                <a:solidFill>
                  <a:srgbClr val="202A38"/>
                </a:solidFill>
                <a:latin typeface="Times New Roman"/>
              </a:rPr>
              <a:t> (right-click → </a:t>
            </a:r>
            <a:r>
              <a:rPr sz="1162" b="1">
                <a:solidFill>
                  <a:srgbClr val="178A73"/>
                </a:solidFill>
                <a:latin typeface="Consolas"/>
              </a:rPr>
              <a:t>Run as administrator</a:t>
            </a:r>
            <a:r>
              <a:rPr sz="1250">
                <a:solidFill>
                  <a:srgbClr val="202A38"/>
                </a:solidFill>
                <a:latin typeface="Times New Roman"/>
              </a:rPr>
              <a:t>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60320"/>
            <a:ext cx="4846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889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Run: </a:t>
            </a:r>
            <a:r>
              <a:rPr sz="1162" b="1">
                <a:solidFill>
                  <a:srgbClr val="178A73"/>
                </a:solidFill>
                <a:latin typeface="Consolas"/>
              </a:rPr>
              <a:t>Get-ItemProperty HKLM:\Software\Microsoft\Windows\CurrentVersion\Policies\System -Name EnableLUA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4720"/>
            <a:ext cx="4846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7033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7472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62" b="1">
                <a:solidFill>
                  <a:srgbClr val="178A73"/>
                </a:solidFill>
                <a:latin typeface="Consolas"/>
              </a:rPr>
              <a:t>EnableLUA : 1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UAC is on; </a:t>
            </a:r>
            <a:r>
              <a:rPr sz="1162" b="1">
                <a:solidFill>
                  <a:srgbClr val="178A73"/>
                </a:solidFill>
                <a:latin typeface="Consolas"/>
              </a:rPr>
              <a:t>0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it is off (a serious weakness).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89120"/>
            <a:ext cx="4846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6177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8912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Likewise read </a:t>
            </a:r>
            <a:r>
              <a:rPr sz="1162" b="1">
                <a:solidFill>
                  <a:srgbClr val="178A73"/>
                </a:solidFill>
                <a:latin typeface="Consolas"/>
              </a:rPr>
              <a:t>-Name ConsentPromptBehaviorAdmin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the prompt type for administrators.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1467" y="1645920"/>
            <a:ext cx="305350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467" y="1645920"/>
            <a:ext cx="3053506" cy="1600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23560" y="3291840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6. PowerShell — result of checking the UAC state (EnableLUA)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92738" y="3611880"/>
            <a:ext cx="305096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738" y="3611880"/>
            <a:ext cx="3050964" cy="1600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23560" y="5257800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7. PowerShell — the ConsentPromptBehaviorAdmin value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733288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2728" y="5596128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Expected result: </a:t>
            </a:r>
            <a:r>
              <a:rPr sz="1162" b="1">
                <a:solidFill>
                  <a:srgbClr val="178A73"/>
                </a:solidFill>
                <a:latin typeface="Consolas"/>
              </a:rPr>
              <a:t>EnableLUA : 1</a:t>
            </a:r>
            <a:r>
              <a:rPr sz="1250">
                <a:solidFill>
                  <a:srgbClr val="202A38"/>
                </a:solidFill>
                <a:latin typeface="Times New Roman"/>
              </a:rPr>
              <a:t> and </a:t>
            </a:r>
            <a:r>
              <a:rPr sz="1162" b="1">
                <a:solidFill>
                  <a:srgbClr val="178A73"/>
                </a:solidFill>
                <a:latin typeface="Consolas"/>
              </a:rPr>
              <a:t>ConsentPromptBehaviorAdmin : 5</a:t>
            </a:r>
            <a:r>
              <a:rPr sz="1250">
                <a:solidFill>
                  <a:srgbClr val="202A38"/>
                </a:solidFill>
                <a:latin typeface="Times New Roman"/>
              </a:rPr>
              <a:t> (default) — the GUI slider really changes these registry values.</a:t>
            </a:r>
          </a:p>
        </p:txBody>
      </p:sp>
      <p:sp>
        <p:nvSpPr>
          <p:cNvPr id="29" name="Rounded Rectangle 28">
            <a:hlinkClick action="ppaction://hlinksldjump" r:id="rId6"/>
          </p:cNvPr>
          <p:cNvSpPr/>
          <p:nvPr/>
        </p:nvSpPr>
        <p:spPr>
          <a:xfrm>
            <a:off x="3657600" y="6355080"/>
            <a:ext cx="16413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Registry 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PRACTICAL TASK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How to read the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ConsentPromptBehaviorAdmin values: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548640" cy="512064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011680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011680"/>
            <a:ext cx="48920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Elevate without prompting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dangerous — admin rights are given silently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15184"/>
            <a:ext cx="548640" cy="512064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2615184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615184"/>
            <a:ext cx="48920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Ask for credentials on the Secure Desktop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very strict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18688"/>
            <a:ext cx="548640" cy="512064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18688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218688"/>
            <a:ext cx="48920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Ask for consent on the Secure Desktop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= “Always notify”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22191"/>
            <a:ext cx="548640" cy="512064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822191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822191"/>
            <a:ext cx="48920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Ask for credentials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strict, no dimming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425696"/>
            <a:ext cx="548640" cy="512064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425696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425696"/>
            <a:ext cx="48920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Ask for consent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no dimming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29200"/>
            <a:ext cx="548640" cy="512064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029200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029200"/>
            <a:ext cx="48920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Consent for non-Windows programs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= default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1645920"/>
            <a:ext cx="509320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37960" y="1645920"/>
            <a:ext cx="82296" cy="21031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66560" y="1773936"/>
            <a:ext cx="457200" cy="4572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1883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33488" y="1773936"/>
            <a:ext cx="41788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A separate value for standard users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322576"/>
            <a:ext cx="4727448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ConsentPromptBehaviorUser</a:t>
            </a:r>
            <a:r>
              <a:rPr sz="1200">
                <a:solidFill>
                  <a:srgbClr val="202A38"/>
                </a:solidFill>
                <a:latin typeface="Times New Roman"/>
              </a:rPr>
              <a:t>: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3</a:t>
            </a:r>
            <a:r>
              <a:rPr sz="1200">
                <a:solidFill>
                  <a:srgbClr val="202A38"/>
                </a:solidFill>
                <a:latin typeface="Times New Roman"/>
              </a:rPr>
              <a:t> (default) — an administrator user name and password are requested (Credential prompt);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0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an action that needs rights is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denied</a:t>
            </a:r>
            <a:r>
              <a:rPr sz="1200">
                <a:solidFill>
                  <a:srgbClr val="202A38"/>
                </a:solidFill>
                <a:latin typeface="Times New Roman"/>
              </a:rPr>
              <a:t> without a prompt.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Read this value too with the command above.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3931920"/>
            <a:ext cx="5093208" cy="2240280"/>
          </a:xfrm>
          <a:prstGeom prst="roundRect">
            <a:avLst>
              <a:gd name="adj" fmla="val 8000"/>
            </a:avLst>
          </a:prstGeom>
          <a:solidFill>
            <a:srgbClr val="FDF1DF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20840" y="4069080"/>
            <a:ext cx="502920" cy="50292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540" y="4189780"/>
            <a:ext cx="261520" cy="2615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60920" y="406908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Forensic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66344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If </a:t>
            </a:r>
            <a:r>
              <a:rPr sz="1116" b="1">
                <a:solidFill>
                  <a:srgbClr val="178A73"/>
                </a:solidFill>
                <a:latin typeface="Consolas"/>
              </a:rPr>
              <a:t>EnableLUA = 0</a:t>
            </a:r>
            <a:r>
              <a:rPr sz="1200">
                <a:solidFill>
                  <a:srgbClr val="202A38"/>
                </a:solidFill>
                <a:latin typeface="Times New Roman"/>
              </a:rPr>
              <a:t> or </a:t>
            </a:r>
            <a:r>
              <a:rPr sz="1116" b="1">
                <a:solidFill>
                  <a:srgbClr val="178A73"/>
                </a:solidFill>
                <a:latin typeface="Consolas"/>
              </a:rPr>
              <a:t>ConsentPromptBehaviorAdmin = 0</a:t>
            </a:r>
            <a:r>
              <a:rPr sz="1200">
                <a:solidFill>
                  <a:srgbClr val="202A38"/>
                </a:solidFill>
                <a:latin typeface="Times New Roman"/>
              </a:rPr>
              <a:t> is found on a computer under investigation, it may be a sign that someone (often malware)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deliberately weakened</a:t>
            </a:r>
            <a:r>
              <a:rPr sz="1200">
                <a:solidFill>
                  <a:srgbClr val="202A38"/>
                </a:solidFill>
                <a:latin typeface="Times New Roman"/>
              </a:rPr>
              <a:t> the protection. Compare the registry values with the GUI: they must always tell the same 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PRACTICAL TASK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Task 1.3 — see the two tokens and the integrity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6692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0136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937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Open Windows PowerShell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the ordinary way</a:t>
            </a:r>
            <a:r>
              <a:rPr sz="1200">
                <a:solidFill>
                  <a:srgbClr val="202A38"/>
                </a:solidFill>
                <a:latin typeface="Times New Roman"/>
              </a:rPr>
              <a:t> (not Run as administrator).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14016"/>
            <a:ext cx="56692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6946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14016"/>
            <a:ext cx="4937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Run: </a:t>
            </a:r>
            <a:r>
              <a:rPr sz="1116" b="1">
                <a:solidFill>
                  <a:srgbClr val="178A73"/>
                </a:solidFill>
                <a:latin typeface="Consolas"/>
              </a:rPr>
              <a:t>whoami /groups | findstr /i "Mandatory"</a:t>
            </a:r>
            <a:r>
              <a:rPr sz="1200">
                <a:solidFill>
                  <a:srgbClr val="202A38"/>
                </a:solidFill>
                <a:latin typeface="Times New Roman"/>
              </a:rPr>
              <a:t> and </a:t>
            </a:r>
            <a:r>
              <a:rPr sz="1116" b="1">
                <a:solidFill>
                  <a:srgbClr val="178A73"/>
                </a:solidFill>
                <a:latin typeface="Consolas"/>
              </a:rPr>
              <a:t>… "BUILTIN\Administrators"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82112"/>
            <a:ext cx="56692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375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82112"/>
            <a:ext cx="4937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Now open PowerShell with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Run as administrator</a:t>
            </a:r>
            <a:r>
              <a:rPr sz="1200">
                <a:solidFill>
                  <a:srgbClr val="202A38"/>
                </a:solidFill>
                <a:latin typeface="Times New Roman"/>
              </a:rPr>
              <a:t>, confirm UAC and run the same commands.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56692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10565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50208"/>
            <a:ext cx="4937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In both windows: </a:t>
            </a:r>
            <a:r>
              <a:rPr sz="1116" b="1">
                <a:solidFill>
                  <a:srgbClr val="178A73"/>
                </a:solidFill>
                <a:latin typeface="Consolas"/>
              </a:rPr>
              <a:t>net session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Access is denied</a:t>
            </a:r>
            <a:r>
              <a:rPr sz="1200">
                <a:solidFill>
                  <a:srgbClr val="202A38"/>
                </a:solidFill>
                <a:latin typeface="Times New Roman"/>
              </a:rPr>
              <a:t> in the ordinary window, works in the admin 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18304"/>
            <a:ext cx="56692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87375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718304"/>
            <a:ext cx="49377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Ctrl + Shift + Esc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Details → columns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Elevated</a:t>
            </a:r>
            <a:r>
              <a:rPr sz="1200">
                <a:solidFill>
                  <a:srgbClr val="202A38"/>
                </a:solidFill>
                <a:latin typeface="Times New Roman"/>
              </a:rPr>
              <a:t>: one </a:t>
            </a:r>
            <a:r>
              <a:rPr sz="1116" b="1">
                <a:solidFill>
                  <a:srgbClr val="178A73"/>
                </a:solidFill>
                <a:latin typeface="Consolas"/>
              </a:rPr>
              <a:t>powershell.exe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shows No, the other Yes.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46520" y="1645920"/>
          <a:ext cx="5166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37360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Check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Ordinary window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Administrator window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Mandatory Level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76" b="1">
                          <a:solidFill>
                            <a:srgbClr val="178A73"/>
                          </a:solidFill>
                          <a:latin typeface="Consolas"/>
                        </a:rPr>
                        <a:t>Medium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76" b="1">
                          <a:solidFill>
                            <a:srgbClr val="178A73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BUILTIN\Administrators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76" b="1">
                          <a:solidFill>
                            <a:srgbClr val="178A73"/>
                          </a:solidFill>
                          <a:latin typeface="Consolas"/>
                        </a:rPr>
                        <a:t>Group used for deny only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76" b="1">
                          <a:solidFill>
                            <a:srgbClr val="178A73"/>
                          </a:solidFill>
                          <a:latin typeface="Consolas"/>
                        </a:rPr>
                        <a:t>Enabled group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net session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C0392B"/>
                          </a:solidFill>
                          <a:latin typeface="Times New Roman"/>
                        </a:rPr>
                        <a:t>Access is denied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3B02A"/>
                          </a:solidFill>
                          <a:latin typeface="Times New Roman"/>
                        </a:rPr>
                        <a:t>OK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Task Manager → Elevated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Token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filtered (ordinary)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A38"/>
                          </a:solidFill>
                          <a:latin typeface="Times New Roman"/>
                        </a:rPr>
                        <a:t>full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7639812" y="3931920"/>
            <a:ext cx="277977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812" y="3931920"/>
            <a:ext cx="2779776" cy="1463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46520" y="5440680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8. Two tokens when an administrator signs in (Admin Approval Mode)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760720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852160"/>
            <a:ext cx="384048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52728" y="576072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Expected result: </a:t>
            </a:r>
            <a:r>
              <a:rPr sz="1200">
                <a:solidFill>
                  <a:srgbClr val="202A38"/>
                </a:solidFill>
                <a:latin typeface="Times New Roman"/>
              </a:rPr>
              <a:t>two windows of the same account run with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different rights</a:t>
            </a:r>
            <a:r>
              <a:rPr sz="1200">
                <a:solidFill>
                  <a:srgbClr val="202A38"/>
                </a:solidFill>
                <a:latin typeface="Times New Roman"/>
              </a:rPr>
              <a:t>: the everyday window is Medium (filtered token), the confirmed one is High (full token).</a:t>
            </a:r>
          </a:p>
        </p:txBody>
      </p:sp>
      <p:sp>
        <p:nvSpPr>
          <p:cNvPr id="30" name="Rounded Rectangle 29">
            <a:hlinkClick action="ppaction://hlinksldjump" r:id="rId5"/>
          </p:cNvPr>
          <p:cNvSpPr/>
          <p:nvPr/>
        </p:nvSpPr>
        <p:spPr>
          <a:xfrm>
            <a:off x="3657600" y="6373368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Integrity level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PRACTICAL TASK 1.3 —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What we saw — and why it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64" y="1645920"/>
            <a:ext cx="59325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64" y="1645920"/>
            <a:ext cx="5932568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70332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9. Windows integrity levels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69080"/>
            <a:ext cx="6035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069080"/>
            <a:ext cx="82296" cy="21031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5528" y="4197096"/>
            <a:ext cx="457200" cy="4572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-circ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0682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62456" y="4197096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Result — what did we see?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745736"/>
            <a:ext cx="5669280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The everyday windows of a user signed in as an administrator run at the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Medium</a:t>
            </a:r>
            <a:r>
              <a:rPr sz="1200">
                <a:solidFill>
                  <a:srgbClr val="202A38"/>
                </a:solidFill>
                <a:latin typeface="Times New Roman"/>
              </a:rPr>
              <a:t> level, and the Administrators group is “switched off” in them (deny only). Full rights are granted only after UAC confirmation, and only for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that one process</a:t>
            </a:r>
            <a:r>
              <a:rPr sz="1200">
                <a:solidFill>
                  <a:srgbClr val="202A38"/>
                </a:solidFill>
                <a:latin typeface="Times New Roman"/>
              </a:rPr>
              <a:t> (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High</a:t>
            </a:r>
            <a:r>
              <a:rPr sz="1200">
                <a:solidFill>
                  <a:srgbClr val="202A38"/>
                </a:solidFill>
                <a:latin typeface="Times New Roman"/>
              </a:rPr>
              <a:t>). If malware starts from an ordinary window, it also stays at Medium — that is the whole benefit of UAC.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1645920"/>
            <a:ext cx="4818888" cy="2514600"/>
          </a:xfrm>
          <a:prstGeom prst="roundRect">
            <a:avLst>
              <a:gd name="adj" fmla="val 8000"/>
            </a:avLst>
          </a:prstGeom>
          <a:solidFill>
            <a:srgbClr val="FDF1DF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80" y="1645920"/>
            <a:ext cx="82296" cy="251460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0" y="1773936"/>
            <a:ext cx="457200" cy="4572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arn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1883664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07808" y="1773936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Note — the built-in Administrator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322576"/>
            <a:ext cx="4453128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In the built-in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Administrator</a:t>
            </a:r>
            <a:r>
              <a:rPr sz="1200">
                <a:solidFill>
                  <a:srgbClr val="202A38"/>
                </a:solidFill>
                <a:latin typeface="Times New Roman"/>
              </a:rPr>
              <a:t> account (SID ending in </a:t>
            </a:r>
            <a:r>
              <a:rPr sz="1116" b="1">
                <a:solidFill>
                  <a:srgbClr val="178A73"/>
                </a:solidFill>
                <a:latin typeface="Consolas"/>
              </a:rPr>
              <a:t>-500</a:t>
            </a:r>
            <a:r>
              <a:rPr sz="1200">
                <a:solidFill>
                  <a:srgbClr val="202A38"/>
                </a:solidFill>
                <a:latin typeface="Times New Roman"/>
              </a:rPr>
              <a:t>) Admin Approval Mode is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off</a:t>
            </a:r>
            <a:r>
              <a:rPr sz="1200">
                <a:solidFill>
                  <a:srgbClr val="202A38"/>
                </a:solidFill>
                <a:latin typeface="Times New Roman"/>
              </a:rPr>
              <a:t> by default: every window runs at High at once and no UAC prompt appears. So do the exercises in an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ordinary</a:t>
            </a:r>
            <a:r>
              <a:rPr sz="1200">
                <a:solidFill>
                  <a:srgbClr val="202A38"/>
                </a:solidFill>
                <a:latin typeface="Times New Roman"/>
              </a:rPr>
              <a:t> account in the Administrators group. To check: </a:t>
            </a:r>
            <a:r>
              <a:rPr sz="1116" b="1">
                <a:solidFill>
                  <a:srgbClr val="178A73"/>
                </a:solidFill>
                <a:latin typeface="Consolas"/>
              </a:rPr>
              <a:t>whoami /user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4343400"/>
            <a:ext cx="481888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12280" y="4343400"/>
            <a:ext cx="82296" cy="1828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40880" y="4471416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ke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4581144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07808" y="4471416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For the next exercises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020056"/>
            <a:ext cx="4453128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You will need this again in the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AppLocker</a:t>
            </a:r>
            <a:r>
              <a:rPr sz="1200">
                <a:solidFill>
                  <a:srgbClr val="202A38"/>
                </a:solidFill>
                <a:latin typeface="Times New Roman"/>
              </a:rPr>
              <a:t> exercise: AppLocker also decides based on exactly this token (Exercise A — why does it open with “Run as administrator”?).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PRACTICAL TASK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Task 1.4 — the four slider positions and the registry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576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The slider actually changes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three values</a:t>
            </a:r>
            <a:r>
              <a:rPr sz="1250">
                <a:solidFill>
                  <a:srgbClr val="202A38"/>
                </a:solidFill>
                <a:latin typeface="Times New Roman"/>
              </a:rPr>
              <a:t> in the registry. Put the slider in each position, run the command in an administrator window and fill in the table: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86000"/>
            <a:ext cx="5760720" cy="96012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957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Get-ItemProperty HKLM:\Software\Microsoft\Windows\CurrentVersion\Policies\System |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6EDF5"/>
                </a:solidFill>
                <a:latin typeface="Consolas"/>
              </a:rPr>
              <a:t>      Select-Object EnableLUA, ConsentPromptBehaviorAdmin, PromptOnSecureDesktop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42900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34440"/>
                <a:gridCol w="1188720"/>
                <a:gridCol w="9601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Slider position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ConsentPrompt…Admin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PromptOnSecure…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EnableLUA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Always notify (highest)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Notify only when apps try… (default)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Notify… (do not dim my desktop)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Never notify (lowest)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3" b="1">
                          <a:solidFill>
                            <a:srgbClr val="178A7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37960" y="1645920"/>
            <a:ext cx="5093208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645920"/>
            <a:ext cx="82296" cy="452628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66560" y="1773936"/>
            <a:ext cx="457200" cy="4572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st-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1883664"/>
            <a:ext cx="237744" cy="237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33488" y="1773936"/>
            <a:ext cx="41788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Result — what the table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322576"/>
            <a:ext cx="4727448" cy="3776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ConsentPromptBehaviorAdmin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how the prompt is shown: </a:t>
            </a:r>
            <a:r>
              <a:rPr sz="1116" b="1">
                <a:solidFill>
                  <a:srgbClr val="178A73"/>
                </a:solidFill>
                <a:latin typeface="Consolas"/>
              </a:rPr>
              <a:t>2</a:t>
            </a:r>
            <a:r>
              <a:rPr sz="1200">
                <a:solidFill>
                  <a:srgbClr val="202A38"/>
                </a:solidFill>
                <a:latin typeface="Times New Roman"/>
              </a:rPr>
              <a:t> always asks, </a:t>
            </a:r>
            <a:r>
              <a:rPr sz="1116" b="1">
                <a:solidFill>
                  <a:srgbClr val="178A73"/>
                </a:solidFill>
                <a:latin typeface="Consolas"/>
              </a:rPr>
              <a:t>5</a:t>
            </a:r>
            <a:r>
              <a:rPr sz="1200">
                <a:solidFill>
                  <a:srgbClr val="202A38"/>
                </a:solidFill>
                <a:latin typeface="Times New Roman"/>
              </a:rPr>
              <a:t> only for other programs, </a:t>
            </a:r>
            <a:r>
              <a:rPr sz="1116" b="1">
                <a:solidFill>
                  <a:srgbClr val="178A73"/>
                </a:solidFill>
                <a:latin typeface="Consolas"/>
              </a:rPr>
              <a:t>0</a:t>
            </a:r>
            <a:r>
              <a:rPr sz="1200">
                <a:solidFill>
                  <a:srgbClr val="202A38"/>
                </a:solidFill>
                <a:latin typeface="Times New Roman"/>
              </a:rPr>
              <a:t> never asks.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PromptOnSecureDesktop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screen dimming (Secure Desktop): </a:t>
            </a:r>
            <a:r>
              <a:rPr sz="1116" b="1">
                <a:solidFill>
                  <a:srgbClr val="178A73"/>
                </a:solidFill>
                <a:latin typeface="Consolas"/>
              </a:rPr>
              <a:t>1</a:t>
            </a:r>
            <a:r>
              <a:rPr sz="1200">
                <a:solidFill>
                  <a:srgbClr val="202A38"/>
                </a:solidFill>
                <a:latin typeface="Times New Roman"/>
              </a:rPr>
              <a:t> on, </a:t>
            </a:r>
            <a:r>
              <a:rPr sz="1116" b="1">
                <a:solidFill>
                  <a:srgbClr val="178A73"/>
                </a:solidFill>
                <a:latin typeface="Consolas"/>
              </a:rPr>
              <a:t>0</a:t>
            </a:r>
            <a:r>
              <a:rPr sz="1200">
                <a:solidFill>
                  <a:srgbClr val="202A38"/>
                </a:solidFill>
                <a:latin typeface="Times New Roman"/>
              </a:rPr>
              <a:t> off.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Note: even at “Never notify” </a:t>
            </a:r>
            <a:r>
              <a:rPr sz="1116" b="1">
                <a:solidFill>
                  <a:srgbClr val="178A73"/>
                </a:solidFill>
                <a:latin typeface="Consolas"/>
              </a:rPr>
              <a:t>EnableLUA</a:t>
            </a:r>
            <a:r>
              <a:rPr sz="1200">
                <a:solidFill>
                  <a:srgbClr val="202A38"/>
                </a:solidFill>
                <a:latin typeface="Times New Roman"/>
              </a:rPr>
              <a:t> stays </a:t>
            </a:r>
            <a:r>
              <a:rPr sz="1116" b="1">
                <a:solidFill>
                  <a:srgbClr val="178A73"/>
                </a:solidFill>
                <a:latin typeface="Consolas"/>
              </a:rPr>
              <a:t>1</a:t>
            </a:r>
            <a:r>
              <a:rPr sz="1200">
                <a:solidFill>
                  <a:srgbClr val="202A38"/>
                </a:solidFill>
                <a:latin typeface="Times New Roman"/>
              </a:rPr>
              <a:t>. UAC is turned off completely only through </a:t>
            </a:r>
            <a:r>
              <a:rPr sz="1116" b="1">
                <a:solidFill>
                  <a:srgbClr val="178A73"/>
                </a:solidFill>
                <a:latin typeface="Consolas"/>
              </a:rPr>
              <a:t>EnableLUA = 0</a:t>
            </a:r>
            <a:r>
              <a:rPr sz="1200">
                <a:solidFill>
                  <a:srgbClr val="202A38"/>
                </a:solidFill>
                <a:latin typeface="Times New Roman"/>
              </a:rPr>
              <a:t>, and that requires a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restart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Forensic significance: </a:t>
            </a:r>
            <a:r>
              <a:rPr sz="1116" b="1">
                <a:solidFill>
                  <a:srgbClr val="178A73"/>
                </a:solidFill>
                <a:latin typeface="Consolas"/>
              </a:rPr>
              <a:t>ConsentPromptBehaviorAdmin = 0</a:t>
            </a:r>
            <a:r>
              <a:rPr sz="1200">
                <a:solidFill>
                  <a:srgbClr val="202A38"/>
                </a:solidFill>
                <a:latin typeface="Times New Roman"/>
              </a:rPr>
              <a:t> or </a:t>
            </a:r>
            <a:r>
              <a:rPr sz="1116" b="1">
                <a:solidFill>
                  <a:srgbClr val="178A73"/>
                </a:solidFill>
                <a:latin typeface="Consolas"/>
              </a:rPr>
              <a:t>EnableLUA = 0</a:t>
            </a:r>
            <a:r>
              <a:rPr sz="1200">
                <a:solidFill>
                  <a:srgbClr val="202A38"/>
                </a:solidFill>
                <a:latin typeface="Times New Roman"/>
              </a:rPr>
              <a:t> may be a sign that the protection was weakened on purpose.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43B02A"/>
                </a:solidFill>
                <a:latin typeface="Times New Roman"/>
              </a:rPr>
              <a:t>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AppLocker and SmartScreen — configuring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160520"/>
            <a:ext cx="1188720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PRACTICAL TASK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The AppLocker lab — the whole path in 7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1792" y="1572768"/>
            <a:ext cx="310896" cy="310896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178308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801" y="1914753"/>
            <a:ext cx="285294" cy="2852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2377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Start AppIDSvc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79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sc config / sc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2103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164592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49424" y="1572768"/>
            <a:ext cx="310896" cy="310896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2651760" y="178308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old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433" y="1914753"/>
            <a:ext cx="285294" cy="285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194560" y="2377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Open the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679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gpedit / secpol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103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22191" y="164592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77055" y="1572768"/>
            <a:ext cx="310896" cy="310896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4279391" y="178308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ist-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064" y="1914753"/>
            <a:ext cx="285294" cy="28529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822191" y="2377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Default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2191" y="2679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Create Default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1" y="2103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49824" y="164592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04688" y="1572768"/>
            <a:ext cx="310896" cy="310896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31" name="Oval 30"/>
          <p:cNvSpPr/>
          <p:nvPr/>
        </p:nvSpPr>
        <p:spPr>
          <a:xfrm>
            <a:off x="5907024" y="178308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697" y="1914753"/>
            <a:ext cx="285294" cy="28529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49824" y="2377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Your own rule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9824" y="2679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Publisher: notepad.exe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2864" y="2103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77456" y="164592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32320" y="1572768"/>
            <a:ext cx="310896" cy="310896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38" name="Oval 37"/>
          <p:cNvSpPr/>
          <p:nvPr/>
        </p:nvSpPr>
        <p:spPr>
          <a:xfrm>
            <a:off x="7534656" y="178308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zap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6329" y="1914753"/>
            <a:ext cx="285294" cy="28529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077456" y="2377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Apply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7456" y="2679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gpupdate /force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0496" y="2103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05088" y="164592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59952" y="1572768"/>
            <a:ext cx="310896" cy="310896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45" name="Oval 44"/>
          <p:cNvSpPr/>
          <p:nvPr/>
        </p:nvSpPr>
        <p:spPr>
          <a:xfrm>
            <a:off x="9162288" y="178308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an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3961" y="1914753"/>
            <a:ext cx="285294" cy="28529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705088" y="2377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Test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2679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blocked / allowed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68128" y="2103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32719" y="164592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87583" y="1572768"/>
            <a:ext cx="310896" cy="310896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52" name="Oval 51"/>
          <p:cNvSpPr/>
          <p:nvPr/>
        </p:nvSpPr>
        <p:spPr>
          <a:xfrm>
            <a:off x="10789919" y="178308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earch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1592" y="1914753"/>
            <a:ext cx="285294" cy="28529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332719" y="2377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19" y="2679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Event 8004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3407553"/>
            <a:ext cx="6309360" cy="237461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5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3407553"/>
            <a:ext cx="6309360" cy="2374613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66928" y="59893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10. The AppLocker decision algorithm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086600" y="3246120"/>
            <a:ext cx="4544568" cy="3017520"/>
          </a:xfrm>
          <a:prstGeom prst="roundRect">
            <a:avLst>
              <a:gd name="adj" fmla="val 6000"/>
            </a:avLst>
          </a:prstGeom>
          <a:solidFill>
            <a:srgbClr val="FDF1DF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269480" y="3401568"/>
            <a:ext cx="548640" cy="54864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warning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1153" y="3533241"/>
            <a:ext cx="285294" cy="28529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955279" y="3401568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Before you start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9480" y="4069080"/>
            <a:ext cx="420624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AppLocker works in the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Pro, Enterprise, Education and Server</a:t>
            </a:r>
            <a:r>
              <a:rPr sz="1200">
                <a:solidFill>
                  <a:srgbClr val="202A38"/>
                </a:solidFill>
                <a:latin typeface="Times New Roman"/>
              </a:rPr>
              <a:t> editions;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Home</a:t>
            </a:r>
            <a:r>
              <a:rPr sz="1200">
                <a:solidFill>
                  <a:srgbClr val="202A38"/>
                </a:solidFill>
                <a:latin typeface="Times New Roman"/>
              </a:rPr>
              <a:t> does not have it (check with </a:t>
            </a:r>
            <a:r>
              <a:rPr sz="1116" b="1">
                <a:solidFill>
                  <a:srgbClr val="178A73"/>
                </a:solidFill>
                <a:latin typeface="Consolas"/>
              </a:rPr>
              <a:t>winver</a:t>
            </a:r>
            <a:r>
              <a:rPr sz="1200">
                <a:solidFill>
                  <a:srgbClr val="202A38"/>
                </a:solidFill>
                <a:latin typeface="Times New Roman"/>
              </a:rPr>
              <a:t>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Rules are enforced by the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Application Identity</a:t>
            </a:r>
            <a:r>
              <a:rPr sz="1200">
                <a:solidFill>
                  <a:srgbClr val="202A38"/>
                </a:solidFill>
                <a:latin typeface="Times New Roman"/>
              </a:rPr>
              <a:t> service — if it is not running, rules do not take effect.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Always create the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Default rules</a:t>
            </a:r>
            <a:r>
              <a:rPr sz="1200">
                <a:solidFill>
                  <a:srgbClr val="202A38"/>
                </a:solidFill>
                <a:latin typeface="Times New Roman"/>
              </a:rPr>
              <a:t> first, then your own rule.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Snapshot first — a wrong rule can block the whole system.</a:t>
            </a:r>
          </a:p>
        </p:txBody>
      </p:sp>
      <p:sp>
        <p:nvSpPr>
          <p:cNvPr id="64" name="Rounded Rectangle 63">
            <a:hlinkClick action="ppaction://hlinksldjump" r:id="rId12"/>
          </p:cNvPr>
          <p:cNvSpPr/>
          <p:nvPr/>
        </p:nvSpPr>
        <p:spPr>
          <a:xfrm>
            <a:off x="3657600" y="6355080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Default rules</a:t>
            </a:r>
          </a:p>
        </p:txBody>
      </p:sp>
      <p:sp>
        <p:nvSpPr>
          <p:cNvPr id="65" name="Rounded Rectangle 64">
            <a:hlinkClick action="ppaction://hlinksldjump" r:id="rId13"/>
          </p:cNvPr>
          <p:cNvSpPr/>
          <p:nvPr/>
        </p:nvSpPr>
        <p:spPr>
          <a:xfrm>
            <a:off x="5330952" y="6355080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Implicit deny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TASK 2.1 — STEP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Step A — start the Application Identity (AppIDSvc)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8308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Win + R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services.msc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find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Application Identity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7744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1460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7744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A protected service: the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Startup type</a:t>
            </a:r>
            <a:r>
              <a:rPr sz="1200">
                <a:solidFill>
                  <a:srgbClr val="202A38"/>
                </a:solidFill>
                <a:latin typeface="Times New Roman"/>
              </a:rPr>
              <a:t> field is greyed out — it cannot be configured 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0896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2461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Open the command line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as administrator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97764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4048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Run: </a:t>
            </a:r>
            <a:r>
              <a:rPr sz="1116" b="1">
                <a:solidFill>
                  <a:srgbClr val="178A73"/>
                </a:solidFill>
                <a:latin typeface="Consolas"/>
              </a:rPr>
              <a:t>sc config appidsvc start= auto</a:t>
            </a:r>
            <a:r>
              <a:rPr sz="1200">
                <a:solidFill>
                  <a:srgbClr val="202A38"/>
                </a:solidFill>
                <a:latin typeface="Times New Roman"/>
              </a:rPr>
              <a:t> and </a:t>
            </a:r>
            <a:r>
              <a:rPr sz="1116" b="1">
                <a:solidFill>
                  <a:srgbClr val="178A73"/>
                </a:solidFill>
                <a:latin typeface="Consolas"/>
              </a:rPr>
              <a:t>sc start appidsvc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7200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7091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Check: </a:t>
            </a:r>
            <a:r>
              <a:rPr sz="1116" b="1">
                <a:solidFill>
                  <a:srgbClr val="178A73"/>
                </a:solidFill>
                <a:latin typeface="Consolas"/>
              </a:rPr>
              <a:t>sc query appidsvc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it should show </a:t>
            </a:r>
            <a:r>
              <a:rPr sz="1116" b="1">
                <a:solidFill>
                  <a:srgbClr val="178A73"/>
                </a:solidFill>
                <a:latin typeface="Consolas"/>
              </a:rPr>
              <a:t>STATE : 4 RUNNING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24700" y="1645920"/>
            <a:ext cx="3535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700" y="1645920"/>
            <a:ext cx="3535680" cy="2651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72200" y="434340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11. services.msc — the “Application Identity” (AppIDSvc) 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66344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681728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If you get “Access denied”:</a:t>
            </a:r>
            <a:r>
              <a:rPr sz="1150">
                <a:solidFill>
                  <a:srgbClr val="202A38"/>
                </a:solidFill>
                <a:latin typeface="Times New Roman"/>
              </a:rPr>
              <a:t> </a:t>
            </a:r>
            <a:r>
              <a:rPr sz="1069" b="1">
                <a:solidFill>
                  <a:srgbClr val="178A73"/>
                </a:solidFill>
                <a:latin typeface="Consolas"/>
              </a:rPr>
              <a:t>gpedit.msc</a:t>
            </a:r>
            <a:r>
              <a:rPr sz="1150">
                <a:solidFill>
                  <a:srgbClr val="202A38"/>
                </a:solidFill>
                <a:latin typeface="Times New Roman"/>
              </a:rPr>
              <a:t> → Computer Configuration → Windows Settings → Security Settings →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System Services</a:t>
            </a:r>
            <a:r>
              <a:rPr sz="1150">
                <a:solidFill>
                  <a:srgbClr val="202A38"/>
                </a:solidFill>
                <a:latin typeface="Times New Roman"/>
              </a:rPr>
              <a:t> → Application Identity → Automatic, then </a:t>
            </a:r>
            <a:r>
              <a:rPr sz="1069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1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33288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52728" y="5596128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Expected result: </a:t>
            </a:r>
            <a:r>
              <a:rPr sz="1250">
                <a:solidFill>
                  <a:srgbClr val="202A38"/>
                </a:solidFill>
                <a:latin typeface="Times New Roman"/>
              </a:rPr>
              <a:t>AppIDSvc =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Running</a:t>
            </a:r>
            <a:r>
              <a:rPr sz="1250">
                <a:solidFill>
                  <a:srgbClr val="202A38"/>
                </a:solidFill>
                <a:latin typeface="Times New Roman"/>
              </a:rPr>
              <a:t>, Automatic. This is the </a:t>
            </a:r>
            <a:r>
              <a:rPr sz="1162" b="1">
                <a:solidFill>
                  <a:srgbClr val="178A73"/>
                </a:solidFill>
                <a:latin typeface="Consolas"/>
              </a:rPr>
              <a:t>sc</a:t>
            </a:r>
            <a:r>
              <a:rPr sz="1250">
                <a:solidFill>
                  <a:srgbClr val="202A38"/>
                </a:solidFill>
                <a:latin typeface="Times New Roman"/>
              </a:rPr>
              <a:t> command from Lesson 1 applied in practice. Without it AppLocker rules are ignored.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TASK 2.1 — STEP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Step B — open the policy and create the default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1206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389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62" b="1">
                <a:solidFill>
                  <a:srgbClr val="178A73"/>
                </a:solidFill>
                <a:latin typeface="Consolas"/>
              </a:rPr>
              <a:t>Win + R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62" b="1">
                <a:solidFill>
                  <a:srgbClr val="178A73"/>
                </a:solidFill>
                <a:latin typeface="Consolas"/>
              </a:rPr>
              <a:t>gpedit.msc</a:t>
            </a:r>
            <a:r>
              <a:rPr sz="1250">
                <a:solidFill>
                  <a:srgbClr val="202A38"/>
                </a:solidFill>
                <a:latin typeface="Times New Roman"/>
              </a:rPr>
              <a:t> (Local Group Policy Editor; Pro/Enterprise only).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60320"/>
            <a:ext cx="51206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889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4389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Path: Computer Configuration → Windows Settings → Security Settings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Application Control Policies → AppLocker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4720"/>
            <a:ext cx="51206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7033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74720"/>
            <a:ext cx="4389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Right-click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Executable Rules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62" b="1">
                <a:solidFill>
                  <a:srgbClr val="178A73"/>
                </a:solidFill>
                <a:latin typeface="Consolas"/>
              </a:rPr>
              <a:t>Create Default Rules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89120"/>
            <a:ext cx="51206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6177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89120"/>
            <a:ext cx="4389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Three rules appear: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Program Files</a:t>
            </a:r>
            <a:r>
              <a:rPr sz="1250">
                <a:solidFill>
                  <a:srgbClr val="202A38"/>
                </a:solidFill>
                <a:latin typeface="Times New Roman"/>
              </a:rPr>
              <a:t>,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Windows</a:t>
            </a:r>
            <a:r>
              <a:rPr sz="1250">
                <a:solidFill>
                  <a:srgbClr val="202A38"/>
                </a:solidFill>
                <a:latin typeface="Times New Roman"/>
              </a:rPr>
              <a:t> (Everyone) and all files for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Administrators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9665" y="1645920"/>
            <a:ext cx="521143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665" y="1645920"/>
            <a:ext cx="5211430" cy="374903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97880" y="5440679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12. gpedit.msc — the “Create Default Rules” command (context menu)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669280"/>
            <a:ext cx="11064240" cy="621792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88152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52728" y="5669280"/>
            <a:ext cx="102412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Expected result: </a:t>
            </a:r>
            <a:r>
              <a:rPr sz="1250">
                <a:solidFill>
                  <a:srgbClr val="202A38"/>
                </a:solidFill>
                <a:latin typeface="Times New Roman"/>
              </a:rPr>
              <a:t>three default Allow rules in Executable Rules — Windows itself keeps working. Everything outside them now falls under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implicit deny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3657600" y="6373368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Default rules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5330952" y="6373368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Implicit deny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TASK 2.1 — STEP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Step C — create your own rule (Publisher condition)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8308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Right-click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Executable Rules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Create New Rule…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“Before You Begin”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Next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7744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1460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7744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Permissions</a:t>
            </a:r>
            <a:r>
              <a:rPr sz="1200">
                <a:solidFill>
                  <a:srgbClr val="202A38"/>
                </a:solidFill>
                <a:latin typeface="Times New Roman"/>
              </a:rPr>
              <a:t>: Action =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Allow</a:t>
            </a:r>
            <a:r>
              <a:rPr sz="1200">
                <a:solidFill>
                  <a:srgbClr val="202A38"/>
                </a:solidFill>
                <a:latin typeface="Times New Roman"/>
              </a:rPr>
              <a:t>, User or group =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Everyone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Next.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0896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2461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Conditions</a:t>
            </a:r>
            <a:r>
              <a:rPr sz="1200">
                <a:solidFill>
                  <a:srgbClr val="202A38"/>
                </a:solidFill>
                <a:latin typeface="Times New Roman"/>
              </a:rPr>
              <a:t>: choose the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Publisher</a:t>
            </a:r>
            <a:r>
              <a:rPr sz="1200">
                <a:solidFill>
                  <a:srgbClr val="202A38"/>
                </a:solidFill>
                <a:latin typeface="Times New Roman"/>
              </a:rPr>
              <a:t> condition → Next.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97764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4048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Browse…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a signed file: </a:t>
            </a:r>
            <a:r>
              <a:rPr sz="1116" b="1">
                <a:solidFill>
                  <a:srgbClr val="178A73"/>
                </a:solidFill>
                <a:latin typeface="Consolas"/>
              </a:rPr>
              <a:t>C:\Windows\System32\notepad.exe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. Do not change the slider → Next.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7200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7091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Skip Exceptions, name the rule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Create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9431" y="1645920"/>
            <a:ext cx="424621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431" y="1645920"/>
            <a:ext cx="4246218" cy="3566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72200" y="525780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13. AppLocker — the new rule wizard (Publisher condition)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33288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2728" y="5596128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Expected result: </a:t>
            </a:r>
            <a:r>
              <a:rPr sz="1250">
                <a:solidFill>
                  <a:srgbClr val="202A38"/>
                </a:solidFill>
                <a:latin typeface="Times New Roman"/>
              </a:rPr>
              <a:t>a new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Publisher</a:t>
            </a:r>
            <a:r>
              <a:rPr sz="1250">
                <a:solidFill>
                  <a:srgbClr val="202A38"/>
                </a:solidFill>
                <a:latin typeface="Times New Roman"/>
              </a:rPr>
              <a:t> rule for notepad.exe appears in the list — it keeps working even when the program is updated (as long as the signature stays the same).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TASK 2.1 — STEP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Step D — apply the policy and test the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8308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In an administrator PowerShell: </a:t>
            </a:r>
            <a:r>
              <a:rPr sz="1116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7744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1460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7744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Wait for “Computer Policy update has completed successfully”.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0896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2461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Run a program that is not covered by the rules (an .exe on the Desktop or in Downloads — see Exercise 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97764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40480"/>
            <a:ext cx="4663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“This app has been blocked by your system administrator”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even if you are an administrator.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59555" y="1645920"/>
            <a:ext cx="386596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555" y="1645920"/>
            <a:ext cx="3865969" cy="21031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72200" y="379476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14. PowerShell — applying the policy with “gpupdate /force”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17720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681728"/>
            <a:ext cx="50749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Where to check?</a:t>
            </a:r>
            <a:r>
              <a:rPr sz="1200">
                <a:solidFill>
                  <a:srgbClr val="202A38"/>
                </a:solidFill>
                <a:latin typeface="Times New Roman"/>
              </a:rPr>
              <a:t> </a:t>
            </a:r>
            <a:r>
              <a:rPr sz="1116" b="1">
                <a:solidFill>
                  <a:srgbClr val="178A73"/>
                </a:solidFill>
                <a:latin typeface="Consolas"/>
              </a:rPr>
              <a:t>eventvwr.msc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Applications and Services Logs → Microsoft → Windows → AppLocker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EXE and DLL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8004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blocked (Enforce) ·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8003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would have been blocked (Audit only) ·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8002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allowed.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11480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114800"/>
            <a:ext cx="82296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0" y="4242816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a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352544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67728" y="4242816"/>
            <a:ext cx="4526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Result — what happened?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91456"/>
            <a:ext cx="5074920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AppLocker blocks a program that is not on the allow list. The reason is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implicit deny</a:t>
            </a:r>
            <a:r>
              <a:rPr sz="1250">
                <a:solidFill>
                  <a:srgbClr val="202A38"/>
                </a:solidFill>
                <a:latin typeface="Times New Roman"/>
              </a:rPr>
              <a:t>: as soon as at least one rule appears in a collection, everything not explicitly allowed is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automatically forbidden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31" name="Rounded Rectangle 30">
            <a:hlinkClick action="ppaction://hlinksldjump" r:id="rId5"/>
          </p:cNvPr>
          <p:cNvSpPr/>
          <p:nvPr/>
        </p:nvSpPr>
        <p:spPr>
          <a:xfrm>
            <a:off x="3657600" y="6355080"/>
            <a:ext cx="210769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Group Policy refresh</a:t>
            </a:r>
          </a:p>
        </p:txBody>
      </p:sp>
      <p:sp>
        <p:nvSpPr>
          <p:cNvPr id="32" name="Rounded Rectangle 31">
            <a:hlinkClick action="ppaction://hlinksldjump" r:id="rId6"/>
          </p:cNvPr>
          <p:cNvSpPr/>
          <p:nvPr/>
        </p:nvSpPr>
        <p:spPr>
          <a:xfrm>
            <a:off x="5875020" y="6355080"/>
            <a:ext cx="12527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Event log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7237476" y="6355080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Implicit deny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TASK 2.1 — AN IMPORTANT NUANCE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Two Notepads in Windows 11 — doing the test correctly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82296" cy="192024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1773936"/>
            <a:ext cx="457200" cy="4572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83664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62456" y="1773936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322576"/>
            <a:ext cx="356616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The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old Notepad</a:t>
            </a:r>
            <a:r>
              <a:rPr sz="1200">
                <a:solidFill>
                  <a:srgbClr val="202A38"/>
                </a:solidFill>
                <a:latin typeface="Times New Roman"/>
              </a:rPr>
              <a:t> is in </a:t>
            </a:r>
            <a:r>
              <a:rPr sz="1116" b="1">
                <a:solidFill>
                  <a:srgbClr val="178A73"/>
                </a:solidFill>
                <a:latin typeface="Consolas"/>
              </a:rPr>
              <a:t>C:\Windows\System32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The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new Notepad</a:t>
            </a:r>
            <a:r>
              <a:rPr sz="1200">
                <a:solidFill>
                  <a:srgbClr val="202A38"/>
                </a:solidFill>
                <a:latin typeface="Times New Roman"/>
              </a:rPr>
              <a:t> is a Microsoft Store app in a different folder.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Windows opens the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new</a:t>
            </a:r>
            <a:r>
              <a:rPr sz="1200">
                <a:solidFill>
                  <a:srgbClr val="202A38"/>
                </a:solidFill>
                <a:latin typeface="Times New Roman"/>
              </a:rPr>
              <a:t> one by default, but our rule allows only the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old</a:t>
            </a:r>
            <a:r>
              <a:rPr sz="1200">
                <a:solidFill>
                  <a:srgbClr val="202A38"/>
                </a:solidFill>
                <a:latin typeface="Times New Roman"/>
              </a:rPr>
              <a:t> one → the new Notepad is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blocked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7600"/>
            <a:ext cx="39319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74904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57600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Settings → Apps → Advanced app settings →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App execution aliases</a:t>
            </a:r>
            <a:r>
              <a:rPr sz="11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79392"/>
            <a:ext cx="39319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37083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79392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Find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Notepad</a:t>
            </a:r>
            <a:r>
              <a:rPr sz="1150">
                <a:solidFill>
                  <a:srgbClr val="202A38"/>
                </a:solidFill>
                <a:latin typeface="Times New Roman"/>
              </a:rPr>
              <a:t> in the list and turn it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Off</a:t>
            </a:r>
            <a:r>
              <a:rPr sz="11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01184"/>
            <a:ext cx="39319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9926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01184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Open Notepad again — now the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old</a:t>
            </a:r>
            <a:r>
              <a:rPr sz="1150">
                <a:solidFill>
                  <a:srgbClr val="202A38"/>
                </a:solidFill>
                <a:latin typeface="Times New Roman"/>
              </a:rPr>
              <a:t> Notepad starts and the rule allows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1964003"/>
            <a:ext cx="3337560" cy="329575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964003"/>
            <a:ext cx="3337560" cy="329575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09160" y="562356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15. An allowed program — the old Notepad opened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1964003"/>
            <a:ext cx="3337560" cy="329575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964003"/>
            <a:ext cx="3337560" cy="329575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75320" y="562356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16. The window of a program blocked by AppLocker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669280"/>
            <a:ext cx="11064240" cy="621792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heck-circle_178A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84048" cy="3840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52728" y="5669280"/>
            <a:ext cx="102412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Expected result: </a:t>
            </a:r>
            <a:r>
              <a:rPr sz="1250">
                <a:solidFill>
                  <a:srgbClr val="202A38"/>
                </a:solidFill>
                <a:latin typeface="Times New Roman"/>
              </a:rPr>
              <a:t>one rule — two outcomes: the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old</a:t>
            </a:r>
            <a:r>
              <a:rPr sz="1250">
                <a:solidFill>
                  <a:srgbClr val="202A38"/>
                </a:solidFill>
                <a:latin typeface="Times New Roman"/>
              </a:rPr>
              <a:t> Notepad (the file in the rule) opens, the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new</a:t>
            </a:r>
            <a:r>
              <a:rPr sz="1250">
                <a:solidFill>
                  <a:srgbClr val="202A38"/>
                </a:solidFill>
                <a:latin typeface="Times New Roman"/>
              </a:rPr>
              <a:t> one is blocked. Always check exactly which file a rule was written for.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ADDITIONAL EXERCISES —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Exercise A — running a program from a location that is not allowed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577840" cy="105156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55648"/>
            <a:ext cx="5257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7EE08F"/>
                </a:solidFill>
                <a:latin typeface="Consolas"/>
              </a:rPr>
              <a:t># ordinary PowerShell — two harmless test files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DF5"/>
                </a:solidFill>
                <a:latin typeface="Consolas"/>
              </a:rPr>
              <a:t>Copy-Item C:\Windows\System32\cmd.exe "$env:USERPROFILE\Desktop\test_cmd.exe"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DF5"/>
                </a:solidFill>
                <a:latin typeface="Consolas"/>
              </a:rPr>
              <a:t>Copy-Item C:\Windows\System32\charmap.exe "$env:USERPROFILE\Desktop\charmap.exe"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34640"/>
            <a:ext cx="55778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305409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34640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Double-click </a:t>
            </a:r>
            <a:r>
              <a:rPr sz="1116" b="1">
                <a:solidFill>
                  <a:srgbClr val="178A73"/>
                </a:solidFill>
                <a:latin typeface="Consolas"/>
              </a:rPr>
              <a:t>test_cmd.exe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on the Desktop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“This app has been blocked…”</a:t>
            </a:r>
            <a:r>
              <a:rPr sz="1200">
                <a:solidFill>
                  <a:srgbClr val="202A38"/>
                </a:solidFill>
                <a:latin typeface="Times New Roman"/>
              </a:rPr>
              <a:t>. It ran inside C:\Windows, but not on the Desktop.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30752"/>
            <a:ext cx="55778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95020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30752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Same file: right-click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Run as administrator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confirm UAC → the program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opens!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645920"/>
            <a:ext cx="1600200" cy="118872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Ordinary window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459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645920"/>
            <a:ext cx="21945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202A38"/>
                </a:solidFill>
                <a:latin typeface="Times New Roman"/>
              </a:rPr>
              <a:t>filtered token · Administrators = deny only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202A38"/>
                </a:solidFill>
                <a:latin typeface="Times New Roman"/>
              </a:rPr>
              <a:t>→ only the </a:t>
            </a:r>
            <a:r>
              <a:rPr sz="1050" b="1">
                <a:solidFill>
                  <a:srgbClr val="1F3864"/>
                </a:solidFill>
                <a:latin typeface="Times New Roman"/>
              </a:rPr>
              <a:t>Everyone</a:t>
            </a:r>
            <a:r>
              <a:rPr sz="1050">
                <a:solidFill>
                  <a:srgbClr val="202A38"/>
                </a:solidFill>
                <a:latin typeface="Times New Roman"/>
              </a:rPr>
              <a:t> rules (Windows, Program Files)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0" y="1920240"/>
            <a:ext cx="1115568" cy="64008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BLOCKED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017520"/>
            <a:ext cx="1600200" cy="118872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Run as administrator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0175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017520"/>
            <a:ext cx="21945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202A38"/>
                </a:solidFill>
                <a:latin typeface="Times New Roman"/>
              </a:rPr>
              <a:t>full token · Administrators enabled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202A38"/>
                </a:solidFill>
                <a:latin typeface="Times New Roman"/>
              </a:rPr>
              <a:t>→ the </a:t>
            </a:r>
            <a:r>
              <a:rPr sz="1050" b="1">
                <a:solidFill>
                  <a:srgbClr val="1F3864"/>
                </a:solidFill>
                <a:latin typeface="Times New Roman"/>
              </a:rPr>
              <a:t>BUILTIN\Administrators — (All files)</a:t>
            </a:r>
            <a:r>
              <a:rPr sz="1050">
                <a:solidFill>
                  <a:srgbClr val="202A38"/>
                </a:solidFill>
                <a:latin typeface="Times New Roman"/>
              </a:rPr>
              <a:t> rule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3291840"/>
            <a:ext cx="1115568" cy="640080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ALLOWED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63440"/>
            <a:ext cx="110642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663440"/>
            <a:ext cx="82296" cy="1572768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5528" y="4791456"/>
            <a:ext cx="457200" cy="4572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ke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901184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62456" y="4791456"/>
            <a:ext cx="10149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Result — why did it open as administrator?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5340096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The Default rules include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BUILTIN\Administrators — (All files)</a:t>
            </a:r>
            <a:r>
              <a:rPr sz="1200">
                <a:solidFill>
                  <a:srgbClr val="202A38"/>
                </a:solidFill>
                <a:latin typeface="Times New Roman"/>
              </a:rPr>
              <a:t>. In an ordinary window the token is filtered (task 1.3), so this rule does not apply. After UAC confirmation, with the full token, it takes effect.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Conclusion:</a:t>
            </a:r>
            <a:r>
              <a:rPr sz="1200">
                <a:solidFill>
                  <a:srgbClr val="202A38"/>
                </a:solidFill>
                <a:latin typeface="Times New Roman"/>
              </a:rPr>
              <a:t> AppLocker (with the Default rules) protects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ordinary users</a:t>
            </a:r>
            <a:r>
              <a:rPr sz="1200">
                <a:solidFill>
                  <a:srgbClr val="202A38"/>
                </a:solidFill>
                <a:latin typeface="Times New Roman"/>
              </a:rPr>
              <a:t> first of all — everyday work should be done in a standard account.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ADDITIONAL EXERCISES —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Exercise B — File hash vs Path vs Publisher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5778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4708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846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Executable Rules → Create New Rule…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Allow</a:t>
            </a:r>
            <a:r>
              <a:rPr sz="1200">
                <a:solidFill>
                  <a:srgbClr val="202A38"/>
                </a:solidFill>
                <a:latin typeface="Times New Roman"/>
              </a:rPr>
              <a:t>, Everyone → Conditions: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File hash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Browse Files…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test_cmd.exe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on the Desktop → Create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05456"/>
            <a:ext cx="55778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066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05456"/>
            <a:ext cx="4846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Run </a:t>
            </a:r>
            <a:r>
              <a:rPr sz="1116" b="1">
                <a:solidFill>
                  <a:srgbClr val="178A73"/>
                </a:solidFill>
                <a:latin typeface="Consolas"/>
              </a:rPr>
              <a:t>test_cmd.exe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the ordinary way — now it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opens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64992"/>
            <a:ext cx="55778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661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64992"/>
            <a:ext cx="4846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Rename it to </a:t>
            </a:r>
            <a:r>
              <a:rPr sz="1116" b="1">
                <a:solidFill>
                  <a:srgbClr val="178A73"/>
                </a:solidFill>
                <a:latin typeface="Consolas"/>
              </a:rPr>
              <a:t>abc.exe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and move it to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Documents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it still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opens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24528"/>
            <a:ext cx="55778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42569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24528"/>
            <a:ext cx="4846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Run </a:t>
            </a:r>
            <a:r>
              <a:rPr sz="1116" b="1">
                <a:solidFill>
                  <a:srgbClr val="178A73"/>
                </a:solidFill>
                <a:latin typeface="Consolas"/>
              </a:rPr>
              <a:t>charmap.exe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on the Desktop — it is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blocked</a:t>
            </a:r>
            <a:r>
              <a:rPr sz="1200">
                <a:solidFill>
                  <a:srgbClr val="202A38"/>
                </a:solidFill>
                <a:latin typeface="Times New Roman"/>
              </a:rPr>
              <a:t>: there is no Allow rule for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645920"/>
            <a:ext cx="527608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1645920"/>
            <a:ext cx="82296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83680" y="1828800"/>
            <a:ext cx="566928" cy="56692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ap-p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742" y="1964862"/>
            <a:ext cx="294804" cy="2948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0" y="175564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</a:rPr>
              <a:t>Path</a:t>
            </a:r>
            <a:r>
              <a:rPr sz="1400">
                <a:solidFill>
                  <a:srgbClr val="202A38"/>
                </a:solidFill>
                <a:latin typeface="Times New Roman"/>
              </a:rPr>
              <a:t> — “WHERE is the file?”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19456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Move the file out of the allowed folder — the rule stops applying.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2971800"/>
            <a:ext cx="527608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2971800"/>
            <a:ext cx="82296" cy="123444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0" y="3154680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e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742" y="3290742"/>
            <a:ext cx="294804" cy="2948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15200" y="308152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</a:rPr>
              <a:t>Publisher</a:t>
            </a:r>
            <a:r>
              <a:rPr sz="1400">
                <a:solidFill>
                  <a:srgbClr val="202A38"/>
                </a:solidFill>
                <a:latin typeface="Times New Roman"/>
              </a:rPr>
              <a:t> — “WHO signed it?”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52044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Even if the program is updated, it keeps working while the signature is the same.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297680"/>
            <a:ext cx="527608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4297680"/>
            <a:ext cx="82296" cy="123444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83680" y="4480560"/>
            <a:ext cx="566928" cy="566928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has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742" y="4616622"/>
            <a:ext cx="294804" cy="2948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15200" y="440740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</a:rPr>
              <a:t>File hash</a:t>
            </a:r>
            <a:r>
              <a:rPr sz="1400">
                <a:solidFill>
                  <a:srgbClr val="202A38"/>
                </a:solidFill>
                <a:latin typeface="Times New Roman"/>
              </a:rPr>
              <a:t> — “EXACTLY WHICH file?”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84632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Name and location do not matter; if one byte changes, the rule must be created again.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742432"/>
            <a:ext cx="11064240" cy="530352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check-circle_178A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815584"/>
            <a:ext cx="384048" cy="38404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52728" y="5742432"/>
            <a:ext cx="10241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Result: </a:t>
            </a:r>
            <a:r>
              <a:rPr sz="1200">
                <a:solidFill>
                  <a:srgbClr val="202A38"/>
                </a:solidFill>
                <a:latin typeface="Times New Roman"/>
              </a:rPr>
              <a:t>three kinds of rule answer three different questions — choose according to the situation.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ADDITIONAL EXERCISES —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Exercise C — a Deny rule overrides an Allow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5778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6537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Create New Rule… → Action: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Deny</a:t>
            </a:r>
            <a:r>
              <a:rPr sz="1250">
                <a:solidFill>
                  <a:srgbClr val="202A38"/>
                </a:solidFill>
                <a:latin typeface="Times New Roman"/>
              </a:rPr>
              <a:t>, User: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Everyone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Conditions: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Path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Browse Files… → </a:t>
            </a:r>
            <a:r>
              <a:rPr sz="1162" b="1">
                <a:solidFill>
                  <a:srgbClr val="178A73"/>
                </a:solidFill>
                <a:latin typeface="Consolas"/>
              </a:rPr>
              <a:t>C:\Windows\regedit.exe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Create.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42032"/>
            <a:ext cx="55778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6148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42032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Apply: </a:t>
            </a:r>
            <a:r>
              <a:rPr sz="1162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38144"/>
            <a:ext cx="55778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65760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38144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62" b="1">
                <a:solidFill>
                  <a:srgbClr val="178A73"/>
                </a:solidFill>
                <a:latin typeface="Consolas"/>
              </a:rPr>
              <a:t>Win + R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62" b="1">
                <a:solidFill>
                  <a:srgbClr val="178A73"/>
                </a:solidFill>
                <a:latin typeface="Consolas"/>
              </a:rPr>
              <a:t>regedit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confirm UAC → Registry Editor is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blocked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even as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45920"/>
            <a:ext cx="2377440" cy="685800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Allow · Everyone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%WINDIR%\*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423160"/>
            <a:ext cx="2377440" cy="685800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Allow · Administrators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* (All files)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200400"/>
            <a:ext cx="2377440" cy="6858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Deny · Everyone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C:\Windows\regedit.exe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24028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000" b="1" i="0">
                <a:solidFill>
                  <a:srgbClr val="54647A"/>
                </a:solidFill>
                <a:latin typeface="Times New Roman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920240"/>
            <a:ext cx="2350008" cy="128016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regedit.exe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BLOCKED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(Deny wins)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16052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160520"/>
            <a:ext cx="82296" cy="2057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5528" y="4288536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a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398264"/>
            <a:ext cx="237744" cy="23774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62456" y="4288536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Result — why was it blocked?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837176"/>
            <a:ext cx="5212080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regedit.exe is inside C:\Windows (Allow for Everyone) and there is also the “All files” rule for administrators. It was blocked anyway: when both Allow and Deny match one file,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Deny always wins</a:t>
            </a:r>
            <a:r>
              <a:rPr sz="1200">
                <a:solidFill>
                  <a:srgbClr val="202A38"/>
                </a:solidFill>
                <a:latin typeface="Times New Roman"/>
              </a:rPr>
              <a:t>. This is exactly how organizations forbid tools such as </a:t>
            </a:r>
            <a:r>
              <a:rPr sz="1116" b="1">
                <a:solidFill>
                  <a:srgbClr val="178A73"/>
                </a:solidFill>
                <a:latin typeface="Consolas"/>
              </a:rPr>
              <a:t>regedit</a:t>
            </a:r>
            <a:r>
              <a:rPr sz="1200">
                <a:solidFill>
                  <a:srgbClr val="202A38"/>
                </a:solidFill>
                <a:latin typeface="Times New Roman"/>
              </a:rPr>
              <a:t>, </a:t>
            </a:r>
            <a:r>
              <a:rPr sz="1116" b="1">
                <a:solidFill>
                  <a:srgbClr val="178A73"/>
                </a:solidFill>
                <a:latin typeface="Consolas"/>
              </a:rPr>
              <a:t>cmd</a:t>
            </a:r>
            <a:r>
              <a:rPr sz="1200">
                <a:solidFill>
                  <a:srgbClr val="202A38"/>
                </a:solidFill>
                <a:latin typeface="Times New Roman"/>
              </a:rPr>
              <a:t> and </a:t>
            </a:r>
            <a:r>
              <a:rPr sz="1116" b="1">
                <a:solidFill>
                  <a:srgbClr val="178A73"/>
                </a:solidFill>
                <a:latin typeface="Consolas"/>
              </a:rPr>
              <a:t>powershell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160520"/>
            <a:ext cx="5276088" cy="2057400"/>
          </a:xfrm>
          <a:prstGeom prst="roundRect">
            <a:avLst>
              <a:gd name="adj" fmla="val 8000"/>
            </a:avLst>
          </a:prstGeom>
          <a:solidFill>
            <a:srgbClr val="FDF1DF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4160520"/>
            <a:ext cx="82296" cy="205740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83680" y="4288536"/>
            <a:ext cx="457200" cy="4572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arn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398264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50608" y="4288536"/>
            <a:ext cx="43616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After the exercise — always!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837176"/>
            <a:ext cx="491032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Delete this Deny rule</a:t>
            </a:r>
            <a:r>
              <a:rPr sz="1250">
                <a:solidFill>
                  <a:srgbClr val="202A38"/>
                </a:solidFill>
                <a:latin typeface="Times New Roman"/>
              </a:rPr>
              <a:t>: right-click the rule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Delete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62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50">
                <a:solidFill>
                  <a:srgbClr val="202A38"/>
                </a:solidFill>
                <a:latin typeface="Times New Roman"/>
              </a:rPr>
              <a:t>. Otherwise you will not be able to open the registry editor at all.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ADDITIONAL EXERCISES —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Exercise D — Audit only mode and the AppLocker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7607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6537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Right-click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AppLocker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Properties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Enforcement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Executable rules: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Configured</a:t>
            </a:r>
            <a:r>
              <a:rPr sz="1200">
                <a:solidFill>
                  <a:srgbClr val="202A38"/>
                </a:solidFill>
                <a:latin typeface="Times New Roman"/>
              </a:rPr>
              <a:t> +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Audit only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OK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42032"/>
            <a:ext cx="57607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6148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42032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Run </a:t>
            </a:r>
            <a:r>
              <a:rPr sz="1116" b="1">
                <a:solidFill>
                  <a:srgbClr val="178A73"/>
                </a:solidFill>
                <a:latin typeface="Consolas"/>
              </a:rPr>
              <a:t>charmap.exe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on the Desktop — now it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opens</a:t>
            </a:r>
            <a:r>
              <a:rPr sz="1200">
                <a:solidFill>
                  <a:srgbClr val="202A38"/>
                </a:solidFill>
                <a:latin typeface="Times New Roman"/>
              </a:rPr>
              <a:t> (nothing is blocked in Audit mode).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38144"/>
            <a:ext cx="57607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65760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38144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eventvwr.msc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… → AppLocker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EXE and DLL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the new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8003</a:t>
            </a:r>
            <a:r>
              <a:rPr sz="1200">
                <a:solidFill>
                  <a:srgbClr val="202A38"/>
                </a:solidFill>
                <a:latin typeface="Times New Roman"/>
              </a:rPr>
              <a:t> event: “…would have been prevented from running…”.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34256"/>
            <a:ext cx="57607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55371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Switch back to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Enforce rules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charmap.exe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is blocked again and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8004</a:t>
            </a:r>
            <a:r>
              <a:rPr sz="1200">
                <a:solidFill>
                  <a:srgbClr val="202A38"/>
                </a:solidFill>
                <a:latin typeface="Times New Roman"/>
              </a:rPr>
              <a:t> is logged.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645920"/>
            <a:ext cx="5093208" cy="114300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755648"/>
            <a:ext cx="477316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7EE08F"/>
                </a:solidFill>
                <a:latin typeface="Consolas"/>
              </a:rPr>
              <a:t># read the log from PowerShell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DF5"/>
                </a:solidFill>
                <a:latin typeface="Consolas"/>
              </a:rPr>
              <a:t>Get-WinEvent -LogName "Microsoft-Windows-AppLocker/EXE and DLL" `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DF5"/>
                </a:solidFill>
                <a:latin typeface="Consolas"/>
              </a:rPr>
              <a:t>  -MaxEvents 5 | Format-Table TimeCreated, Id, Message -Wrap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537960" y="2971800"/>
          <a:ext cx="509320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904487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Event code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Meaning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16" b="1">
                          <a:solidFill>
                            <a:srgbClr val="178A73"/>
                          </a:solidFill>
                          <a:latin typeface="Consolas"/>
                        </a:rPr>
                        <a:t>8002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The program was allowed (matched an Allow rule)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16" b="1">
                          <a:solidFill>
                            <a:srgbClr val="178A73"/>
                          </a:solidFill>
                          <a:latin typeface="Consolas"/>
                        </a:rPr>
                        <a:t>8003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Audit only: would have been blocked, but was allowed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16" b="1">
                          <a:solidFill>
                            <a:srgbClr val="178A73"/>
                          </a:solidFill>
                          <a:latin typeface="Consolas"/>
                        </a:rPr>
                        <a:t>8004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Enforce rules: the program was blocked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537960" y="5257800"/>
            <a:ext cx="5093208" cy="960120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5545836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5257800"/>
            <a:ext cx="427024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Result: </a:t>
            </a:r>
            <a:r>
              <a:rPr sz="1200">
                <a:solidFill>
                  <a:srgbClr val="202A38"/>
                </a:solidFill>
                <a:latin typeface="Times New Roman"/>
              </a:rPr>
              <a:t>Audit only is a “safe rehearsal”: the log shows what the rules would block without getting in anyone’s way.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3657600" y="6355080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Audit only mode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5486400" y="6355080"/>
            <a:ext cx="12527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Event log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TASK 2.1 — PRACTICAL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Audit only → Enforce: how it is done in real organizations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FDF1DF"/>
          </a:solidFill>
          <a:ln w="19050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828800"/>
            <a:ext cx="640080" cy="64008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" y="1982419"/>
            <a:ext cx="332842" cy="3328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72768" y="182880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E08E1D"/>
                </a:solidFill>
                <a:latin typeface="Times New Roman"/>
              </a:rPr>
              <a:t>Audit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60604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Nothing is blocked.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Every “would be blocked” start is logged — event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8003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Goal: find what the rules forget BEFORE users suffer.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64592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19088" y="182880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07" y="1982419"/>
            <a:ext cx="332842" cy="33284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96328" y="182880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C0392B"/>
                </a:solidFill>
                <a:latin typeface="Times New Roman"/>
              </a:rPr>
              <a:t>Enforce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60604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Everything not allowed is blocked.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Blocked starts are logged — event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8004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Turn it on only after the audit log is clean.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11480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89888" y="420624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Rules + Audit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07208" y="411480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30168" y="420624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470916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1–2 weeks: read the </a:t>
            </a:r>
            <a:r>
              <a:rPr sz="1069" b="1">
                <a:solidFill>
                  <a:srgbClr val="178A73"/>
                </a:solidFill>
                <a:latin typeface="Consolas"/>
              </a:rPr>
              <a:t>8003</a:t>
            </a:r>
            <a:r>
              <a:rPr sz="1150">
                <a:solidFill>
                  <a:srgbClr val="202A38"/>
                </a:solidFill>
                <a:latin typeface="Times New Roman"/>
              </a:rPr>
              <a:t> events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47488" y="411480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70448" y="420624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470916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Add the missing Allow rules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87768" y="411480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10728" y="420624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208" y="470916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Switch to Enforce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28048" y="411480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51008" y="4206240"/>
            <a:ext cx="457200" cy="45720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9488" y="470916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Monitor the </a:t>
            </a:r>
            <a:r>
              <a:rPr sz="1069" b="1">
                <a:solidFill>
                  <a:srgbClr val="178A73"/>
                </a:solidFill>
                <a:latin typeface="Consolas"/>
              </a:rPr>
              <a:t>8004</a:t>
            </a:r>
            <a:r>
              <a:rPr sz="1150">
                <a:solidFill>
                  <a:srgbClr val="202A38"/>
                </a:solidFill>
                <a:latin typeface="Times New Roman"/>
              </a:rPr>
              <a:t> 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6235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Why Audit only first?</a:t>
            </a:r>
            <a:r>
              <a:rPr sz="1250">
                <a:solidFill>
                  <a:srgbClr val="202A38"/>
                </a:solidFill>
                <a:latin typeface="Times New Roman"/>
              </a:rPr>
              <a:t> If the rules are enforced all at once, employees’ work programs can suddenly be blocked. In the lab we shorten this to minutes — but the order is the same.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ADDITIONAL EXERCISES —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Exercise E — testing a rule in advance from the command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Whether the policy allows a file can be checked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without running it</a:t>
            </a:r>
            <a:r>
              <a:rPr sz="1300">
                <a:solidFill>
                  <a:srgbClr val="202A38"/>
                </a:solidFill>
                <a:latin typeface="Times New Roman"/>
              </a:rPr>
              <a:t> — with </a:t>
            </a:r>
            <a:r>
              <a:rPr sz="1209" b="1">
                <a:solidFill>
                  <a:srgbClr val="178A73"/>
                </a:solidFill>
                <a:latin typeface="Consolas"/>
              </a:rPr>
              <a:t>Test-AppLockerPolicy</a:t>
            </a:r>
            <a:r>
              <a:rPr sz="1300">
                <a:solidFill>
                  <a:srgbClr val="202A38"/>
                </a:solidFill>
                <a:latin typeface="Times New Roman"/>
              </a:rPr>
              <a:t>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12848"/>
            <a:ext cx="6355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$p = Get-AppLockerPolicy -Effective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$p | Test-AppLockerPolicy -Path "$env:USERPROFILE\Desktop\charmap.exe" -User Everyone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$p | Test-AppLockerPolicy -Path C:\Windows\System32\notepad.exe -User Everyone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103120"/>
            <a:ext cx="1783080" cy="411480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onsolas"/>
              </a:rPr>
              <a:t>Allowed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103120"/>
            <a:ext cx="2331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allowed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606039"/>
            <a:ext cx="1783080" cy="41148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onsolas"/>
              </a:rPr>
              <a:t>Denied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606039"/>
            <a:ext cx="2331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an explicit Deny rule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3108960"/>
            <a:ext cx="1783080" cy="411480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onsolas"/>
              </a:rPr>
              <a:t>DeniedByDefault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108960"/>
            <a:ext cx="2331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matched no Allow rule — implicit deny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74903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The </a:t>
            </a:r>
            <a:r>
              <a:rPr sz="1209" b="1">
                <a:solidFill>
                  <a:srgbClr val="178A73"/>
                </a:solidFill>
                <a:latin typeface="Consolas"/>
              </a:rPr>
              <a:t>PolicyDecision</a:t>
            </a:r>
            <a:r>
              <a:rPr sz="1300">
                <a:solidFill>
                  <a:srgbClr val="202A38"/>
                </a:solidFill>
                <a:latin typeface="Times New Roman"/>
              </a:rPr>
              <a:t> column shows the decision, and the </a:t>
            </a:r>
            <a:r>
              <a:rPr sz="1209" b="1">
                <a:solidFill>
                  <a:srgbClr val="178A73"/>
                </a:solidFill>
                <a:latin typeface="Consolas"/>
              </a:rPr>
              <a:t>MatchingRule</a:t>
            </a:r>
            <a:r>
              <a:rPr sz="1300">
                <a:solidFill>
                  <a:srgbClr val="202A38"/>
                </a:solidFill>
                <a:latin typeface="Times New Roman"/>
              </a:rPr>
              <a:t> column shows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which rule applied</a:t>
            </a:r>
            <a:r>
              <a:rPr sz="13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976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Back up the policy to a file (for import or an audit):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0916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818888"/>
            <a:ext cx="10744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E6EDF5"/>
                </a:solidFill>
                <a:latin typeface="Consolas"/>
              </a:rPr>
              <a:t>PS&gt; Get-AppLockerPolicy -Local -Xml | Out-File "$env:USERPROFILE\Desktop\applocker_backup.xml"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715000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52728" y="5577840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Result: </a:t>
            </a:r>
            <a:r>
              <a:rPr sz="1250">
                <a:solidFill>
                  <a:srgbClr val="202A38"/>
                </a:solidFill>
                <a:latin typeface="Times New Roman"/>
              </a:rPr>
              <a:t>a rule can be tested in advance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without harming users</a:t>
            </a:r>
            <a:r>
              <a:rPr sz="1250">
                <a:solidFill>
                  <a:srgbClr val="202A38"/>
                </a:solidFill>
                <a:latin typeface="Times New Roman"/>
              </a:rPr>
              <a:t> and the policy can be documented — a convenient method for auditors and administrators.</a:t>
            </a:r>
          </a:p>
        </p:txBody>
      </p:sp>
      <p:sp>
        <p:nvSpPr>
          <p:cNvPr id="24" name="Rounded Rectangle 23">
            <a:hlinkClick action="ppaction://hlinksldjump" r:id="rId4"/>
          </p:cNvPr>
          <p:cNvSpPr/>
          <p:nvPr/>
        </p:nvSpPr>
        <p:spPr>
          <a:xfrm>
            <a:off x="3657600" y="6355080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Implicit deny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TASK 2.1 —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Restoring the lab to its previous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9494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6217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secpol.msc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Application Control Policies → AppLocker: select the rules in all collections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Delete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40864"/>
            <a:ext cx="69494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45973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40864"/>
            <a:ext cx="6217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AppLocker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Properties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clear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Configured</a:t>
            </a:r>
            <a:r>
              <a:rPr sz="1200">
                <a:solidFill>
                  <a:srgbClr val="202A38"/>
                </a:solidFill>
                <a:latin typeface="Times New Roman"/>
              </a:rPr>
              <a:t> for all collections.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035808"/>
            <a:ext cx="69494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5468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35808"/>
            <a:ext cx="6217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In an administrator PowerShell: </a:t>
            </a:r>
            <a:r>
              <a:rPr sz="1116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30752"/>
            <a:ext cx="69494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8496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30752"/>
            <a:ext cx="6217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Return the service (optional): </a:t>
            </a:r>
            <a:r>
              <a:rPr sz="1116" b="1">
                <a:solidFill>
                  <a:srgbClr val="178A73"/>
                </a:solidFill>
                <a:latin typeface="Consolas"/>
              </a:rPr>
              <a:t>sc config appidsvc start= demand</a:t>
            </a:r>
            <a:r>
              <a:rPr sz="1200">
                <a:solidFill>
                  <a:srgbClr val="202A38"/>
                </a:solidFill>
                <a:latin typeface="Times New Roman"/>
              </a:rPr>
              <a:t> · </a:t>
            </a:r>
            <a:r>
              <a:rPr sz="1116" b="1">
                <a:solidFill>
                  <a:srgbClr val="178A73"/>
                </a:solidFill>
                <a:latin typeface="Consolas"/>
              </a:rPr>
              <a:t>sc stop appidsvc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25696"/>
            <a:ext cx="69494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54456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425696"/>
            <a:ext cx="6217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In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App execution aliases</a:t>
            </a:r>
            <a:r>
              <a:rPr sz="1200">
                <a:solidFill>
                  <a:srgbClr val="202A38"/>
                </a:solidFill>
                <a:latin typeface="Times New Roman"/>
              </a:rPr>
              <a:t>, turn Notepad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again.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120640"/>
            <a:ext cx="69494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523951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20640"/>
            <a:ext cx="6217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Delete the test files: </a:t>
            </a:r>
            <a:r>
              <a:rPr sz="1116" b="1">
                <a:solidFill>
                  <a:srgbClr val="178A73"/>
                </a:solidFill>
                <a:latin typeface="Consolas"/>
              </a:rPr>
              <a:t>test_cmd.exe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, </a:t>
            </a:r>
            <a:r>
              <a:rPr sz="1116" b="1">
                <a:solidFill>
                  <a:srgbClr val="178A73"/>
                </a:solidFill>
                <a:latin typeface="Consolas"/>
              </a:rPr>
              <a:t>charmap.exe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(Desktop), </a:t>
            </a:r>
            <a:r>
              <a:rPr sz="1116" b="1">
                <a:solidFill>
                  <a:srgbClr val="178A73"/>
                </a:solidFill>
                <a:latin typeface="Consolas"/>
              </a:rPr>
              <a:t>abc.exe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(Documents).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1645920"/>
            <a:ext cx="3904487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26679" y="1645920"/>
            <a:ext cx="82296" cy="2194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55279" y="1773936"/>
            <a:ext cx="457200" cy="4572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otat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7" y="1883664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522207" y="1773936"/>
            <a:ext cx="29900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The easiest 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2322576"/>
            <a:ext cx="3538727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If the practical was done in a virtual machine —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revert to the snapshot</a:t>
            </a:r>
            <a:r>
              <a:rPr sz="1250">
                <a:solidFill>
                  <a:srgbClr val="202A38"/>
                </a:solidFill>
                <a:latin typeface="Times New Roman"/>
              </a:rPr>
              <a:t> taken earlier (Restore). Everything is back in a minute.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4023360"/>
            <a:ext cx="3904487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79" y="4023360"/>
            <a:ext cx="82296" cy="219456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79" y="4151376"/>
            <a:ext cx="457200" cy="4572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warn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7" y="4261104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22207" y="4151376"/>
            <a:ext cx="29900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Why does it matter?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700016"/>
            <a:ext cx="3538727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Once the rules are deleted, AppLocker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blocks nothing</a:t>
            </a:r>
            <a:r>
              <a:rPr sz="1200">
                <a:solidFill>
                  <a:srgbClr val="202A38"/>
                </a:solidFill>
                <a:latin typeface="Times New Roman"/>
              </a:rPr>
              <a:t>. A forgotten Deny rule or Default rules can cause unexpected blocks in later lessons. To be sure, you can also restart the computer once.</a:t>
            </a:r>
          </a:p>
        </p:txBody>
      </p:sp>
      <p:sp>
        <p:nvSpPr>
          <p:cNvPr id="38" name="Rounded Rectangle 37">
            <a:hlinkClick action="ppaction://hlinksldjump" r:id="rId5"/>
          </p:cNvPr>
          <p:cNvSpPr/>
          <p:nvPr/>
        </p:nvSpPr>
        <p:spPr>
          <a:xfrm>
            <a:off x="3657600" y="6355080"/>
            <a:ext cx="11750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Snapshot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TASK 2.1 —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AppLocker not working? — check these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45920"/>
          <a:ext cx="11064239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383280"/>
                <a:gridCol w="39319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Times New Roman"/>
                        </a:rPr>
                        <a:t>Symptom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Times New Roman"/>
                        </a:rPr>
                        <a:t>Likely cause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Times New Roman"/>
                        </a:rPr>
                        <a:t>Fix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There is a rule, but the program still runs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The Application Identity service is stopped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9" b="1">
                          <a:solidFill>
                            <a:srgbClr val="178A73"/>
                          </a:solidFill>
                          <a:latin typeface="Consolas"/>
                        </a:rPr>
                        <a:t>sc start appidsvc</a:t>
                      </a:r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 → </a:t>
                      </a:r>
                      <a:r>
                        <a:rPr sz="1069" b="1">
                          <a:solidFill>
                            <a:srgbClr val="178A73"/>
                          </a:solidFill>
                          <a:latin typeface="Consolas"/>
                        </a:rPr>
                        <a:t>gpupdate /force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Nothing is blocked at all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The mode is “Audit only”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Enforcement → Enforce rules → </a:t>
                      </a:r>
                      <a:r>
                        <a:rPr sz="1069" b="1">
                          <a:solidFill>
                            <a:srgbClr val="178A73"/>
                          </a:solidFill>
                          <a:latin typeface="Consolas"/>
                        </a:rPr>
                        <a:t>gpupdate /force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Windows apps stopped working after the rules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The default rules were not created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Create Default Rules; restore the snapshot if needed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Changes are not applied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The policy was not refreshed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9" b="1">
                          <a:solidFill>
                            <a:srgbClr val="178A73"/>
                          </a:solidFill>
                          <a:latin typeface="Consolas"/>
                        </a:rPr>
                        <a:t>gpupdate /force</a:t>
                      </a:r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 or sign out and back in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The allowed Notepad is blocked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Windows opens the new (Store) Notepad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App execution aliases → Notepad = Off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A blocked program opened with “Run as administrator”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The Administrators — (All files) rule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Expected: do everyday work in a standard account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There is no AppLocker at all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Home edition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02A38"/>
                          </a:solidFill>
                          <a:latin typeface="Times New Roman"/>
                        </a:rPr>
                        <a:t>Use a Pro / Enterprise / Education VM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PRACTICAL TASK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Task 2.2 — SmartScreen settings: five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39319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373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Start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Windows Security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open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86000"/>
            <a:ext cx="39319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37744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86000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Go to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App &amp; browser control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26080"/>
            <a:ext cx="39319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0175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26080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Click </a:t>
            </a:r>
            <a:r>
              <a:rPr sz="1116" b="1">
                <a:solidFill>
                  <a:srgbClr val="178A73"/>
                </a:solidFill>
                <a:latin typeface="Consolas"/>
              </a:rPr>
              <a:t>Reputation-based protection settings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703320"/>
            <a:ext cx="3749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703320"/>
            <a:ext cx="3749040" cy="2377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12648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17. “App &amp; browser control” — Reputation-based protection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645920"/>
            <a:ext cx="687628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1801368"/>
            <a:ext cx="548640" cy="36576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645920"/>
            <a:ext cx="5989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69" b="1">
                <a:solidFill>
                  <a:srgbClr val="178A73"/>
                </a:solidFill>
                <a:latin typeface="Consolas"/>
              </a:rPr>
              <a:t>Check apps and files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checks a downloaded file before it runs (stops a little-known setup.exe)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414016"/>
            <a:ext cx="687628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46320" y="2569464"/>
            <a:ext cx="548640" cy="36576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2414016"/>
            <a:ext cx="5989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69" b="1">
                <a:solidFill>
                  <a:srgbClr val="178A73"/>
                </a:solidFill>
                <a:latin typeface="Consolas"/>
              </a:rPr>
              <a:t>SmartScreen for Microsoft Edge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blocks dangerous sites and downloads in Edge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3182112"/>
            <a:ext cx="687628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46320" y="3337560"/>
            <a:ext cx="548640" cy="36576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182112"/>
            <a:ext cx="5989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69" b="1">
                <a:solidFill>
                  <a:srgbClr val="178A73"/>
                </a:solidFill>
                <a:latin typeface="Consolas"/>
              </a:rPr>
              <a:t>Phishing protection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warns if you type your Windows password into a fake site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3950208"/>
            <a:ext cx="687628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46320" y="4105656"/>
            <a:ext cx="548640" cy="36576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950208"/>
            <a:ext cx="5989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69" b="1">
                <a:solidFill>
                  <a:srgbClr val="178A73"/>
                </a:solidFill>
                <a:latin typeface="Consolas"/>
              </a:rPr>
              <a:t>Potentially unwanted app blocking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adware/unwanted apps (PUA): Block apps + Block downloads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4718304"/>
            <a:ext cx="6876288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6320" y="4873752"/>
            <a:ext cx="548640" cy="36576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4718304"/>
            <a:ext cx="5989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69" b="1">
                <a:solidFill>
                  <a:srgbClr val="178A73"/>
                </a:solidFill>
                <a:latin typeface="Consolas"/>
              </a:rPr>
              <a:t>SmartScreen for Microsoft Store apps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checks web addresses opened by Store apps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5532120"/>
            <a:ext cx="6876288" cy="731520"/>
          </a:xfrm>
          <a:prstGeom prst="roundRect">
            <a:avLst>
              <a:gd name="adj" fmla="val 10000"/>
            </a:avLst>
          </a:prstGeom>
          <a:solidFill>
            <a:srgbClr val="FDF1DF"/>
          </a:solidFill>
          <a:ln w="12700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5532120"/>
            <a:ext cx="6583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What does SmartScreen check?</a:t>
            </a:r>
            <a:r>
              <a:rPr sz="1150">
                <a:solidFill>
                  <a:srgbClr val="202A38"/>
                </a:solidFill>
                <a:latin typeface="Times New Roman"/>
              </a:rPr>
              <a:t> Only files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downloaded from the internet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the browser puts a hidden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Mark of the Web</a:t>
            </a:r>
            <a:r>
              <a:rPr sz="1150">
                <a:solidFill>
                  <a:srgbClr val="202A38"/>
                </a:solidFill>
                <a:latin typeface="Times New Roman"/>
              </a:rPr>
              <a:t> on them. A file copied from a flash drive has no such mark.</a:t>
            </a:r>
          </a:p>
        </p:txBody>
      </p:sp>
      <p:sp>
        <p:nvSpPr>
          <p:cNvPr id="37" name="Rounded Rectangle 36">
            <a:hlinkClick action="ppaction://hlinksldjump" r:id="rId4"/>
          </p:cNvPr>
          <p:cNvSpPr/>
          <p:nvPr/>
        </p:nvSpPr>
        <p:spPr>
          <a:xfrm>
            <a:off x="3657600" y="6373368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Mark of the Web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PRACTICAL TASK 2.2 —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Test: checking SmartScreen safely (demo.smartscreen.msft.net)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48463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4708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114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In Microsoft Edge, open </a:t>
            </a:r>
            <a:r>
              <a:rPr sz="1116" b="1">
                <a:solidFill>
                  <a:srgbClr val="178A73"/>
                </a:solidFill>
                <a:latin typeface="Consolas"/>
              </a:rPr>
              <a:t>https://demo.smartscreen.msft.net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no real viruses, only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demo</a:t>
            </a:r>
            <a:r>
              <a:rPr sz="1200">
                <a:solidFill>
                  <a:srgbClr val="202A38"/>
                </a:solidFill>
                <a:latin typeface="Times New Roman"/>
              </a:rPr>
              <a:t>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05456"/>
            <a:ext cx="48463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066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05456"/>
            <a:ext cx="4114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Click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Unknown Program</a:t>
            </a:r>
            <a:r>
              <a:rPr sz="1200">
                <a:solidFill>
                  <a:srgbClr val="202A38"/>
                </a:solidFill>
                <a:latin typeface="Times New Roman"/>
              </a:rPr>
              <a:t>. Edge: “isn’t commonly downloaded” → </a:t>
            </a:r>
            <a:r>
              <a:rPr sz="1116" b="1">
                <a:solidFill>
                  <a:srgbClr val="178A73"/>
                </a:solidFill>
                <a:latin typeface="Consolas"/>
              </a:rPr>
              <a:t>Keep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64992"/>
            <a:ext cx="48463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661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64992"/>
            <a:ext cx="4114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SmartScreen asks again — continue with </a:t>
            </a:r>
            <a:r>
              <a:rPr sz="1116" b="1">
                <a:solidFill>
                  <a:srgbClr val="178A73"/>
                </a:solidFill>
                <a:latin typeface="Consolas"/>
              </a:rPr>
              <a:t>Keep anyway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50048" y="1645920"/>
            <a:ext cx="4136343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048" y="1645920"/>
            <a:ext cx="4136343" cy="2057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23560" y="3749040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18. demo.smartscreen.msft.net — the SmartScreen test site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" y="425196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4251960"/>
            <a:ext cx="1920240" cy="1280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55778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19. The download warning — “Keep”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35169" y="4251960"/>
            <a:ext cx="987861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5169" y="4251960"/>
            <a:ext cx="987861" cy="1280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063240" y="55778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20. Continuing with “Keep anyway”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4160520"/>
            <a:ext cx="59893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23560" y="4160520"/>
            <a:ext cx="82296" cy="205740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52160" y="4288536"/>
            <a:ext cx="457200" cy="4572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4398264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19088" y="4288536"/>
            <a:ext cx="5074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Result — why did it warn?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4837176"/>
            <a:ext cx="5623560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Edge did not say the file was “malicious”; it said it was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little-known / low-reputation</a:t>
            </a:r>
            <a:r>
              <a:rPr sz="1150">
                <a:solidFill>
                  <a:srgbClr val="202A38"/>
                </a:solidFill>
                <a:latin typeface="Times New Roman"/>
              </a:rPr>
              <a:t>. That is SmartScreen’s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reputation check</a:t>
            </a:r>
            <a:r>
              <a:rPr sz="1150">
                <a:solidFill>
                  <a:srgbClr val="202A38"/>
                </a:solidFill>
                <a:latin typeface="Times New Roman"/>
              </a:rPr>
              <a:t>: the file is new, so there is not enough “trust” for it in Microsoft’s database. Compare: Edge does not open the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Known Malicious</a:t>
            </a:r>
            <a:r>
              <a:rPr sz="1150">
                <a:solidFill>
                  <a:srgbClr val="202A38"/>
                </a:solidFill>
                <a:latin typeface="Times New Roman"/>
              </a:rPr>
              <a:t> or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Phishing Page</a:t>
            </a:r>
            <a:r>
              <a:rPr sz="1150">
                <a:solidFill>
                  <a:srgbClr val="202A38"/>
                </a:solidFill>
                <a:latin typeface="Times New Roman"/>
              </a:rPr>
              <a:t> links at all — a red warning.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PRACTICAL TASK 2.2 —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“Windows protected your PC” — the SmartScreen warning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3949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4708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663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Run the downloaded file → the blue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“Windows protected your PC”</a:t>
            </a:r>
            <a:r>
              <a:rPr sz="1200">
                <a:solidFill>
                  <a:srgbClr val="202A38"/>
                </a:solidFill>
                <a:latin typeface="Times New Roman"/>
              </a:rPr>
              <a:t>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05456"/>
            <a:ext cx="53949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066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05456"/>
            <a:ext cx="4663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Click </a:t>
            </a:r>
            <a:r>
              <a:rPr sz="1116" b="1">
                <a:solidFill>
                  <a:srgbClr val="178A73"/>
                </a:solidFill>
                <a:latin typeface="Consolas"/>
              </a:rPr>
              <a:t>More info</a:t>
            </a:r>
            <a:r>
              <a:rPr sz="1200">
                <a:solidFill>
                  <a:srgbClr val="202A38"/>
                </a:solidFill>
                <a:latin typeface="Times New Roman"/>
              </a:rPr>
              <a:t>: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App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the file name,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Publisher: Unknown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the file is unsigned.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64992"/>
            <a:ext cx="53949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661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64992"/>
            <a:ext cx="4663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Only now does </a:t>
            </a:r>
            <a:r>
              <a:rPr sz="1116" b="1">
                <a:solidFill>
                  <a:srgbClr val="178A73"/>
                </a:solidFill>
                <a:latin typeface="Consolas"/>
              </a:rPr>
              <a:t>Run anyway</a:t>
            </a:r>
            <a:r>
              <a:rPr sz="1200">
                <a:solidFill>
                  <a:srgbClr val="202A38"/>
                </a:solidFill>
                <a:latin typeface="Times New Roman"/>
              </a:rPr>
              <a:t> appear — do not click it; close with </a:t>
            </a:r>
            <a:r>
              <a:rPr sz="1116" b="1">
                <a:solidFill>
                  <a:srgbClr val="178A73"/>
                </a:solidFill>
                <a:latin typeface="Consolas"/>
              </a:rPr>
              <a:t>Don’t run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24528"/>
            <a:ext cx="53949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42569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24528"/>
            <a:ext cx="4663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Extra: the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Potentially Unwanted Application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link — if PUA blocking is on, Edge blocks the download.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45451" y="1645920"/>
            <a:ext cx="449417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451" y="1645920"/>
            <a:ext cx="4494178" cy="3017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72200" y="470916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21. SmartScreen warning and “More info → Run anyway”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507492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5074920"/>
            <a:ext cx="82296" cy="1188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20293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</a:rPr>
              <a:t>Do not confuse!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586984"/>
            <a:ext cx="5074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>
                <a:solidFill>
                  <a:srgbClr val="202A38"/>
                </a:solidFill>
                <a:latin typeface="Times New Roman"/>
              </a:rPr>
              <a:t>If the program opens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without</a:t>
            </a:r>
            <a:r>
              <a:rPr sz="1150">
                <a:solidFill>
                  <a:srgbClr val="202A38"/>
                </a:solidFill>
                <a:latin typeface="Times New Roman"/>
              </a:rPr>
              <a:t> this window: (1) no MOTW; (2) “Run anyway” was clicked before — SmartScreen remembers; (3) </a:t>
            </a:r>
            <a:r>
              <a:rPr sz="1150" b="1">
                <a:solidFill>
                  <a:srgbClr val="1F3864"/>
                </a:solidFill>
                <a:latin typeface="Times New Roman"/>
              </a:rPr>
              <a:t>Check apps and files</a:t>
            </a:r>
            <a:r>
              <a:rPr sz="1150">
                <a:solidFill>
                  <a:srgbClr val="202A38"/>
                </a:solidFill>
                <a:latin typeface="Times New Roman"/>
              </a:rPr>
              <a:t> is off.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074920"/>
            <a:ext cx="5394960" cy="1188720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77256"/>
            <a:ext cx="384048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52728" y="5074920"/>
            <a:ext cx="45720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Result: </a:t>
            </a:r>
            <a:r>
              <a:rPr sz="1200">
                <a:solidFill>
                  <a:srgbClr val="202A38"/>
                </a:solidFill>
                <a:latin typeface="Times New Roman"/>
              </a:rPr>
              <a:t>SmartScreen stops the program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BEFORE it starts</a:t>
            </a:r>
            <a:r>
              <a:rPr sz="1200">
                <a:solidFill>
                  <a:srgbClr val="202A38"/>
                </a:solidFill>
                <a:latin typeface="Times New Roman"/>
              </a:rPr>
              <a:t> and makes the user think.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PRACTICAL TASK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Task 2.3 — Mark of the Web: reading the mark of a downloaded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The mark is stored not inside the file but in a hidden NTFS </a:t>
            </a:r>
            <a:r>
              <a:rPr sz="1162" b="1">
                <a:solidFill>
                  <a:srgbClr val="178A73"/>
                </a:solidFill>
                <a:latin typeface="Consolas"/>
              </a:rPr>
              <a:t>Zone.Identifier</a:t>
            </a:r>
            <a:r>
              <a:rPr sz="1250">
                <a:solidFill>
                  <a:srgbClr val="202A38"/>
                </a:solidFill>
                <a:latin typeface="Times New Roman"/>
              </a:rPr>
              <a:t> stream (alternate data stream).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Exercise A:</a:t>
            </a:r>
            <a:r>
              <a:rPr sz="1250">
                <a:solidFill>
                  <a:srgbClr val="202A38"/>
                </a:solidFill>
                <a:latin typeface="Times New Roman"/>
              </a:rPr>
              <a:t> look at the streams of the file downloaded in task 2.2: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68880"/>
            <a:ext cx="5760720" cy="214884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78608"/>
            <a:ext cx="54406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cd $env:USERPROFILE\Downloads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Get-Item .\freevideo.exe -Stream *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Get-Content .\freevideo.exe -Stream Zone.Identifier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6EDF5"/>
                </a:solidFill>
                <a:latin typeface="Consolas"/>
              </a:rPr>
              <a:t>[ZoneTransfer]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6EDF5"/>
                </a:solidFill>
                <a:latin typeface="Consolas"/>
              </a:rPr>
              <a:t>ZoneId=3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6EDF5"/>
                </a:solidFill>
                <a:latin typeface="Consolas"/>
              </a:rPr>
              <a:t>ReferrerUrl=https://demo.smartscreen.msft.net/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6EDF5"/>
                </a:solidFill>
                <a:latin typeface="Consolas"/>
              </a:rPr>
              <a:t>HostUrl=https://.../freevideo.exe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37960" y="1645920"/>
          <a:ext cx="5093208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600200"/>
                <a:gridCol w="2670048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ZoneId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Zone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Meaning</a:t>
                      </a:r>
                    </a:p>
                  </a:txBody>
                  <a:tcPr marL="73152" marR="54864" marT="27432" marB="27432" anchor="ctr">
                    <a:solidFill>
                      <a:srgbClr val="1F386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Local computer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Created on this computer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Local intranet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Internal network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Trusted sites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Trusted sites list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</a:rPr>
                        <a:t>Internet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</a:rPr>
                        <a:t>From the internet — SmartScreen checks it</a:t>
                      </a:r>
                    </a:p>
                  </a:txBody>
                  <a:tcPr marL="73152" marR="54864" marT="27432" marB="27432" anchor="ctr">
                    <a:solidFill>
                      <a:srgbClr val="F5F8F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Restricted sites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02A38"/>
                          </a:solidFill>
                          <a:latin typeface="Times New Roman"/>
                        </a:rPr>
                        <a:t>Marked as dangerous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830944" y="4389120"/>
            <a:ext cx="4507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944" y="4389120"/>
            <a:ext cx="4507240" cy="1325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37960" y="5760720"/>
            <a:ext cx="50932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Figure 22. SmartScreen and the Mark of the Web (Zone.Identifier)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800600"/>
            <a:ext cx="5760720" cy="1417320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317236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52728" y="4800600"/>
            <a:ext cx="49377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Result: </a:t>
            </a:r>
            <a:r>
              <a:rPr sz="1116" b="1">
                <a:solidFill>
                  <a:srgbClr val="178A73"/>
                </a:solidFill>
                <a:latin typeface="Consolas"/>
              </a:rPr>
              <a:t>HostUrl</a:t>
            </a:r>
            <a:r>
              <a:rPr sz="1200">
                <a:solidFill>
                  <a:srgbClr val="202A38"/>
                </a:solidFill>
                <a:latin typeface="Times New Roman"/>
              </a:rPr>
              <a:t> shows where the file was downloaded from, </a:t>
            </a:r>
            <a:r>
              <a:rPr sz="1116" b="1">
                <a:solidFill>
                  <a:srgbClr val="178A73"/>
                </a:solidFill>
                <a:latin typeface="Consolas"/>
              </a:rPr>
              <a:t>ReferrerUrl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which page the link was clicked on. A forensic investigator reads this mark first.</a:t>
            </a:r>
          </a:p>
        </p:txBody>
      </p:sp>
      <p:sp>
        <p:nvSpPr>
          <p:cNvPr id="18" name="Rounded Rectangle 17">
            <a:hlinkClick action="ppaction://hlinksldjump" r:id="rId5"/>
          </p:cNvPr>
          <p:cNvSpPr/>
          <p:nvPr/>
        </p:nvSpPr>
        <p:spPr>
          <a:xfrm>
            <a:off x="3657600" y="6355080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50" b="1">
                <a:solidFill>
                  <a:srgbClr val="178A73"/>
                </a:solidFill>
                <a:latin typeface="Times New Roman"/>
              </a:rPr>
              <a:t>?  Mark of the Web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PRACTICAL TASK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Exercises B and C — removing the mark and testing with your own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Exercise B — Unblock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65960"/>
            <a:ext cx="5577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File →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Properties</a:t>
            </a:r>
            <a:r>
              <a:rPr sz="1200">
                <a:solidFill>
                  <a:srgbClr val="202A38"/>
                </a:solidFill>
                <a:latin typeface="Times New Roman"/>
              </a:rPr>
              <a:t> → at the bottom of General: “This file came from another computer…” + </a:t>
            </a:r>
            <a:r>
              <a:rPr sz="1116" b="1">
                <a:solidFill>
                  <a:srgbClr val="178A73"/>
                </a:solidFill>
                <a:latin typeface="Consolas"/>
              </a:rPr>
              <a:t>Unblock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the graphical form of the MOTW. With a command: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97480"/>
            <a:ext cx="5577840" cy="77724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807208"/>
            <a:ext cx="5257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Unblock-File .\freevideo.exe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Consolas"/>
              </a:rPr>
              <a:t>PS&gt; Get-Item .\freevideo.exe -Stream *   # only :$DATA remains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11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Exercise C — a test file you create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77639"/>
            <a:ext cx="5577840" cy="2240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087367"/>
            <a:ext cx="52578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7EE08F"/>
                </a:solidFill>
                <a:latin typeface="Consolas"/>
              </a:rPr>
              <a:t># 1) Windows PowerShell 5.1 — a harmless test program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E6EDF5"/>
                </a:solidFill>
                <a:latin typeface="Consolas"/>
              </a:rPr>
              <a:t>$src = 'public class T { public static void Main() {'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E6EDF5"/>
                </a:solidFill>
                <a:latin typeface="Consolas"/>
              </a:rPr>
              <a:t>$src += ' System.Console.WriteLine("SmartScreen test"); System.Console.ReadLine(); } }'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E6EDF5"/>
                </a:solidFill>
                <a:latin typeface="Consolas"/>
              </a:rPr>
              <a:t>Add-Type -TypeDefinition $src -OutputType ConsoleApplication `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E6EDF5"/>
                </a:solidFill>
                <a:latin typeface="Consolas"/>
              </a:rPr>
              <a:t>  -OutputAssembly "$env:USERPROFILE\Desktop\sstest.exe"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7EE08F"/>
                </a:solidFill>
                <a:latin typeface="Consolas"/>
              </a:rPr>
              <a:t># 3) add the “came from the internet” mark by hand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E6EDF5"/>
                </a:solidFill>
                <a:latin typeface="Consolas"/>
              </a:rPr>
              <a:t>Set-Content "$env:USERPROFILE\Desktop\sstest.exe" -Stream Zone.Identifier `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E6EDF5"/>
                </a:solidFill>
                <a:latin typeface="Consolas"/>
              </a:rPr>
              <a:t>  -Value "[ZoneTransfer]`r`nZoneId=3"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45920"/>
            <a:ext cx="527608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84708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645920"/>
            <a:ext cx="454456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Double-click </a:t>
            </a:r>
            <a:r>
              <a:rPr sz="1116" b="1">
                <a:solidFill>
                  <a:srgbClr val="178A73"/>
                </a:solidFill>
                <a:latin typeface="Consolas"/>
              </a:rPr>
              <a:t>sstest.exe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it opens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without a warning</a:t>
            </a:r>
            <a:r>
              <a:rPr sz="1200">
                <a:solidFill>
                  <a:srgbClr val="202A38"/>
                </a:solidFill>
                <a:latin typeface="Times New Roman"/>
              </a:rPr>
              <a:t> (no MOTW).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505456"/>
            <a:ext cx="527608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3952" y="270662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505456"/>
            <a:ext cx="454456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Add the mark (code, step 3) and double-click again —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“Windows protected your PC”</a:t>
            </a:r>
            <a:r>
              <a:rPr sz="1200">
                <a:solidFill>
                  <a:srgbClr val="202A38"/>
                </a:solidFill>
                <a:latin typeface="Times New Roman"/>
              </a:rPr>
              <a:t>, Publisher: Unknown.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364992"/>
            <a:ext cx="527608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3952" y="356616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3364992"/>
            <a:ext cx="454456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Remove the mark with </a:t>
            </a:r>
            <a:r>
              <a:rPr sz="1116" b="1">
                <a:solidFill>
                  <a:srgbClr val="178A73"/>
                </a:solidFill>
                <a:latin typeface="Consolas"/>
              </a:rPr>
              <a:t>Unblock-File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the warning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disappears</a:t>
            </a:r>
            <a:r>
              <a:rPr sz="1200">
                <a:solidFill>
                  <a:srgbClr val="202A38"/>
                </a:solidFill>
                <a:latin typeface="Times New Roman"/>
              </a:rPr>
              <a:t>. Delete the file at the end.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251960"/>
            <a:ext cx="5276088" cy="1965960"/>
          </a:xfrm>
          <a:prstGeom prst="roundRect">
            <a:avLst>
              <a:gd name="adj" fmla="val 8000"/>
            </a:avLst>
          </a:prstGeom>
          <a:solidFill>
            <a:srgbClr val="FDF1DF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251960"/>
            <a:ext cx="82296" cy="196596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0" y="4379976"/>
            <a:ext cx="457200" cy="4572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4489704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50608" y="4379976"/>
            <a:ext cx="43616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Important nuances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928616"/>
            <a:ext cx="4910328" cy="1216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23" b="1">
                <a:solidFill>
                  <a:srgbClr val="178A73"/>
                </a:solidFill>
                <a:latin typeface="Consolas"/>
              </a:rPr>
              <a:t>-OutputType ConsoleApplication</a:t>
            </a:r>
            <a:r>
              <a:rPr sz="1100">
                <a:solidFill>
                  <a:srgbClr val="202A38"/>
                </a:solidFill>
                <a:latin typeface="Times New Roman"/>
              </a:rPr>
              <a:t> works only in </a:t>
            </a:r>
            <a:r>
              <a:rPr sz="1100" b="1">
                <a:solidFill>
                  <a:srgbClr val="1F3864"/>
                </a:solidFill>
                <a:latin typeface="Times New Roman"/>
              </a:rPr>
              <a:t>Windows PowerShell 5.1</a:t>
            </a:r>
            <a:r>
              <a:rPr sz="1100">
                <a:solidFill>
                  <a:srgbClr val="202A38"/>
                </a:solidFill>
                <a:latin typeface="Times New Roman"/>
              </a:rPr>
              <a:t>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00">
                <a:solidFill>
                  <a:srgbClr val="202A38"/>
                </a:solidFill>
                <a:latin typeface="Times New Roman"/>
              </a:rPr>
              <a:t>SmartScreen checks a file opened </a:t>
            </a:r>
            <a:r>
              <a:rPr sz="1100" b="1">
                <a:solidFill>
                  <a:srgbClr val="1F3864"/>
                </a:solidFill>
                <a:latin typeface="Times New Roman"/>
              </a:rPr>
              <a:t>through Explorer</a:t>
            </a:r>
            <a:r>
              <a:rPr sz="1100">
                <a:solidFill>
                  <a:srgbClr val="202A38"/>
                </a:solidFill>
                <a:latin typeface="Times New Roman"/>
              </a:rPr>
              <a:t>; </a:t>
            </a:r>
            <a:r>
              <a:rPr sz="1023" b="1">
                <a:solidFill>
                  <a:srgbClr val="178A73"/>
                </a:solidFill>
                <a:latin typeface="Consolas"/>
              </a:rPr>
              <a:t>.\sstest.exe</a:t>
            </a:r>
            <a:r>
              <a:rPr sz="1100">
                <a:solidFill>
                  <a:srgbClr val="202A38"/>
                </a:solidFill>
                <a:latin typeface="Times New Roman"/>
              </a:rPr>
              <a:t> usually shows no warning.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00">
                <a:solidFill>
                  <a:srgbClr val="202A38"/>
                </a:solidFill>
                <a:latin typeface="Times New Roman"/>
              </a:rPr>
              <a:t>Attackers try to strip the MOTW (sending files inside archives / disk images).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FINAL PRACTICAL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Lab assignment — do it on your own and hand in a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7665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83080"/>
            <a:ext cx="512064" cy="51206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95" y="1905975"/>
            <a:ext cx="266274" cy="2662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25880" y="1645920"/>
            <a:ext cx="5897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UAC:</a:t>
            </a:r>
            <a:r>
              <a:rPr sz="1200">
                <a:solidFill>
                  <a:srgbClr val="202A38"/>
                </a:solidFill>
                <a:latin typeface="Times New Roman"/>
              </a:rPr>
              <a:t> set “Always notify” — screenshot of the settings window + PowerShell output showing </a:t>
            </a:r>
            <a:r>
              <a:rPr sz="1116" b="1">
                <a:solidFill>
                  <a:srgbClr val="178A73"/>
                </a:solidFill>
                <a:latin typeface="Consolas"/>
              </a:rPr>
              <a:t>ConsentPromptBehaviorAdmin = 2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67665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679192"/>
            <a:ext cx="512064" cy="51206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ist-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95" y="2802087"/>
            <a:ext cx="266274" cy="26627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25880" y="2542032"/>
            <a:ext cx="5897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AppLocker — rule:</a:t>
            </a:r>
            <a:r>
              <a:rPr sz="1200">
                <a:solidFill>
                  <a:srgbClr val="202A38"/>
                </a:solidFill>
                <a:latin typeface="Times New Roman"/>
              </a:rPr>
              <a:t> create a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Path</a:t>
            </a:r>
            <a:r>
              <a:rPr sz="1200">
                <a:solidFill>
                  <a:srgbClr val="202A38"/>
                </a:solidFill>
                <a:latin typeface="Times New Roman"/>
              </a:rPr>
              <a:t> rule that allows programs to run only from </a:t>
            </a:r>
            <a:r>
              <a:rPr sz="1116" b="1">
                <a:solidFill>
                  <a:srgbClr val="178A73"/>
                </a:solidFill>
                <a:latin typeface="Consolas"/>
              </a:rPr>
              <a:t>C:\Windows</a:t>
            </a:r>
            <a:r>
              <a:rPr sz="1200">
                <a:solidFill>
                  <a:srgbClr val="202A38"/>
                </a:solidFill>
                <a:latin typeface="Times New Roman"/>
              </a:rPr>
              <a:t> and </a:t>
            </a:r>
            <a:r>
              <a:rPr sz="1116" b="1">
                <a:solidFill>
                  <a:srgbClr val="178A73"/>
                </a:solidFill>
                <a:latin typeface="Consolas"/>
              </a:rPr>
              <a:t>C:\Program Files</a:t>
            </a:r>
            <a:r>
              <a:rPr sz="12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38144"/>
            <a:ext cx="67665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575304"/>
            <a:ext cx="512064" cy="51206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a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95" y="3698199"/>
            <a:ext cx="266274" cy="26627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25880" y="3438144"/>
            <a:ext cx="5897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AppLocker — test:</a:t>
            </a:r>
            <a:r>
              <a:rPr sz="1200">
                <a:solidFill>
                  <a:srgbClr val="202A38"/>
                </a:solidFill>
                <a:latin typeface="Times New Roman"/>
              </a:rPr>
              <a:t> run any .exe outside this rule — confirm the block with a screenshot (+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8004</a:t>
            </a:r>
            <a:r>
              <a:rPr sz="1200">
                <a:solidFill>
                  <a:srgbClr val="202A38"/>
                </a:solidFill>
                <a:latin typeface="Times New Roman"/>
              </a:rPr>
              <a:t>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34256"/>
            <a:ext cx="67665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471416"/>
            <a:ext cx="512064" cy="51206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95" y="4594311"/>
            <a:ext cx="266274" cy="2662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25880" y="4334256"/>
            <a:ext cx="5897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SmartScreen:</a:t>
            </a:r>
            <a:r>
              <a:rPr sz="1200">
                <a:solidFill>
                  <a:srgbClr val="202A38"/>
                </a:solidFill>
                <a:latin typeface="Times New Roman"/>
              </a:rPr>
              <a:t> download a file from an unknown source and take a screenshot of the warning window.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1645920"/>
            <a:ext cx="4087368" cy="347472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17830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The report must include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331720"/>
            <a:ext cx="3703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FFFFFF"/>
                </a:solidFill>
                <a:latin typeface="Times New Roman"/>
              </a:rPr>
              <a:t>Title page: name, group, date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FFFFFF"/>
                </a:solidFill>
                <a:latin typeface="Times New Roman"/>
              </a:rPr>
              <a:t>A captioned screenshot for each task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FFFFFF"/>
                </a:solidFill>
                <a:latin typeface="Times New Roman"/>
              </a:rPr>
              <a:t>1–2 sentences: what you did and what you saw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FFFFFF"/>
                </a:solidFill>
                <a:latin typeface="Times New Roman"/>
              </a:rPr>
              <a:t>A note that the lab was restored to its previous state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FFFFFF"/>
                </a:solidFill>
                <a:latin typeface="Times New Roman"/>
              </a:rPr>
              <a:t>Answers to 2 review questions of your choice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49240"/>
            <a:ext cx="10698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Assessment:</a:t>
            </a:r>
            <a:r>
              <a:rPr sz="1300">
                <a:solidFill>
                  <a:srgbClr val="202A38"/>
                </a:solidFill>
                <a:latin typeface="Times New Roman"/>
              </a:rPr>
              <a:t> UAC — 20% · AppLocker rule — 30% · AppLocker test + log — 30% · SmartScreen — 10% · report quality — 10%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37360"/>
            <a:ext cx="475488" cy="47548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17" y="1851477"/>
            <a:ext cx="247254" cy="2472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25880" y="1645920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The UAC level is set with the slider; “Always notify” is the most secure. The GUI and the registry (</a:t>
            </a:r>
            <a:r>
              <a:rPr sz="1162" b="1">
                <a:solidFill>
                  <a:srgbClr val="178A73"/>
                </a:solidFill>
                <a:latin typeface="Consolas"/>
              </a:rPr>
              <a:t>EnableLUA</a:t>
            </a:r>
            <a:r>
              <a:rPr sz="1250">
                <a:solidFill>
                  <a:srgbClr val="202A38"/>
                </a:solidFill>
                <a:latin typeface="Times New Roman"/>
              </a:rPr>
              <a:t>, </a:t>
            </a:r>
            <a:r>
              <a:rPr sz="1162" b="1">
                <a:solidFill>
                  <a:srgbClr val="178A73"/>
                </a:solidFill>
                <a:latin typeface="Consolas"/>
              </a:rPr>
              <a:t>ConsentPromptBehaviorAdmin</a:t>
            </a:r>
            <a:r>
              <a:rPr sz="1250">
                <a:solidFill>
                  <a:srgbClr val="202A38"/>
                </a:solidFill>
                <a:latin typeface="Times New Roman"/>
              </a:rPr>
              <a:t>, </a:t>
            </a:r>
            <a:r>
              <a:rPr sz="1162" b="1">
                <a:solidFill>
                  <a:srgbClr val="178A73"/>
                </a:solidFill>
                <a:latin typeface="Consolas"/>
              </a:rPr>
              <a:t>PromptOnSecureDesktop</a:t>
            </a:r>
            <a:r>
              <a:rPr sz="1250">
                <a:solidFill>
                  <a:srgbClr val="202A38"/>
                </a:solidFill>
                <a:latin typeface="Times New Roman"/>
              </a:rPr>
              <a:t>) must always match.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04872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496312"/>
            <a:ext cx="475488" cy="47548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17" y="2610429"/>
            <a:ext cx="247254" cy="2472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25880" y="2404872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Even an administrator works day to day at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Medium</a:t>
            </a:r>
            <a:r>
              <a:rPr sz="1250">
                <a:solidFill>
                  <a:srgbClr val="202A38"/>
                </a:solidFill>
                <a:latin typeface="Times New Roman"/>
              </a:rPr>
              <a:t> (filtered token);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High</a:t>
            </a:r>
            <a:r>
              <a:rPr sz="1250">
                <a:solidFill>
                  <a:srgbClr val="202A38"/>
                </a:solidFill>
                <a:latin typeface="Times New Roman"/>
              </a:rPr>
              <a:t> only after UAC confirmation.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63824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255264"/>
            <a:ext cx="475488" cy="47548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ea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917" y="3369381"/>
            <a:ext cx="247254" cy="2472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25880" y="3163824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AppLocker works only while the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Application Identity</a:t>
            </a:r>
            <a:r>
              <a:rPr sz="1250">
                <a:solidFill>
                  <a:srgbClr val="202A38"/>
                </a:solidFill>
                <a:latin typeface="Times New Roman"/>
              </a:rPr>
              <a:t> service runs; Default rules first, then Publisher / Path / File hash rules.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922776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014216"/>
            <a:ext cx="475488" cy="47548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a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917" y="4128333"/>
            <a:ext cx="247254" cy="24725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25880" y="3922776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Implicit deny;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Deny always wins</a:t>
            </a:r>
            <a:r>
              <a:rPr sz="1250">
                <a:solidFill>
                  <a:srgbClr val="202A38"/>
                </a:solidFill>
                <a:latin typeface="Times New Roman"/>
              </a:rPr>
              <a:t>; with the Default rules an administrator can get through via “Run as administrator”.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81728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4773168"/>
            <a:ext cx="475488" cy="47548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y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917" y="4887285"/>
            <a:ext cx="247254" cy="24725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25880" y="4681728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Audit only (</a:t>
            </a:r>
            <a:r>
              <a:rPr sz="1162" b="1">
                <a:solidFill>
                  <a:srgbClr val="178A73"/>
                </a:solidFill>
                <a:latin typeface="Consolas"/>
              </a:rPr>
              <a:t>8003</a:t>
            </a:r>
            <a:r>
              <a:rPr sz="1250">
                <a:solidFill>
                  <a:srgbClr val="202A38"/>
                </a:solidFill>
                <a:latin typeface="Times New Roman"/>
              </a:rPr>
              <a:t>) → Enforce (</a:t>
            </a:r>
            <a:r>
              <a:rPr sz="1162" b="1">
                <a:solidFill>
                  <a:srgbClr val="178A73"/>
                </a:solidFill>
                <a:latin typeface="Consolas"/>
              </a:rPr>
              <a:t>8004</a:t>
            </a:r>
            <a:r>
              <a:rPr sz="1250">
                <a:solidFill>
                  <a:srgbClr val="202A38"/>
                </a:solidFill>
                <a:latin typeface="Times New Roman"/>
              </a:rPr>
              <a:t>), apply with </a:t>
            </a:r>
            <a:r>
              <a:rPr sz="1162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50">
                <a:solidFill>
                  <a:srgbClr val="202A38"/>
                </a:solidFill>
                <a:latin typeface="Times New Roman"/>
              </a:rPr>
              <a:t>; test in advance with </a:t>
            </a:r>
            <a:r>
              <a:rPr sz="1162" b="1">
                <a:solidFill>
                  <a:srgbClr val="178A73"/>
                </a:solidFill>
                <a:latin typeface="Consolas"/>
              </a:rPr>
              <a:t>Test-AppLockerPolicy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440679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5532119"/>
            <a:ext cx="475488" cy="47548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ag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917" y="5646236"/>
            <a:ext cx="247254" cy="24725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25880" y="5440679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SmartScreen has 5 settings; the check is triggered by the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Mark of the Web</a:t>
            </a:r>
            <a:r>
              <a:rPr sz="1250">
                <a:solidFill>
                  <a:srgbClr val="202A38"/>
                </a:solidFill>
                <a:latin typeface="Times New Roman"/>
              </a:rPr>
              <a:t> (</a:t>
            </a:r>
            <a:r>
              <a:rPr sz="1162" b="1">
                <a:solidFill>
                  <a:srgbClr val="178A73"/>
                </a:solidFill>
                <a:latin typeface="Consolas"/>
              </a:rPr>
              <a:t>ZoneId=3</a:t>
            </a:r>
            <a:r>
              <a:rPr sz="1250">
                <a:solidFill>
                  <a:srgbClr val="202A38"/>
                </a:solidFill>
                <a:latin typeface="Times New Roman"/>
              </a:rPr>
              <a:t>); the mark is removed with </a:t>
            </a:r>
            <a:r>
              <a:rPr sz="1162" b="1">
                <a:solidFill>
                  <a:srgbClr val="178A73"/>
                </a:solidFill>
                <a:latin typeface="Consolas"/>
              </a:rPr>
              <a:t>Unblock-File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Review questions — Lesson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8288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6459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Which service must be running for AppLocker to work?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603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27432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5603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What is the difference between the “Audit only” and “Enforce Rules” modes?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47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6576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4747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Which command-line tool can be used to change the UAC level?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891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8" y="45720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3891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What additional information can the user see when a SmartScreen warning appears?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035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4088" y="54864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53035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Why is adding a custom rule without first creating the Default Rules not recommended?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16459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27648" y="18288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16459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Why is a program on the Desktop blocked normally but runs with “Run as administrator”?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25603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27648" y="27432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25603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How do Path, Publisher and File hash rules behave when a file is renamed or moved?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4747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7648" y="36576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34747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If both an Allow and a Deny rule match one file, which one wins?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43891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27648" y="45720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2008" y="43891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What is the Mark of the Web, where is it stored and how can it be read?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5303520"/>
            <a:ext cx="54406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27648" y="54864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8" y="5303520"/>
            <a:ext cx="4572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How does the integrity level of an ordinary and an administrator PowerShell window differ, and how do you check it?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1234440"/>
            <a:ext cx="1737360" cy="17647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14800" y="3246120"/>
            <a:ext cx="3959352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Times New Roman"/>
              </a:rPr>
              <a:t>THANK YOU FOR YOUR ATTENTION!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600" b="0" i="1">
                <a:solidFill>
                  <a:srgbClr val="C9D6E6"/>
                </a:solidFill>
                <a:latin typeface="Times New Roman"/>
              </a:rPr>
              <a:t>Questions are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300" b="0" i="1">
                <a:solidFill>
                  <a:srgbClr val="B8C6D8"/>
                </a:solidFill>
                <a:latin typeface="Times New Roman"/>
              </a:rPr>
              <a:t>Next section — glossary of terms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Glossary — this section explains the following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37</a:t>
            </a:r>
          </a:p>
        </p:txBody>
      </p:sp>
      <p:sp>
        <p:nvSpPr>
          <p:cNvPr id="8" name="Rounded Rectangle 7">
            <a:hlinkClick action="ppaction://hlinksldjump" r:id="rId12"/>
          </p:cNvPr>
          <p:cNvSpPr/>
          <p:nvPr/>
        </p:nvSpPr>
        <p:spPr>
          <a:xfrm>
            <a:off x="566928" y="169164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062886"/>
            <a:ext cx="309068" cy="3090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81328" y="18745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2402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a saved state of the VM</a:t>
            </a:r>
          </a:p>
        </p:txBody>
      </p:sp>
      <p:sp>
        <p:nvSpPr>
          <p:cNvPr id="13" name="Rounded Rectangle 12">
            <a:hlinkClick action="ppaction://hlinksldjump" r:id="rId13"/>
          </p:cNvPr>
          <p:cNvSpPr/>
          <p:nvPr/>
        </p:nvSpPr>
        <p:spPr>
          <a:xfrm>
            <a:off x="4288536" y="169164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3128" y="192024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774" y="2062886"/>
            <a:ext cx="309068" cy="3090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02936" y="18745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Registry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22402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a named setting in the registry</a:t>
            </a:r>
          </a:p>
        </p:txBody>
      </p:sp>
      <p:sp>
        <p:nvSpPr>
          <p:cNvPr id="18" name="Rounded Rectangle 17">
            <a:hlinkClick action="ppaction://hlinksldjump" r:id="rId14"/>
          </p:cNvPr>
          <p:cNvSpPr/>
          <p:nvPr/>
        </p:nvSpPr>
        <p:spPr>
          <a:xfrm>
            <a:off x="8010144" y="169164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74736" y="192024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382" y="2062886"/>
            <a:ext cx="309068" cy="3090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24544" y="18745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Integrity level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22402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the trust level of a process</a:t>
            </a:r>
          </a:p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566928" y="292608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5468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ist-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" y="3297326"/>
            <a:ext cx="309068" cy="3090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81328" y="31089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Default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34747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AppLocker’s “safety net”</a:t>
            </a:r>
          </a:p>
        </p:txBody>
      </p:sp>
      <p:sp>
        <p:nvSpPr>
          <p:cNvPr id="28" name="Rounded Rectangle 27">
            <a:hlinkClick action="ppaction://hlinksldjump" r:id="rId16"/>
          </p:cNvPr>
          <p:cNvSpPr/>
          <p:nvPr/>
        </p:nvSpPr>
        <p:spPr>
          <a:xfrm>
            <a:off x="4288536" y="292608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53128" y="315468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a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5774" y="3297326"/>
            <a:ext cx="309068" cy="3090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202936" y="31089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Implicit deny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2936" y="34747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not allowed = forbidden</a:t>
            </a:r>
          </a:p>
        </p:txBody>
      </p:sp>
      <p:sp>
        <p:nvSpPr>
          <p:cNvPr id="33" name="Rounded Rectangle 32">
            <a:hlinkClick action="ppaction://hlinksldjump" r:id="rId17"/>
          </p:cNvPr>
          <p:cNvSpPr/>
          <p:nvPr/>
        </p:nvSpPr>
        <p:spPr>
          <a:xfrm>
            <a:off x="8010144" y="292608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74736" y="315468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ey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7382" y="3297326"/>
            <a:ext cx="309068" cy="3090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924544" y="31089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Audit only mode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544" y="34747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logs, does not block</a:t>
            </a:r>
          </a:p>
        </p:txBody>
      </p:sp>
      <p:sp>
        <p:nvSpPr>
          <p:cNvPr id="38" name="Rounded Rectangle 37">
            <a:hlinkClick action="ppaction://hlinksldjump" r:id="rId18"/>
          </p:cNvPr>
          <p:cNvSpPr/>
          <p:nvPr/>
        </p:nvSpPr>
        <p:spPr>
          <a:xfrm>
            <a:off x="566928" y="416052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438912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zap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166" y="4531766"/>
            <a:ext cx="309068" cy="3090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81328" y="43434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Group Policy refresh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1328" y="47091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gpupdate /force</a:t>
            </a:r>
          </a:p>
        </p:txBody>
      </p:sp>
      <p:sp>
        <p:nvSpPr>
          <p:cNvPr id="43" name="Rounded Rectangle 42">
            <a:hlinkClick action="ppaction://hlinksldjump" r:id="rId19"/>
          </p:cNvPr>
          <p:cNvSpPr/>
          <p:nvPr/>
        </p:nvSpPr>
        <p:spPr>
          <a:xfrm>
            <a:off x="4288536" y="416052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53128" y="438912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ook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5774" y="4531766"/>
            <a:ext cx="309068" cy="30906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202936" y="43434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Event log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02936" y="47091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the system’s “black box”</a:t>
            </a:r>
          </a:p>
        </p:txBody>
      </p:sp>
      <p:sp>
        <p:nvSpPr>
          <p:cNvPr id="48" name="Rounded Rectangle 47">
            <a:hlinkClick action="ppaction://hlinksldjump" r:id="rId20"/>
          </p:cNvPr>
          <p:cNvSpPr/>
          <p:nvPr/>
        </p:nvSpPr>
        <p:spPr>
          <a:xfrm>
            <a:off x="8010144" y="416052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74736" y="438912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tag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7382" y="4531766"/>
            <a:ext cx="309068" cy="30906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924544" y="43434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Mark of the Web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24544" y="47091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the “came from the internet” mark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5486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Each term is explained in beginner-friendly language, with an example and a diagram. Click a card to jump to its explanation.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Snapshot (virtual machine)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38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 snapshot is a saved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“picture”</a:t>
            </a:r>
            <a:r>
              <a:rPr sz="1300">
                <a:solidFill>
                  <a:srgbClr val="202A38"/>
                </a:solidFill>
                <a:latin typeface="Times New Roman"/>
              </a:rPr>
              <a:t> of the whole virtual machine — disk, settings and even memory — at one moment. Later you can return to that exact moment with one click (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Restore</a:t>
            </a:r>
            <a:r>
              <a:rPr sz="1300">
                <a:solidFill>
                  <a:srgbClr val="202A38"/>
                </a:solidFill>
                <a:latin typeface="Times New Roman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In security labs we deliberately break things: block programs, change UAC. A snapshot lets you undo any mistake in a minute.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VirtualBox:</a:t>
            </a:r>
            <a:r>
              <a:rPr sz="1300">
                <a:solidFill>
                  <a:srgbClr val="202A38"/>
                </a:solidFill>
                <a:latin typeface="Times New Roman"/>
              </a:rPr>
              <a:t> Machine → Snapshots → Take / Restore.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4937760" cy="685800"/>
          </a:xfrm>
          <a:prstGeom prst="roundRect">
            <a:avLst>
              <a:gd name="adj" fmla="val 18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Snapshot 1 — clean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1976" y="2450592"/>
            <a:ext cx="201168" cy="219456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2697480"/>
            <a:ext cx="4937760" cy="68580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Snapshot 2 — before Lesson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51976" y="3410712"/>
            <a:ext cx="201168" cy="219456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3657600"/>
            <a:ext cx="4937760" cy="685800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Lab: rules, experiments…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976" y="4370832"/>
            <a:ext cx="201168" cy="219456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0" y="4617720"/>
            <a:ext cx="4937760" cy="6858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Something broke → Restore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Registry value (e.g. EnableLUA)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39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The Windows registry is a big settings database arranged like folders (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keys</a:t>
            </a:r>
            <a:r>
              <a:rPr sz="1300">
                <a:solidFill>
                  <a:srgbClr val="202A38"/>
                </a:solidFill>
                <a:latin typeface="Times New Roman"/>
              </a:rPr>
              <a:t>). Inside a key there are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values</a:t>
            </a:r>
            <a:r>
              <a:rPr sz="1300">
                <a:solidFill>
                  <a:srgbClr val="202A38"/>
                </a:solidFill>
                <a:latin typeface="Times New Roman"/>
              </a:rPr>
              <a:t>: a name, a type and data. For example </a:t>
            </a:r>
            <a:r>
              <a:rPr sz="1209" b="1">
                <a:solidFill>
                  <a:srgbClr val="178A73"/>
                </a:solidFill>
                <a:latin typeface="Consolas"/>
              </a:rPr>
              <a:t>EnableLUA = 1</a:t>
            </a:r>
            <a:r>
              <a:rPr sz="13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Every GUI switch (like the UAC slider) is really just a registry value. Reading values with PowerShell lets you check a setting quickly, on many PCs, and during forensic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493776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847088"/>
            <a:ext cx="4617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Key: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HKLM\SOFTWARE\Microsoft\Windows\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CurrentVersion\Policies\System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06324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063240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EnableLUA</a:t>
            </a:r>
            <a:r>
              <a:rPr sz="1200">
                <a:solidFill>
                  <a:srgbClr val="202A38"/>
                </a:solidFill>
                <a:latin typeface="Times New Roman"/>
              </a:rPr>
              <a:t>   </a:t>
            </a:r>
            <a:r>
              <a:rPr sz="1200" i="1">
                <a:solidFill>
                  <a:srgbClr val="54647A"/>
                </a:solidFill>
                <a:latin typeface="Times New Roman"/>
              </a:rPr>
              <a:t>REG_DWORD</a:t>
            </a:r>
            <a:r>
              <a:rPr sz="1200">
                <a:solidFill>
                  <a:srgbClr val="202A38"/>
                </a:solidFill>
                <a:latin typeface="Times New Roman"/>
              </a:rPr>
              <a:t>  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721608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721608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ConsentPromptBehaviorAdmin</a:t>
            </a:r>
            <a:r>
              <a:rPr sz="1200">
                <a:solidFill>
                  <a:srgbClr val="202A38"/>
                </a:solidFill>
                <a:latin typeface="Times New Roman"/>
              </a:rPr>
              <a:t>   </a:t>
            </a:r>
            <a:r>
              <a:rPr sz="1200" i="1">
                <a:solidFill>
                  <a:srgbClr val="54647A"/>
                </a:solidFill>
                <a:latin typeface="Times New Roman"/>
              </a:rPr>
              <a:t>REG_DWORD</a:t>
            </a:r>
            <a:r>
              <a:rPr sz="1200">
                <a:solidFill>
                  <a:srgbClr val="202A38"/>
                </a:solidFill>
                <a:latin typeface="Times New Roman"/>
              </a:rPr>
              <a:t>  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379976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379976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PromptOnSecureDesktop</a:t>
            </a:r>
            <a:r>
              <a:rPr sz="1200">
                <a:solidFill>
                  <a:srgbClr val="202A38"/>
                </a:solidFill>
                <a:latin typeface="Times New Roman"/>
              </a:rPr>
              <a:t>   </a:t>
            </a:r>
            <a:r>
              <a:rPr sz="1200" i="1">
                <a:solidFill>
                  <a:srgbClr val="54647A"/>
                </a:solidFill>
                <a:latin typeface="Times New Roman"/>
              </a:rPr>
              <a:t>REG_DWORD</a:t>
            </a:r>
            <a:r>
              <a:rPr sz="1200">
                <a:solidFill>
                  <a:srgbClr val="202A38"/>
                </a:solidFill>
                <a:latin typeface="Times New Roman"/>
              </a:rPr>
              <a:t>  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Integrity level (Medium / High)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40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Every process has a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trust level</a:t>
            </a:r>
            <a:r>
              <a:rPr sz="1300">
                <a:solidFill>
                  <a:srgbClr val="202A38"/>
                </a:solidFill>
                <a:latin typeface="Times New Roman"/>
              </a:rPr>
              <a:t>: Low,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Medium</a:t>
            </a:r>
            <a:r>
              <a:rPr sz="130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High</a:t>
            </a:r>
            <a:r>
              <a:rPr sz="1300">
                <a:solidFill>
                  <a:srgbClr val="202A38"/>
                </a:solidFill>
                <a:latin typeface="Times New Roman"/>
              </a:rPr>
              <a:t>, System. A lower-level process cannot “write up” into a higher one. An ordinary window is Medium, “Run as administrator” is High.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UAC relies on exactly these levels: if malware starts from an ordinary window, it stays at Medium and cannot change the system. To check: </a:t>
            </a:r>
            <a:r>
              <a:rPr sz="1209" b="1">
                <a:solidFill>
                  <a:srgbClr val="178A73"/>
                </a:solidFill>
                <a:latin typeface="Consolas"/>
              </a:rPr>
              <a:t>whoami /groups</a:t>
            </a:r>
            <a:r>
              <a:rPr sz="1300">
                <a:solidFill>
                  <a:srgbClr val="202A38"/>
                </a:solidFill>
                <a:latin typeface="Times New Roman"/>
              </a:rPr>
              <a:t> → “Mandatory Label”.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83080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kernel, SYSTEM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697480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697480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Run as administrator (full token)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611880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611880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ordinary programs (filtered token)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39" y="4526280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79" y="4526280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browser sandbox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AppLocker default rules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41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When you click </a:t>
            </a:r>
            <a:r>
              <a:rPr sz="1209" b="1">
                <a:solidFill>
                  <a:srgbClr val="178A73"/>
                </a:solidFill>
                <a:latin typeface="Consolas"/>
              </a:rPr>
              <a:t>Create Default Rules</a:t>
            </a:r>
            <a:r>
              <a:rPr sz="1300">
                <a:solidFill>
                  <a:srgbClr val="202A38"/>
                </a:solidFill>
                <a:latin typeface="Times New Roman"/>
              </a:rPr>
              <a:t>, AppLocker adds three Allow rules: everything in </a:t>
            </a:r>
            <a:r>
              <a:rPr sz="1209" b="1">
                <a:solidFill>
                  <a:srgbClr val="178A73"/>
                </a:solidFill>
                <a:latin typeface="Consolas"/>
              </a:rPr>
              <a:t>C:\Program Files</a:t>
            </a:r>
            <a:r>
              <a:rPr sz="1300">
                <a:solidFill>
                  <a:srgbClr val="202A38"/>
                </a:solidFill>
                <a:latin typeface="Times New Roman"/>
              </a:rPr>
              <a:t>, everything in </a:t>
            </a:r>
            <a:r>
              <a:rPr sz="1209" b="1">
                <a:solidFill>
                  <a:srgbClr val="178A73"/>
                </a:solidFill>
                <a:latin typeface="Consolas"/>
              </a:rPr>
              <a:t>C:\Windows</a:t>
            </a:r>
            <a:r>
              <a:rPr sz="1300">
                <a:solidFill>
                  <a:srgbClr val="202A38"/>
                </a:solidFill>
                <a:latin typeface="Times New Roman"/>
              </a:rPr>
              <a:t>, and all files for the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Administrators</a:t>
            </a:r>
            <a:r>
              <a:rPr sz="1300">
                <a:solidFill>
                  <a:srgbClr val="202A38"/>
                </a:solidFill>
                <a:latin typeface="Times New Roman"/>
              </a:rPr>
              <a:t> group.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AppLocker blocks everything that is not allowed. Without these rules even Explorer and the Start menu could be blocked. They are the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safety net</a:t>
            </a:r>
            <a:r>
              <a:rPr sz="1300">
                <a:solidFill>
                  <a:srgbClr val="202A38"/>
                </a:solidFill>
                <a:latin typeface="Times New Roman"/>
              </a:rPr>
              <a:t> under your own rules. (Because of the Administrators rule, a blocked program can open with “Run as administrator” — Exercise A.)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493776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3B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883664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60920" y="173736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Allow · Everyone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%PROGRAMFILES%\*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51760"/>
            <a:ext cx="493776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3B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2798064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60920" y="265176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Allow · Everyone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%WINDIR%\*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566160"/>
            <a:ext cx="493776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3B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3712464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60920" y="356616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Allow · Administrators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6" b="1">
                <a:solidFill>
                  <a:srgbClr val="178A73"/>
                </a:solidFill>
                <a:latin typeface="Consolas"/>
              </a:rPr>
              <a:t>*  (all files)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572000"/>
            <a:ext cx="4937760" cy="56692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Everything else → blocked (in Enforce mode)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Implicit deny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42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As soon as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at least one</a:t>
            </a:r>
            <a:r>
              <a:rPr sz="1300">
                <a:solidFill>
                  <a:srgbClr val="202A38"/>
                </a:solidFill>
                <a:latin typeface="Times New Roman"/>
              </a:rPr>
              <a:t> rule appears in a collection (for example Executable Rules), AppLocker switches to “allow list” mode: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everything not explicitly allowed is automatically forbidden</a:t>
            </a:r>
            <a:r>
              <a:rPr sz="13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That is why an unknown .exe on the Desktop or in Downloads is blocked even without any Deny rule. </a:t>
            </a:r>
            <a:r>
              <a:rPr sz="1209" b="1">
                <a:solidFill>
                  <a:srgbClr val="178A73"/>
                </a:solidFill>
                <a:latin typeface="Consolas"/>
              </a:rPr>
              <a:t>Test-AppLockerPolicy</a:t>
            </a:r>
            <a:r>
              <a:rPr sz="1300">
                <a:solidFill>
                  <a:srgbClr val="202A38"/>
                </a:solidFill>
                <a:latin typeface="Times New Roman"/>
              </a:rPr>
              <a:t> reports this case as </a:t>
            </a:r>
            <a:r>
              <a:rPr sz="1209" b="1">
                <a:solidFill>
                  <a:srgbClr val="178A73"/>
                </a:solidFill>
                <a:latin typeface="Consolas"/>
              </a:rPr>
              <a:t>DeniedByDefault</a:t>
            </a:r>
            <a:r>
              <a:rPr sz="13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828800"/>
            <a:ext cx="2103120" cy="731520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Allow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182880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matches a rule → runs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834640"/>
            <a:ext cx="2103120" cy="73152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Deny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83464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explicit ban → always wins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840480"/>
            <a:ext cx="2103120" cy="731520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DeniedByDefault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84048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matched no Allow → blocked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Audit only mode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43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In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Audit only</a:t>
            </a:r>
            <a:r>
              <a:rPr sz="1300">
                <a:solidFill>
                  <a:srgbClr val="202A38"/>
                </a:solidFill>
                <a:latin typeface="Times New Roman"/>
              </a:rPr>
              <a:t> mode AppLocker does not block anything. It only writes to the log what it would have blocked (event </a:t>
            </a:r>
            <a:r>
              <a:rPr sz="1209" b="1">
                <a:solidFill>
                  <a:srgbClr val="178A73"/>
                </a:solidFill>
                <a:latin typeface="Consolas"/>
              </a:rPr>
              <a:t>8003</a:t>
            </a:r>
            <a:r>
              <a:rPr sz="1300">
                <a:solidFill>
                  <a:srgbClr val="202A38"/>
                </a:solidFill>
                <a:latin typeface="Times New Roman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Rules are easy to get wrong. Auditing first shows which legitimate programs your rules forget — so users are not stopped from working when you switch to Enforce (</a:t>
            </a:r>
            <a:r>
              <a:rPr sz="1209" b="1">
                <a:solidFill>
                  <a:srgbClr val="178A73"/>
                </a:solidFill>
                <a:latin typeface="Consolas"/>
              </a:rPr>
              <a:t>8004</a:t>
            </a:r>
            <a:r>
              <a:rPr sz="1300">
                <a:solidFill>
                  <a:srgbClr val="202A38"/>
                </a:solidFill>
                <a:latin typeface="Times New Roman"/>
              </a:rPr>
              <a:t>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828800"/>
            <a:ext cx="1828800" cy="914400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Audit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82880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82880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the program runs ·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8003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“would have been blocked”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017520"/>
            <a:ext cx="1828800" cy="9144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Enforce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301752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301752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the program is blocked · </a:t>
            </a:r>
            <a:r>
              <a:rPr sz="1116" b="1">
                <a:solidFill>
                  <a:srgbClr val="178A73"/>
                </a:solidFill>
                <a:latin typeface="Consolas"/>
              </a:rPr>
              <a:t>8004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Group Policy refresh (gpupdate /force)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44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Windows re-reads its policies automatically at start-up and roughly every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90 minutes</a:t>
            </a:r>
            <a:r>
              <a:rPr sz="1300">
                <a:solidFill>
                  <a:srgbClr val="202A38"/>
                </a:solidFill>
                <a:latin typeface="Times New Roman"/>
              </a:rPr>
              <a:t>. </a:t>
            </a:r>
            <a:r>
              <a:rPr sz="1209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300">
                <a:solidFill>
                  <a:srgbClr val="202A38"/>
                </a:solidFill>
                <a:latin typeface="Times New Roman"/>
              </a:rPr>
              <a:t> makes it re-read and apply all policies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immediately</a:t>
            </a:r>
            <a:r>
              <a:rPr sz="13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After changing AppLocker or security settings you do not have to wait or restart — gpupdate applies the change at once, so you can test it right away.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4937760" cy="160020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847088"/>
            <a:ext cx="46177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E6EDF5"/>
                </a:solidFill>
                <a:latin typeface="Consolas"/>
              </a:rPr>
              <a:t>PS&gt; gpupdate /force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6EDF5"/>
                </a:solidFill>
                <a:latin typeface="Consolas"/>
              </a:rPr>
              <a:t>Updating policy...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6EDF5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EE08F"/>
                </a:solidFill>
                <a:latin typeface="Consolas"/>
              </a:rPr>
              <a:t># Computer Policy update has completed successfully.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EE08F"/>
                </a:solidFill>
                <a:latin typeface="Consolas"/>
              </a:rPr>
              <a:t># User Policy update has completed successfully.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566160"/>
            <a:ext cx="4937760" cy="56692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To check what was applied: </a:t>
            </a:r>
            <a:r>
              <a:rPr sz="1300" b="1">
                <a:solidFill>
                  <a:srgbClr val="FFFFFF"/>
                </a:solidFill>
                <a:latin typeface="Consolas"/>
              </a:rPr>
              <a:t>gpresult /r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Event log (Event Viewer)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45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Windows writes important events into logs — like an aircraft’s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black box</a:t>
            </a:r>
            <a:r>
              <a:rPr sz="1300">
                <a:solidFill>
                  <a:srgbClr val="202A38"/>
                </a:solidFill>
                <a:latin typeface="Times New Roman"/>
              </a:rPr>
              <a:t>. Each event has a source, a time and an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Event ID</a:t>
            </a:r>
            <a:r>
              <a:rPr sz="1300">
                <a:solidFill>
                  <a:srgbClr val="202A38"/>
                </a:solidFill>
                <a:latin typeface="Times New Roman"/>
              </a:rPr>
              <a:t> number. You read them in </a:t>
            </a:r>
            <a:r>
              <a:rPr sz="1209" b="1">
                <a:solidFill>
                  <a:srgbClr val="178A73"/>
                </a:solidFill>
                <a:latin typeface="Consolas"/>
              </a:rPr>
              <a:t>eventvwr.msc</a:t>
            </a:r>
            <a:r>
              <a:rPr sz="13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Logs prove that a protection worked (AppLocker </a:t>
            </a:r>
            <a:r>
              <a:rPr sz="1209" b="1">
                <a:solidFill>
                  <a:srgbClr val="178A73"/>
                </a:solidFill>
                <a:latin typeface="Consolas"/>
              </a:rPr>
              <a:t>8004</a:t>
            </a:r>
            <a:r>
              <a:rPr sz="1300">
                <a:solidFill>
                  <a:srgbClr val="202A38"/>
                </a:solidFill>
                <a:latin typeface="Times New Roman"/>
              </a:rPr>
              <a:t>) and show what an attacker did. They are the main evidence in cyber forensics.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1097280" cy="658368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8002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737360"/>
            <a:ext cx="374903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737360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AppLocker: the program was allowed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06039"/>
            <a:ext cx="1097280" cy="658368"/>
          </a:xfrm>
          <a:prstGeom prst="roundRect">
            <a:avLst>
              <a:gd name="adj" fmla="val 18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8003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606039"/>
            <a:ext cx="374903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2606039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AppLocker: would have been blocked (audit)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474720"/>
            <a:ext cx="1097280" cy="65836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8004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474720"/>
            <a:ext cx="374903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3474720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AppLocker: the program was blocked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343400"/>
            <a:ext cx="1097280" cy="65836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4625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343400"/>
            <a:ext cx="374903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4343400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Security: failed logon (Lesson 4)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9FD8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Mark of the Web (Zone.Identifier)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46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The browser puts a hidden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“came from the internet”</a:t>
            </a:r>
            <a:r>
              <a:rPr sz="1300">
                <a:solidFill>
                  <a:srgbClr val="202A38"/>
                </a:solidFill>
                <a:latin typeface="Times New Roman"/>
              </a:rPr>
              <a:t> mark on a downloaded file. It is stored not inside the file but in the NTFS </a:t>
            </a:r>
            <a:r>
              <a:rPr sz="1209" b="1">
                <a:solidFill>
                  <a:srgbClr val="178A73"/>
                </a:solidFill>
                <a:latin typeface="Consolas"/>
              </a:rPr>
              <a:t>Zone.Identifier</a:t>
            </a:r>
            <a:r>
              <a:rPr sz="1300">
                <a:solidFill>
                  <a:srgbClr val="202A38"/>
                </a:solidFill>
                <a:latin typeface="Times New Roman"/>
              </a:rPr>
              <a:t> stream: </a:t>
            </a:r>
            <a:r>
              <a:rPr sz="1209" b="1">
                <a:solidFill>
                  <a:srgbClr val="178A73"/>
                </a:solidFill>
                <a:latin typeface="Consolas"/>
              </a:rPr>
              <a:t>ZoneId=3</a:t>
            </a:r>
            <a:r>
              <a:rPr sz="1300">
                <a:solidFill>
                  <a:srgbClr val="202A38"/>
                </a:solidFill>
                <a:latin typeface="Times New Roman"/>
              </a:rPr>
              <a:t>, </a:t>
            </a:r>
            <a:r>
              <a:rPr sz="1209" b="1">
                <a:solidFill>
                  <a:srgbClr val="178A73"/>
                </a:solidFill>
                <a:latin typeface="Consolas"/>
              </a:rPr>
              <a:t>HostUrl</a:t>
            </a:r>
            <a:r>
              <a:rPr sz="1300">
                <a:solidFill>
                  <a:srgbClr val="202A38"/>
                </a:solidFill>
                <a:latin typeface="Times New Roman"/>
              </a:rPr>
              <a:t>, </a:t>
            </a:r>
            <a:r>
              <a:rPr sz="1209" b="1">
                <a:solidFill>
                  <a:srgbClr val="178A73"/>
                </a:solidFill>
                <a:latin typeface="Consolas"/>
              </a:rPr>
              <a:t>ReferrerUrl</a:t>
            </a:r>
            <a:r>
              <a:rPr sz="13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SmartScreen checks based on exactly this mark: no mark — no warning. A forensic investigator learns from </a:t>
            </a:r>
            <a:r>
              <a:rPr sz="1209" b="1">
                <a:solidFill>
                  <a:srgbClr val="178A73"/>
                </a:solidFill>
                <a:latin typeface="Consolas"/>
              </a:rPr>
              <a:t>HostUrl</a:t>
            </a:r>
            <a:r>
              <a:rPr sz="1300">
                <a:solidFill>
                  <a:srgbClr val="202A38"/>
                </a:solidFill>
                <a:latin typeface="Times New Roman"/>
              </a:rPr>
              <a:t> which site the file came from. Read: </a:t>
            </a:r>
            <a:r>
              <a:rPr sz="1209" b="1">
                <a:solidFill>
                  <a:srgbClr val="178A73"/>
                </a:solidFill>
                <a:latin typeface="Consolas"/>
              </a:rPr>
              <a:t>Get-Content file -Stream Zone.Identifier</a:t>
            </a:r>
            <a:r>
              <a:rPr sz="1300">
                <a:solidFill>
                  <a:srgbClr val="202A38"/>
                </a:solidFill>
                <a:latin typeface="Times New Roman"/>
              </a:rPr>
              <a:t>; remove: </a:t>
            </a:r>
            <a:r>
              <a:rPr sz="1209" b="1">
                <a:solidFill>
                  <a:srgbClr val="178A73"/>
                </a:solidFill>
                <a:latin typeface="Consolas"/>
              </a:rPr>
              <a:t>Unblock-File</a:t>
            </a:r>
            <a:r>
              <a:rPr sz="13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4937760" cy="173736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847088"/>
            <a:ext cx="4617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file.exe:Zone.Identifier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[ZoneTransfer]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ZoneId=3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ReferrerUrl=https://site/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HostUrl=https://site/file.exe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703320"/>
            <a:ext cx="2377440" cy="6858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Downloaded by a 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70332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has MOTW → SmartScreen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572000"/>
            <a:ext cx="2377440" cy="685800"/>
          </a:xfrm>
          <a:prstGeom prst="roundRect">
            <a:avLst>
              <a:gd name="adj" fmla="val 18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From a USB drive / self-made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57200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no MOTW → no warning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