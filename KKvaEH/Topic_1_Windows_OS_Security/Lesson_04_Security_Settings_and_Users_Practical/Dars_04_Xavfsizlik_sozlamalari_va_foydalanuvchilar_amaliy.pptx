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6"/>
    <p:sldId id="279" r:id="rId5"/>
    <p:sldId id="280" r:id="rId4"/>
    <p:sldId id="281" r:id="rId3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6.xml"/><Relationship Id="rId4" Type="http://schemas.openxmlformats.org/officeDocument/2006/relationships/slide" Target="slides/slide25.xml"/><Relationship Id="rId5" Type="http://schemas.openxmlformats.org/officeDocument/2006/relationships/slide" Target="slides/slide24.xml"/><Relationship Id="rId6" Type="http://schemas.openxmlformats.org/officeDocument/2006/relationships/slide" Target="slides/slide23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slide" Target="slide2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slide" Target="slide2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slide" Target="slide2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slide" Target="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slide" Target="slide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slide" Target="slide31.xml"/><Relationship Id="rId5" Type="http://schemas.openxmlformats.org/officeDocument/2006/relationships/slide" Target="slide3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15.png"/><Relationship Id="rId5" Type="http://schemas.openxmlformats.org/officeDocument/2006/relationships/slide" Target="slide3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slide" Target="slide3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10.png"/><Relationship Id="rId5" Type="http://schemas.openxmlformats.org/officeDocument/2006/relationships/image" Target="../media/image27.png"/><Relationship Id="rId6" Type="http://schemas.openxmlformats.org/officeDocument/2006/relationships/image" Target="../media/image9.png"/><Relationship Id="rId7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10.png"/><Relationship Id="rId8" Type="http://schemas.openxmlformats.org/officeDocument/2006/relationships/image" Target="../media/image30.png"/><Relationship Id="rId9" Type="http://schemas.openxmlformats.org/officeDocument/2006/relationships/image" Target="../media/image9.png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31.png"/><Relationship Id="rId4" Type="http://schemas.openxmlformats.org/officeDocument/2006/relationships/image" Target="../media/image15.png"/><Relationship Id="rId5" Type="http://schemas.openxmlformats.org/officeDocument/2006/relationships/slide" Target="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5.png"/><Relationship Id="rId4" Type="http://schemas.openxmlformats.org/officeDocument/2006/relationships/slide" Target="slide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94560"/>
            <a:ext cx="2468880" cy="25054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4892040"/>
            <a:ext cx="2743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O‘ZBEKISTON RESPUBLIKASI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HARBIY XAVFSIZLIK VA MUDOFAA UNIVERSITETI</a:t>
            </a:r>
          </a:p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050" b="0" i="1">
                <a:solidFill>
                  <a:srgbClr val="FFFFFF"/>
                </a:solidFill>
                <a:latin typeface="Times New Roman"/>
              </a:rPr>
              <a:t>Axborot-kommunikatsiya texnologiyalari va harbiy aloqa instituti · Kiberxavfsizlik kafedrasi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14173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8FD9C4"/>
                </a:solidFill>
                <a:latin typeface="Times New Roman"/>
              </a:rPr>
              <a:t>FAN: “KIBER KRIMINALISTIKA VA ETIKAL HAKING”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0440" y="1965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Times New Roman"/>
              </a:rPr>
              <a:t>1-MAVZU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2514600"/>
            <a:ext cx="8321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WINDOWS OT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200" b="1" i="0">
                <a:solidFill>
                  <a:srgbClr val="FFFFFF"/>
                </a:solidFill>
                <a:latin typeface="Times New Roman"/>
              </a:rPr>
              <a:t>XAVFSIZLIGI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4343400"/>
            <a:ext cx="1280160" cy="508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457200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0" i="0">
                <a:solidFill>
                  <a:srgbClr val="D6E2EE"/>
                </a:solidFill>
                <a:latin typeface="Times New Roman"/>
              </a:rPr>
              <a:t>4-mashg‘ulot · Windows OT servislari  |  Amaliy, 4 soat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5989320"/>
            <a:ext cx="8046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B9CDE0"/>
                </a:solidFill>
                <a:latin typeface="Times New Roman"/>
              </a:rPr>
              <a:t>Ma’ruzachi: Kiberxavfsizlik kafedrasi katta o‘qituvchisi — kapitan M. Isakov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1-MAVZU · WINDOWS OT XAVFSIZLIGI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4-mashg‘ulot: Windows OT servislari (amaliy)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pu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" y="2143353"/>
            <a:ext cx="321870" cy="3218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4208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Mavzu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Windows OT xavfsizligi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53128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erminal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953" y="2143353"/>
            <a:ext cx="321870" cy="3218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21808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Mashg‘ulot turi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Amaliy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2127" y="1691640"/>
            <a:ext cx="3566160" cy="1234440"/>
          </a:xfrm>
          <a:prstGeom prst="roundRect">
            <a:avLst>
              <a:gd name="adj" fmla="val 8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10727" y="1938528"/>
            <a:ext cx="731520" cy="73152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552" y="2143353"/>
            <a:ext cx="321870" cy="32187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79407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54647A"/>
                </a:solidFill>
                <a:latin typeface="Times New Roman"/>
              </a:rPr>
              <a:t>Davomiyligi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F3864"/>
                </a:solidFill>
                <a:latin typeface="Times New Roman"/>
              </a:rPr>
              <a:t>4 soat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154680"/>
            <a:ext cx="6949440" cy="3063240"/>
          </a:xfrm>
          <a:prstGeom prst="roundRect">
            <a:avLst>
              <a:gd name="adj" fmla="val 4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364992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Times New Roman"/>
              </a:rPr>
              <a:t>O‘quv savollari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402336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023360"/>
            <a:ext cx="5760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Xavfsizlik sozlamalarini sozlash (Local Security Policy)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892040"/>
            <a:ext cx="57607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Times New Roman"/>
              </a:rPr>
              <a:t>Foydalanuvchilar xavfsizligini sozlash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3154680"/>
            <a:ext cx="3904487" cy="306324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955279" y="3364992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ist-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018" y="3523731"/>
            <a:ext cx="249450" cy="249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41080" y="3383280"/>
            <a:ext cx="2926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Boshlashdan oldin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4069080"/>
            <a:ext cx="35661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Windows 11 Pro / Enterprise</a:t>
            </a:r>
            <a:r>
              <a:rPr sz="1250">
                <a:solidFill>
                  <a:srgbClr val="202A38"/>
                </a:solidFill>
                <a:latin typeface="Times New Roman"/>
              </a:rPr>
              <a:t> VM — Home nashrida secpol.msc yo‘q.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4-mashg‘ulot snapshotini</a:t>
            </a:r>
            <a:r>
              <a:rPr sz="1250">
                <a:solidFill>
                  <a:srgbClr val="202A38"/>
                </a:solidFill>
                <a:latin typeface="Times New Roman"/>
              </a:rPr>
              <a:t> tiklang yoki yangisini oling.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Administrator hisob qaydnomasi bilan tizimga kiring.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50">
                <a:solidFill>
                  <a:srgbClr val="202A38"/>
                </a:solidFill>
                <a:latin typeface="Times New Roman"/>
              </a:rPr>
              <a:t>Daftar tuting: o‘zgartirgan har bir qiymatni yozib boring.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AMALIY MASHG‘ULOT · TASHKIL ETISH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4 soatlik laboratoriya rejasi va ishlatiladigan vositalar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868680" cy="576072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1691640"/>
            <a:ext cx="452628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691640"/>
            <a:ext cx="35661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Parol siyosati + hisobni bloklash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691640"/>
            <a:ext cx="8686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50 daq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377440"/>
            <a:ext cx="868680" cy="576072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2377440"/>
            <a:ext cx="452628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2377440"/>
            <a:ext cx="35661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Audit siyosati + Security jurnali (brute-force namoyishi)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377440"/>
            <a:ext cx="8686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50 daq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63240"/>
            <a:ext cx="868680" cy="576072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1.3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3063240"/>
            <a:ext cx="452628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45920" y="3063240"/>
            <a:ext cx="35661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Security Options: oxirgi foydalanuvchi nomini yashirish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063240"/>
            <a:ext cx="8686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78A73"/>
                </a:solidFill>
                <a:latin typeface="Times New Roman"/>
              </a:rPr>
              <a:t>30 daq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749039"/>
            <a:ext cx="868680" cy="57607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2.1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08760" y="3749039"/>
            <a:ext cx="452628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45920" y="3749039"/>
            <a:ext cx="35661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Cheklangan foydalanuvchi yaratish (GUI va CLI)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3749039"/>
            <a:ext cx="8686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40 daq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434840"/>
            <a:ext cx="868680" cy="57607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2.2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4434840"/>
            <a:ext cx="452628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4434840"/>
            <a:ext cx="35661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Huquqlarni sinash, SIDlarni tekshirish, tozalash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434840"/>
            <a:ext cx="8686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30 daq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120640"/>
            <a:ext cx="868680" cy="57607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Lab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8760" y="5120640"/>
            <a:ext cx="4526280" cy="5760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120640"/>
            <a:ext cx="35661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Yakuniy mustahkamlash (hardening) ro‘yxati + hisobot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120640"/>
            <a:ext cx="8686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C0392B"/>
                </a:solidFill>
                <a:latin typeface="Times New Roman"/>
              </a:rPr>
              <a:t>40 daq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Bugungi vositalar: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2103120"/>
            <a:ext cx="5321808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46520" y="2194560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5018" y="2343058"/>
            <a:ext cx="233356" cy="23335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132320" y="2103120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Consolas"/>
              </a:rPr>
              <a:t>secpol.msc</a:t>
            </a:r>
            <a:r>
              <a:rPr sz="1300">
                <a:solidFill>
                  <a:srgbClr val="54647A"/>
                </a:solidFill>
                <a:latin typeface="Times New Roman"/>
              </a:rPr>
              <a:t>  —  Local Security Policy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2926079"/>
            <a:ext cx="5321808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446520" y="3017519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user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018" y="3166017"/>
            <a:ext cx="233356" cy="23335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7132320" y="2926079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Consolas"/>
              </a:rPr>
              <a:t>lusrmgr.msc</a:t>
            </a:r>
            <a:r>
              <a:rPr sz="1300">
                <a:solidFill>
                  <a:srgbClr val="54647A"/>
                </a:solidFill>
                <a:latin typeface="Times New Roman"/>
              </a:rPr>
              <a:t>  —  Local Users and Groups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60" y="3749039"/>
            <a:ext cx="5321808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46520" y="3840479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oo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018" y="3988977"/>
            <a:ext cx="233356" cy="23335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132320" y="3749039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300">
                <a:solidFill>
                  <a:srgbClr val="54647A"/>
                </a:solidFill>
                <a:latin typeface="Times New Roman"/>
              </a:rPr>
              <a:t>  —  Event Viewer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572000"/>
            <a:ext cx="5321808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46520" y="4663440"/>
            <a:ext cx="530352" cy="530352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terminal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5018" y="4811938"/>
            <a:ext cx="233356" cy="23335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132320" y="4572000"/>
            <a:ext cx="4389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78A73"/>
                </a:solidFill>
                <a:latin typeface="Consolas"/>
              </a:rPr>
              <a:t>net user · net accounts</a:t>
            </a:r>
            <a:r>
              <a:rPr sz="1300">
                <a:solidFill>
                  <a:srgbClr val="54647A"/>
                </a:solidFill>
                <a:latin typeface="Times New Roman"/>
              </a:rPr>
              <a:t>  —  buyruq qatori (Admin)</a:t>
            </a:r>
          </a:p>
        </p:txBody>
      </p:sp>
      <p:sp>
        <p:nvSpPr>
          <p:cNvPr id="49" name="Rounded Rectangle 48">
            <a:hlinkClick action="ppaction://hlinksldjump" r:id="rId7"/>
          </p:cNvPr>
          <p:cNvSpPr/>
          <p:nvPr/>
        </p:nvSpPr>
        <p:spPr>
          <a:xfrm>
            <a:off x="566928" y="5806440"/>
            <a:ext cx="2199132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Local Security Policy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1-SAVOL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Xavfsizlik sozlamalarini sozlash (Local Security Policy)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HAMMASI QAYERDA JOYLASHGAN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secpol.msc — bugungi sozlamalar xaritasi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13931"/>
            <a:ext cx="6400800" cy="28814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cpol_pw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713931"/>
            <a:ext cx="6400800" cy="28814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650293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1-rasm. secpol.msc → Account Policies → Password Policy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691640"/>
            <a:ext cx="4407408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60" y="1691640"/>
            <a:ext cx="109728" cy="6858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691640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Account Policies → Password Policy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uzunlik, murakkablik, amal qilish muddati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98480" y="1847088"/>
            <a:ext cx="841248" cy="384048"/>
          </a:xfrm>
          <a:prstGeom prst="roundRect">
            <a:avLst>
              <a:gd name="adj" fmla="val 3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1.1-topshiriq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2468880"/>
            <a:ext cx="4407408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23760" y="2468880"/>
            <a:ext cx="109728" cy="685800"/>
          </a:xfrm>
          <a:prstGeom prst="rect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468880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Account Policies → Account Lockout Policy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parolni taxmin qilishdan himoya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98480" y="2624328"/>
            <a:ext cx="841248" cy="384048"/>
          </a:xfrm>
          <a:prstGeom prst="roundRect">
            <a:avLst>
              <a:gd name="adj" fmla="val 3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1.1-topshiriq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3246120"/>
            <a:ext cx="4407408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23760" y="3246120"/>
            <a:ext cx="109728" cy="685800"/>
          </a:xfrm>
          <a:prstGeom prst="rect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246120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Local Policies → Audit Policy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Security jurnaliga nima yoziladi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98480" y="3401568"/>
            <a:ext cx="841248" cy="384048"/>
          </a:xfrm>
          <a:prstGeom prst="roundRect">
            <a:avLst>
              <a:gd name="adj" fmla="val 3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1.2-topshiriq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4023360"/>
            <a:ext cx="4407408" cy="685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223760" y="4023360"/>
            <a:ext cx="109728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52360" y="4023360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Local Policies → Security Options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>
                <a:solidFill>
                  <a:srgbClr val="54647A"/>
                </a:solidFill>
                <a:latin typeface="Times New Roman"/>
              </a:rPr>
              <a:t>kirish ekrani, hisob qaydnomalari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98480" y="4178808"/>
            <a:ext cx="841248" cy="384048"/>
          </a:xfrm>
          <a:prstGeom prst="roundRect">
            <a:avLst>
              <a:gd name="adj" fmla="val 3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Times New Roman"/>
              </a:rPr>
              <a:t>1.3-topshiriq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212080"/>
            <a:ext cx="11064240" cy="96012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9808" y="5376672"/>
            <a:ext cx="621792" cy="621792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09" y="5550773"/>
            <a:ext cx="273590" cy="27359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554480" y="5230368"/>
            <a:ext cx="9966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Domen kompyuterida </a:t>
            </a:r>
            <a:r>
              <a:rPr sz="1250">
                <a:solidFill>
                  <a:srgbClr val="202A38"/>
                </a:solidFill>
                <a:latin typeface="Times New Roman"/>
              </a:rPr>
              <a:t>bu lokal qiymatlarni domen GPOsi qayta yozib yuborishi mumkin (LSDOU — oxirgisi ustun). </a:t>
            </a:r>
            <a:r>
              <a:rPr sz="1250">
                <a:solidFill>
                  <a:srgbClr val="202A38"/>
                </a:solidFill>
                <a:latin typeface="Times New Roman"/>
              </a:rPr>
              <a:t>Haqiqatda nima qo‘llanganini tekshirish: </a:t>
            </a:r>
            <a:r>
              <a:rPr sz="1250" b="1">
                <a:solidFill>
                  <a:srgbClr val="178A73"/>
                </a:solidFill>
                <a:latin typeface="Consolas"/>
              </a:rPr>
              <a:t>gpresult /r</a:t>
            </a:r>
            <a:r>
              <a:rPr sz="1250">
                <a:solidFill>
                  <a:srgbClr val="202A38"/>
                </a:solidFill>
                <a:latin typeface="Times New Roman"/>
              </a:rPr>
              <a:t>. Bizning laboratoriya VM mustaqil, shuning uchun o‘zgarishlar darhol qo‘llanadi.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1.1-topshiriq — kuchli parol siyosatini o‘rnatish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35507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5577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78A73"/>
                </a:solidFill>
                <a:latin typeface="Consolas"/>
              </a:rPr>
              <a:t>secpol.msc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Account Policies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Password Policy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635507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0320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14016"/>
            <a:ext cx="5577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Minimum password length</a:t>
            </a:r>
            <a:r>
              <a:rPr sz="1250">
                <a:solidFill>
                  <a:srgbClr val="202A38"/>
                </a:solidFill>
                <a:latin typeface="Times New Roman"/>
              </a:rPr>
              <a:t> ustiga ikki marta bosing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10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kiriting → OK.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635507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2841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182112"/>
            <a:ext cx="5577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Password must meet complexity requirements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Enabled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635507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50208"/>
            <a:ext cx="5577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Maximum password age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90</a:t>
            </a:r>
            <a:r>
              <a:rPr sz="1250">
                <a:solidFill>
                  <a:srgbClr val="202A38"/>
                </a:solidFill>
                <a:latin typeface="Times New Roman"/>
              </a:rPr>
              <a:t> kun;  </a:t>
            </a:r>
            <a:r>
              <a:rPr sz="1250" b="1">
                <a:solidFill>
                  <a:srgbClr val="178A73"/>
                </a:solidFill>
                <a:latin typeface="Consolas"/>
              </a:rPr>
              <a:t>Enforce password history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5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635507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64608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18304"/>
            <a:ext cx="55778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Hisobot uchun Password Policy ro‘yxatining skrinshotini oling.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7" y="2456021"/>
            <a:ext cx="4480560" cy="1900237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inpw_pr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7" y="2456021"/>
            <a:ext cx="4480560" cy="19002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50607" y="441112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2-rasm. “Minimum password length” xususiyatlari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32120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32120"/>
            <a:ext cx="6172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ro‘yxatda 10 belgi, Enabled, 90 kun, 5 ta eslab qolingan parol ko‘rinadi.</a:t>
            </a:r>
          </a:p>
        </p:txBody>
      </p:sp>
      <p:sp>
        <p:nvSpPr>
          <p:cNvPr id="29" name="Rounded Rectangle 28">
            <a:hlinkClick action="ppaction://hlinksldjump" r:id="rId5"/>
          </p:cNvPr>
          <p:cNvSpPr/>
          <p:nvPr/>
        </p:nvSpPr>
        <p:spPr>
          <a:xfrm>
            <a:off x="7726679" y="5577840"/>
            <a:ext cx="2043684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Password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1.1-topshiriq — hisobni bloklashni sozlash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Account Policies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Account Lockout Policy</a:t>
            </a:r>
            <a:r>
              <a:rPr sz="1250">
                <a:solidFill>
                  <a:srgbClr val="202A38"/>
                </a:solidFill>
                <a:latin typeface="Times New Roman"/>
              </a:rPr>
              <a:t> bo‘limiga o‘ting.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0320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14016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Account lockout threshold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5</a:t>
            </a:r>
            <a:r>
              <a:rPr sz="1250">
                <a:solidFill>
                  <a:srgbClr val="202A38"/>
                </a:solidFill>
                <a:latin typeface="Times New Roman"/>
              </a:rPr>
              <a:t> ta noto‘g‘ri kirish urinishi.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2841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182112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Windows qolgan ikki qiymatni o‘zi taklif qiladi — qabul qiling: davomiylik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15 daq</a:t>
            </a:r>
            <a:r>
              <a:rPr sz="1250">
                <a:solidFill>
                  <a:srgbClr val="202A38"/>
                </a:solidFill>
                <a:latin typeface="Times New Roman"/>
              </a:rPr>
              <a:t>, hisoblagichni qayta tiklash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15 daq</a:t>
            </a:r>
            <a:r>
              <a:rPr sz="1250">
                <a:solidFill>
                  <a:srgbClr val="202A38"/>
                </a:solidFill>
                <a:latin typeface="Times New Roman"/>
              </a:rPr>
              <a:t> dan keyin.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50208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Terminaldan tekshiring: </a:t>
            </a:r>
            <a:r>
              <a:rPr sz="1250" b="1">
                <a:solidFill>
                  <a:srgbClr val="178A73"/>
                </a:solidFill>
                <a:latin typeface="Consolas"/>
              </a:rPr>
              <a:t>net accounts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“Lockout threshold: 5”.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64608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18304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Eslatma: chegara faqat ketma-ket muvaffaqiyatsiz urinishlarni sanaydi.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0448" y="2250408"/>
            <a:ext cx="5760720" cy="231146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ecpol_lock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250408"/>
            <a:ext cx="5760720" cy="231146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70448" y="4616735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3-rasm. O‘zgartirishdan keyingi Account Lockout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32120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32120"/>
            <a:ext cx="6172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5 marta noto‘g‘ri parol kiritilgach, hisob 15 daqiqaga bloklanadi.</a:t>
            </a:r>
          </a:p>
        </p:txBody>
      </p:sp>
      <p:sp>
        <p:nvSpPr>
          <p:cNvPr id="29" name="Rounded Rectangle 28">
            <a:hlinkClick action="ppaction://hlinksldjump" r:id="rId5"/>
          </p:cNvPr>
          <p:cNvSpPr/>
          <p:nvPr/>
        </p:nvSpPr>
        <p:spPr>
          <a:xfrm>
            <a:off x="7726679" y="5577840"/>
            <a:ext cx="1732788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Account lockout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AHAMIYATI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Uzunlik va bloklash nega muhim — raqamlarda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4592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Brute-force hujumiga qancha vaqt kerak (oflayn, tezkor GPU):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4884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6 belgi, kichik harflar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240280"/>
            <a:ext cx="160934" cy="384048"/>
          </a:xfrm>
          <a:prstGeom prst="roundRect">
            <a:avLst>
              <a:gd name="adj" fmla="val 2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9894" y="214884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Times New Roman"/>
              </a:rPr>
              <a:t>soniyalar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2608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8 belgi, katta-kichik harf + raqam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3017520"/>
            <a:ext cx="603504" cy="384048"/>
          </a:xfrm>
          <a:prstGeom prst="roundRect">
            <a:avLst>
              <a:gd name="adj" fmla="val 2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292608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E08E1D"/>
                </a:solidFill>
                <a:latin typeface="Times New Roman"/>
              </a:rPr>
              <a:t>soatlar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0332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10 belgi, murakkab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794760"/>
            <a:ext cx="1247241" cy="384048"/>
          </a:xfrm>
          <a:prstGeom prst="roundRect">
            <a:avLst>
              <a:gd name="adj" fmla="val 2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6201" y="370332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178A73"/>
                </a:solidFill>
                <a:latin typeface="Times New Roman"/>
              </a:rPr>
              <a:t>yillar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80560"/>
            <a:ext cx="2377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12+ belgi, murakkab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457200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448056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150" b="1" i="0">
                <a:solidFill>
                  <a:srgbClr val="43B02A"/>
                </a:solidFill>
                <a:latin typeface="Times New Roman"/>
              </a:rPr>
              <a:t>amalda hech qachon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303520"/>
            <a:ext cx="5852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Taxminiy tartibni ko‘rsatuvchi misol; haqiqiy vaqt hash turi va uskunaga bog‘liq.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645920"/>
            <a:ext cx="4956048" cy="210312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858000" y="1828800"/>
            <a:ext cx="640080" cy="64008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222" y="2008022"/>
            <a:ext cx="281636" cy="2816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35240" y="1847088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178A73"/>
                </a:solidFill>
                <a:latin typeface="Times New Roman"/>
              </a:rPr>
              <a:t>Onlayn taxmin qilish + bloklash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56032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Chegara 5 bo‘lsa, hujumchi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har 15 daqiqada 5 ta urinish</a:t>
            </a:r>
            <a:r>
              <a:rPr sz="1250">
                <a:solidFill>
                  <a:srgbClr val="202A38"/>
                </a:solidFill>
                <a:latin typeface="Times New Roman"/>
              </a:rPr>
              <a:t> oladi ≈ kuniga 480 ta. Hatto zaif ko‘ringan 8 belgili parolni ham taxmin qilish befoyda bo‘lib qoladi.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3931920"/>
            <a:ext cx="4956048" cy="219456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0" y="4114800"/>
            <a:ext cx="640080" cy="640080"/>
          </a:xfrm>
          <a:prstGeom prst="ellipse">
            <a:avLst/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warnin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7222" y="4294022"/>
            <a:ext cx="281636" cy="28163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35240" y="4133087"/>
            <a:ext cx="38404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E08E1D"/>
                </a:solidFill>
                <a:latin typeface="Times New Roman"/>
              </a:rPr>
              <a:t>E’tibor bering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48463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Juda past chegara (1–2) haqiqiy foydalanuvchilarni bloklaydi → texnik yordam xizmati haddan tashqari yuklanadi (DoS xavfi).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E08E1D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Uzunlik majburiy tez-tez almashtirishdan samaraliroq — aks holda foydalanuvchilar parollarni yozib qo‘yadi.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1.2-topshiriq — kirish hodisalari auditini yoqish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Local Policies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Audit Policy</a:t>
            </a:r>
            <a:r>
              <a:rPr sz="1250">
                <a:solidFill>
                  <a:srgbClr val="202A38"/>
                </a:solidFill>
                <a:latin typeface="Times New Roman"/>
              </a:rPr>
              <a:t> bo‘limiga o‘ting.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0320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14016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Audit logon events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Success</a:t>
            </a:r>
            <a:r>
              <a:rPr sz="125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Failure</a:t>
            </a:r>
            <a:r>
              <a:rPr sz="1250">
                <a:solidFill>
                  <a:srgbClr val="202A38"/>
                </a:solidFill>
                <a:latin typeface="Times New Roman"/>
              </a:rPr>
              <a:t> ga belgi qo‘ying.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2841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182112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Audit account logon events</a:t>
            </a:r>
            <a:r>
              <a:rPr sz="125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50" b="1">
                <a:solidFill>
                  <a:srgbClr val="178A73"/>
                </a:solidFill>
                <a:latin typeface="Consolas"/>
              </a:rPr>
              <a:t>Audit account management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Success, Failure.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50208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Terminal (Admin): </a:t>
            </a:r>
            <a:r>
              <a:rPr sz="1250" b="1">
                <a:solidFill>
                  <a:srgbClr val="178A73"/>
                </a:solidFill>
                <a:latin typeface="Consolas"/>
              </a:rPr>
              <a:t>gpupdate /force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507492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64608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18304"/>
            <a:ext cx="42976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Tekshirish: </a:t>
            </a:r>
            <a:r>
              <a:rPr sz="1250" b="1">
                <a:solidFill>
                  <a:srgbClr val="178A73"/>
                </a:solidFill>
                <a:latin typeface="Consolas"/>
              </a:rPr>
              <a:t>auditpol /get /category:"Logon/Logoff"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70448" y="2122278"/>
            <a:ext cx="5760720" cy="2567723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ecpol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122278"/>
            <a:ext cx="5760720" cy="256772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870448" y="4744865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4-rasm. secpol.msc → Local Policies → Audit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32120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32120"/>
            <a:ext cx="6172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endi muvaffaqiyatli va muvaffaqiyatsiz kirishlar Security jurnaliga yoziladi.</a:t>
            </a:r>
          </a:p>
        </p:txBody>
      </p:sp>
      <p:sp>
        <p:nvSpPr>
          <p:cNvPr id="29" name="Rounded Rectangle 28">
            <a:hlinkClick action="ppaction://hlinksldjump" r:id="rId5"/>
          </p:cNvPr>
          <p:cNvSpPr/>
          <p:nvPr/>
        </p:nvSpPr>
        <p:spPr>
          <a:xfrm>
            <a:off x="7726679" y="5577840"/>
            <a:ext cx="1499616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Audit policy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1.2-topshiriq — parolni taxmin qilishni imitatsiya qilish va dalillarni topish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Ekranni bloklang (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Win + L</a:t>
            </a:r>
            <a:r>
              <a:rPr sz="1250">
                <a:solidFill>
                  <a:srgbClr val="202A38"/>
                </a:solidFill>
                <a:latin typeface="Times New Roman"/>
              </a:rPr>
              <a:t>) va sinov hisobi uchun noto‘g‘ri parolni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6 marta</a:t>
            </a:r>
            <a:r>
              <a:rPr sz="1250">
                <a:solidFill>
                  <a:srgbClr val="202A38"/>
                </a:solidFill>
                <a:latin typeface="Times New Roman"/>
              </a:rPr>
              <a:t> kiriting.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0320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14016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Administrator sifatida kiring, </a:t>
            </a:r>
            <a:r>
              <a:rPr sz="1250" b="1">
                <a:solidFill>
                  <a:srgbClr val="178A73"/>
                </a:solidFill>
                <a:latin typeface="Consolas"/>
              </a:rPr>
              <a:t>eventvwr.msc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Windows Logs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Security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oching.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2841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182112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Security ustida o‘ng tugma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Filter Current Log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Event IDs </a:t>
            </a:r>
            <a:r>
              <a:rPr sz="1250" b="1">
                <a:solidFill>
                  <a:srgbClr val="178A73"/>
                </a:solidFill>
                <a:latin typeface="Consolas"/>
              </a:rPr>
              <a:t>4625,4740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50208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4625 hodisasini oching: Account Name, Failure Reason, vaqt va Logon Type ni yozib oling.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64608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18304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Hisobni blokdan chiqaring: </a:t>
            </a:r>
            <a:r>
              <a:rPr sz="1250" b="1">
                <a:solidFill>
                  <a:srgbClr val="178A73"/>
                </a:solidFill>
                <a:latin typeface="Consolas"/>
              </a:rPr>
              <a:t>net user Student /active:yes</a:t>
            </a:r>
            <a:r>
              <a:rPr sz="1250">
                <a:solidFill>
                  <a:srgbClr val="202A38"/>
                </a:solidFill>
                <a:latin typeface="Times New Roman"/>
              </a:rPr>
              <a:t> yoki 15 daqiqa kuting.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2076489"/>
            <a:ext cx="5669280" cy="26593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eventvwr_secu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076489"/>
            <a:ext cx="5669280" cy="26593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61888" y="4790654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5-rasm. Event Viewer → Security jurnali — kirish hodisalari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32120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32120"/>
            <a:ext cx="6172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beshta 4625 va bitta 4740 (hisob bloklandi) hodisasi — klassik brute-force manzarasi.</a:t>
            </a:r>
          </a:p>
        </p:txBody>
      </p:sp>
      <p:sp>
        <p:nvSpPr>
          <p:cNvPr id="29" name="Rounded Rectangle 28">
            <a:hlinkClick action="ppaction://hlinksldjump" r:id="rId5"/>
          </p:cNvPr>
          <p:cNvSpPr/>
          <p:nvPr/>
        </p:nvSpPr>
        <p:spPr>
          <a:xfrm>
            <a:off x="7726679" y="55778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Event 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Dalillarni kriminalist kabi o‘qish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59845" y="1645920"/>
            <a:ext cx="887840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845" y="1645920"/>
            <a:ext cx="8878406" cy="1783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48386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6-rasm. Parolni taxmin qilish hujumi Security jurnalida qanday ko‘rinadi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F3864"/>
                </a:solidFill>
                <a:latin typeface="Times New Roman"/>
              </a:rPr>
              <a:t>Har bir himoyachi bilishi kerak bo‘lgan Event IDlar: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343400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4624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4480" y="4343400"/>
            <a:ext cx="260604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82496" y="434340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Muvaffaqiyatli kirish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70248" y="4343400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4625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4343400"/>
            <a:ext cx="260604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434340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Muvaffaqiyatsiz kirish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7" y="4343400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4740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19" y="4343400"/>
            <a:ext cx="260604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9135" y="434340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Hisob bloklandi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66360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4720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5166360"/>
            <a:ext cx="260604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82496" y="516636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Foydalanuvchi hisobi yaratildi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0248" y="5166360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4732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57800" y="5166360"/>
            <a:ext cx="260604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85816" y="516636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Lokal guruhga a’zo qo‘shildi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3567" y="5166360"/>
            <a:ext cx="914400" cy="658368"/>
          </a:xfrm>
          <a:prstGeom prst="roundRect">
            <a:avLst>
              <a:gd name="adj" fmla="val 10000"/>
            </a:avLst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4672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19" y="5166360"/>
            <a:ext cx="2606040" cy="6583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5" y="5166360"/>
            <a:ext cx="24231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Maxsus (admin) imtiyozlar berildi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1-SAVOL · AMALIY TOPSHIRIQ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1.3-topshiriq — kirish ekranida oxirgi foydalanuvchi nomini yashirish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7150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679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4937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Local Policies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Security Options</a:t>
            </a:r>
            <a:r>
              <a:rPr sz="1250">
                <a:solidFill>
                  <a:srgbClr val="202A38"/>
                </a:solidFill>
                <a:latin typeface="Times New Roman"/>
              </a:rPr>
              <a:t> bo‘limiga o‘ting.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23160"/>
            <a:ext cx="57150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7403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23160"/>
            <a:ext cx="4937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Interactive logon: Don’t display last signed-in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toping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Enabled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00400"/>
            <a:ext cx="57150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5127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200400"/>
            <a:ext cx="4937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Shuningdek tekshiring: </a:t>
            </a:r>
            <a:r>
              <a:rPr sz="1250" b="1">
                <a:solidFill>
                  <a:srgbClr val="178A73"/>
                </a:solidFill>
                <a:latin typeface="Consolas"/>
              </a:rPr>
              <a:t>Accounts: Guest account status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Disabled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39"/>
            <a:ext cx="57150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128515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77639"/>
            <a:ext cx="4937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Ixtiyoriy: </a:t>
            </a:r>
            <a:r>
              <a:rPr sz="1250" b="1">
                <a:solidFill>
                  <a:srgbClr val="178A73"/>
                </a:solidFill>
                <a:latin typeface="Consolas"/>
              </a:rPr>
              <a:t>Accounts: Rename administrator account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oson taxmin qilinmaydigan nom.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54880"/>
            <a:ext cx="57150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90575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54880"/>
            <a:ext cx="49377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Win + L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bosing va kirish ekraniga qarang.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10528" y="2115152"/>
            <a:ext cx="5120640" cy="26276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115152"/>
            <a:ext cx="5120640" cy="262769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10528" y="479771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7-rasm. Natija: kirish ekranida foydalanuvchi nomi ko‘rsatilmaydi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endi hujumchi foydalanuvchi nomini HAM, parolni HAM taxmin qilishi kerak.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697480"/>
            <a:ext cx="9144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1" i="0">
                <a:solidFill>
                  <a:srgbClr val="8FD9C4"/>
                </a:solidFill>
                <a:latin typeface="Times New Roman"/>
              </a:rPr>
              <a:t>2-SAVOL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1089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Times New Roman"/>
              </a:rPr>
              <a:t>Foydalanuvchilar xavfsizligini sozlash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4160520"/>
            <a:ext cx="1188720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QISQA TAKRORLASH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Foydalanuvchilar, guruhlar va SIDlar — nimani boshqaramiz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9785" y="1645920"/>
            <a:ext cx="5572125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85" y="1645920"/>
            <a:ext cx="5572125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5266944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8-rasm. Windows lokal foydalanuvchilari va guruhlari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6916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Administrators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691640"/>
            <a:ext cx="3310128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69164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to‘liq nazorat — faqat admin vazifalari uchun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56032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Users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2560320"/>
            <a:ext cx="3310128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256032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standart huquqlar — kundalik ish uchun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42900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Guests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429000"/>
            <a:ext cx="3310128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3429000"/>
            <a:ext cx="31089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202A38"/>
                </a:solidFill>
                <a:latin typeface="Times New Roman"/>
              </a:rPr>
              <a:t>juda cheklangan — o‘chirilgan holda saqlang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389120"/>
            <a:ext cx="5230368" cy="173736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4434840"/>
            <a:ext cx="489204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Kun qoidasi: </a:t>
            </a:r>
            <a:r>
              <a:rPr sz="1250">
                <a:solidFill>
                  <a:srgbClr val="202A38"/>
                </a:solidFill>
                <a:latin typeface="Times New Roman"/>
              </a:rPr>
              <a:t>huquqlarni odamlarga emas,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guruhlarga</a:t>
            </a:r>
            <a:r>
              <a:rPr sz="1250">
                <a:solidFill>
                  <a:srgbClr val="202A38"/>
                </a:solidFill>
                <a:latin typeface="Times New Roman"/>
              </a:rPr>
              <a:t> bering (rolga asoslangan kirish nazorati). </a:t>
            </a:r>
            <a:r>
              <a:rPr sz="1250">
                <a:solidFill>
                  <a:srgbClr val="202A38"/>
                </a:solidFill>
                <a:latin typeface="Times New Roman"/>
              </a:rPr>
              <a:t>Kundalik ish —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Users</a:t>
            </a:r>
            <a:r>
              <a:rPr sz="1250">
                <a:solidFill>
                  <a:srgbClr val="202A38"/>
                </a:solidFill>
                <a:latin typeface="Times New Roman"/>
              </a:rPr>
              <a:t> hisobida; admin hisobi — faqat zarur bo‘lganda.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566928" y="5577840"/>
            <a:ext cx="800100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SID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1522476" y="5577840"/>
            <a:ext cx="877824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RBAC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2.1-topshiriq — cheklangan foydalanuvchi yaratish (GUI)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6294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679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58521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Win + R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</a:t>
            </a:r>
            <a:r>
              <a:rPr sz="1250" b="1">
                <a:solidFill>
                  <a:srgbClr val="178A73"/>
                </a:solidFill>
                <a:latin typeface="Consolas"/>
              </a:rPr>
              <a:t>lusrmgr.msc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23160"/>
            <a:ext cx="66294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7403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23160"/>
            <a:ext cx="58521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Users</a:t>
            </a:r>
            <a:r>
              <a:rPr sz="1250">
                <a:solidFill>
                  <a:srgbClr val="202A38"/>
                </a:solidFill>
                <a:latin typeface="Times New Roman"/>
              </a:rPr>
              <a:t> ustida o‘ng tugma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New User…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200400"/>
            <a:ext cx="66294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5127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200400"/>
            <a:ext cx="58521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User name: </a:t>
            </a:r>
            <a:r>
              <a:rPr sz="1250" b="1">
                <a:solidFill>
                  <a:srgbClr val="178A73"/>
                </a:solidFill>
                <a:latin typeface="Consolas"/>
              </a:rPr>
              <a:t>Student</a:t>
            </a:r>
            <a:r>
              <a:rPr sz="1250">
                <a:solidFill>
                  <a:srgbClr val="202A38"/>
                </a:solidFill>
                <a:latin typeface="Times New Roman"/>
              </a:rPr>
              <a:t>, yangi siyosatingizga mos parol (10+ belgi, murakkab).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77639"/>
            <a:ext cx="66294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128515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77639"/>
            <a:ext cx="58521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Laboratoriya uchun “User must change password…” belgisini olib tashlang;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Create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Close ni bosing.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54880"/>
            <a:ext cx="6629400" cy="7040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90575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54880"/>
            <a:ext cx="58521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Student ustiga ikki marta bosing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Member Of</a:t>
            </a:r>
            <a:r>
              <a:rPr sz="1250">
                <a:solidFill>
                  <a:srgbClr val="202A38"/>
                </a:solidFill>
                <a:latin typeface="Times New Roman"/>
              </a:rPr>
              <a:t>: faqat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Users</a:t>
            </a:r>
            <a:r>
              <a:rPr sz="1250">
                <a:solidFill>
                  <a:srgbClr val="202A38"/>
                </a:solidFill>
                <a:latin typeface="Times New Roman"/>
              </a:rPr>
              <a:t> ko‘rsatilgan bo‘lishi kerak.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8" y="2191349"/>
            <a:ext cx="4206240" cy="247530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newu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191349"/>
            <a:ext cx="4206240" cy="247530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24928" y="472151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9-rasm. lusrmgr.msc dagi “New User” oynasi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96128"/>
            <a:ext cx="110642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33288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96128"/>
            <a:ext cx="102412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Student mavjud va faqat Users guruhiga a’zo.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2.1-topshiriq — xuddi shu ish buyruq qatori orqali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6035040" cy="621792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57607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Consolas"/>
              </a:rPr>
              <a:t>net user Student2 Pass@2026Lab /add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1691640"/>
            <a:ext cx="274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691640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hisob qaydnomasini yaratadi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423160"/>
            <a:ext cx="6035040" cy="621792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57607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Consolas"/>
              </a:rPr>
              <a:t>net localgroup Users Student2 /add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423160"/>
            <a:ext cx="274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423160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uni Users guruhiga qo‘shadi (odatda avtomatik)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154680"/>
            <a:ext cx="6035040" cy="621792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154680"/>
            <a:ext cx="57607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Consolas"/>
              </a:rPr>
              <a:t>net localgroup Administrators Student2 /delete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154680"/>
            <a:ext cx="274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3154680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xato bilan berilgan admin huquqlarini olib tashlaydi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886200"/>
            <a:ext cx="6035040" cy="621792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57607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Consolas"/>
              </a:rPr>
              <a:t>net user Student2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886200"/>
            <a:ext cx="274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886200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guruhlar, oxirgi kirish, holatni ko‘rsatadi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617720"/>
            <a:ext cx="6035040" cy="621792"/>
          </a:xfrm>
          <a:prstGeom prst="roundRect">
            <a:avLst>
              <a:gd name="adj" fmla="val 8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57607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Consolas"/>
              </a:rPr>
              <a:t>Get-LocalUser | Select Name, Enabled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617720"/>
            <a:ext cx="27432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6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617720"/>
            <a:ext cx="45720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PowerShell: barcha lokal foydalanuvchilar ro‘yxati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440680"/>
            <a:ext cx="11064240" cy="73152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58968"/>
            <a:ext cx="10698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1F3864"/>
                </a:solidFill>
                <a:latin typeface="Times New Roman"/>
              </a:rPr>
              <a:t>Eslatma: </a:t>
            </a:r>
            <a:r>
              <a:rPr sz="1150">
                <a:solidFill>
                  <a:srgbClr val="202A38"/>
                </a:solidFill>
                <a:latin typeface="Times New Roman"/>
              </a:rPr>
              <a:t>buyruqda yozilgan parol tarixda qoladi. Real ishda </a:t>
            </a:r>
            <a:r>
              <a:rPr sz="1150" b="1">
                <a:solidFill>
                  <a:srgbClr val="178A73"/>
                </a:solidFill>
                <a:latin typeface="Consolas"/>
              </a:rPr>
              <a:t>net user Student2 * /add</a:t>
            </a:r>
            <a:r>
              <a:rPr sz="1150">
                <a:solidFill>
                  <a:srgbClr val="202A38"/>
                </a:solidFill>
                <a:latin typeface="Times New Roman"/>
              </a:rPr>
              <a:t> dan foydalaning — u parolni yashirin holda so‘raydi.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2.2-topshiriq — cheklangan hisobni sinash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66294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Tizimdan chiqing → </a:t>
            </a:r>
            <a:r>
              <a:rPr sz="1250" b="1">
                <a:solidFill>
                  <a:srgbClr val="178A73"/>
                </a:solidFill>
                <a:latin typeface="Consolas"/>
              </a:rPr>
              <a:t>Student</a:t>
            </a:r>
            <a:r>
              <a:rPr sz="1250">
                <a:solidFill>
                  <a:srgbClr val="202A38"/>
                </a:solidFill>
                <a:latin typeface="Times New Roman"/>
              </a:rPr>
              <a:t> sifatida kiring.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66294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0320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14016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secpol.msc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ochishga yoki dastur o‘rnatishga urinib ko‘ring →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Credential prompt</a:t>
            </a:r>
            <a:r>
              <a:rPr sz="1250">
                <a:solidFill>
                  <a:srgbClr val="202A38"/>
                </a:solidFill>
                <a:latin typeface="Times New Roman"/>
              </a:rPr>
              <a:t> paydo bo‘ladi.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66294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2841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182112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No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bosing — amal rad etiladi: bu amaliyotdagi eng kam imtiyoz (least privilege) tamoyili.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66294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50208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whoami /groups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bajaring → Mandatory Label =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Medium</a:t>
            </a:r>
            <a:r>
              <a:rPr sz="1250">
                <a:solidFill>
                  <a:srgbClr val="202A38"/>
                </a:solidFill>
                <a:latin typeface="Times New Roman"/>
              </a:rPr>
              <a:t>, Administrators guruhi yo‘q.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6629400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64608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18304"/>
            <a:ext cx="585216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Consolas"/>
              </a:rPr>
              <a:t>whoami /user</a:t>
            </a:r>
            <a:r>
              <a:rPr sz="1250">
                <a:solidFill>
                  <a:srgbClr val="202A38"/>
                </a:solidFill>
                <a:latin typeface="Times New Roman"/>
              </a:rPr>
              <a:t> ni bajaring → SIDni yozib oling (1000+ bilan tugaydi).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4928" y="2097598"/>
            <a:ext cx="4206240" cy="26170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uac_c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928" y="2097598"/>
            <a:ext cx="4206240" cy="26170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424928" y="476954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10-rasm. Standart foydalanuvchi uchun Credential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32120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32120"/>
            <a:ext cx="6172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Student ishlay oladi, lekin admin parolisiz tizimni o‘zgartira olmaydi.</a:t>
            </a:r>
          </a:p>
        </p:txBody>
      </p:sp>
      <p:sp>
        <p:nvSpPr>
          <p:cNvPr id="29" name="Rounded Rectangle 28">
            <a:hlinkClick action="ppaction://hlinksldjump" r:id="rId5"/>
          </p:cNvPr>
          <p:cNvSpPr/>
          <p:nvPr/>
        </p:nvSpPr>
        <p:spPr>
          <a:xfrm>
            <a:off x="7726679" y="5577840"/>
            <a:ext cx="800100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SID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SID — Windows hisobni aslida qanday taniydi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21725"/>
            <a:ext cx="6675120" cy="1774469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1725"/>
            <a:ext cx="6675120" cy="17744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4051058"/>
            <a:ext cx="6675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11-rasm. Xavfsizlik identifikatori (SID) tuzilishi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91640"/>
            <a:ext cx="4133087" cy="1920240"/>
          </a:xfrm>
          <a:prstGeom prst="roundRect">
            <a:avLst>
              <a:gd name="adj" fmla="val 3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59" y="1801368"/>
            <a:ext cx="3767327" cy="1700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FD9C4"/>
                </a:solidFill>
                <a:latin typeface="Consolas"/>
              </a:rPr>
              <a:t>PS&gt; </a:t>
            </a:r>
            <a:r>
              <a:rPr sz="1100" b="1">
                <a:solidFill>
                  <a:srgbClr val="8FD9C4"/>
                </a:solidFill>
                <a:latin typeface="Consolas"/>
              </a:rPr>
              <a:t>whoami /user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USER INFORMATION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7CE38B"/>
                </a:solidFill>
                <a:latin typeface="Consolas"/>
              </a:rPr>
              <a:t>student  S-1-5-21-…-1001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FD9C4"/>
                </a:solidFill>
                <a:latin typeface="Consolas"/>
              </a:rPr>
              <a:t>PS&gt; </a:t>
            </a:r>
            <a:r>
              <a:rPr sz="1100" b="1">
                <a:solidFill>
                  <a:srgbClr val="8FD9C4"/>
                </a:solidFill>
                <a:latin typeface="Consolas"/>
              </a:rPr>
              <a:t>Get-LocalUser | Select Name,SID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794760"/>
            <a:ext cx="4133087" cy="233172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3931920"/>
            <a:ext cx="384048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500</a:t>
            </a:r>
            <a:r>
              <a:rPr sz="1200">
                <a:solidFill>
                  <a:srgbClr val="202A38"/>
                </a:solidFill>
                <a:latin typeface="Times New Roman"/>
              </a:rPr>
              <a:t> = o‘rnatilgan Administrator — nomini o‘zgartirish buni o‘zgartirmaydi.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501</a:t>
            </a:r>
            <a:r>
              <a:rPr sz="1200">
                <a:solidFill>
                  <a:srgbClr val="202A38"/>
                </a:solidFill>
                <a:latin typeface="Times New Roman"/>
              </a:rPr>
              <a:t> = Guest.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 b="1">
                <a:solidFill>
                  <a:srgbClr val="1F3864"/>
                </a:solidFill>
                <a:latin typeface="Times New Roman"/>
              </a:rPr>
              <a:t>1000+</a:t>
            </a:r>
            <a:r>
              <a:rPr sz="1200">
                <a:solidFill>
                  <a:srgbClr val="202A38"/>
                </a:solidFill>
                <a:latin typeface="Times New Roman"/>
              </a:rPr>
              <a:t> = siz yaratgan hisoblar.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00" b="1">
                <a:solidFill>
                  <a:srgbClr val="178A73"/>
                </a:solidFill>
                <a:latin typeface="Times New Roman"/>
              </a:rPr>
              <a:t>▸  </a:t>
            </a:r>
            <a:r>
              <a:rPr sz="1200">
                <a:solidFill>
                  <a:srgbClr val="202A38"/>
                </a:solidFill>
                <a:latin typeface="Times New Roman"/>
              </a:rPr>
              <a:t>O‘chirilib, qayta yaratilgan “Student” YANGI SID oladi — eski ruxsatlar qaytmaydi.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983480"/>
            <a:ext cx="6675120" cy="1143000"/>
          </a:xfrm>
          <a:prstGeom prst="roundRect">
            <a:avLst>
              <a:gd name="adj" fmla="val 5000"/>
            </a:avLst>
          </a:prstGeom>
          <a:solidFill>
            <a:srgbClr val="FDF1DF"/>
          </a:solidFill>
          <a:ln w="12700">
            <a:solidFill>
              <a:srgbClr val="E08E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010912"/>
            <a:ext cx="64008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Kriminalistik maslahat: </a:t>
            </a:r>
            <a:r>
              <a:rPr sz="1250">
                <a:solidFill>
                  <a:srgbClr val="202A38"/>
                </a:solidFill>
                <a:latin typeface="Times New Roman"/>
              </a:rPr>
              <a:t>hodisalar jurnallarida hisoblar SID bo‘yicha ko‘rinadi. </a:t>
            </a:r>
            <a:r>
              <a:rPr sz="1250" b="1">
                <a:solidFill>
                  <a:srgbClr val="1F3864"/>
                </a:solidFill>
                <a:latin typeface="Times New Roman"/>
              </a:rPr>
              <a:t>-500</a:t>
            </a:r>
            <a:r>
              <a:rPr sz="1250">
                <a:solidFill>
                  <a:srgbClr val="202A38"/>
                </a:solidFill>
                <a:latin typeface="Times New Roman"/>
              </a:rPr>
              <a:t> bilan tugaydigan SID, hozir qanday nomlangan bo‘lishidan qat’i nazar, haqiqiy o‘rnatilgan adminni ko‘rsatadi.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2-SAVOL · AMALIY TOPSHIRIQ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2.2-topshiriq — tozalash (va jurnal nimani eslab qoladi)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45920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792224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645920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Yana administrator sifatida kiring.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0320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414016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Sinov hisoblarini o‘chiring: </a:t>
            </a:r>
            <a:r>
              <a:rPr sz="1250" b="1">
                <a:solidFill>
                  <a:srgbClr val="178A73"/>
                </a:solidFill>
                <a:latin typeface="Consolas"/>
              </a:rPr>
              <a:t>net user Student /delete</a:t>
            </a:r>
            <a:r>
              <a:rPr sz="1250">
                <a:solidFill>
                  <a:srgbClr val="202A38"/>
                </a:solidFill>
                <a:latin typeface="Times New Roman"/>
              </a:rPr>
              <a:t> va </a:t>
            </a:r>
            <a:r>
              <a:rPr sz="1250" b="1">
                <a:solidFill>
                  <a:srgbClr val="178A73"/>
                </a:solidFill>
                <a:latin typeface="Consolas"/>
              </a:rPr>
              <a:t>net user Student2 /delete</a:t>
            </a:r>
            <a:r>
              <a:rPr sz="125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82112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328416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8" y="3182112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Yoki: </a:t>
            </a:r>
            <a:r>
              <a:rPr sz="1250" b="1">
                <a:solidFill>
                  <a:srgbClr val="178A73"/>
                </a:solidFill>
                <a:latin typeface="Consolas"/>
              </a:rPr>
              <a:t>lusrmgr.msc</a:t>
            </a:r>
            <a:r>
              <a:rPr sz="1250">
                <a:solidFill>
                  <a:srgbClr val="202A38"/>
                </a:solidFill>
                <a:latin typeface="Times New Roman"/>
              </a:rPr>
              <a:t> → hisob ustida o‘ng tugma → Delete.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50208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096512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50208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Security jurnalini oching va </a:t>
            </a:r>
            <a:r>
              <a:rPr sz="1250" b="1">
                <a:solidFill>
                  <a:srgbClr val="178A73"/>
                </a:solidFill>
                <a:latin typeface="Consolas"/>
              </a:rPr>
              <a:t>4720,4726,4732</a:t>
            </a:r>
            <a:r>
              <a:rPr sz="1250">
                <a:solidFill>
                  <a:srgbClr val="202A38"/>
                </a:solidFill>
                <a:latin typeface="Times New Roman"/>
              </a:rPr>
              <a:t> bo‘yicha filtrlang — yaratildi, o‘chirildi, guruhga qo‘shildi.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18304"/>
            <a:ext cx="5166359" cy="6949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864608"/>
            <a:ext cx="402336" cy="402336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4718304"/>
            <a:ext cx="438912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02A38"/>
                </a:solidFill>
                <a:latin typeface="Times New Roman"/>
              </a:rPr>
              <a:t>Kerak bo‘lsa, mashg‘ulot oxirida snapshotni tiklang.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61888" y="2209634"/>
            <a:ext cx="5669280" cy="2393011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usrmg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209634"/>
            <a:ext cx="5669280" cy="239301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61888" y="4657509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12-rasm. lusrmgr.msc — Local Users and Groups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532120"/>
            <a:ext cx="6949440" cy="658368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34440" y="5532120"/>
            <a:ext cx="61722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78A73"/>
                </a:solidFill>
                <a:latin typeface="Times New Roman"/>
              </a:rPr>
              <a:t>Kutilayotgan natija: </a:t>
            </a:r>
            <a:r>
              <a:rPr sz="1250">
                <a:solidFill>
                  <a:srgbClr val="202A38"/>
                </a:solidFill>
                <a:latin typeface="Times New Roman"/>
              </a:rPr>
              <a:t>hisoblar yo‘q, lekin jurnal ularni kim va qachon yaratgani hamda o‘chirganini baribir ko‘rsatadi.</a:t>
            </a:r>
          </a:p>
        </p:txBody>
      </p:sp>
      <p:sp>
        <p:nvSpPr>
          <p:cNvPr id="29" name="Rounded Rectangle 28">
            <a:hlinkClick action="ppaction://hlinksldjump" r:id="rId5"/>
          </p:cNvPr>
          <p:cNvSpPr/>
          <p:nvPr/>
        </p:nvSpPr>
        <p:spPr>
          <a:xfrm>
            <a:off x="7726679" y="5577840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178A73"/>
                </a:solidFill>
                <a:latin typeface="Times New Roman"/>
              </a:rPr>
              <a:t>?  Event ID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AMALIY MASHG‘ULOT · NOSOZLIKLARNI BARTARAF ETISH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500" b="1" i="0">
                <a:solidFill>
                  <a:srgbClr val="1F3864"/>
                </a:solidFill>
                <a:latin typeface="Times New Roman"/>
              </a:rPr>
              <a:t>Nimadir ishlamayaptimi? — avval shularni tekshiring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9164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657600"/>
                <a:gridCol w="411480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Belgi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Ehtimoliy sabab</a:t>
                      </a:r>
                    </a:p>
                  </a:txBody>
                  <a:tcPr>
                    <a:solidFill>
                      <a:srgbClr val="E08E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Yechim</a:t>
                      </a:r>
                    </a:p>
                  </a:txBody>
                  <a:tcPr>
                    <a:solidFill>
                      <a:srgbClr val="178A7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“secpol.msc not found” (topilmadi)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Windows Home nashri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Pro / Enterprise VM dan foydalaning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Parol siyosatini o‘zgartirish ta’sir qilmayapti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Domen GPOsi lokal siyosatni bekor qiladi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gpresult /r; domen administratoridan so‘rang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Security jurnalida 4625 hodisalari yo‘q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Audit logon events yoqilmagan / qo‘llanmagan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Audit Policy → Success, Failure; gpupdate /force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Yangi foydalanuvchi tizimga kira olmayapti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“Account is disabled” belgilangan yoki parol qoidasi bajarilmagan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net user Student /active:yes; talablarga mos parol o‘rnating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Laboratoriya paytida hisob bloklandi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Bloklash chegarasiga yetildi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15 daq kuting yoki net user Student /active:yes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YAKUNIY AMALIY TOPSHIRIQ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Mustahkamlash ro‘yxati — qo‘llang va hisobotda isbotlang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64592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926080"/>
                <a:gridCol w="4297680"/>
                <a:gridCol w="3291840"/>
              </a:tblGrid>
              <a:tr h="54864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Sozlama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Talab qilinadigan qiymat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Times New Roman"/>
                        </a:rPr>
                        <a:t>Hisobotdagi dalil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864"/>
                          </a:solidFill>
                          <a:latin typeface="Times New Roman"/>
                        </a:rPr>
                        <a:t>☐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Parol siyosati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≥ 10 belgi, complexity Enabled, history 5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secpol skrinshoti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864"/>
                          </a:solidFill>
                          <a:latin typeface="Times New Roman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Hisobni bloklash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chegara 5, davomiylik 15 daq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net accounts natijasi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864"/>
                          </a:solidFill>
                          <a:latin typeface="Times New Roman"/>
                        </a:rPr>
                        <a:t>☐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Audit logon events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Success + Failure; 4625 hodisasini ko‘rsating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Event Viewer skrinshoti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864"/>
                          </a:solidFill>
                          <a:latin typeface="Times New Roman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Kirish ekrani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oxirgi foydalanuvchi nomi yashirilgan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Win + L surati/skrinshoti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864"/>
                          </a:solidFill>
                          <a:latin typeface="Times New Roman"/>
                        </a:rPr>
                        <a:t>☐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Guest hisobi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Disabled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Security Options skrinshoti</a:t>
                      </a:r>
                    </a:p>
                  </a:txBody>
                  <a:tcPr anchor="ctr">
                    <a:solidFill>
                      <a:srgbClr val="F5F8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3864"/>
                          </a:solidFill>
                          <a:latin typeface="Times New Roman"/>
                        </a:rPr>
                        <a:t>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F3864"/>
                          </a:solidFill>
                          <a:latin typeface="Times New Roman"/>
                        </a:rPr>
                        <a:t>Cheklangan foydalanuvchi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Student faqat Users da; secpol unga yopiq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202A38"/>
                          </a:solidFill>
                          <a:latin typeface="Times New Roman"/>
                        </a:rPr>
                        <a:t>whoami /groups + so‘rov oynasi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66928" y="566928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E3F3EE"/>
          </a:solidFill>
          <a:ln w="12700">
            <a:solidFill>
              <a:srgbClr val="17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3864"/>
                </a:solidFill>
                <a:latin typeface="Times New Roman"/>
              </a:rPr>
              <a:t>Baholash: </a:t>
            </a:r>
            <a:r>
              <a:rPr sz="1250">
                <a:solidFill>
                  <a:srgbClr val="202A38"/>
                </a:solidFill>
                <a:latin typeface="Times New Roman"/>
              </a:rPr>
              <a:t>har bir qator = 15% · hisobot sifati (izohlar, qisqa tushuntirishlar) = 10%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700" b="1" i="0">
                <a:solidFill>
                  <a:srgbClr val="1F3864"/>
                </a:solidFill>
                <a:latin typeface="Times New Roman"/>
              </a:rPr>
              <a:t>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2055571"/>
            <a:ext cx="241402" cy="2414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08760" y="1783080"/>
            <a:ext cx="98755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Parol siyosati (uzunlik, murakkablik, tarix) va Account lockout parolni taxmin qilishni befoyda qiladi.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615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761487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" y="2915106"/>
            <a:ext cx="241402" cy="24140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508760" y="2642615"/>
            <a:ext cx="98755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Audit Policy Security jurnaliga nima yozilishini belgilaydi: 4625 muvaffaqiyatsiz kirish, 4740 bloklash, 4720 yangi hisob.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02152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621024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3774643"/>
            <a:ext cx="241402" cy="24140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508760" y="3502152"/>
            <a:ext cx="98755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Security Options hujumchilardan foydali “ishoralar”ni yashiradi: oxirgi foydalanuvchi nomi, Guest hisobi, “Administrator” nomi.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1688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" y="4634179"/>
            <a:ext cx="241402" cy="2414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08760" y="4361688"/>
            <a:ext cx="98755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Huquqlarni guruhlarga bering: kundalik ish — Users da, admin huquqlari — faqat zarur bo‘lganda (least privilege, RBAC).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21224"/>
            <a:ext cx="11064240" cy="786384"/>
          </a:xfrm>
          <a:prstGeom prst="roundRect">
            <a:avLst>
              <a:gd name="adj" fmla="val 10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5340096"/>
            <a:ext cx="548640" cy="548640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ke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" y="5493715"/>
            <a:ext cx="241402" cy="24140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08760" y="5221224"/>
            <a:ext cx="98755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50" b="0" i="0">
                <a:solidFill>
                  <a:srgbClr val="202A38"/>
                </a:solidFill>
                <a:latin typeface="Times New Roman"/>
              </a:rPr>
              <a:t>Windows hisoblarni nomi bo‘yicha emas, SID bo‘yicha taniydi: 500 = o‘rnatilgan Administrator, 1000+ = siz yaratgan hisoblar.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YAKUNLASH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600" b="1" i="0">
                <a:solidFill>
                  <a:srgbClr val="1F3864"/>
                </a:solidFill>
                <a:latin typeface="Times New Roman"/>
              </a:rPr>
              <a:t>Nazorat savollari — 4-mashg‘ulot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9431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1691640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Account lockout threshold va Account lockout duration nimani anglatadi?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70632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2209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770632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Nima uchun “Do not display last user name” xavfsizlikni oshiradi?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849624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101084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4168" y="3849624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Administrators, Users va Guests guruhlari o‘rtasidagi farqni tushuntiring.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928616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518007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928616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net user va net localgroup buyruqlari nima qilishini tushuntiring.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691640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09360" y="1943100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1691640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Nima uchun administrator hisobidan kundalik ish uchun foydalanmaslik kerak?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770632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09360" y="3022092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22008" y="2770632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“Rolga asoslangan kirish nazorati” (RBAC) ni o‘z so‘zlaringiz bilan tushuntiring.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49624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09360" y="4101084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9624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Qaysi Event IDlar parolni taxmin qilish hujumini ko‘rsatadi?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4928616"/>
            <a:ext cx="548640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9360" y="5180076"/>
            <a:ext cx="457200" cy="45720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22008" y="4928616"/>
            <a:ext cx="45720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Times New Roman"/>
              </a:rPr>
              <a:t>Nima uchun “Administrator” nomini o‘zgartirish uni kriminalistdan yashirmaydi?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hankyo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1234440"/>
            <a:ext cx="1737360" cy="17647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14800" y="3246120"/>
            <a:ext cx="3959352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11247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FFFFFF"/>
                </a:solidFill>
                <a:latin typeface="Times New Roman"/>
              </a:rPr>
              <a:t>E’TIBORINGIZ UCHUN RAHMAT!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0624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0" i="1">
                <a:solidFill>
                  <a:srgbClr val="C7D6E6"/>
                </a:solidFill>
                <a:latin typeface="Times New Roman"/>
              </a:rPr>
              <a:t>Savollaringiz bo‘lsa, marhamat.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300" b="0" i="1">
                <a:solidFill>
                  <a:srgbClr val="8FD9C4"/>
                </a:solidFill>
                <a:latin typeface="Times New Roman"/>
              </a:rPr>
              <a:t>Keyingi bo‘lim — atamalar lug‘ati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1" i="0">
                <a:solidFill>
                  <a:srgbClr val="178A73"/>
                </a:solidFill>
                <a:latin typeface="Times New Roman"/>
              </a:rPr>
              <a:t>LUG‘AT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2400" b="1" i="0">
                <a:solidFill>
                  <a:srgbClr val="1F3864"/>
                </a:solidFill>
                <a:latin typeface="Times New Roman"/>
              </a:rPr>
              <a:t>Lug‘at — ushbu bo‘limda quyidagilar tushuntiriladi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71600"/>
            <a:ext cx="960120" cy="40640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950" b="0" i="1">
                <a:solidFill>
                  <a:srgbClr val="54647A"/>
                </a:solidFill>
                <a:latin typeface="Times New Roman"/>
              </a:rPr>
              <a:t>KKvaEH · 1-mavzu · Windows OT xavfsizligi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6382512"/>
            <a:ext cx="365760" cy="365760"/>
          </a:xfrm>
          <a:prstGeom prst="ellips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25</a:t>
            </a:r>
          </a:p>
        </p:txBody>
      </p:sp>
      <p:sp>
        <p:nvSpPr>
          <p:cNvPr id="8" name="Rounded Rectangle 7">
            <a:hlinkClick action="ppaction://hlinksldjump" r:id="rId10"/>
          </p:cNvPr>
          <p:cNvSpPr/>
          <p:nvPr/>
        </p:nvSpPr>
        <p:spPr>
          <a:xfrm>
            <a:off x="56692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47" y="2142987"/>
            <a:ext cx="249450" cy="249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35608" y="196596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Local Security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6243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secpol.msc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335584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53872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key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7467" y="2142987"/>
            <a:ext cx="249450" cy="249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24528" y="196596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Password complexity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6243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“murakkab” nimani anglatadi</a:t>
            </a:r>
          </a:p>
        </p:txBody>
      </p:sp>
      <p:sp>
        <p:nvSpPr>
          <p:cNvPr id="18" name="Rounded Rectangle 17">
            <a:hlinkClick action="ppaction://hlinksldjump" r:id="rId12"/>
          </p:cNvPr>
          <p:cNvSpPr/>
          <p:nvPr/>
        </p:nvSpPr>
        <p:spPr>
          <a:xfrm>
            <a:off x="6144768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387" y="2142987"/>
            <a:ext cx="249450" cy="2494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13448" y="196596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Hisobni bloklash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6243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taxmin qilishni to‘xtatish</a:t>
            </a:r>
          </a:p>
        </p:txBody>
      </p:sp>
      <p:sp>
        <p:nvSpPr>
          <p:cNvPr id="23" name="Rounded Rectangle 22">
            <a:hlinkClick action="ppaction://hlinksldjump" r:id="rId13"/>
          </p:cNvPr>
          <p:cNvSpPr/>
          <p:nvPr/>
        </p:nvSpPr>
        <p:spPr>
          <a:xfrm>
            <a:off x="8933687" y="17830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16567" y="19842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y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306" y="2142987"/>
            <a:ext cx="249450" cy="249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02367" y="196596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Audit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26243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nima jurnalga yoziladi</a:t>
            </a:r>
          </a:p>
        </p:txBody>
      </p:sp>
      <p:sp>
        <p:nvSpPr>
          <p:cNvPr id="28" name="Rounded Rectangle 27">
            <a:hlinkClick action="ppaction://hlinksldjump" r:id="rId14"/>
          </p:cNvPr>
          <p:cNvSpPr/>
          <p:nvPr/>
        </p:nvSpPr>
        <p:spPr>
          <a:xfrm>
            <a:off x="56692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980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boo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547" y="3514587"/>
            <a:ext cx="249450" cy="249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35608" y="333756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Event ID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39959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hodisaning raqami</a:t>
            </a:r>
          </a:p>
        </p:txBody>
      </p:sp>
      <p:sp>
        <p:nvSpPr>
          <p:cNvPr id="33" name="Rounded Rectangle 32">
            <a:hlinkClick action="ppaction://hlinksldjump" r:id="rId15"/>
          </p:cNvPr>
          <p:cNvSpPr/>
          <p:nvPr/>
        </p:nvSpPr>
        <p:spPr>
          <a:xfrm>
            <a:off x="335584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3872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user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7467" y="3514587"/>
            <a:ext cx="249450" cy="249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224528" y="333756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SID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8728" y="39959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hisobning haqiqiy identifikatori</a:t>
            </a:r>
          </a:p>
        </p:txBody>
      </p:sp>
      <p:sp>
        <p:nvSpPr>
          <p:cNvPr id="38" name="Rounded Rectangle 37">
            <a:hlinkClick action="ppaction://hlinksldjump" r:id="rId16"/>
          </p:cNvPr>
          <p:cNvSpPr/>
          <p:nvPr/>
        </p:nvSpPr>
        <p:spPr>
          <a:xfrm>
            <a:off x="6144768" y="3154680"/>
            <a:ext cx="2743200" cy="1234440"/>
          </a:xfrm>
          <a:prstGeom prst="roundRect">
            <a:avLst>
              <a:gd name="adj" fmla="val 5000"/>
            </a:avLst>
          </a:prstGeom>
          <a:solidFill>
            <a:srgbClr val="F5F8FC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27648" y="3355848"/>
            <a:ext cx="566928" cy="566928"/>
          </a:xfrm>
          <a:prstGeom prst="ellipse">
            <a:avLst/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users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387" y="3514587"/>
            <a:ext cx="249450" cy="249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013448" y="3337560"/>
            <a:ext cx="17830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1" i="0">
                <a:solidFill>
                  <a:srgbClr val="1F3864"/>
                </a:solidFill>
                <a:latin typeface="Times New Roman"/>
              </a:rPr>
              <a:t>RBAC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3995928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050" b="0" i="1">
                <a:solidFill>
                  <a:srgbClr val="54647A"/>
                </a:solidFill>
                <a:latin typeface="Times New Roman"/>
              </a:rPr>
              <a:t>rolga ko‘ra huquqlar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617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1">
                <a:solidFill>
                  <a:srgbClr val="54647A"/>
                </a:solidFill>
                <a:latin typeface="Times New Roman"/>
              </a:rPr>
              <a:t>Har bir atama boshlang‘ich darajaga mos tilda, misol va diagramma bilan tushuntiriladi.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Local Security Policy (secpol.msc)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26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Bitta kompyuterning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xavfsizlik sozlamalarini</a:t>
            </a:r>
            <a:r>
              <a:rPr sz="1300">
                <a:solidFill>
                  <a:srgbClr val="202A38"/>
                </a:solidFill>
                <a:latin typeface="Times New Roman"/>
              </a:rPr>
              <a:t> bir joyga jamlovchi konsol: parollar, bloklash, audit, foydalanuvchi huquqlari, xavfsizlik parametrlari, AppLocker. </a:t>
            </a:r>
            <a:r>
              <a:rPr sz="1300">
                <a:solidFill>
                  <a:srgbClr val="202A38"/>
                </a:solidFill>
                <a:latin typeface="Times New Roman"/>
              </a:rPr>
              <a:t>Ochish: </a:t>
            </a:r>
            <a:r>
              <a:rPr sz="1300" b="1">
                <a:solidFill>
                  <a:srgbClr val="178A73"/>
                </a:solidFill>
                <a:latin typeface="Consolas"/>
              </a:rPr>
              <a:t>Win + R → secpol.msc</a:t>
            </a:r>
            <a:r>
              <a:rPr sz="1300">
                <a:solidFill>
                  <a:srgbClr val="202A38"/>
                </a:solidFill>
                <a:latin typeface="Times New Roman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Bu — Group Policy ning lokal qatlami. Domenda xuddi shu sozlamalar GPO orqali minglab kompyuterlarga tarqatiladi — demak, secpol.msc ni o‘rganish tashkilotlar qanday mustahkamlanishini o‘rganish demakdir.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83080"/>
            <a:ext cx="5212080" cy="68580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Account Policies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51760"/>
            <a:ext cx="5212080" cy="68580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Local Policies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520439"/>
            <a:ext cx="5212080" cy="685800"/>
          </a:xfrm>
          <a:prstGeom prst="roundRect">
            <a:avLst>
              <a:gd name="adj" fmla="val 10000"/>
            </a:avLst>
          </a:prstGeom>
          <a:solidFill>
            <a:srgbClr val="6E5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Windows Defender Firewall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89120"/>
            <a:ext cx="5212080" cy="6858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Application Control (AppLocker)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Password complexity requirements (parol murakkabligi talablari)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27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Bu siyosat Enabled bo‘lsa, parol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4 guruhdan kamida 3 tasiga</a:t>
            </a:r>
            <a:r>
              <a:rPr sz="1300">
                <a:solidFill>
                  <a:srgbClr val="202A38"/>
                </a:solidFill>
                <a:latin typeface="Times New Roman"/>
              </a:rPr>
              <a:t> oid belgilarni o‘z ichiga olishi kerak: katta harflar, kichik harflar, raqamlar, maxsus belgilar — va foydalanuvchi nomini o‘z ichiga olmasligi kerak.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Har bir qo‘shimcha belgi guruhi hujumchi sinab ko‘rishi kerak bo‘lgan kombinatsiyalar sonini ko‘paytiradi. Minimal uzunlik 10+ bilan birga taxmin qilish amalda imkonsiz bo‘lib qoladi.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an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75688"/>
            <a:ext cx="41148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78040" y="182880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Consolas"/>
              </a:rPr>
              <a:t>student2026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54647A"/>
                </a:solidFill>
                <a:latin typeface="Times New Roman"/>
              </a:rPr>
              <a:t>faqat 2 guruh, nomni o‘z ichiga oladi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92608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an_C0392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3172968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78040" y="292608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Consolas"/>
              </a:rPr>
              <a:t>Password1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54647A"/>
                </a:solidFill>
                <a:latin typeface="Times New Roman"/>
              </a:rPr>
              <a:t>juda qisqa, juda keng tarqalgan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02336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3B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-circle_178A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270248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78040" y="4023360"/>
            <a:ext cx="42976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3864"/>
                </a:solidFill>
                <a:latin typeface="Consolas"/>
              </a:rPr>
              <a:t>Blue-Tiger7-Sky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>
                <a:solidFill>
                  <a:srgbClr val="54647A"/>
                </a:solidFill>
                <a:latin typeface="Times New Roman"/>
              </a:rPr>
              <a:t>4 guruh, 15 belgi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Account lockout (chegara, davomiylik, qayta tiklash)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28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</a:rPr>
              <a:t>Threshold</a:t>
            </a:r>
            <a:r>
              <a:rPr sz="1300">
                <a:solidFill>
                  <a:srgbClr val="202A38"/>
                </a:solidFill>
                <a:latin typeface="Times New Roman"/>
              </a:rPr>
              <a:t> — ketma-ket nechta noto‘g‘ri parolga ruxsat beriladi.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Duration</a:t>
            </a:r>
            <a:r>
              <a:rPr sz="1300">
                <a:solidFill>
                  <a:srgbClr val="202A38"/>
                </a:solidFill>
                <a:latin typeface="Times New Roman"/>
              </a:rPr>
              <a:t> — hisob qancha vaqt bloklangan holda turadi.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Reset counter after</a:t>
            </a:r>
            <a:r>
              <a:rPr sz="1300">
                <a:solidFill>
                  <a:srgbClr val="202A38"/>
                </a:solidFill>
                <a:latin typeface="Times New Roman"/>
              </a:rPr>
              <a:t> — xatolar hisoblagichi qachon yana noldan boshlanadi.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U onlayn taxmin qilish hujumini millionlab urinishdan soatiga bir nechta urinishga aylantiradi. Bloklangan hisob 4740 hodisasini ham yaratadi — bu himoyachilar uchun signal.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920240"/>
            <a:ext cx="960120" cy="6400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1-urinish 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920240"/>
            <a:ext cx="960120" cy="6400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2-urinish 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920240"/>
            <a:ext cx="960120" cy="6400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3-urinish 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920240"/>
            <a:ext cx="960120" cy="6400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4-urinish 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7040" y="1920240"/>
            <a:ext cx="960120" cy="64008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5-urinish 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834640"/>
            <a:ext cx="5166360" cy="73152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15 daqiqaga BLOKLANDI — 4740 hodisasi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840480"/>
            <a:ext cx="5166360" cy="640080"/>
          </a:xfrm>
          <a:prstGeom prst="roundRect">
            <a:avLst>
              <a:gd name="adj" fmla="val 1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15 daqiqadan keyin — avtomatik blokdan chiqadi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Audit policy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29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Audit siyosati Windowsga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Security jurnaliga qaysi hodisalarni yozishni</a:t>
            </a:r>
            <a:r>
              <a:rPr sz="1300">
                <a:solidFill>
                  <a:srgbClr val="202A38"/>
                </a:solidFill>
                <a:latin typeface="Times New Roman"/>
              </a:rPr>
              <a:t> aytadi — masalan, muvaffaqiyatli va muvaffaqiyatsiz kirishlar, hisob o‘zgarishlari, siyosat o‘zgarishlari. </a:t>
            </a:r>
            <a:r>
              <a:rPr sz="1300">
                <a:solidFill>
                  <a:srgbClr val="202A38"/>
                </a:solidFill>
                <a:latin typeface="Times New Roman"/>
              </a:rPr>
              <a:t>Har bir toifa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Success</a:t>
            </a:r>
            <a:r>
              <a:rPr sz="1300">
                <a:solidFill>
                  <a:srgbClr val="202A38"/>
                </a:solidFill>
                <a:latin typeface="Times New Roman"/>
              </a:rPr>
              <a:t>,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Failure</a:t>
            </a:r>
            <a:r>
              <a:rPr sz="1300">
                <a:solidFill>
                  <a:srgbClr val="202A38"/>
                </a:solidFill>
                <a:latin typeface="Times New Roman"/>
              </a:rPr>
              <a:t> yoki ikkalasini ham yozishi mumkin.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Audit yo‘q — dalil yo‘q. Usiz brute-force hujumi yoki yangi yashirin admin hisobi hech qanday iz qoldirmaydi. SIEM tizimlari (keyingi mavzular) aynan shu hodisalar asosida quriladi.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5212080" cy="2011680"/>
          </a:xfrm>
          <a:prstGeom prst="roundRect">
            <a:avLst>
              <a:gd name="adj" fmla="val 3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938528"/>
            <a:ext cx="4846320" cy="1792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8FD9C4"/>
                </a:solidFill>
                <a:latin typeface="Consolas"/>
              </a:rPr>
              <a:t>PS&gt; </a:t>
            </a:r>
            <a:r>
              <a:rPr sz="1100" b="1">
                <a:solidFill>
                  <a:srgbClr val="8FD9C4"/>
                </a:solidFill>
                <a:latin typeface="Consolas"/>
              </a:rPr>
              <a:t>auditpol /get /category:"Logon/Logoff"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FFFFFF"/>
                </a:solidFill>
                <a:latin typeface="Consolas"/>
              </a:rPr>
              <a:t>Logon/Logoff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7CE38B"/>
                </a:solidFill>
                <a:latin typeface="Consolas"/>
              </a:rPr>
              <a:t>  Logon              Success and Failure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7CE38B"/>
                </a:solidFill>
                <a:latin typeface="Consolas"/>
              </a:rPr>
              <a:t>  Logoff             Success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7CE38B"/>
                </a:solidFill>
                <a:latin typeface="Consolas"/>
              </a:rPr>
              <a:t>  Account Lockout    Success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Event ID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30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Windows jurnalidagi har bir yozuvning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Event ID</a:t>
            </a:r>
            <a:r>
              <a:rPr sz="1300">
                <a:solidFill>
                  <a:srgbClr val="202A38"/>
                </a:solidFill>
                <a:latin typeface="Times New Roman"/>
              </a:rPr>
              <a:t> si bor — bu hodisa turini bildiruvchi raqam. Bir xil ID har qanday Windows kompyuterida doimo bir xil ma’noni anglatadi.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Himoyachilar va kriminalistlar jurnallarni ID bo‘yicha qidiradi: “oxirgi bir soatdagi barcha 4625 larni ko‘rsat”. Bu millionlab yozuvlar orasidan hujumni topishning eng tezkor usuli.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737360"/>
            <a:ext cx="1097280" cy="621792"/>
          </a:xfrm>
          <a:prstGeom prst="roundRect">
            <a:avLst>
              <a:gd name="adj" fmla="val 10000"/>
            </a:avLst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4624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1737360"/>
            <a:ext cx="4023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1737360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muvaffaqiyatli kirish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514600"/>
            <a:ext cx="1097280" cy="621792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4625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514600"/>
            <a:ext cx="4023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2514600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muvaffaqiyatsiz kirish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291839"/>
            <a:ext cx="1097280" cy="62179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4740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291839"/>
            <a:ext cx="4023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79" y="3291839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hisob bloklandi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069079"/>
            <a:ext cx="1097280" cy="621792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4720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4069079"/>
            <a:ext cx="4023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79" y="4069079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hisob yaratildi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46320"/>
            <a:ext cx="1097280" cy="621792"/>
          </a:xfrm>
          <a:prstGeom prst="roundRect">
            <a:avLst>
              <a:gd name="adj" fmla="val 10000"/>
            </a:avLst>
          </a:prstGeom>
          <a:solidFill>
            <a:srgbClr val="546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onsolas"/>
              </a:rPr>
              <a:t>4726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89520" y="4846320"/>
            <a:ext cx="402336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4846320"/>
            <a:ext cx="384048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300" b="0" i="0">
                <a:solidFill>
                  <a:srgbClr val="202A38"/>
                </a:solidFill>
                <a:latin typeface="Times New Roman"/>
              </a:rPr>
              <a:t>hisob o‘chirildi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SID (Security Identifier — xavfsizlik identifikatori)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31</a:t>
            </a:r>
          </a:p>
        </p:txBody>
      </p:sp>
      <p:sp>
        <p:nvSpPr>
          <p:cNvPr id="8" name="Rounded Rectangle 7">
            <a:hlinkClick action="ppaction://hlinksldjump" r:id="rId4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SID — Windows har bir foydalanuvchi va guruhga beradigan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noyob raqam</a:t>
            </a:r>
            <a:r>
              <a:rPr sz="1300">
                <a:solidFill>
                  <a:srgbClr val="202A38"/>
                </a:solidFill>
                <a:latin typeface="Times New Roman"/>
              </a:rPr>
              <a:t>, masalan: </a:t>
            </a:r>
            <a:r>
              <a:rPr sz="1300" b="1">
                <a:solidFill>
                  <a:srgbClr val="178A73"/>
                </a:solidFill>
                <a:latin typeface="Consolas"/>
              </a:rPr>
              <a:t>S-1-5-21-…-1001</a:t>
            </a:r>
            <a:r>
              <a:rPr sz="1300">
                <a:solidFill>
                  <a:srgbClr val="202A38"/>
                </a:solidFill>
                <a:latin typeface="Times New Roman"/>
              </a:rPr>
              <a:t>. Nomlar faqat odamlar uchun yorliq; ruxsatlar va jurnallar SIDdan foydalanadi.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“Administrator” nomini o‘zgartirish uning SIDini o‘zgartirmaydi (u baribir -500 bilan tugaydi). Foydalanuvchini o‘chirib, xuddi shu nom bilan qayta yaratish yangi SID beradi — eski ruxsatlar qaytmaydi.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599068"/>
            <a:ext cx="5212080" cy="1385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599068"/>
            <a:ext cx="5212080" cy="138554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00" b="1" i="0">
                <a:solidFill>
                  <a:srgbClr val="8FD9C4"/>
                </a:solidFill>
                <a:latin typeface="Times New Roman"/>
              </a:rPr>
              <a:t>LUG‘AT · ATAMA IZOHI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21792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Times New Roman"/>
              </a:rPr>
              <a:t>RBAC — rolga asoslangan kirish nazorati</a:t>
            </a:r>
          </a:p>
        </p:txBody>
      </p:sp>
      <p:sp>
        <p:nvSpPr>
          <p:cNvPr id="7" name="Oval 6"/>
          <p:cNvSpPr/>
          <p:nvPr/>
        </p:nvSpPr>
        <p:spPr>
          <a:xfrm>
            <a:off x="11430000" y="457200"/>
            <a:ext cx="384048" cy="384048"/>
          </a:xfrm>
          <a:prstGeom prst="ellipse">
            <a:avLst/>
          </a:prstGeom>
          <a:solidFill>
            <a:srgbClr val="43B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32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566928" y="6144768"/>
            <a:ext cx="2926080" cy="50292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← Mavzuga qaytish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Oddiy qilib aytganda: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11680"/>
            <a:ext cx="5577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Huquqlar </a:t>
            </a:r>
            <a:r>
              <a:rPr sz="1300" b="1">
                <a:solidFill>
                  <a:srgbClr val="1F3864"/>
                </a:solidFill>
                <a:latin typeface="Times New Roman"/>
              </a:rPr>
              <a:t>rolga (guruhga)</a:t>
            </a:r>
            <a:r>
              <a:rPr sz="1300">
                <a:solidFill>
                  <a:srgbClr val="202A38"/>
                </a:solidFill>
                <a:latin typeface="Times New Roman"/>
              </a:rPr>
              <a:t> beriladi, odamlar esa rollarga joylashtiriladi. Biror kishining imkoniyatlarini o‘zgartirish uchun uni guruhlar o‘rtasida ko‘chirasiz — huquqlarini birma-bir tahrirlamaysiz.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93192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1" i="0">
                <a:solidFill>
                  <a:srgbClr val="178A73"/>
                </a:solidFill>
                <a:latin typeface="Times New Roman"/>
              </a:rPr>
              <a:t>Nima uchun muhim: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297680"/>
            <a:ext cx="5577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300">
                <a:solidFill>
                  <a:srgbClr val="202A38"/>
                </a:solidFill>
                <a:latin typeface="Times New Roman"/>
              </a:rPr>
              <a:t>500 nafar kursant bo‘lganda huquqlarni har bir kishi uchun alohida boshqarish imkonsiz va xatoga moyil. Guruhlar bilan bitta o‘zgarish shu roldagi hammaga qo‘llanadi — audit ham osonlashadi.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25603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82880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Consolas"/>
              </a:rPr>
              <a:t>kursant1, kursant2, kursant3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6840" y="1828800"/>
            <a:ext cx="365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828800"/>
            <a:ext cx="2240280" cy="822960"/>
          </a:xfrm>
          <a:prstGeom prst="roundRect">
            <a:avLst>
              <a:gd name="adj" fmla="val 10000"/>
            </a:avLst>
          </a:prstGeom>
          <a:solidFill>
            <a:srgbClr val="17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Users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926080"/>
            <a:ext cx="25603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92608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Consolas"/>
              </a:rPr>
              <a:t>o‘qituvchi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926080"/>
            <a:ext cx="365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926080"/>
            <a:ext cx="2240280" cy="822960"/>
          </a:xfrm>
          <a:prstGeom prst="roundRect">
            <a:avLst>
              <a:gd name="adj" fmla="val 10000"/>
            </a:avLst>
          </a:prstGeom>
          <a:solidFill>
            <a:srgbClr val="E08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Users + Remote Desktop Users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023360"/>
            <a:ext cx="256032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023360"/>
            <a:ext cx="23774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250" b="0" i="0">
                <a:solidFill>
                  <a:srgbClr val="202A38"/>
                </a:solidFill>
                <a:latin typeface="Consolas"/>
              </a:rPr>
              <a:t>admin_it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4023360"/>
            <a:ext cx="3657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800" b="1" i="0">
                <a:solidFill>
                  <a:srgbClr val="54647A"/>
                </a:solidFill>
                <a:latin typeface="Times New Roman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4023360"/>
            <a:ext cx="2240280" cy="8229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1250" b="1">
                <a:solidFill>
                  <a:srgbClr val="FFFFFF"/>
                </a:solidFill>
                <a:latin typeface="Times New Roman"/>
              </a:rPr>
              <a:t>Administrators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2363</Words>
  <Application>Microsoft Office PowerPoint</Application>
  <PresentationFormat>Широкоэкранный</PresentationFormat>
  <Paragraphs>351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Consolas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2026-09-21T17:43:44Z</dcterms:modified>
  <cp:category/>
</cp:coreProperties>
</file>