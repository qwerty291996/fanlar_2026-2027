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slide" Target="slide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slide" Target="slide30.xml"/><Relationship Id="rId5" Type="http://schemas.openxmlformats.org/officeDocument/2006/relationships/slide" Target="slide3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slide" Target="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slide" Target="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slide" Target="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slide" Target="slide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slide" Target="slide30.xml"/><Relationship Id="rId9" Type="http://schemas.openxmlformats.org/officeDocument/2006/relationships/slide" Target="slide31.xml"/><Relationship Id="rId10" Type="http://schemas.openxmlformats.org/officeDocument/2006/relationships/slide" Target="slide32.xml"/><Relationship Id="rId11" Type="http://schemas.openxmlformats.org/officeDocument/2006/relationships/slide" Target="slide33.xml"/><Relationship Id="rId12" Type="http://schemas.openxmlformats.org/officeDocument/2006/relationships/slide" Target="slide3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slide" Target="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slide" Target="slide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slide" Target="slide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slide" Target="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slide" Target="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31720"/>
            <a:ext cx="1920240" cy="19476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443484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000" b="0" i="1">
                <a:solidFill>
                  <a:srgbClr val="C9D6E8"/>
                </a:solidFill>
                <a:latin typeface="Times New Roman"/>
              </a:rPr>
              <a:t>O‘ZBEKISTON RESPUBLIKASI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000" b="0" i="1">
                <a:solidFill>
                  <a:srgbClr val="C9D6E8"/>
                </a:solidFill>
                <a:latin typeface="Times New Roman"/>
              </a:rPr>
              <a:t>HARBIY XAVFSIZLIK VA MUDOFAA UNIVERSITETI</a:t>
            </a:r>
          </a:p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000" b="0" i="1">
                <a:solidFill>
                  <a:srgbClr val="C9D6E8"/>
                </a:solidFill>
                <a:latin typeface="Times New Roman"/>
              </a:rPr>
              <a:t>Axborot-kommunikatsiya texnologiyalari va harbiy aloqa instituti · Kiberxavfsizlik kafedrasi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3716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7FD1BD"/>
                </a:solidFill>
                <a:latin typeface="Times New Roman"/>
              </a:rPr>
              <a:t>FAN: “KIBER KRIMINALISTIKA VA ETIKAL HAKING”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011680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1-MAVZU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514600"/>
            <a:ext cx="8138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Times New Roman"/>
              </a:rPr>
              <a:t>WINDOWS OT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Times New Roman"/>
              </a:rPr>
              <a:t>XAVFSIZLIGI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7" y="4160520"/>
            <a:ext cx="1280160" cy="4445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4343400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 i="0">
                <a:solidFill>
                  <a:srgbClr val="DDE6F2"/>
                </a:solidFill>
                <a:latin typeface="Times New Roman"/>
              </a:rPr>
              <a:t>4-mashg‘ulot · Xavfsizlik sozlamalari va foydalanuvchilar xavfsizligini sozlash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 i="0">
                <a:solidFill>
                  <a:srgbClr val="DDE6F2"/>
                </a:solidFill>
                <a:latin typeface="Times New Roman"/>
              </a:rPr>
              <a:t>Amaliy mashg‘ulot, 4 soat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89788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C9D6E8"/>
                </a:solidFill>
                <a:latin typeface="Times New Roman"/>
              </a:rPr>
              <a:t>Ma’ruzachi: Kiberxavfsizlik kafedrasi katta o‘qituvchisi — kapitan M. Isakov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1-MAVZU · WINDOWS OT XAVFSIZLIGI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4-mashg‘ulot: Xavfsizlik sozlamalari va foydalanuvchilar (amaliy)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04088" y="1737360"/>
            <a:ext cx="548640" cy="54864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" y="1880006"/>
            <a:ext cx="263348" cy="2633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35608" y="16916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1">
                <a:solidFill>
                  <a:srgbClr val="54647A"/>
                </a:solidFill>
                <a:latin typeface="Times New Roman"/>
              </a:rPr>
              <a:t>Mavzu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8" y="19659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1F3864"/>
                </a:solidFill>
                <a:latin typeface="Times New Roman"/>
              </a:rPr>
              <a:t>Windows OT xavfsizligi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60020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53128" y="1737360"/>
            <a:ext cx="548640" cy="54864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ermin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5774" y="1880006"/>
            <a:ext cx="263348" cy="2633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84648" y="16916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1">
                <a:solidFill>
                  <a:srgbClr val="54647A"/>
                </a:solidFill>
                <a:latin typeface="Times New Roman"/>
              </a:rPr>
              <a:t>Mashg‘ulot turi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648" y="19659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1F3864"/>
                </a:solidFill>
                <a:latin typeface="Times New Roman"/>
              </a:rPr>
              <a:t>Amaliy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7" y="160020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02167" y="1737360"/>
            <a:ext cx="548640" cy="54864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4813" y="1880006"/>
            <a:ext cx="263348" cy="2633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933687" y="16916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1">
                <a:solidFill>
                  <a:srgbClr val="54647A"/>
                </a:solidFill>
                <a:latin typeface="Times New Roman"/>
              </a:rPr>
              <a:t>Davomiyligi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33687" y="19659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1F3864"/>
                </a:solidFill>
                <a:latin typeface="Times New Roman"/>
              </a:rPr>
              <a:t>4 soat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2651760"/>
            <a:ext cx="5486400" cy="25146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651760"/>
            <a:ext cx="64008" cy="25146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734056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Times New Roman"/>
              </a:rPr>
              <a:t>O‘quv savollari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" y="3154679"/>
            <a:ext cx="384048" cy="38404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1089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Times New Roman"/>
              </a:rPr>
              <a:t>Xavfsizlik sozlamalarini sozlash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401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Microsoft Defender Antivirus, Windows Defender Firewall, Local Security Policy (1.1–1.7)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160520"/>
            <a:ext cx="384048" cy="38404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1148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Times New Roman"/>
              </a:rPr>
              <a:t>Foydalanuvchilar xavfsizligini sozlash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440740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Hisoblar, guruhlar, parol siyosati, lockout, hisoblar auditi (2.1–2.5)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2651760"/>
            <a:ext cx="5349240" cy="25146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2651760"/>
            <a:ext cx="64008" cy="2514600"/>
          </a:xfrm>
          <a:prstGeom prst="rect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273405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A8660B"/>
                </a:solidFill>
                <a:latin typeface="Times New Roman"/>
              </a:rPr>
              <a:t>Xavfsizlik qoidalari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063240"/>
            <a:ext cx="49834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35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50" b="0" i="0">
                <a:solidFill>
                  <a:srgbClr val="202A38"/>
                </a:solidFill>
                <a:latin typeface="Times New Roman"/>
              </a:rPr>
              <a:t>Barcha amallar faqat virtual mashinada bajariladi.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35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50" b="0" i="0">
                <a:solidFill>
                  <a:srgbClr val="202A38"/>
                </a:solidFill>
                <a:latin typeface="Times New Roman"/>
              </a:rPr>
              <a:t>Har bir katta topshiriqdan oldin snapshot oling.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35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50" b="0" i="0">
                <a:solidFill>
                  <a:srgbClr val="202A38"/>
                </a:solidFill>
                <a:latin typeface="Times New Roman"/>
              </a:rPr>
              <a:t>Mashqlarni </a:t>
            </a:r>
            <a:r>
              <a:rPr sz="1300" b="1" i="0">
                <a:solidFill>
                  <a:srgbClr val="178A73"/>
                </a:solidFill>
                <a:latin typeface="Consolas"/>
              </a:rPr>
              <a:t>Administrators</a:t>
            </a:r>
            <a:r>
              <a:rPr sz="1350" b="0" i="0">
                <a:solidFill>
                  <a:srgbClr val="202A38"/>
                </a:solidFill>
                <a:latin typeface="Times New Roman"/>
              </a:rPr>
              <a:t> guruhidagi oddiy hisob bilan bajaring.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35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50" b="0" i="0">
                <a:solidFill>
                  <a:srgbClr val="202A38"/>
                </a:solidFill>
                <a:latin typeface="Times New Roman"/>
              </a:rPr>
              <a:t>RDP orqali ulangan bo‘lsangiz, firewall va foydalanuvchi sozlamalari ulanishingizni uzishi mumkin.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349240"/>
            <a:ext cx="11045952" cy="7772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earch_1F38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557326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61288" y="5349240"/>
            <a:ext cx="1031443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Har bir topshiriqda skrinshot uchun joy ajratilgan: natijangizni ish daftariga (tarqatma material) joylang. Har bir topshiriq “Xulosa” bilan yakunlanadi.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AMALIY MASHG‘ULOT · TASHKIL ETISH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Laboratoriya rejasi: 12 ta topshiriq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Times New Roman"/>
              </a:rPr>
              <a:t>1-savol · Xavfsizlik sozlamalari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5544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A8660B"/>
                </a:solidFill>
                <a:latin typeface="Times New Roman"/>
              </a:rPr>
              <a:t>2-savol · Foydalanuvchilar xavfsizligi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74519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" y="192938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1874519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Tayyorgarlik: laboratoriya muhitini tekshirish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423160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" y="247802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36" y="2423160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Defender holatini tekshirish va skanerlash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423160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15 daq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971800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" y="30266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2971800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EICAR test fayli bilan Defenderni sinash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8" y="2971800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10 daq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520439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0936" y="3575303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6736" y="3520439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Istisnolar (exclusions) va Tamper Protection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8" y="3520439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10 daq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69079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0936" y="4123943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6736" y="4069079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Portni bloklovchi qoida (uch usulda)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8928" y="4069079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20 daq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617720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0936" y="4672583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16736" y="4617720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Qoidani sinash (Test-NetConnection)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38928" y="4617720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10 daq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66359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0936" y="5221223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5166359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Auditni yoqish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8928" y="5166359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10 daq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715000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0936" y="57698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1.7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16736" y="5715000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Security Options: xavfsizlik parametri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38928" y="5715000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10 daq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1874519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27648" y="192938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2.1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13448" y="1874519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Cheklangan foydalanuvchi yaratish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35640" y="1874519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15 daq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2423160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27648" y="247802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2.2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13448" y="2423160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Standart foydalanuvchi huquqlarini tekshirish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5640" y="2423160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15 daq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2971800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27648" y="30266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2.3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13448" y="2971800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Parol siyosatini sozlash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35640" y="2971800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15 daq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63640" y="3520439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3575303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2.4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13448" y="3520439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Parolni tanlash hujumini simulyatsiya qilish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35640" y="3520439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20 daq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4069079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27648" y="4123943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2.5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13448" y="4069079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Foydalanuvchi huquqlari va hisoblar auditi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4069079"/>
            <a:ext cx="685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Times New Roman"/>
              </a:rPr>
              <a:t>10 daq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63640" y="4617720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27648" y="4672583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13448" y="4617720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Laboratoriyani avvalgi holatga qaytarish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63640" y="5166359"/>
            <a:ext cx="534924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27648" y="5221223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Times New Roman"/>
              </a:rPr>
              <a:t>Lab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13448" y="5166359"/>
            <a:ext cx="3840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Yakuniy topshiriq va o‘z-o‘zini tekshirish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5715000"/>
            <a:ext cx="5349240" cy="56692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0" y="5715000"/>
            <a:ext cx="5120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</a:rPr>
              <a:t>secpol.msc</a:t>
            </a:r>
            <a:r>
              <a:rPr sz="1250" b="0" i="0">
                <a:solidFill>
                  <a:srgbClr val="FFFFFF"/>
                </a:solidFill>
                <a:latin typeface="Times New Roman"/>
              </a:rPr>
              <a:t> ·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lusrmgr.msc</a:t>
            </a:r>
            <a:r>
              <a:rPr sz="1250" b="0" i="0">
                <a:solidFill>
                  <a:srgbClr val="FFFFFF"/>
                </a:solidFill>
                <a:latin typeface="Times New Roman"/>
              </a:rPr>
              <a:t> ·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wf.msc</a:t>
            </a:r>
            <a:r>
              <a:rPr sz="1250" b="0" i="0">
                <a:solidFill>
                  <a:srgbClr val="FFFFFF"/>
                </a:solidFill>
                <a:latin typeface="Times New Roman"/>
              </a:rPr>
              <a:t> · </a:t>
            </a:r>
            <a:r>
              <a:rPr sz="1200" b="1" i="0">
                <a:solidFill>
                  <a:srgbClr val="FFFFFF"/>
                </a:solidFill>
                <a:latin typeface="Consolas"/>
              </a:rPr>
              <a:t>eventvwr.msc</a:t>
            </a:r>
            <a:r>
              <a:rPr sz="1250" b="0" i="0">
                <a:solidFill>
                  <a:srgbClr val="FFFFFF"/>
                </a:solidFill>
                <a:latin typeface="Times New Roman"/>
              </a:rPr>
              <a:t> · PowerShell (Admin)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TAYYORGARLIK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Laboratoriya muhitini tekshirish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66751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92481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45920"/>
            <a:ext cx="6080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350" b="1" i="0">
                <a:solidFill>
                  <a:srgbClr val="178A73"/>
                </a:solidFill>
                <a:latin typeface="Consolas"/>
              </a:rPr>
              <a:t>Win + R</a:t>
            </a:r>
            <a:r>
              <a:rPr sz="1400" b="0" i="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350" b="1" i="0">
                <a:solidFill>
                  <a:srgbClr val="178A73"/>
                </a:solidFill>
                <a:latin typeface="Consolas"/>
              </a:rPr>
              <a:t>winver</a:t>
            </a:r>
            <a:r>
              <a:rPr sz="1400" b="0" i="0">
                <a:solidFill>
                  <a:srgbClr val="202A38"/>
                </a:solidFill>
                <a:latin typeface="Times New Roman"/>
              </a:rPr>
              <a:t> → Windows 11 Pro yoki Enterprise ekanini tekshiring.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1760"/>
            <a:ext cx="66751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93065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651760"/>
            <a:ext cx="6080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400" b="0" i="0">
                <a:solidFill>
                  <a:srgbClr val="202A38"/>
                </a:solidFill>
                <a:latin typeface="Times New Roman"/>
              </a:rPr>
              <a:t>Administrator PowerShellda </a:t>
            </a:r>
            <a:r>
              <a:rPr sz="1350" b="1" i="0">
                <a:solidFill>
                  <a:srgbClr val="178A73"/>
                </a:solidFill>
                <a:latin typeface="Consolas"/>
              </a:rPr>
              <a:t>whoami /user</a:t>
            </a:r>
            <a:r>
              <a:rPr sz="1400" b="0" i="0">
                <a:solidFill>
                  <a:srgbClr val="202A38"/>
                </a:solidFill>
                <a:latin typeface="Times New Roman"/>
              </a:rPr>
              <a:t> → hisob turini tekshiring (RID 1000+ – oddiy hisob).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7600"/>
            <a:ext cx="66751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393649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657600"/>
            <a:ext cx="6080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400" b="0" i="0">
                <a:solidFill>
                  <a:srgbClr val="202A38"/>
                </a:solidFill>
                <a:latin typeface="Times New Roman"/>
              </a:rPr>
              <a:t>VirtualBoxda “Dars-4 boshlanishi” snapshotini oling.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74920"/>
            <a:ext cx="6675120" cy="10972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5074920"/>
            <a:ext cx="64008" cy="10972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1572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Times New Roman"/>
              </a:rPr>
              <a:t>Skrinshot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6309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Consolas"/>
              </a:rPr>
              <a:t>winver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oynasi va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whoami /user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natijasi — ish daftariga joylanadi.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1645920"/>
            <a:ext cx="4114800" cy="196596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1645920"/>
            <a:ext cx="64008" cy="196596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59" y="1728216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78A73"/>
                </a:solidFill>
                <a:latin typeface="Times New Roman"/>
              </a:rPr>
              <a:t>Tezkor tugmalar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26679" y="2103120"/>
            <a:ext cx="420624" cy="329184"/>
          </a:xfrm>
          <a:prstGeom prst="roundRect">
            <a:avLst>
              <a:gd name="adj" fmla="val 28000"/>
            </a:avLst>
          </a:prstGeom>
          <a:solidFill>
            <a:srgbClr val="ECEFF3"/>
          </a:solidFill>
          <a:ln w="15875">
            <a:solidFill>
              <a:srgbClr val="ADB8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mbria Math"/>
              </a:rPr>
              <a:t>Win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47303" y="2103120"/>
            <a:ext cx="2011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54647A"/>
                </a:solidFill>
                <a:latin typeface="Times New Roman"/>
              </a:rPr>
              <a:t>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8471" y="2103120"/>
            <a:ext cx="292608" cy="329184"/>
          </a:xfrm>
          <a:prstGeom prst="roundRect">
            <a:avLst>
              <a:gd name="adj" fmla="val 28000"/>
            </a:avLst>
          </a:prstGeom>
          <a:solidFill>
            <a:srgbClr val="ECEFF3"/>
          </a:solidFill>
          <a:ln w="15875">
            <a:solidFill>
              <a:srgbClr val="ADB8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mbria Math"/>
              </a:rP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103120"/>
            <a:ext cx="2286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Run oynasi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26679" y="2651760"/>
            <a:ext cx="420624" cy="329184"/>
          </a:xfrm>
          <a:prstGeom prst="roundRect">
            <a:avLst>
              <a:gd name="adj" fmla="val 28000"/>
            </a:avLst>
          </a:prstGeom>
          <a:solidFill>
            <a:srgbClr val="ECEFF3"/>
          </a:solidFill>
          <a:ln w="15875">
            <a:solidFill>
              <a:srgbClr val="ADB8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mbria Math"/>
              </a:rPr>
              <a:t>Win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7303" y="2651760"/>
            <a:ext cx="2011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54647A"/>
                </a:solidFill>
                <a:latin typeface="Times New Roman"/>
              </a:rPr>
              <a:t>+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8471" y="2651760"/>
            <a:ext cx="292608" cy="329184"/>
          </a:xfrm>
          <a:prstGeom prst="roundRect">
            <a:avLst>
              <a:gd name="adj" fmla="val 28000"/>
            </a:avLst>
          </a:prstGeom>
          <a:solidFill>
            <a:srgbClr val="ECEFF3"/>
          </a:solidFill>
          <a:ln w="15875">
            <a:solidFill>
              <a:srgbClr val="ADB8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mbria Math"/>
              </a:rPr>
              <a:t>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651760"/>
            <a:ext cx="2286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ekranni qulflash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3108960"/>
            <a:ext cx="420624" cy="329184"/>
          </a:xfrm>
          <a:prstGeom prst="roundRect">
            <a:avLst>
              <a:gd name="adj" fmla="val 28000"/>
            </a:avLst>
          </a:prstGeom>
          <a:solidFill>
            <a:srgbClr val="ECEFF3"/>
          </a:solidFill>
          <a:ln w="15875">
            <a:solidFill>
              <a:srgbClr val="ADB8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mbria Math"/>
              </a:rPr>
              <a:t>Win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47303" y="3108960"/>
            <a:ext cx="2011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54647A"/>
                </a:solidFill>
                <a:latin typeface="Times New Roman"/>
              </a:rPr>
              <a:t>+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48471" y="3108960"/>
            <a:ext cx="292608" cy="329184"/>
          </a:xfrm>
          <a:prstGeom prst="roundRect">
            <a:avLst>
              <a:gd name="adj" fmla="val 28000"/>
            </a:avLst>
          </a:prstGeom>
          <a:solidFill>
            <a:srgbClr val="ECEFF3"/>
          </a:solidFill>
          <a:ln w="15875">
            <a:solidFill>
              <a:srgbClr val="ADB8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F3864"/>
                </a:solidFill>
                <a:latin typeface="Cambria Math"/>
              </a:rP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108960"/>
            <a:ext cx="2286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Admin terminal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79" y="3794760"/>
            <a:ext cx="4114800" cy="23774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79" y="3794760"/>
            <a:ext cx="64008" cy="2377440"/>
          </a:xfrm>
          <a:prstGeom prst="rect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59" y="3877056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A8660B"/>
                </a:solidFill>
                <a:latin typeface="Times New Roman"/>
              </a:rPr>
              <a:t>Bugungi vositalar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4206240"/>
            <a:ext cx="3749039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secpol.msc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— Local Security Policy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lusrmgr.msc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— Local Users and Groups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wf.msc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— Windows Defender Firewall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eventvwr.msc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— Event Viewer</a:t>
            </a:r>
          </a:p>
          <a:p>
            <a:pPr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PowerShell ·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net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·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auditpol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194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7FD1BD"/>
                </a:solidFill>
                <a:latin typeface="Times New Roman"/>
              </a:rPr>
              <a:t>1-SAVOL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Times New Roman"/>
              </a:rPr>
              <a:t>Xavfsizlik sozlamalarini sozlash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697480"/>
            <a:ext cx="1280160" cy="4445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1-SAVOL · HAMMASI QAYERDA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Uch himoya bo‘limi — bugungi sozlamalar xaritasi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3566160" cy="3977639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00200"/>
            <a:ext cx="3566160" cy="73152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828800"/>
            <a:ext cx="640080" cy="64008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iel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" y="1995220"/>
            <a:ext cx="307240" cy="30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27048" y="1828800"/>
            <a:ext cx="2514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Times New Roman"/>
              </a:rPr>
              <a:t>1-qism. Microsoft Defender Antivirus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9748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Kompyuterni zararli dasturlardan real vaqtda himoya qiladi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38328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1.1 Holat va skanerlash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1.2 EICAR bilan sinash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1.3 Istisnolar, Tamper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" y="4572000"/>
            <a:ext cx="3291840" cy="86868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645152"/>
            <a:ext cx="301752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>
                <a:solidFill>
                  <a:srgbClr val="E6EDF5"/>
                </a:solidFill>
                <a:latin typeface="Consolas"/>
              </a:rPr>
              <a:t>Get-MpComputerStatus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>
                <a:solidFill>
                  <a:srgbClr val="E6EDF5"/>
                </a:solidFill>
                <a:latin typeface="Consolas"/>
              </a:rPr>
              <a:t>Start-MpScan · Get-MpThreat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1600200"/>
            <a:ext cx="3566160" cy="3977639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1600200"/>
            <a:ext cx="3566160" cy="7315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98848" y="1828800"/>
            <a:ext cx="640080" cy="64008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lob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5268" y="1995220"/>
            <a:ext cx="307240" cy="30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76088" y="1828800"/>
            <a:ext cx="2514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Times New Roman"/>
              </a:rPr>
              <a:t>2-qism. Windows Defender Firewall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69748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Tarmoq trafigini qoidalar bo‘yicha o‘tkazadi yoki to‘sadi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338328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1.4 Port bloklash qoidasi (3 usul)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1.5 Qoidani sinash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53128" y="4572000"/>
            <a:ext cx="3291840" cy="86868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4645152"/>
            <a:ext cx="301752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>
                <a:solidFill>
                  <a:srgbClr val="E6EDF5"/>
                </a:solidFill>
                <a:latin typeface="Consolas"/>
              </a:rPr>
              <a:t>wf.msc · netsh advfirewall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>
                <a:solidFill>
                  <a:srgbClr val="E6EDF5"/>
                </a:solidFill>
                <a:latin typeface="Consolas"/>
              </a:rPr>
              <a:t>New-NetFirewallRule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>
                <a:solidFill>
                  <a:srgbClr val="E6EDF5"/>
                </a:solidFill>
                <a:latin typeface="Consolas"/>
              </a:rPr>
              <a:t>Test-NetConnection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7" y="1600200"/>
            <a:ext cx="3566160" cy="3977639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5007" y="1600200"/>
            <a:ext cx="3566160" cy="73152"/>
          </a:xfrm>
          <a:prstGeom prst="rect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47887" y="1828800"/>
            <a:ext cx="640080" cy="640080"/>
          </a:xfrm>
          <a:prstGeom prst="ellipse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ist-check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4307" y="1995220"/>
            <a:ext cx="307240" cy="30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025128" y="1828800"/>
            <a:ext cx="2514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Times New Roman"/>
              </a:rPr>
              <a:t>3-qism. Local Security Policy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7" y="269748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Parol, audit va foydalanuvchi huquqlari sozlamalari bir joyda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7" y="338328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300" b="1">
                <a:solidFill>
                  <a:srgbClr val="E08E1D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1.6 Audit siyosati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300" b="1">
                <a:solidFill>
                  <a:srgbClr val="E08E1D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1.7 Security Options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02167" y="4572000"/>
            <a:ext cx="3291840" cy="86868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9327" y="4645152"/>
            <a:ext cx="301752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>
                <a:solidFill>
                  <a:srgbClr val="E6EDF5"/>
                </a:solidFill>
                <a:latin typeface="Consolas"/>
              </a:rPr>
              <a:t>secpol.msc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>
                <a:solidFill>
                  <a:srgbClr val="E6EDF5"/>
                </a:solidFill>
                <a:latin typeface="Consolas"/>
              </a:rPr>
              <a:t>auditpol /set · /get</a:t>
            </a:r>
          </a:p>
        </p:txBody>
      </p:sp>
      <p:sp>
        <p:nvSpPr>
          <p:cNvPr id="35" name="Rounded Rectangle 34">
            <a:hlinkClick action="ppaction://hlinksldjump" r:id="rId7"/>
          </p:cNvPr>
          <p:cNvSpPr/>
          <p:nvPr/>
        </p:nvSpPr>
        <p:spPr>
          <a:xfrm>
            <a:off x="566928" y="5760720"/>
            <a:ext cx="279806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Consolas"/>
              </a:rPr>
              <a:t>?  Local Security Policy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08960" y="5715000"/>
            <a:ext cx="8503920" cy="5029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earch_1F38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6976" y="580186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703320" y="5715000"/>
            <a:ext cx="7772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Har bir topshiriq: maqsad → amallar → skrinshot → mumkin natijalar → xulosa.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1-SAVOL · 1.1-TOPSHIRIQ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1.1 — Defender holatini tekshirish va skanerlash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71907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00200"/>
            <a:ext cx="5257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Administrator PowerShellda holatni tekshiring: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Get-MpComputerStatus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40280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35915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0280"/>
            <a:ext cx="5257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Imzolarni yangilang: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Update-MpSignature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880360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99923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2880360"/>
            <a:ext cx="5257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Tezkor skanerlash: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Start-MpScan -ScanType QuickScan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20440"/>
            <a:ext cx="5852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377647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520440"/>
            <a:ext cx="5257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Downloads papkasini tekshiring: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Start-MpScan -ScanType CustomScan -ScanPath "$env:USERPROFILE\Downloads"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9400" y="1600200"/>
            <a:ext cx="4983480" cy="269748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1673352"/>
            <a:ext cx="4709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PowerShell (Admin)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1920240"/>
            <a:ext cx="47091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onsolas"/>
              </a:rPr>
              <a:t>PS&gt; Get-MpComputerStatus | Select-Object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>  RealTimeProtectionEnabled,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>  AntivirusSignatureLastUpdated,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>  IsTamperProtected, AMRunningMode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7FD1BD"/>
                </a:solidFill>
                <a:latin typeface="Consolas"/>
              </a:rPr>
              <a:t># namunaviy natija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>RealTimeProtectionEnabled     : True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>AntivirusSignatureLastUpdated : 03.10.2026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>IsTamperProtected             : True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>AMRunningMode                 : Normal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4434840"/>
            <a:ext cx="4983480" cy="594360"/>
          </a:xfrm>
          <a:prstGeom prst="roundRect">
            <a:avLst>
              <a:gd name="adj" fmla="val 10000"/>
            </a:avLst>
          </a:prstGeom>
          <a:solidFill>
            <a:srgbClr val="FAE5E2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x-circle_C039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416" y="4567428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4434840"/>
            <a:ext cx="42519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 i="0">
                <a:solidFill>
                  <a:srgbClr val="178A73"/>
                </a:solidFill>
                <a:latin typeface="Consolas"/>
              </a:rPr>
              <a:t>RealTimeProtectionEnabled : False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topilsa — himoya o‘chirilgan!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074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Times New Roman"/>
              </a:rPr>
              <a:t>Skanerlash turlari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34924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5349240"/>
            <a:ext cx="64008" cy="86868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3949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Consolas"/>
              </a:rPr>
              <a:t>Quick scan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66928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 i="0">
                <a:solidFill>
                  <a:srgbClr val="202A38"/>
                </a:solidFill>
                <a:latin typeface="Times New Roman"/>
              </a:rPr>
              <a:t>zararli dasturlar eng ko‘p yashiringan joylar — kundalik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55848" y="534924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55848" y="5349240"/>
            <a:ext cx="64008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8728" y="53949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Consolas"/>
              </a:rPr>
              <a:t>Full scan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38728" y="566928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 i="0">
                <a:solidFill>
                  <a:srgbClr val="202A38"/>
                </a:solidFill>
                <a:latin typeface="Times New Roman"/>
              </a:rPr>
              <a:t>butun disk — haftalik chuqur tekshiruv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534924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44768" y="5349240"/>
            <a:ext cx="64008" cy="868680"/>
          </a:xfrm>
          <a:prstGeom prst="rect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27648" y="53949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A8660B"/>
                </a:solidFill>
                <a:latin typeface="Consolas"/>
              </a:rPr>
              <a:t>Custom scan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566928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 i="0">
                <a:solidFill>
                  <a:srgbClr val="202A38"/>
                </a:solidFill>
                <a:latin typeface="Times New Roman"/>
              </a:rPr>
              <a:t>tanlangan papka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3687" y="534924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7" y="5349240"/>
            <a:ext cx="64008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16567" y="53949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Offline scan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6567" y="566928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 i="0">
                <a:solidFill>
                  <a:srgbClr val="202A38"/>
                </a:solidFill>
                <a:latin typeface="Times New Roman"/>
              </a:rPr>
              <a:t>Windows yuklanmasdan oldin — rootkit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1-SAVOL · 1.2-TOPSHIRIQ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1.2 — EICAR test fayli bilan Defenderni sinash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649224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92481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00200"/>
            <a:ext cx="58978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30" b="0" i="0">
                <a:solidFill>
                  <a:srgbClr val="202A38"/>
                </a:solidFill>
                <a:latin typeface="Times New Roman"/>
              </a:rPr>
              <a:t>Real vaqt himoyasini vaqtincha o‘chiring: </a:t>
            </a:r>
            <a:r>
              <a:rPr sz="1180" b="1" i="0">
                <a:solidFill>
                  <a:srgbClr val="178A73"/>
                </a:solidFill>
                <a:latin typeface="Consolas"/>
              </a:rPr>
              <a:t>Set-MpPreference -DisableRealtimeMonitoring $true</a:t>
            </a:r>
            <a:r>
              <a:rPr sz="1230" b="0" i="0">
                <a:solidFill>
                  <a:srgbClr val="202A38"/>
                </a:solidFill>
                <a:latin typeface="Times New Roman"/>
              </a:rPr>
              <a:t> (Tamper Protection yoqiq bo‘lsa — Windows Security → Manage settings orqali qo‘lda).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42616"/>
            <a:ext cx="6492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852928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642616"/>
            <a:ext cx="5897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30" b="0" i="0">
                <a:solidFill>
                  <a:srgbClr val="202A38"/>
                </a:solidFill>
                <a:latin typeface="Times New Roman"/>
              </a:rPr>
              <a:t>Notepadda EICAR satrini yozib, Ish stoliga </a:t>
            </a:r>
            <a:r>
              <a:rPr sz="1180" b="1" i="0">
                <a:solidFill>
                  <a:srgbClr val="178A73"/>
                </a:solidFill>
                <a:latin typeface="Consolas"/>
              </a:rPr>
              <a:t>eicar.com</a:t>
            </a:r>
            <a:r>
              <a:rPr sz="1230" b="0" i="0">
                <a:solidFill>
                  <a:srgbClr val="202A38"/>
                </a:solidFill>
                <a:latin typeface="Times New Roman"/>
              </a:rPr>
              <a:t> nomi bilan saqlang (aynan bir qatorda).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56432"/>
            <a:ext cx="6492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3621024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5897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30" b="0" i="0">
                <a:solidFill>
                  <a:srgbClr val="202A38"/>
                </a:solidFill>
                <a:latin typeface="Times New Roman"/>
              </a:rPr>
              <a:t>Real vaqt himoyasini yoqing: </a:t>
            </a:r>
            <a:r>
              <a:rPr sz="1180" b="1" i="0">
                <a:solidFill>
                  <a:srgbClr val="178A73"/>
                </a:solidFill>
                <a:latin typeface="Consolas"/>
              </a:rPr>
              <a:t>Set-MpPreference -DisableRealtimeMonitoring $false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78808"/>
            <a:ext cx="6492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4389120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178808"/>
            <a:ext cx="5897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30" b="0" i="0">
                <a:solidFill>
                  <a:srgbClr val="202A38"/>
                </a:solidFill>
                <a:latin typeface="Times New Roman"/>
              </a:rPr>
              <a:t>Defender faylni aniqlab, karantinga oladi: Windows Security → Protection history → “Threat found”.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92624"/>
            <a:ext cx="6492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515721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92624"/>
            <a:ext cx="5897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30" b="0" i="0">
                <a:solidFill>
                  <a:srgbClr val="202A38"/>
                </a:solidFill>
                <a:latin typeface="Times New Roman"/>
              </a:rPr>
              <a:t>Tahdidni ko‘ring: </a:t>
            </a:r>
            <a:r>
              <a:rPr sz="1180" b="1" i="0">
                <a:solidFill>
                  <a:srgbClr val="178A73"/>
                </a:solidFill>
                <a:latin typeface="Consolas"/>
              </a:rPr>
              <a:t>Get-MpThreat</a:t>
            </a:r>
            <a:r>
              <a:rPr sz="1230" b="0" i="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180" b="1" i="0">
                <a:solidFill>
                  <a:srgbClr val="178A73"/>
                </a:solidFill>
                <a:latin typeface="Consolas"/>
              </a:rPr>
              <a:t>Virus:DOS/EICAR_Test_File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1600200"/>
            <a:ext cx="4297680" cy="12344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5875">
            <a:solidFill>
              <a:srgbClr val="E08E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arning_E08E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2052828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09560" y="1600200"/>
            <a:ext cx="35661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EICAR — antivirus tashkilotlari yaratgan test satri. Unda zararli kod yo‘q, lekin barcha antiviruslar uni “virus” deb tan oladi. Faqat virtual mashinada bajaring!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017520"/>
            <a:ext cx="4297680" cy="141732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3090672"/>
            <a:ext cx="4023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EICAR satri (bir qatorda)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333756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200">
                <a:solidFill>
                  <a:srgbClr val="7FD1BD"/>
                </a:solidFill>
                <a:latin typeface="Consolas"/>
              </a:rPr>
              <a:t># eicar.com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200">
                <a:solidFill>
                  <a:srgbClr val="E6EDF5"/>
                </a:solidFill>
                <a:latin typeface="Consolas"/>
              </a:rPr>
              <a:t>X5O!P%@AP[4\PZX54(P^)7CC)7}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200">
                <a:solidFill>
                  <a:srgbClr val="E6EDF5"/>
                </a:solidFill>
                <a:latin typeface="Consolas"/>
              </a:rPr>
              <a:t>$EICAR-STANDARD-ANTIVIRUS-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200">
                <a:solidFill>
                  <a:srgbClr val="E6EDF5"/>
                </a:solidFill>
                <a:latin typeface="Consolas"/>
              </a:rPr>
              <a:t>TEST-FILE!$H+H*</a:t>
            </a:r>
          </a:p>
        </p:txBody>
      </p:sp>
      <p:sp>
        <p:nvSpPr>
          <p:cNvPr id="29" name="Rounded Rectangle 28">
            <a:hlinkClick action="ppaction://hlinksldjump" r:id="rId4"/>
          </p:cNvPr>
          <p:cNvSpPr/>
          <p:nvPr/>
        </p:nvSpPr>
        <p:spPr>
          <a:xfrm>
            <a:off x="7315200" y="46177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Consolas"/>
              </a:rPr>
              <a:t>?  EICAR</a:t>
            </a:r>
          </a:p>
        </p:txBody>
      </p:sp>
      <p:sp>
        <p:nvSpPr>
          <p:cNvPr id="30" name="Rounded Rectangle 29">
            <a:hlinkClick action="ppaction://hlinksldjump" r:id="rId5"/>
          </p:cNvPr>
          <p:cNvSpPr/>
          <p:nvPr/>
        </p:nvSpPr>
        <p:spPr>
          <a:xfrm>
            <a:off x="8641080" y="461772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Consolas"/>
              </a:rPr>
              <a:t>?  Tamper Protection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760720"/>
            <a:ext cx="11045952" cy="50292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760720"/>
            <a:ext cx="64008" cy="50292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760720"/>
            <a:ext cx="10698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Times New Roman"/>
              </a:rPr>
              <a:t>Skrinshot 1.2: Protection history — EICAR tahdidi aniqlandi.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1-SAVOL · 1.2-TOPSHIRIQ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EICAR sinovi: nima sodir bo‘ladi va natijani qanday o‘qish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1828800" cy="91440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eicar.com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saqlandi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441448" y="1984248"/>
            <a:ext cx="320040" cy="237744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7208" y="1645920"/>
            <a:ext cx="1828800" cy="914400"/>
          </a:xfrm>
          <a:prstGeom prst="roundRect">
            <a:avLst>
              <a:gd name="adj" fmla="val 14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Real vaqt himoyasi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yoqildi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681728" y="1984248"/>
            <a:ext cx="320040" cy="237744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47488" y="1645920"/>
            <a:ext cx="1828800" cy="914400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Defender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aniqladi (~1 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22008" y="1984248"/>
            <a:ext cx="320040" cy="237744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87768" y="1645920"/>
            <a:ext cx="1828800" cy="91440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Karantin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ga olindi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1984248"/>
            <a:ext cx="320040" cy="237744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28048" y="1645920"/>
            <a:ext cx="1828800" cy="91440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Protection history: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“Threat found”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43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Times New Roman"/>
              </a:rPr>
              <a:t>Barcha mumkin bo‘lgan natijalar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1089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-circle_178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4612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52728" y="3200400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Times New Roman"/>
              </a:rPr>
              <a:t>Fayl darhol yo‘qoldi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84048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Protection history’da yozuv paydo bo‘ldi — himoya ishlayapti.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1089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DF3E1"/>
          </a:solidFill>
          <a:ln w="15875">
            <a:solidFill>
              <a:srgbClr val="E08E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rning_E08E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3246120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01768" y="3200400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Times New Roman"/>
              </a:rPr>
              <a:t>Fayl saqlanib qoldi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84048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Real vaqt himoyasi hali o‘chiq yoki papka istisno (exclusion) qilingan.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7" y="31089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AE5E2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ck_C039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599" y="3246120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750807" y="3200400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 i="0">
                <a:solidFill>
                  <a:srgbClr val="178A73"/>
                </a:solidFill>
                <a:latin typeface="Consolas"/>
              </a:rPr>
              <a:t>Set-MpPreference</a:t>
            </a:r>
            <a:r>
              <a:rPr sz="1350" b="1" i="0">
                <a:solidFill>
                  <a:srgbClr val="1F3864"/>
                </a:solidFill>
                <a:latin typeface="Times New Roman"/>
              </a:rPr>
              <a:t> “access denied”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7" y="384048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Tamper Protection yoqilgan — bu normal himoya.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937760"/>
            <a:ext cx="11045952" cy="128016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937760"/>
            <a:ext cx="64008" cy="128016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020056"/>
            <a:ext cx="10771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78A73"/>
                </a:solidFill>
                <a:latin typeface="Times New Roman"/>
              </a:rPr>
              <a:t>Xulosa — 1.2-topshiriq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035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Ma’nosi: Defender EICAR faylini bir soniyada aniqlab, karantinga oldi — bu real vaqt himoyasining isboti. Protection history — aniqlangan barcha tahdidlar jurnali.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Qayerda kerak: kriminalistik tahlilda Protection history qachon va qaysi fayl aniqlanganini ko‘rsatadi.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1-SAVOL · 1.3-TOPSHIRIQ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1.3 — Istisnolar (exclusions) va Tamper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7607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87909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00200"/>
            <a:ext cx="5166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Joriy istisnolarni ko‘ring: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Get-MpPreference | Select-Object -ExpandProperty ExclusionPath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— toza tizimda bo‘sh.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78608"/>
            <a:ext cx="57607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880360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578608"/>
            <a:ext cx="5166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Tamper Protection holati: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(Get-MpComputerStatus).IsTamperProtected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True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bo‘lsa, sozlamalarni zararli dastur o‘chira olmaydi.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02736"/>
            <a:ext cx="576072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3881628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602736"/>
            <a:ext cx="51663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Windows Security → Virus &amp; threat protection → Ransomware protection → Controlled folder access bo‘limini ko‘ring.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544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Times New Roman"/>
              </a:rPr>
              <a:t>Istisno nima uchun xavfli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920240"/>
            <a:ext cx="1463040" cy="822960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C:\Tools\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(istisno)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092440" y="2194560"/>
            <a:ext cx="365760" cy="27432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1920240"/>
            <a:ext cx="1463040" cy="82296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zararli fayl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shu papkada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0012680" y="2194560"/>
            <a:ext cx="365760" cy="27432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424160" y="1920240"/>
            <a:ext cx="1188720" cy="82296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Defender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ko‘rmaydi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2926080"/>
            <a:ext cx="5029200" cy="1051560"/>
          </a:xfrm>
          <a:prstGeom prst="roundRect">
            <a:avLst>
              <a:gd name="adj" fmla="val 10000"/>
            </a:avLst>
          </a:prstGeom>
          <a:solidFill>
            <a:srgbClr val="FAE5E2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x-circle_C039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3287268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178040" y="2926080"/>
            <a:ext cx="429768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Kutilmagan istisno (butun disk yoki foydalanuvchi papkasi) — himoya ataylab zaiflashtirilganining belgisi.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60520"/>
            <a:ext cx="5029200" cy="9144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4160520"/>
            <a:ext cx="64008" cy="91440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424281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78A73"/>
                </a:solidFill>
                <a:latin typeface="Times New Roman"/>
              </a:rPr>
              <a:t>Tamper Protection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449884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Defender sozlamalarini zararli dastur o‘zgartirishdan himoya qiladi.</a:t>
            </a:r>
          </a:p>
        </p:txBody>
      </p:sp>
      <p:sp>
        <p:nvSpPr>
          <p:cNvPr id="30" name="Rounded Rectangle 29">
            <a:hlinkClick action="ppaction://hlinksldjump" r:id="rId4"/>
          </p:cNvPr>
          <p:cNvSpPr/>
          <p:nvPr/>
        </p:nvSpPr>
        <p:spPr>
          <a:xfrm>
            <a:off x="6583680" y="5257800"/>
            <a:ext cx="138988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Consolas"/>
              </a:rPr>
              <a:t>?  Istisno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754880"/>
            <a:ext cx="5760720" cy="14630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754880"/>
            <a:ext cx="64008" cy="146304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8371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78A73"/>
                </a:solidFill>
                <a:latin typeface="Times New Roman"/>
              </a:rPr>
              <a:t>Xulosa — 1.3-topshiriq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20640"/>
            <a:ext cx="5440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Istisno — Defender tekshirmaydigan papka/fayl: ba’zan zarur, lekin xavfli. Kriminalistik tekshiruvda istisnolar ro‘yxati albatta ko‘rib chiqiladi.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1-SAVOL · 1.4-TOPSHIRIQ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1.4 — 4444-portni bloklovchi qoida: uch usul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81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4444-port kirish testlarida (masalan, Metasploit) tez-tez ishlatiladi — shuning uchun uni bloklash namuna sifatida tanlangan.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3657600" cy="36576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920240"/>
            <a:ext cx="64008" cy="365760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02536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78A73"/>
                </a:solidFill>
                <a:latin typeface="Times New Roman"/>
              </a:rPr>
              <a:t>a) GUI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Win + R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wf.msc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(yoki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control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→ Windows Defender Firewall → Advanced settings).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Inbound Rules → New Rule…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Rule Type: Port → Protocol: TCP, Specific local ports: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4444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30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Action: Block the connection → profillar → nom “Block TCP 4444” → Finish.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920240"/>
            <a:ext cx="3611880" cy="36576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993392"/>
            <a:ext cx="3337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b) netsh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240280"/>
            <a:ext cx="333756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onsolas"/>
              </a:rPr>
              <a:t>&gt; netsh advfirewall firewall add rule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E6EDF5"/>
                </a:solidFill>
                <a:latin typeface="Consolas"/>
              </a:rPr>
              <a:t>    name="Block 4444"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E6EDF5"/>
                </a:solidFill>
                <a:latin typeface="Consolas"/>
              </a:rPr>
              <a:t>    dir=in action=block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E6EDF5"/>
                </a:solidFill>
                <a:latin typeface="Consolas"/>
              </a:rPr>
              <a:t>    protocol=TCP localport=4444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920240"/>
            <a:ext cx="3429000" cy="36576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1993392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c) PowerShell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2240280"/>
            <a:ext cx="3154680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onsolas"/>
              </a:rPr>
              <a:t>PS&gt; New-NetFirewallRule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E6EDF5"/>
                </a:solidFill>
                <a:latin typeface="Consolas"/>
              </a:rPr>
              <a:t>    -DisplayName "Block 4444"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E6EDF5"/>
                </a:solidFill>
                <a:latin typeface="Consolas"/>
              </a:rPr>
              <a:t>    -Direction Inbound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E6EDF5"/>
                </a:solidFill>
                <a:latin typeface="Consolas"/>
              </a:rPr>
              <a:t>    -LocalPort 4444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E6EDF5"/>
                </a:solidFill>
                <a:latin typeface="Consolas"/>
              </a:rPr>
              <a:t>    -Protocol TCP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E6EDF5"/>
                </a:solidFill>
                <a:latin typeface="Consolas"/>
              </a:rPr>
              <a:t>    -Action Block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715000"/>
            <a:ext cx="11045952" cy="54864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-circle_178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824728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61288" y="5715000"/>
            <a:ext cx="103144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Xulosa: GUI bitta kompyuter uchun qulay; </a:t>
            </a:r>
            <a:r>
              <a:rPr sz="1150" b="1" i="0">
                <a:solidFill>
                  <a:srgbClr val="178A73"/>
                </a:solidFill>
                <a:latin typeface="Consolas"/>
              </a:rPr>
              <a:t>netsh</a:t>
            </a:r>
            <a:r>
              <a:rPr sz="1200" b="0" i="0">
                <a:solidFill>
                  <a:srgbClr val="202A38"/>
                </a:solidFill>
                <a:latin typeface="Times New Roman"/>
              </a:rPr>
              <a:t> va PowerShell — ko‘p kompyuterni tez va markazlashgan sozlash uchun. Skrinshot 1.4: </a:t>
            </a:r>
            <a:r>
              <a:rPr sz="1150" b="1" i="0">
                <a:solidFill>
                  <a:srgbClr val="178A73"/>
                </a:solidFill>
                <a:latin typeface="Consolas"/>
              </a:rPr>
              <a:t>wf.msc</a:t>
            </a:r>
            <a:r>
              <a:rPr sz="1200" b="0" i="0">
                <a:solidFill>
                  <a:srgbClr val="202A38"/>
                </a:solidFill>
                <a:latin typeface="Times New Roman"/>
              </a:rPr>
              <a:t> da “Block 4444”.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1-SAVOL · 1.5-TOPSHIRIQ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1.5 — Qoidani sinash: Test-NetConnection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85216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71907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00200"/>
            <a:ext cx="5257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1-oynada 4444-portni tinglang: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40280"/>
            <a:ext cx="58521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47345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40280"/>
            <a:ext cx="5257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2-oynada ulanishni tekshiring: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Test-NetConnection -ComputerName localhost -Port 4444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08960"/>
            <a:ext cx="585216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345643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108960"/>
            <a:ext cx="5257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Qoida yoqiq: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TcpTestSucceeded : False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. Qoidani o‘chiring: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Remove-NetFirewallRule -DisplayName "Block 4444"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→ qayta tekshiring: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True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80560"/>
            <a:ext cx="5852160" cy="7772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553712"/>
            <a:ext cx="5577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1-oyna (tinglovchi)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80060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onsolas"/>
              </a:rPr>
              <a:t>PS&gt; $L = [System.Net.Sockets.TcpListener]4444; $L.Start()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5544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Times New Roman"/>
              </a:rPr>
              <a:t>Natijalarni o‘qish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675120" y="1874519"/>
          <a:ext cx="4937760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2834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TcpTestSucceeded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Ma’nosi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02A38"/>
                          </a:solidFill>
                          <a:latin typeface="Times New Roman"/>
                        </a:rPr>
                        <a:t>False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02A38"/>
                          </a:solidFill>
                          <a:latin typeface="Times New Roman"/>
                        </a:rPr>
                        <a:t>port yopiq yoki firewall bloklagan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02A38"/>
                          </a:solidFill>
                          <a:latin typeface="Times New Roman"/>
                        </a:rPr>
                        <a:t>True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02A38"/>
                          </a:solidFill>
                          <a:latin typeface="Times New Roman"/>
                        </a:rPr>
                        <a:t>port ochiq, ulanish o‘tadi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02A38"/>
                          </a:solidFill>
                          <a:latin typeface="Times New Roman"/>
                        </a:rPr>
                        <a:t>False*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02A38"/>
                          </a:solidFill>
                          <a:latin typeface="Times New Roman"/>
                        </a:rPr>
                        <a:t>tinglovchi ochilmagan — avval </a:t>
                      </a:r>
                      <a:r>
                        <a:rPr sz="1150" b="1" i="0">
                          <a:solidFill>
                            <a:srgbClr val="178A73"/>
                          </a:solidFill>
                          <a:latin typeface="Consolas"/>
                        </a:rPr>
                        <a:t>TcpListener</a:t>
                      </a:r>
                      <a:r>
                        <a:rPr sz="1200" b="0" i="0">
                          <a:solidFill>
                            <a:srgbClr val="202A38"/>
                          </a:solidFill>
                          <a:latin typeface="Times New Roman"/>
                        </a:rPr>
                        <a:t>ni ishga tushiring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675120" y="4480560"/>
            <a:ext cx="1371600" cy="73152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Qoida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yoqiq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092440" y="4709160"/>
            <a:ext cx="320040" cy="27432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58200" y="4480560"/>
            <a:ext cx="1280160" cy="73152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False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440680"/>
            <a:ext cx="11045952" cy="73152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-circle_178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641848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61288" y="5440680"/>
            <a:ext cx="1031443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Xulosa: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Test-NetConnection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— firewall qoidasi yoki tarmoq ulanishini tekshirishning eng oddiy usuli; tarmoq nosozliklarida ham ishlatiladi. Chiquvchi trafik uchun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-Direction Outbound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1-SAVOL · 3-QISM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Local Security Policy: siyosatlar qanday qo‘llanadi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087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Windowsning parol, audit va foydalanuvchi huquqlari sozlamalari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secpol.msc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konsolida jamlangan. Domenda siyosatlar LSDOU tartibida qo‘llanadi — oxirgisi ustun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286000"/>
            <a:ext cx="2011680" cy="1005840"/>
          </a:xfrm>
          <a:prstGeom prst="roundRect">
            <a:avLst>
              <a:gd name="adj" fmla="val 14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L</a:t>
            </a:r>
          </a:p>
          <a:p>
            <a:pPr algn="ctr">
              <a:lnSpc>
                <a:spcPct val="100000"/>
              </a:lnSpc>
            </a:pPr>
            <a:r>
              <a:rPr sz="2250" b="0" i="0">
                <a:solidFill>
                  <a:srgbClr val="FFFFFF"/>
                </a:solidFill>
                <a:latin typeface="Times New Roman"/>
              </a:rPr>
              <a:t>Local · lokal sozlama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26079" y="2651760"/>
            <a:ext cx="548640" cy="27432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11879" y="2286000"/>
            <a:ext cx="2011680" cy="100584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S</a:t>
            </a:r>
          </a:p>
          <a:p>
            <a:pPr algn="ctr">
              <a:lnSpc>
                <a:spcPct val="100000"/>
              </a:lnSpc>
            </a:pPr>
            <a:r>
              <a:rPr sz="2250" b="0" i="0">
                <a:solidFill>
                  <a:srgbClr val="FFFFFF"/>
                </a:solidFill>
                <a:latin typeface="Times New Roman"/>
              </a:rPr>
              <a:t>Site · sayt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15000" y="2651760"/>
            <a:ext cx="548640" cy="27432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2286000"/>
            <a:ext cx="2011680" cy="100584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D</a:t>
            </a:r>
          </a:p>
          <a:p>
            <a:pPr algn="ctr">
              <a:lnSpc>
                <a:spcPct val="100000"/>
              </a:lnSpc>
            </a:pPr>
            <a:r>
              <a:rPr sz="2250" b="0" i="0">
                <a:solidFill>
                  <a:srgbClr val="FFFFFF"/>
                </a:solidFill>
                <a:latin typeface="Times New Roman"/>
              </a:rPr>
              <a:t>Domain · domen GPOsi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03920" y="2651760"/>
            <a:ext cx="548640" cy="27432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89719" y="2286000"/>
            <a:ext cx="2011680" cy="1005840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OU</a:t>
            </a:r>
          </a:p>
          <a:p>
            <a:pPr algn="ctr">
              <a:lnSpc>
                <a:spcPct val="100000"/>
              </a:lnSpc>
            </a:pPr>
            <a:r>
              <a:rPr sz="2250" b="0" i="0">
                <a:solidFill>
                  <a:srgbClr val="FFFFFF"/>
                </a:solidFill>
                <a:latin typeface="Times New Roman"/>
              </a:rPr>
              <a:t>OU · tashkiliy birlik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3832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→ oxirgi qo‘llangan siyosat ustun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94760"/>
            <a:ext cx="3566160" cy="118872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94760"/>
            <a:ext cx="64008" cy="118872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8770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Account Policies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206240"/>
            <a:ext cx="3246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parol siyosati · hisobni bloklash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3794760"/>
            <a:ext cx="3566160" cy="118872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3794760"/>
            <a:ext cx="64008" cy="1188720"/>
          </a:xfrm>
          <a:prstGeom prst="rect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38770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A8660B"/>
                </a:solidFill>
                <a:latin typeface="Times New Roman"/>
              </a:rPr>
              <a:t>Local Policies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206240"/>
            <a:ext cx="3246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Audit Policy · User Rights Assignment · Security Options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5007" y="3794760"/>
            <a:ext cx="3566160" cy="118872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7" y="3794760"/>
            <a:ext cx="64008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7" y="38770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Times New Roman"/>
              </a:rPr>
              <a:t>Windows Defender Firewall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5" y="4206240"/>
            <a:ext cx="3246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kiruvchi/chiquvchi qoidalar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9144000" cy="86868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5875">
            <a:solidFill>
              <a:srgbClr val="E08E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arning_E08E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481828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61288" y="5212080"/>
            <a:ext cx="8412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Shuning uchun domendagi kompyuterda lokal sozlama domen GPOsi bilan bekor qilinishi mumkin.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9966960" y="546811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Consolas"/>
              </a:rPr>
              <a:t>?  LSDOU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1-SAVOL · 1.6-TOPSHIRIQ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1.6 — Auditni yoqish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90195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00200"/>
            <a:ext cx="50749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00" b="1" i="0">
                <a:solidFill>
                  <a:srgbClr val="178A73"/>
                </a:solidFill>
                <a:latin typeface="Consolas"/>
              </a:rPr>
              <a:t>secpol.msc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→ Local Policies → Audit Policy → “Audit logon events” → Success va Failure ni belgilang.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24328"/>
            <a:ext cx="56692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857500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624328"/>
            <a:ext cx="50749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Yoki buyruq qatorida (aniqroq, subkategoriya bo‘yicha) — o‘ngdagi buyruqlar.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600200"/>
            <a:ext cx="5120640" cy="219456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673352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cmd (Admin)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1920240"/>
            <a:ext cx="4846320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onsolas"/>
              </a:rPr>
              <a:t>&gt; auditpol /set /subcategory:"Logon"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>    /success:enable /failure:enable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onsolas"/>
              </a:rPr>
              <a:t>&gt; auditpol /set /subcategory:"Account Lockout"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>    /failure:enable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onsolas"/>
              </a:rPr>
              <a:t>&gt; auditpol /get /category:"Logon/Logoff"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11880"/>
            <a:ext cx="2834640" cy="15544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611880"/>
            <a:ext cx="64008" cy="155448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9417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178A73"/>
                </a:solidFill>
                <a:latin typeface="Times New Roman"/>
              </a:rPr>
              <a:t>Success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023360"/>
            <a:ext cx="2514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muvaffaqiyatli hodisalar yoziladi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38728" y="3611880"/>
            <a:ext cx="2834640" cy="15544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38728" y="3611880"/>
            <a:ext cx="64008" cy="15544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21608" y="369417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500" b="1" i="0">
                <a:solidFill>
                  <a:srgbClr val="C0392B"/>
                </a:solidFill>
                <a:latin typeface="Times New Roman"/>
              </a:rPr>
              <a:t>Failure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39896" y="4023360"/>
            <a:ext cx="2514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muvaffaqiyatsiz urinishlar yoziladi — hujumni aniqlashda ayniqsa muhim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3977639"/>
            <a:ext cx="5120640" cy="11887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earch_1F38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4407407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86600" y="3977639"/>
            <a:ext cx="43891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Bu audit 2-savoldagi parolni tanlash simulyatsiyasida (2.4-topshiriq) kerak bo‘ladi.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394960"/>
            <a:ext cx="11045952" cy="77724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618988"/>
            <a:ext cx="329184" cy="32918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61288" y="5394960"/>
            <a:ext cx="1031443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Xulosa: audit tizimda sodir bo‘layotgan hodisalarni Security jurnaliga yozadi. Skrinshot 1.6: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auditpol /get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natijasi — audit yoqilgan.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1-SAVOL · 1.7-TOPSHIRIQ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1.7 — Security Options: oxirgi foydalanuvchi nomini yashirish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85216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74193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00200"/>
            <a:ext cx="52578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00" b="1" i="0">
                <a:solidFill>
                  <a:srgbClr val="178A73"/>
                </a:solidFill>
                <a:latin typeface="Consolas"/>
              </a:rPr>
              <a:t>secpol.msc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→ Local Policies → Security Options.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86000"/>
            <a:ext cx="58521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51917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86000"/>
            <a:ext cx="5257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“Interactive logon: Don’t display last signed-in” ni toping va Enabled holatiga o‘tkazing.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54680"/>
            <a:ext cx="585216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343357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154680"/>
            <a:ext cx="5257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Kompyuterni qulflang (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Win + L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) — kirish oynasida oxirgi foydalanuvchi nomi ko‘rinmasligi kerak.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600200"/>
            <a:ext cx="2331720" cy="2240280"/>
          </a:xfrm>
          <a:prstGeom prst="roundRect">
            <a:avLst>
              <a:gd name="adj" fmla="val 5000"/>
            </a:avLst>
          </a:prstGeom>
          <a:solidFill>
            <a:srgbClr val="255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79" y="1737360"/>
            <a:ext cx="685800" cy="685800"/>
          </a:xfrm>
          <a:prstGeom prst="ellipse">
            <a:avLst/>
          </a:prstGeom>
          <a:solidFill>
            <a:srgbClr val="DD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487168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Talaba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3720" y="2834640"/>
            <a:ext cx="18745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67728" y="2834640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54647A"/>
                </a:solidFill>
                <a:latin typeface="Times New Roman"/>
              </a:rPr>
              <a:t>Parol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3886200"/>
            <a:ext cx="2331720" cy="34747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3886200"/>
            <a:ext cx="2331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Oldin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1600200"/>
            <a:ext cx="2331720" cy="2240280"/>
          </a:xfrm>
          <a:prstGeom prst="roundRect">
            <a:avLst>
              <a:gd name="adj" fmla="val 5000"/>
            </a:avLst>
          </a:prstGeom>
          <a:solidFill>
            <a:srgbClr val="255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12680" y="1737360"/>
            <a:ext cx="685800" cy="685800"/>
          </a:xfrm>
          <a:prstGeom prst="ellipse">
            <a:avLst/>
          </a:prstGeom>
          <a:solidFill>
            <a:srgbClr val="DD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20" y="2487168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Boshqa foydalanuvchi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2834640"/>
            <a:ext cx="18745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82328" y="2834640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54647A"/>
                </a:solidFill>
                <a:latin typeface="Times New Roman"/>
              </a:rPr>
              <a:t>Foydalanuvchi nomi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3200400"/>
            <a:ext cx="1874519" cy="292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82328" y="3200400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54647A"/>
                </a:solidFill>
                <a:latin typeface="Times New Roman"/>
              </a:rPr>
              <a:t>Parol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3886200"/>
            <a:ext cx="2331720" cy="347472"/>
          </a:xfrm>
          <a:prstGeom prst="roundRect">
            <a:avLst>
              <a:gd name="adj" fmla="val 3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20" y="3886200"/>
            <a:ext cx="2331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Keyin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434840"/>
            <a:ext cx="5852160" cy="178308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434840"/>
            <a:ext cx="64008" cy="1783080"/>
          </a:xfrm>
          <a:prstGeom prst="rect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51713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A8660B"/>
                </a:solidFill>
                <a:latin typeface="Times New Roman"/>
              </a:rPr>
              <a:t>Foydali Security Options sozlamalari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828032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8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130" b="1" i="0">
                <a:solidFill>
                  <a:srgbClr val="178A73"/>
                </a:solidFill>
                <a:latin typeface="Consolas"/>
              </a:rPr>
              <a:t>Accounts: Rename administrator account</a:t>
            </a:r>
            <a:r>
              <a:rPr sz="1180" b="0" i="0">
                <a:solidFill>
                  <a:srgbClr val="202A38"/>
                </a:solidFill>
                <a:latin typeface="Times New Roman"/>
              </a:rPr>
              <a:t> — standart nomni o‘zgartirish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8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130" b="1" i="0">
                <a:solidFill>
                  <a:srgbClr val="178A73"/>
                </a:solidFill>
                <a:latin typeface="Consolas"/>
              </a:rPr>
              <a:t>Accounts: Guest account status</a:t>
            </a:r>
            <a:r>
              <a:rPr sz="1180" b="0" i="0">
                <a:solidFill>
                  <a:srgbClr val="202A38"/>
                </a:solidFill>
                <a:latin typeface="Times New Roman"/>
              </a:rPr>
              <a:t> — mehmon hisobini o‘chirish</a:t>
            </a:r>
          </a:p>
          <a:p>
            <a:pPr>
              <a:lnSpc>
                <a:spcPct val="106000"/>
              </a:lnSpc>
              <a:spcAft>
                <a:spcPts val="300"/>
              </a:spcAft>
            </a:pPr>
            <a:r>
              <a:rPr sz="118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130" b="1" i="0">
                <a:solidFill>
                  <a:srgbClr val="178A73"/>
                </a:solidFill>
                <a:latin typeface="Consolas"/>
              </a:rPr>
              <a:t>Interactive logon: Machine inactivity limit</a:t>
            </a:r>
            <a:r>
              <a:rPr sz="1180" b="0" i="0">
                <a:solidFill>
                  <a:srgbClr val="202A38"/>
                </a:solidFill>
                <a:latin typeface="Times New Roman"/>
              </a:rPr>
              <a:t> — harakatsizlikda avtomatik qulflash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434840"/>
            <a:ext cx="4937760" cy="17830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check-circle_178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5161788"/>
            <a:ext cx="329184" cy="3291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269480" y="4434840"/>
            <a:ext cx="4206240" cy="1783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Xulosa: begona odam endi nafaqat parolni, balki login nomini ham taxmin qilishi kerak. Bu — hardening (mustahkamlash)ning oddiy, lekin samarali chorasi.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194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7FD1BD"/>
                </a:solidFill>
                <a:latin typeface="Times New Roman"/>
              </a:rPr>
              <a:t>2-SAVOL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Times New Roman"/>
              </a:rPr>
              <a:t>Foydalanuvchilar xavfsizligini sozlash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697480"/>
            <a:ext cx="1280160" cy="4445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2-SAVOL · ASOSIY TUSHUNCHALAR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Hisoblar, guruhlar va SID — nimani boshqaramiz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087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Har bir shaxs uchun alohida hisob yaratiladi, huquqlar esa guruhlar orqali beriladi (role-based access control).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1-jadval. Windowsning asosiy guruhlari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2423160"/>
          <a:ext cx="6035040" cy="27797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"/>
                <a:gridCol w="2377440"/>
                <a:gridCol w="2194560"/>
              </a:tblGrid>
              <a:tr h="69494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Guruh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Huquq darajasi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Tavsiya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02A38"/>
                          </a:solidFill>
                          <a:latin typeface="Times New Roman"/>
                        </a:rPr>
                        <a:t>Administrators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02A38"/>
                          </a:solidFill>
                          <a:latin typeface="Times New Roman"/>
                        </a:rPr>
                        <a:t>To‘liq — barcha sozlamalarni o‘zgartira oladi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02A38"/>
                          </a:solidFill>
                          <a:latin typeface="Times New Roman"/>
                        </a:rPr>
                        <a:t>Faqat admin vazifasini bajaruvchilarga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02A38"/>
                          </a:solidFill>
                          <a:latin typeface="Times New Roman"/>
                        </a:rPr>
                        <a:t>Users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02A38"/>
                          </a:solidFill>
                          <a:latin typeface="Times New Roman"/>
                        </a:rPr>
                        <a:t>Standart — dastur o‘rnata olmaydi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02A38"/>
                          </a:solidFill>
                          <a:latin typeface="Times New Roman"/>
                        </a:rPr>
                        <a:t>Kundalik ishchi hisoblar uchun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02A38"/>
                          </a:solidFill>
                          <a:latin typeface="Times New Roman"/>
                        </a:rPr>
                        <a:t>Guests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02A38"/>
                          </a:solidFill>
                          <a:latin typeface="Times New Roman"/>
                        </a:rPr>
                        <a:t>Juda cheklangan, vaqtinchalik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02A38"/>
                          </a:solidFill>
                          <a:latin typeface="Times New Roman"/>
                        </a:rPr>
                        <a:t>Iloji boricha o‘chirilgan holda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8000" y="21031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SID tuzilishi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2423160"/>
            <a:ext cx="1143000" cy="59436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Times New Roman"/>
              </a:rPr>
              <a:t>S-1-5-21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423160"/>
            <a:ext cx="1920240" cy="594360"/>
          </a:xfrm>
          <a:prstGeom prst="roundRect">
            <a:avLst>
              <a:gd name="adj" fmla="val 14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Times New Roman"/>
              </a:rPr>
              <a:t>…kompyuter ID…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04120" y="2423160"/>
            <a:ext cx="1371600" cy="594360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Times New Roman"/>
              </a:rPr>
              <a:t>RID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3200400"/>
            <a:ext cx="1508760" cy="105156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3246120"/>
            <a:ext cx="1508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900" b="1" i="0">
                <a:solidFill>
                  <a:srgbClr val="C0392B"/>
                </a:solidFill>
                <a:latin typeface="Consolas"/>
              </a:rPr>
              <a:t>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70332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0" i="0">
                <a:solidFill>
                  <a:srgbClr val="202A38"/>
                </a:solidFill>
                <a:latin typeface="Times New Roman"/>
              </a:rPr>
              <a:t>o‘rnatilgan Administrator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3200400"/>
            <a:ext cx="1508760" cy="105156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3246120"/>
            <a:ext cx="1508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Consolas"/>
              </a:rPr>
              <a:t>501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0332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0" i="0">
                <a:solidFill>
                  <a:srgbClr val="202A38"/>
                </a:solidFill>
                <a:latin typeface="Times New Roman"/>
              </a:rPr>
              <a:t>Guest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0" y="3200400"/>
            <a:ext cx="1508760" cy="105156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905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0" y="3246120"/>
            <a:ext cx="1508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900" b="1" i="0">
                <a:solidFill>
                  <a:srgbClr val="178A73"/>
                </a:solidFill>
                <a:latin typeface="Consolas"/>
              </a:rPr>
              <a:t>1000+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20" y="370332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0" i="0">
                <a:solidFill>
                  <a:srgbClr val="202A38"/>
                </a:solidFill>
                <a:latin typeface="Times New Roman"/>
              </a:rPr>
              <a:t>yaratilgan hisoblar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38912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SID oxiridagi raqam (RID) hisob turini bildiradi. Har bir hisobning SIDi noyob.</a:t>
            </a:r>
          </a:p>
        </p:txBody>
      </p:sp>
      <p:sp>
        <p:nvSpPr>
          <p:cNvPr id="25" name="Rounded Rectangle 24">
            <a:hlinkClick action="ppaction://hlinksldjump" r:id="rId4"/>
          </p:cNvPr>
          <p:cNvSpPr/>
          <p:nvPr/>
        </p:nvSpPr>
        <p:spPr>
          <a:xfrm>
            <a:off x="6858000" y="5120640"/>
            <a:ext cx="159105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Consolas"/>
              </a:rPr>
              <a:t>?  SID / RID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0680"/>
            <a:ext cx="6035040" cy="77724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eck-circle_178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664708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61288" y="5440680"/>
            <a:ext cx="5303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Qoida: kundalik ish —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Users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hisobida; admin hisobi faqat zarurat bo‘lganda.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2-SAVOL · 2.1-TOPSHIRIQ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2.1 — Cheklangan foydalanuvchi yaratish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9436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87909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00200"/>
            <a:ext cx="5349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GUI: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Win + R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→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lusrmgr.msc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→ Users ustida o‘ng tugma → New User → nom (“Talaba”), parol → Create.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60320"/>
            <a:ext cx="594360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72491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560320"/>
            <a:ext cx="5349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Yoki buyruq qatori orqali (administrator sifatida) — o‘ngdagi buyruqlar.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291840"/>
            <a:ext cx="59436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343357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291840"/>
            <a:ext cx="53492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Yangi hisob bilan tizimga kiring (Sign out → Talaba).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77640"/>
            <a:ext cx="59436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425653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977640"/>
            <a:ext cx="5349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Dastur o‘rnatishga yoki tizim sozlamasini o‘zgartirishga urinib ko‘ring — Credential prompt (admin login + parol) chiqadi.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160020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167335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cmd (Admin)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920240"/>
            <a:ext cx="45720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onsolas"/>
              </a:rPr>
              <a:t>&gt; net user Talaba Parol@2026 /add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onsolas"/>
              </a:rPr>
              <a:t>&gt; net localgroup Users Talaba /add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onsolas"/>
              </a:rPr>
              <a:t>&gt; net user Talaba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6616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78A73"/>
                </a:solidFill>
                <a:latin typeface="Consolas"/>
              </a:rPr>
              <a:t>net user Talaba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natijasida: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Local Group Memberships : *Users</a:t>
            </a:r>
          </a:p>
        </p:txBody>
      </p:sp>
      <p:sp>
        <p:nvSpPr>
          <p:cNvPr id="24" name="Rounded Rectangle 23">
            <a:hlinkClick action="ppaction://hlinksldjump" r:id="rId3"/>
          </p:cNvPr>
          <p:cNvSpPr/>
          <p:nvPr/>
        </p:nvSpPr>
        <p:spPr>
          <a:xfrm>
            <a:off x="6766560" y="4160520"/>
            <a:ext cx="1591056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Consolas"/>
              </a:rPr>
              <a:t>?  SID / RID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29200"/>
            <a:ext cx="11045952" cy="118872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5029200"/>
            <a:ext cx="64008" cy="118872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11496"/>
            <a:ext cx="107716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78A73"/>
                </a:solidFill>
                <a:latin typeface="Times New Roman"/>
              </a:rPr>
              <a:t>Xulosa — 2.1-topshiriq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949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Talaba hisobida ishga tushgan har qanday dastur (zararli bo‘lsa ham) tizimni o‘z-o‘zidan o‘zgartira olmaydi — admin paroli so‘raladi. Bu “least privilege” (eng kam huquq) tamoyili. Skrinshot 2.1: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net user Talaba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—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*Users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2-SAVOL · 2.2-TOPSHIRIQ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2.2 — Standart foydalanuvchi huquqlarini tekshirish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087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Talaba hisobi bilan tizimga kiring va oddiy PowerShellda quyidagilarni bajaring: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11045950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234281"/>
                <a:gridCol w="5154777"/>
                <a:gridCol w="165689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Buyruq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Natija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Holat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whoami /user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hisob SIDi (RID 1000+)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whoami /groups | findstr /i "BUILTIN"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78A73"/>
                          </a:solidFill>
                          <a:latin typeface="Consolas"/>
                        </a:rPr>
                        <a:t>BUILTIN\Users</a:t>
                      </a:r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 bor, </a:t>
                      </a:r>
                      <a:r>
                        <a:rPr sz="1200" b="1" i="0">
                          <a:solidFill>
                            <a:srgbClr val="178A73"/>
                          </a:solidFill>
                          <a:latin typeface="Consolas"/>
                        </a:rPr>
                        <a:t>BUILTIN\Administrators</a:t>
                      </a:r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 yo‘q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net user Test Parol@2026 /add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Access is denied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New-Item C:\Windows\System32\test.txt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Access is denied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✗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Documents papkasida fayl yaratish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muammosiz yaratiladi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120640"/>
            <a:ext cx="5486400" cy="109728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earch_1F38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504688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5120640"/>
            <a:ext cx="47548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Standart hisob faqat o‘z fayllari bilan ishlay oladi: boshqa hisoblarni, tizim papkalarini va xavfsizlik sozlamalarini o‘zgartira olmaydi.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120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-circle_178A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5504688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0" y="5120640"/>
            <a:ext cx="4617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Hujumchi shu hisob parolini qo‘lga kiritsa ham, tizimni to‘liq boshqara olmaydi — unga qo‘shimcha privilege escalation kerak.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2-SAVOL · 2.3-TOPSHIRIQ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2.3 — Parol siyosatini sozlash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63093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85623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00200"/>
            <a:ext cx="57150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170" b="1" i="0">
                <a:solidFill>
                  <a:srgbClr val="178A73"/>
                </a:solidFill>
                <a:latin typeface="Consolas"/>
              </a:rPr>
              <a:t>secpol.msc</a:t>
            </a:r>
            <a:r>
              <a:rPr sz="1220" b="0" i="0">
                <a:solidFill>
                  <a:srgbClr val="202A38"/>
                </a:solidFill>
                <a:latin typeface="Times New Roman"/>
              </a:rPr>
              <a:t> → Account Policies → Password Policy → “Minimum password length” = </a:t>
            </a:r>
            <a:r>
              <a:rPr sz="1170" b="1" i="0">
                <a:solidFill>
                  <a:srgbClr val="178A73"/>
                </a:solidFill>
                <a:latin typeface="Consolas"/>
              </a:rPr>
              <a:t>10</a:t>
            </a:r>
            <a:r>
              <a:rPr sz="1220" b="0" i="0">
                <a:solidFill>
                  <a:srgbClr val="202A38"/>
                </a:solidFill>
                <a:latin typeface="Times New Roman"/>
              </a:rPr>
              <a:t>; “Password must meet complexity requirements” = Enabled.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96312"/>
            <a:ext cx="63093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569464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496312"/>
            <a:ext cx="5715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Joriy siyosatni ko‘ring: </a:t>
            </a:r>
            <a:r>
              <a:rPr sz="1170" b="1" i="0">
                <a:solidFill>
                  <a:srgbClr val="178A73"/>
                </a:solidFill>
                <a:latin typeface="Consolas"/>
              </a:rPr>
              <a:t>net accounts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026664"/>
            <a:ext cx="630936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321411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026664"/>
            <a:ext cx="5715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Siyosatga zid (qisqa) parol bilan hisob yarating: </a:t>
            </a:r>
            <a:r>
              <a:rPr sz="1170" b="1" i="0">
                <a:solidFill>
                  <a:srgbClr val="178A73"/>
                </a:solidFill>
                <a:latin typeface="Consolas"/>
              </a:rPr>
              <a:t>net user Sinov 12345 /add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85616"/>
            <a:ext cx="630936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3927348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6"/>
            <a:ext cx="5715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Natija: “The password does not meet the password policy requirements…” — siyosat ishlayapti.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3128"/>
            <a:ext cx="630936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4663440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453128"/>
            <a:ext cx="5715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Mos parol bilan yarating va o‘chiring: </a:t>
            </a:r>
            <a:r>
              <a:rPr sz="1170" b="1" i="0">
                <a:solidFill>
                  <a:srgbClr val="178A73"/>
                </a:solidFill>
                <a:latin typeface="Consolas"/>
              </a:rPr>
              <a:t>net user Sinov Xavfsiz@2026 /add</a:t>
            </a:r>
            <a:r>
              <a:rPr sz="1220" b="0" i="0">
                <a:solidFill>
                  <a:srgbClr val="202A38"/>
                </a:solidFill>
                <a:latin typeface="Times New Roman"/>
              </a:rPr>
              <a:t> va </a:t>
            </a:r>
            <a:r>
              <a:rPr sz="1170" b="1" i="0">
                <a:solidFill>
                  <a:srgbClr val="178A73"/>
                </a:solidFill>
                <a:latin typeface="Consolas"/>
              </a:rPr>
              <a:t>net user Sinov /delete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1600200"/>
            <a:ext cx="4480560" cy="228600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0" y="1600200"/>
            <a:ext cx="64008" cy="228600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1682496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78A73"/>
                </a:solidFill>
                <a:latin typeface="Times New Roman"/>
              </a:rPr>
              <a:t>Murakkablik talablari (complexity)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1993392"/>
            <a:ext cx="416052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5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4 turdan (katta harf, kichik harf, raqam, maxsus belgi) kamida 3 tasi.</a:t>
            </a:r>
          </a:p>
          <a:p>
            <a:pPr>
              <a:lnSpc>
                <a:spcPct val="106000"/>
              </a:lnSpc>
              <a:spcAft>
                <a:spcPts val="500"/>
              </a:spcAft>
            </a:pPr>
            <a:r>
              <a:rPr sz="1250" b="1">
                <a:solidFill>
                  <a:srgbClr val="178A73"/>
                </a:solidFill>
                <a:latin typeface="Times New Roman"/>
              </a:rPr>
              <a:t>▸  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Foydalanuvchi nomining ketma-ket 3+ belgisi bo‘lmasligi kerak.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0" y="4023360"/>
            <a:ext cx="2194560" cy="54864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parol123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61772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C0392B"/>
                </a:solidFill>
                <a:latin typeface="Times New Roman"/>
              </a:rPr>
              <a:t>✗ rad etiladi (2 tur)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4023360"/>
            <a:ext cx="2194560" cy="548640"/>
          </a:xfrm>
          <a:prstGeom prst="roundRect">
            <a:avLst>
              <a:gd name="adj" fmla="val 14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Qalqon#2026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461772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200" b="1" i="0">
                <a:solidFill>
                  <a:srgbClr val="178A73"/>
                </a:solidFill>
                <a:latin typeface="Times New Roman"/>
              </a:rPr>
              <a:t>✓ qabul qilinadi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486400"/>
            <a:ext cx="11045952" cy="73152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heck-circle_178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687568"/>
            <a:ext cx="329184" cy="32918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161288" y="5486400"/>
            <a:ext cx="1031443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Xulosa: parol siyosati zaif parollarning oldini oladi va brute-force hujumini qiyinlashtiradi.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secpol.msc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(GUI) va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net accounts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bir xil siyosatni ko‘rsatadi.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2-SAVOL · 2.4-TOPSHIRIQ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2.4 — Parolni tanlash hujumini simulyatsiya qilish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65836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83337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554480"/>
            <a:ext cx="5989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150" b="1" i="0">
                <a:solidFill>
                  <a:srgbClr val="178A73"/>
                </a:solidFill>
                <a:latin typeface="Consolas"/>
              </a:rPr>
              <a:t>secpol.msc</a:t>
            </a:r>
            <a:r>
              <a:rPr sz="1200" b="0" i="0">
                <a:solidFill>
                  <a:srgbClr val="202A38"/>
                </a:solidFill>
                <a:latin typeface="Times New Roman"/>
              </a:rPr>
              <a:t> → Account Policies → Account Lockout Policy → “Account lockout threshold” = </a:t>
            </a:r>
            <a:r>
              <a:rPr sz="1150" b="1" i="0">
                <a:solidFill>
                  <a:srgbClr val="178A73"/>
                </a:solidFill>
                <a:latin typeface="Consolas"/>
              </a:rPr>
              <a:t>3</a:t>
            </a:r>
            <a:r>
              <a:rPr sz="1200" b="0" i="0">
                <a:solidFill>
                  <a:srgbClr val="202A38"/>
                </a:solidFill>
                <a:latin typeface="Times New Roman"/>
              </a:rPr>
              <a:t> (qolgan ikki qiymatni Windows o‘zi taklif qiladi — qabul qiling).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87168"/>
            <a:ext cx="65836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697480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487168"/>
            <a:ext cx="5989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Administrator cmd oynasida Talaba nomidan ataylab noto‘g‘ri parolni jami 3 marta kiriting: </a:t>
            </a:r>
            <a:r>
              <a:rPr sz="1150" b="1" i="0">
                <a:solidFill>
                  <a:srgbClr val="178A73"/>
                </a:solidFill>
                <a:latin typeface="Consolas"/>
              </a:rPr>
              <a:t>runas /user:Talaba cmd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282696"/>
            <a:ext cx="65836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3493008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282696"/>
            <a:ext cx="5989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To‘rtinchi marta to‘g‘ri parol: “The referenced account is currently locked out…” — hisob bloklangan.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78224"/>
            <a:ext cx="658368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417423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078224"/>
            <a:ext cx="5989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Holatni tekshiring: </a:t>
            </a:r>
            <a:r>
              <a:rPr sz="1150" b="1" i="0">
                <a:solidFill>
                  <a:srgbClr val="178A73"/>
                </a:solidFill>
                <a:latin typeface="Consolas"/>
              </a:rPr>
              <a:t>net user Talaba</a:t>
            </a:r>
            <a:r>
              <a:rPr sz="1200" b="0" i="0">
                <a:solidFill>
                  <a:srgbClr val="202A38"/>
                </a:solidFill>
                <a:latin typeface="Times New Roman"/>
              </a:rPr>
              <a:t> — Account active qatorida “Locked”.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45152"/>
            <a:ext cx="658368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4741164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645152"/>
            <a:ext cx="5989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Security jurnalidan hujum izlarini toping (o‘ngdagi buyruq).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212080"/>
            <a:ext cx="658368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537667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5212080"/>
            <a:ext cx="5989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Blokdan chiqaring: </a:t>
            </a:r>
            <a:r>
              <a:rPr sz="1150" b="1" i="0">
                <a:solidFill>
                  <a:srgbClr val="178A73"/>
                </a:solidFill>
                <a:latin typeface="Consolas"/>
              </a:rPr>
              <a:t>lusrmgr.msc</a:t>
            </a:r>
            <a:r>
              <a:rPr sz="1200" b="0" i="0">
                <a:solidFill>
                  <a:srgbClr val="202A38"/>
                </a:solidFill>
                <a:latin typeface="Times New Roman"/>
              </a:rPr>
              <a:t> → Talaba → Properties → “Account is locked out” belgisini olib tashlang.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1554480"/>
            <a:ext cx="4206240" cy="118872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3800" y="1627632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hujumni imitatsiya qilish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1874520"/>
            <a:ext cx="3931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onsolas"/>
              </a:rPr>
              <a:t>&gt; runas /user:Talaba cmd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06640" y="2880360"/>
            <a:ext cx="4206240" cy="14630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2953512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jurnaldan izlash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200400"/>
            <a:ext cx="393192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onsolas"/>
              </a:rPr>
              <a:t>PS&gt; Get-WinEvent -FilterHashtable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>
                <a:solidFill>
                  <a:srgbClr val="E6EDF5"/>
                </a:solidFill>
                <a:latin typeface="Consolas"/>
              </a:rPr>
              <a:t>  @{LogName='Security';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>
                <a:solidFill>
                  <a:srgbClr val="E6EDF5"/>
                </a:solidFill>
                <a:latin typeface="Consolas"/>
              </a:rPr>
              <a:t>    Id=4625,4740} -MaxEvents 10 |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00">
                <a:solidFill>
                  <a:srgbClr val="E6EDF5"/>
                </a:solidFill>
                <a:latin typeface="Consolas"/>
              </a:rPr>
              <a:t>  Format-Table TimeCreated,Id,Message -Wrap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7406640" y="4526280"/>
            <a:ext cx="179222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78A73"/>
                </a:solidFill>
                <a:latin typeface="Consolas"/>
              </a:rPr>
              <a:t>?  Brute-force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5074920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search_1F38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5458968"/>
            <a:ext cx="329184" cy="3291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001000" y="5074920"/>
            <a:ext cx="3474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Skrinshot 2.4: hisob bloklandi (1909) va 4625/4740 hodisalari.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2-SAVOL · 2.4-TOPSHIRIQ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Dalillarni kriminalist kabi o‘qish: hodisa kodlari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2011680" cy="96012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4625</a:t>
            </a:r>
          </a:p>
          <a:p>
            <a:pPr algn="ctr">
              <a:lnSpc>
                <a:spcPct val="100000"/>
              </a:lnSpc>
            </a:pPr>
            <a:r>
              <a:rPr sz="1850" b="0" i="0">
                <a:solidFill>
                  <a:srgbClr val="FFFFFF"/>
                </a:solidFill>
                <a:latin typeface="Times New Roman"/>
              </a:rPr>
              <a:t>noto‘g‘ri parol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057400"/>
            <a:ext cx="182880" cy="22860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7208" y="1691640"/>
            <a:ext cx="2011680" cy="96012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4625</a:t>
            </a:r>
          </a:p>
          <a:p>
            <a:pPr algn="ctr">
              <a:lnSpc>
                <a:spcPct val="100000"/>
              </a:lnSpc>
            </a:pPr>
            <a:r>
              <a:rPr sz="1850" b="0" i="0">
                <a:solidFill>
                  <a:srgbClr val="FFFFFF"/>
                </a:solidFill>
                <a:latin typeface="Times New Roman"/>
              </a:rPr>
              <a:t>noto‘g‘ri parol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37176" y="2057400"/>
            <a:ext cx="182880" cy="22860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47488" y="1691640"/>
            <a:ext cx="2011680" cy="96012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4625</a:t>
            </a:r>
          </a:p>
          <a:p>
            <a:pPr algn="ctr">
              <a:lnSpc>
                <a:spcPct val="100000"/>
              </a:lnSpc>
            </a:pPr>
            <a:r>
              <a:rPr sz="1850" b="0" i="0">
                <a:solidFill>
                  <a:srgbClr val="FFFFFF"/>
                </a:solidFill>
                <a:latin typeface="Times New Roman"/>
              </a:rPr>
              <a:t>noto‘g‘ri parol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77456" y="2057400"/>
            <a:ext cx="182880" cy="22860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87768" y="1691640"/>
            <a:ext cx="2011680" cy="96012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4740</a:t>
            </a:r>
          </a:p>
          <a:p>
            <a:pPr algn="ctr">
              <a:lnSpc>
                <a:spcPct val="100000"/>
              </a:lnSpc>
            </a:pPr>
            <a:r>
              <a:rPr sz="1850" b="0" i="0">
                <a:solidFill>
                  <a:srgbClr val="FFFFFF"/>
                </a:solidFill>
                <a:latin typeface="Times New Roman"/>
              </a:rPr>
              <a:t>hisob BLOKLANDI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17736" y="2057400"/>
            <a:ext cx="182880" cy="22860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28048" y="1691640"/>
            <a:ext cx="2011680" cy="960120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1909</a:t>
            </a:r>
          </a:p>
          <a:p>
            <a:pPr algn="ctr">
              <a:lnSpc>
                <a:spcPct val="100000"/>
              </a:lnSpc>
            </a:pPr>
            <a:r>
              <a:rPr sz="1850" b="0" i="0">
                <a:solidFill>
                  <a:srgbClr val="FFFFFF"/>
                </a:solidFill>
                <a:latin typeface="Times New Roman"/>
              </a:rPr>
              <a:t>4-urinish: rad etildi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3 ta 4625 + 4740 = parolni tanlash (brute-force) hujumining klassik izi. Lockout hujumni 3-urinishda to‘xtatdi, audit esa buni hujjatlashtirdi.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2461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Times New Roman"/>
              </a:rPr>
              <a:t>Foydalanuvchi bilan bog‘liq hodisa kodlari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657600"/>
            <a:ext cx="3566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749039"/>
            <a:ext cx="960120" cy="658368"/>
          </a:xfrm>
          <a:prstGeom prst="roundRect">
            <a:avLst>
              <a:gd name="adj" fmla="val 14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4624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657600"/>
            <a:ext cx="23317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muvaffaqiyatli kirish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657600"/>
            <a:ext cx="3566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9120" y="3749039"/>
            <a:ext cx="960120" cy="658368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4625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657600"/>
            <a:ext cx="23317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muvaffaqiyatsiz kirish (noto‘g‘ri parol)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5007" y="3657600"/>
            <a:ext cx="3566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38159" y="3749039"/>
            <a:ext cx="960120" cy="658368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4740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08007" y="3657600"/>
            <a:ext cx="23317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hisob bloklandi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617720"/>
            <a:ext cx="3566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4709159"/>
            <a:ext cx="960120" cy="658368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4720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09928" y="4617720"/>
            <a:ext cx="23317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yangi hisob yaratildi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5968" y="4617720"/>
            <a:ext cx="3566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389120" y="4709159"/>
            <a:ext cx="960120" cy="658368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4726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8968" y="4617720"/>
            <a:ext cx="23317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hisob o‘chirildi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5007" y="4617720"/>
            <a:ext cx="3566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38159" y="4709159"/>
            <a:ext cx="960120" cy="658368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4732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8007" y="4617720"/>
            <a:ext cx="23317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foydalanuvchi xavfsizlik guruhiga (masalan, Administrators) qo‘shildi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669280"/>
            <a:ext cx="11045952" cy="566928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check-circle_178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788152"/>
            <a:ext cx="329184" cy="3291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61288" y="5669280"/>
            <a:ext cx="103144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SIEM tizimlari aynan shunday naqshlarni avtomatik aniqlaydi. Yangi admin hisob ochilsa, 4720 va 4732 hodisalari buni fosh qiladi.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2-SAVOL · 2.5-TOPSHIRIQ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2.5 — Foydalanuvchi huquqlari va hisoblar auditi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76072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99339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00200"/>
            <a:ext cx="51663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Joriy imtiyozlaringizni ko‘ring: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whoami /priv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—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SeDebugPrivilege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,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SeImpersonatePrivilege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 kabilar huquqni oshirish uchun xavfli.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88920"/>
            <a:ext cx="57607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99923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788920"/>
            <a:ext cx="5166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Barcha hisoblar va administratorlarni ko‘ring (o‘ngdagi buyruqlar).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11880"/>
            <a:ext cx="576072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386791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611880"/>
            <a:ext cx="51663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Tekshiring: Guest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Enabled: False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; Administrators guruhida faqat kerakli hisoblar.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1600200"/>
            <a:ext cx="5029200" cy="19202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1673352"/>
            <a:ext cx="4754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PowerShell / cmd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1920240"/>
            <a:ext cx="475488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onsolas"/>
              </a:rPr>
              <a:t>PS&gt; Get-LocalUser |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E6EDF5"/>
                </a:solidFill>
                <a:latin typeface="Consolas"/>
              </a:rPr>
              <a:t>  Format-Table Name,Enabled,LastLogon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onsolas"/>
              </a:rPr>
              <a:t>PS&gt; Get-LocalGroupMember -Group Administrators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Consolas"/>
              </a:rPr>
              <a:t>&gt; net user Guest</a:t>
            </a:r>
          </a:p>
        </p:txBody>
      </p:sp>
      <p:pic>
        <p:nvPicPr>
          <p:cNvPr id="20" name="Picture 19" descr="check-circle_178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749039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86600" y="3703320"/>
            <a:ext cx="4526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Guest: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Enabled: False</a:t>
            </a:r>
          </a:p>
        </p:txBody>
      </p:sp>
      <p:pic>
        <p:nvPicPr>
          <p:cNvPr id="22" name="Picture 21" descr="check-circle_178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251959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86600" y="4206240"/>
            <a:ext cx="4526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Administrators: faqat kerakli a’zolar</a:t>
            </a:r>
          </a:p>
        </p:txBody>
      </p:sp>
      <p:pic>
        <p:nvPicPr>
          <p:cNvPr id="24" name="Picture 23" descr="x-circle_C039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754880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709160"/>
            <a:ext cx="4526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Keraksiz hisoblar, yoqilgan Guest — xavf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754880"/>
            <a:ext cx="5760720" cy="146304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754880"/>
            <a:ext cx="64008" cy="1463040"/>
          </a:xfrm>
          <a:prstGeom prst="rect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8371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 i="0">
                <a:solidFill>
                  <a:srgbClr val="178A73"/>
                </a:solidFill>
                <a:latin typeface="Times New Roman"/>
              </a:rPr>
              <a:t>Xulosa — 2.5-topshiriq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120640"/>
            <a:ext cx="5440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Hisoblarni muntazam ko‘rib chiqish — eng oddiy, lekin samarali himoya choralaridan biri. Kirish testida tizimga kirgan zahoti bajariladigan birinchi buyruqlardan biri — </a:t>
            </a:r>
            <a:r>
              <a:rPr sz="1200" b="1" i="0">
                <a:solidFill>
                  <a:srgbClr val="178A73"/>
                </a:solidFill>
                <a:latin typeface="Consolas"/>
              </a:rPr>
              <a:t>whoami /priv</a:t>
            </a:r>
            <a:r>
              <a:rPr sz="1250" b="0" i="0">
                <a:solidFill>
                  <a:srgbClr val="202A38"/>
                </a:solidFill>
                <a:latin typeface="Times New Roman"/>
              </a:rPr>
              <a:t>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5349240"/>
            <a:ext cx="5029200" cy="86868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5875">
            <a:solidFill>
              <a:srgbClr val="E08E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arning_E08E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5618988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178040" y="534924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Xavfli imtiyoz ko‘rinsa — huquqni oshirish imkoniyati bor.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YAKUNLASH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Laboratoriyani avvalgi holatga qaytarish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69494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8368" y="1764792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600200"/>
            <a:ext cx="6355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Test hisobini o‘chiring: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net user Talaba /delete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50008"/>
            <a:ext cx="69494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" y="2514600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350008"/>
            <a:ext cx="6355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Account lockout threshold va parol siyosatini avvalgi holatga qaytaring.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099816"/>
            <a:ext cx="69494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3355848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099816"/>
            <a:ext cx="63550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“Block 4444” firewall qoidasini o‘chiring: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Remove-NetFirewallRule -DisplayName "Block 4444"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32504"/>
            <a:ext cx="69494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368" y="4242816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032504"/>
            <a:ext cx="6355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EICAR va test fayllarini o‘chiring; Security Options o‘zgarishlarini qaytaring.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73752"/>
            <a:ext cx="69494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5038344"/>
            <a:ext cx="310896" cy="31089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2"/>
            <a:ext cx="6355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Eng oson yo‘l — virtual mashinada snapshotga qaytish (Restore).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600200"/>
            <a:ext cx="3749039" cy="4114800"/>
          </a:xfrm>
          <a:prstGeom prst="roundRect">
            <a:avLst>
              <a:gd name="adj" fmla="val 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0" y="1920240"/>
            <a:ext cx="1188720" cy="118872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hiel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3067" y="2229307"/>
            <a:ext cx="570586" cy="57058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20" y="32918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onsolas"/>
              </a:rPr>
              <a:t>Snapshot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931920"/>
            <a:ext cx="3383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500" b="0" i="0">
                <a:solidFill>
                  <a:srgbClr val="DDE6F2"/>
                </a:solidFill>
                <a:latin typeface="Times New Roman"/>
              </a:rPr>
              <a:t>Restore — hamma o‘zgarishni bir amalda bekor qiladi.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YAKUNIY LABORATORIYA TOPSHIRIG‘I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Mustaqil bajaring va skrinshotli hisobot tayyorlang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00200"/>
          <a:ext cx="11045950" cy="373075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6444"/>
                <a:gridCol w="6572797"/>
                <a:gridCol w="4016709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Topshiriq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Times New Roman"/>
                        </a:rPr>
                        <a:t>Hisobotdagi dalil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Defender holatini </a:t>
                      </a:r>
                      <a:r>
                        <a:rPr sz="1200" b="1" i="0">
                          <a:solidFill>
                            <a:srgbClr val="178A73"/>
                          </a:solidFill>
                          <a:latin typeface="Consolas"/>
                        </a:rPr>
                        <a:t>Get-MpComputerStatus</a:t>
                      </a:r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 bilan ko‘rsating va EICAR fayli bilan sinang.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holat + Protection history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4444-portni bloklovchi firewall qoidasi yarating va </a:t>
                      </a:r>
                      <a:r>
                        <a:rPr sz="1200" b="1" i="0">
                          <a:solidFill>
                            <a:srgbClr val="178A73"/>
                          </a:solidFill>
                          <a:latin typeface="Consolas"/>
                        </a:rPr>
                        <a:t>Test-NetConnection</a:t>
                      </a:r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 bilan tasdiqlang.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78A73"/>
                          </a:solidFill>
                          <a:latin typeface="Consolas"/>
                        </a:rPr>
                        <a:t>wf.msc</a:t>
                      </a:r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 + </a:t>
                      </a:r>
                      <a:r>
                        <a:rPr sz="1200" b="1" i="0">
                          <a:solidFill>
                            <a:srgbClr val="178A73"/>
                          </a:solidFill>
                          <a:latin typeface="Consolas"/>
                        </a:rPr>
                        <a:t>TcpTestSucceeded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“Don’t display last signed-in” ni yoqib, kirish oynasini skrinshot qiling.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kirish oynasi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Standart “Talaba” hisobini yarating va uning cheklovlarini ko‘rsating.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78A73"/>
                          </a:solidFill>
                          <a:latin typeface="Consolas"/>
                        </a:rPr>
                        <a:t>net user</a:t>
                      </a:r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 + Access is denied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Account lockout (threshold = 3) o‘rnatib, brute-force simulyatsiyasini bajaring va 4625/4740 hodisalarini toping.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02A38"/>
                          </a:solidFill>
                          <a:latin typeface="Times New Roman"/>
                        </a:rPr>
                        <a:t>Event Viewer / </a:t>
                      </a:r>
                      <a:r>
                        <a:rPr sz="1200" b="1" i="0">
                          <a:solidFill>
                            <a:srgbClr val="178A73"/>
                          </a:solidFill>
                          <a:latin typeface="Consolas"/>
                        </a:rPr>
                        <a:t>Get-WinEvent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669280"/>
            <a:ext cx="11045952" cy="5486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arch_1F38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77900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61288" y="5669280"/>
            <a:ext cx="103144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Hisobotga izohlar va qisqa tushuntirishlarni qo‘shing — har bir skrinshot nimani isbotlashini yozing.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YAKUNLASH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Xulosa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8" y="1965960"/>
            <a:ext cx="685800" cy="68580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116" y="214426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18488" y="1600200"/>
            <a:ext cx="42519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Defender real vaqt himoyasini beradi: holatni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Get-MpComputerStatus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, tahdidni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Get-MpThreat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bilan ko‘ring; EICAR uni xavfsiz sinaydi.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60020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965960"/>
            <a:ext cx="685800" cy="6858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y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956" y="2144268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96327" y="1600200"/>
            <a:ext cx="42519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Istisnolar va Tamper Protection: istisno — zaiflik, Tamper Protection — himoya.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9808" y="3520440"/>
            <a:ext cx="685800" cy="68580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lob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3698748"/>
            <a:ext cx="329184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18488" y="3154680"/>
            <a:ext cx="42519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Firewall qoidasi 3 usulda yaratiladi (GUI,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netsh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, PowerShell);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Test-NetConnection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uni tekshiradi.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315468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27648" y="3520440"/>
            <a:ext cx="685800" cy="6858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st-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956" y="3698748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96327" y="3154680"/>
            <a:ext cx="42519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Audit va Security Options: Failure yozuvlari hujumni ko‘rsatadi; kirish oynasida nom yashirinadi.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70916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49808" y="5074920"/>
            <a:ext cx="685800" cy="68580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ser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116" y="5253228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18488" y="4709160"/>
            <a:ext cx="42519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Least privilege: kundalik ish —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Users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 hisobida; hisoblar auditi (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whoami /priv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, </a:t>
            </a:r>
            <a:r>
              <a:rPr sz="1250" b="1" i="0">
                <a:solidFill>
                  <a:srgbClr val="178A73"/>
                </a:solidFill>
                <a:latin typeface="Consolas"/>
              </a:rPr>
              <a:t>Get-LocalGroupMember</a:t>
            </a:r>
            <a:r>
              <a:rPr sz="1300" b="0" i="0">
                <a:solidFill>
                  <a:srgbClr val="202A38"/>
                </a:solidFill>
                <a:latin typeface="Times New Roman"/>
              </a:rPr>
              <a:t>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4768" y="4709160"/>
            <a:ext cx="5440680" cy="141732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27648" y="5074920"/>
            <a:ext cx="685800" cy="6858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ck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5956" y="5253228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196327" y="4709160"/>
            <a:ext cx="42519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Parol siyosati + lockout parolni taxmin qilishni befoyda qiladi; 4625 → 4740 — brute-force izi.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YAKUNLASH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Nazorat savollari — 4-mashg‘ulot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440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6656" y="1828800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1600200"/>
            <a:ext cx="4709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Quick scan va Full scan qanday farq qiladi? EICAR fayli nima uchun zararsiz?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32888"/>
            <a:ext cx="5440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76656" y="2761488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2532888"/>
            <a:ext cx="4709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Istisnolar (exclusions) nima uchun ham foydali, ham xavfli?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65576"/>
            <a:ext cx="5440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6656" y="3694176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465576"/>
            <a:ext cx="4709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Firewallning sukut bo‘yicha xatti-harakati qanday (kiruvchi/chiquvchi)? Block va Allow’dan qaysi biri ustun?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398264"/>
            <a:ext cx="5440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6656" y="4626864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398264"/>
            <a:ext cx="4709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70" b="1" i="0">
                <a:solidFill>
                  <a:srgbClr val="178A73"/>
                </a:solidFill>
                <a:latin typeface="Consolas"/>
              </a:rPr>
              <a:t>TcpTestSucceeded : False</a:t>
            </a:r>
            <a:r>
              <a:rPr sz="1220" b="0" i="0">
                <a:solidFill>
                  <a:srgbClr val="202A38"/>
                </a:solidFill>
                <a:latin typeface="Times New Roman"/>
              </a:rPr>
              <a:t> nimani anglatadi?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30952"/>
            <a:ext cx="5440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6656" y="5559552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7" y="5330952"/>
            <a:ext cx="4709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LSDOU nima? Domendagi kompyuterda lokal sozlama nega bekor qilinishi mumkin?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600200"/>
            <a:ext cx="5440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54496" y="1828800"/>
            <a:ext cx="384048" cy="38404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4848" y="1600200"/>
            <a:ext cx="4709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Audit Policyda Success va Failure farqi nima? Qaysi hodisa kodlari brute-force hujumini ko‘rsatadi?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2532888"/>
            <a:ext cx="5440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254496" y="2761488"/>
            <a:ext cx="384048" cy="38404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2532888"/>
            <a:ext cx="4709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Administrators, Users va Guests guruhlari qanday farq qiladi? SID va RID nima?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3465576"/>
            <a:ext cx="5440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54496" y="3694176"/>
            <a:ext cx="384048" cy="38404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3465576"/>
            <a:ext cx="4709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Parol murakkabligi talabi nimalarni tekshiradi?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4398264"/>
            <a:ext cx="5440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54496" y="4626864"/>
            <a:ext cx="384048" cy="38404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848" y="4398264"/>
            <a:ext cx="4709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20" b="0" i="0">
                <a:solidFill>
                  <a:srgbClr val="202A38"/>
                </a:solidFill>
                <a:latin typeface="Times New Roman"/>
              </a:rPr>
              <a:t>Account lockout threshold juda past (1–2) bo‘lsa qanday muammo yuzaga keladi?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5330952"/>
            <a:ext cx="544068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254496" y="5559552"/>
            <a:ext cx="384048" cy="384048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84848" y="5330952"/>
            <a:ext cx="4709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70" b="1" i="0">
                <a:solidFill>
                  <a:srgbClr val="178A73"/>
                </a:solidFill>
                <a:latin typeface="Consolas"/>
              </a:rPr>
              <a:t>whoami /priv</a:t>
            </a:r>
            <a:r>
              <a:rPr sz="1220" b="0" i="0">
                <a:solidFill>
                  <a:srgbClr val="202A38"/>
                </a:solidFill>
                <a:latin typeface="Times New Roman"/>
              </a:rPr>
              <a:t> nima ko‘rsatadi? Qaysi imtiyozlar xavfli?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y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822960"/>
            <a:ext cx="1371600" cy="13898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432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Times New Roman"/>
              </a:rPr>
              <a:t>E’TIBORINGIZ UCHUN RAHMAT!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2000" b="0" i="0">
                <a:solidFill>
                  <a:srgbClr val="DDE6F2"/>
                </a:solidFill>
                <a:latin typeface="Times New Roman"/>
              </a:rPr>
              <a:t>Savollaringiz bo‘lsa, marhamat.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2000" b="0" i="0">
                <a:solidFill>
                  <a:srgbClr val="DDE6F2"/>
                </a:solidFill>
                <a:latin typeface="Times New Roman"/>
              </a:rPr>
              <a:t>Keyingi bo‘lim — atamalar lug‘ati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LUG‘AT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Lug‘at — ushbu bo‘limda quyidagilar tushuntiriladi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29</a:t>
            </a:r>
          </a:p>
        </p:txBody>
      </p:sp>
      <p:sp>
        <p:nvSpPr>
          <p:cNvPr id="8" name="Rounded Rectangle 7">
            <a:hlinkClick action="ppaction://hlinksldjump" r:id="rId8"/>
          </p:cNvPr>
          <p:cNvSpPr/>
          <p:nvPr/>
        </p:nvSpPr>
        <p:spPr>
          <a:xfrm>
            <a:off x="566928" y="169164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965960"/>
            <a:ext cx="731520" cy="73152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u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" y="2156155"/>
            <a:ext cx="351130" cy="3511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09928" y="1874520"/>
            <a:ext cx="23317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Times New Roman"/>
              </a:rPr>
              <a:t>EICAR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78892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xavfsiz test “virusi”</a:t>
            </a:r>
          </a:p>
        </p:txBody>
      </p:sp>
      <p:sp>
        <p:nvSpPr>
          <p:cNvPr id="13" name="Rounded Rectangle 12">
            <a:hlinkClick action="ppaction://hlinksldjump" r:id="rId9"/>
          </p:cNvPr>
          <p:cNvSpPr/>
          <p:nvPr/>
        </p:nvSpPr>
        <p:spPr>
          <a:xfrm>
            <a:off x="4315968" y="169164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44568" y="1965960"/>
            <a:ext cx="731520" cy="731520"/>
          </a:xfrm>
          <a:prstGeom prst="ellipse">
            <a:avLst/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old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763" y="2156155"/>
            <a:ext cx="351130" cy="3511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58968" y="1874520"/>
            <a:ext cx="23317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Times New Roman"/>
              </a:rPr>
              <a:t>Istisno · Tamper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78892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himoyadagi “teshik” va uning qulfi</a:t>
            </a:r>
          </a:p>
        </p:txBody>
      </p:sp>
      <p:sp>
        <p:nvSpPr>
          <p:cNvPr id="18" name="Rounded Rectangle 17">
            <a:hlinkClick action="ppaction://hlinksldjump" r:id="rId10"/>
          </p:cNvPr>
          <p:cNvSpPr/>
          <p:nvPr/>
        </p:nvSpPr>
        <p:spPr>
          <a:xfrm>
            <a:off x="8065007" y="169164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93607" y="196596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ayer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3802" y="2156155"/>
            <a:ext cx="351130" cy="3511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08007" y="1874520"/>
            <a:ext cx="23317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Times New Roman"/>
              </a:rPr>
              <a:t>LSDOU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7" y="278892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siyosatlar tartibi</a:t>
            </a:r>
          </a:p>
        </p:txBody>
      </p:sp>
      <p:sp>
        <p:nvSpPr>
          <p:cNvPr id="23" name="Rounded Rectangle 22">
            <a:hlinkClick action="ppaction://hlinksldjump" r:id="rId11"/>
          </p:cNvPr>
          <p:cNvSpPr/>
          <p:nvPr/>
        </p:nvSpPr>
        <p:spPr>
          <a:xfrm>
            <a:off x="566928" y="370332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5528" y="3977640"/>
            <a:ext cx="731520" cy="7315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zap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" y="4167835"/>
            <a:ext cx="351130" cy="351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709928" y="3886200"/>
            <a:ext cx="23317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Times New Roman"/>
              </a:rPr>
              <a:t>Brute-force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48006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parolni tanlash hujumi</a:t>
            </a:r>
          </a:p>
        </p:txBody>
      </p:sp>
      <p:sp>
        <p:nvSpPr>
          <p:cNvPr id="28" name="Rounded Rectangle 27">
            <a:hlinkClick action="ppaction://hlinksldjump" r:id="rId12"/>
          </p:cNvPr>
          <p:cNvSpPr/>
          <p:nvPr/>
        </p:nvSpPr>
        <p:spPr>
          <a:xfrm>
            <a:off x="4315968" y="370332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F5F8FC"/>
          </a:solidFill>
          <a:ln w="12700">
            <a:solidFill>
              <a:srgbClr val="D8E3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44568" y="3977640"/>
            <a:ext cx="731520" cy="731520"/>
          </a:xfrm>
          <a:prstGeom prst="ellipse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key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4763" y="4167835"/>
            <a:ext cx="351130" cy="35113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458968" y="3886200"/>
            <a:ext cx="23317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Times New Roman"/>
              </a:rPr>
              <a:t>SID / RID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8006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hisobning haqiqiy identifikatori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Har bir atama boshlang‘ich darajaga mos tilda, misol va diagramma bilan tushuntiriladi.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LUG‘AT · ATAMA IZOHI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EICAR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Oddiy qilib aytganda: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Antivirus tashkilotlari yaratgan maxsus matn: unda zararli kod yo‘q, lekin barcha antiviruslar uni “virus” deb tan oladi.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31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A8660B"/>
                </a:solidFill>
                <a:latin typeface="Times New Roman"/>
              </a:rPr>
              <a:t>Nima uchun muhim: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5196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Real vaqt himoyasi ishlayotganini xavfsiz tekshirish usuli.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645920"/>
            <a:ext cx="6126480" cy="10058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0" y="1719072"/>
            <a:ext cx="5852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00" b="1" i="0">
                <a:solidFill>
                  <a:srgbClr val="7FD1BD"/>
                </a:solidFill>
                <a:latin typeface="Consolas"/>
              </a:rPr>
              <a:t>EICAR satri — 68 belgidan iborat oddiy matn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96596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200">
                <a:solidFill>
                  <a:srgbClr val="E6EDF5"/>
                </a:solidFill>
                <a:latin typeface="Consolas"/>
              </a:rPr>
              <a:t>X5O!P%@AP[4\PZX54(P^)7CC)7}$EICAR-STANDARD-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200">
                <a:solidFill>
                  <a:srgbClr val="E6EDF5"/>
                </a:solidFill>
                <a:latin typeface="Consolas"/>
              </a:rPr>
              <a:t>ANTIVIRUS-TEST-FILE!$H+H*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3017520"/>
            <a:ext cx="1828800" cy="100584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oddiy matn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fayli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342631" y="3383280"/>
            <a:ext cx="228600" cy="22860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89520" y="3017520"/>
            <a:ext cx="1828800" cy="1005840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Defender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imzo bo‘yicha taniydi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45752" y="3383280"/>
            <a:ext cx="228600" cy="22860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92640" y="3017520"/>
            <a:ext cx="1828800" cy="100584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imes New Roman"/>
              </a:rPr>
              <a:t>“Virus” deb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Times New Roman"/>
              </a:rPr>
              <a:t>karantinga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4389120"/>
            <a:ext cx="6126480" cy="1280160"/>
          </a:xfrm>
          <a:prstGeom prst="roundRect">
            <a:avLst>
              <a:gd name="adj" fmla="val 10000"/>
            </a:avLst>
          </a:prstGeom>
          <a:solidFill>
            <a:srgbClr val="E3F3EE"/>
          </a:solidFill>
          <a:ln w="15875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eck-circle_178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416" y="4864608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80760" y="4389120"/>
            <a:ext cx="5394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202A38"/>
                </a:solidFill>
                <a:latin typeface="Times New Roman"/>
              </a:rPr>
              <a:t>Zararli kod yo‘q — shuning uchun antivirusni xavfsiz sinash mumkin. Haqiqiy zararli dasturlar bilan hech qachon sinamang.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566928" y="598932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← Mavzuga qaytish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LUG‘AT · ATAMA IZOHI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Istisno (exclusion) va Tamper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Oddiy qilib aytganda: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Istisno — Defender tekshirmaydigan papka yoki fayl. Tamper Protection — Defender sozlamalarini zararli dastur o‘zgartirib qo‘ymasligi uchun qulf.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31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A8660B"/>
                </a:solidFill>
                <a:latin typeface="Times New Roman"/>
              </a:rPr>
              <a:t>Nima uchun muhim: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5196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Istisno ichiga qo‘yilgan zararli dastur ko‘rinmay qoladi — kriminalist birinchi bo‘lib istisnolar ro‘yxatini ko‘radi.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645920"/>
            <a:ext cx="2834640" cy="822960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Istisno ro‘yxati: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C:\Tools\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675120" y="2514600"/>
            <a:ext cx="457200" cy="457200"/>
          </a:xfrm>
          <a:prstGeom prst="down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0" y="3017520"/>
            <a:ext cx="2834640" cy="82296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zararli fayl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C:\Tools\evil.exe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412480" y="3310128"/>
            <a:ext cx="365760" cy="27432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69680" y="3017520"/>
            <a:ext cx="2743200" cy="82296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Defender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skanerlamaydi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1645920"/>
            <a:ext cx="2743200" cy="822960"/>
          </a:xfrm>
          <a:prstGeom prst="roundRect">
            <a:avLst>
              <a:gd name="adj" fmla="val 14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Times New Roman"/>
              </a:rPr>
              <a:t>Tamper Protection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FFFFFF"/>
                </a:solidFill>
                <a:latin typeface="Times New Roman"/>
              </a:rPr>
              <a:t>sozlamani qulflaydi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0" y="4297680"/>
            <a:ext cx="612648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earch_1F38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416" y="4818888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80760" y="4297680"/>
            <a:ext cx="53949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Zararli dastur o‘zini istisnolar ro‘yxatiga qo‘sha olmasligi uchun Tamper Protection kerak: u Defender sozlamalarini tashqaridan o‘zgartirishni to‘sadi.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566928" y="598932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← Mavzuga qaytish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LUG‘AT · ATAMA IZOHI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LSDOU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Oddiy qilib aytganda: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Domenda siyosatlar qo‘llanadigan tartib: Local → Site → Domain → OU. Oxirgisi ustun keladi.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31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A8660B"/>
                </a:solidFill>
                <a:latin typeface="Times New Roman"/>
              </a:rPr>
              <a:t>Nima uchun muhim: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5196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Domendagi kompyuterda lokal sozlama bekor qilinishi mumkin — shuni bilmasangiz, “sozlama ishlamayapti” deb adashasiz.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645920"/>
            <a:ext cx="2194560" cy="822960"/>
          </a:xfrm>
          <a:prstGeom prst="roundRect">
            <a:avLst>
              <a:gd name="adj" fmla="val 14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L — Local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400800" y="2468880"/>
            <a:ext cx="320040" cy="228600"/>
          </a:xfrm>
          <a:prstGeom prst="down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0" y="2697480"/>
            <a:ext cx="2194560" cy="82296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S — Site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6400800" y="3520440"/>
            <a:ext cx="320040" cy="228600"/>
          </a:xfrm>
          <a:prstGeom prst="down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0" y="3749039"/>
            <a:ext cx="2194560" cy="82296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D — Domain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400800" y="4572000"/>
            <a:ext cx="320040" cy="228600"/>
          </a:xfrm>
          <a:prstGeom prst="down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0" y="4800600"/>
            <a:ext cx="2194560" cy="822960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imes New Roman"/>
              </a:rPr>
              <a:t>OU — 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64592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Times New Roman"/>
              </a:rPr>
              <a:t>Oxirgi qo‘llangan siyosat g‘olib bo‘ladi.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37744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5875">
            <a:solidFill>
              <a:srgbClr val="E08E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arning_E08E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3127248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641080" y="2377440"/>
            <a:ext cx="283464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Misol: lokal sozlama “Minimum password length = 10”, domen GPOsi esa 14 desa — kompyuterda 14 amal qiladi.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566928" y="598932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← Mavzuga qaytish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LUG‘AT · ATAMA IZOHI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Brute-force (parolni tanlash) hujumi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Oddiy qilib aytganda: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Hujumchi parolni to‘g‘ri topguncha ko‘p marta sinab ko‘radi. Account lockout bir necha xatodan keyin hisobni bloklab, buni to‘xtatadi.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31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A8660B"/>
                </a:solidFill>
                <a:latin typeface="Times New Roman"/>
              </a:rPr>
              <a:t>Nima uchun muhim: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5196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Audit yoqilgan bo‘lsa, hujum 4625 va 4740 izlarini qoldiradi — SIEM tizimlari aynan shuni qidiradi.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645920"/>
            <a:ext cx="1051560" cy="73152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1 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45920"/>
            <a:ext cx="1051560" cy="73152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2 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645920"/>
            <a:ext cx="1051560" cy="73152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Times New Roman"/>
              </a:rPr>
              <a:t>3 ✗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98280" y="1856231"/>
            <a:ext cx="274320" cy="274320"/>
          </a:xfrm>
          <a:prstGeom prst="rightArrow">
            <a:avLst/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64040" y="1645920"/>
            <a:ext cx="2148840" cy="73152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mes New Roman"/>
              </a:rPr>
              <a:t>4740</a:t>
            </a:r>
          </a:p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Times New Roman"/>
              </a:rPr>
              <a:t>BLOKLANDI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560320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Har bir ✗ = hodisa 4625 (muvaffaqiyatsiz kirish); bloklash chegarasi = 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0" y="3291840"/>
            <a:ext cx="2926080" cy="822960"/>
          </a:xfrm>
          <a:prstGeom prst="roundRect">
            <a:avLst>
              <a:gd name="adj" fmla="val 14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4625</a:t>
            </a:r>
          </a:p>
          <a:p>
            <a:pPr algn="ctr">
              <a:lnSpc>
                <a:spcPct val="100000"/>
              </a:lnSpc>
            </a:pPr>
            <a:r>
              <a:rPr sz="1850" b="0" i="0">
                <a:solidFill>
                  <a:srgbClr val="FFFFFF"/>
                </a:solidFill>
                <a:latin typeface="Times New Roman"/>
              </a:rPr>
              <a:t>noto‘g‘ri parol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3291840"/>
            <a:ext cx="2926080" cy="82296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Times New Roman"/>
              </a:rPr>
              <a:t>4740</a:t>
            </a:r>
          </a:p>
          <a:p>
            <a:pPr algn="ctr">
              <a:lnSpc>
                <a:spcPct val="100000"/>
              </a:lnSpc>
            </a:pPr>
            <a:r>
              <a:rPr sz="1850" b="0" i="0">
                <a:solidFill>
                  <a:srgbClr val="FFFFFF"/>
                </a:solidFill>
                <a:latin typeface="Times New Roman"/>
              </a:rPr>
              <a:t>hisob bloklandi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0" y="4434840"/>
            <a:ext cx="6126480" cy="1188720"/>
          </a:xfrm>
          <a:prstGeom prst="roundRect">
            <a:avLst>
              <a:gd name="adj" fmla="val 10000"/>
            </a:avLst>
          </a:prstGeom>
          <a:solidFill>
            <a:srgbClr val="FAE5E2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x-circle_C039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416" y="4864608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80760" y="4434840"/>
            <a:ext cx="53949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Qisqa vaqtda ko‘p 4625 va undan keyin 4740 — himoyachi uchun hujum signali.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566928" y="598932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← Mavzuga qaytish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1" i="0">
                <a:solidFill>
                  <a:srgbClr val="178A73"/>
                </a:solidFill>
                <a:latin typeface="Times New Roman"/>
              </a:rPr>
              <a:t>LUG‘AT · ATAMA IZOHI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600" b="1" i="0">
                <a:solidFill>
                  <a:srgbClr val="1F3864"/>
                </a:solidFill>
                <a:latin typeface="Times New Roman"/>
              </a:rPr>
              <a:t>SID va 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298448"/>
            <a:ext cx="960120" cy="40640"/>
          </a:xfrm>
          <a:prstGeom prst="rect">
            <a:avLst/>
          </a:prstGeom>
          <a:solidFill>
            <a:srgbClr val="43B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50" b="0" i="1">
                <a:solidFill>
                  <a:srgbClr val="54647A"/>
                </a:solidFill>
                <a:latin typeface="Times New Roman"/>
              </a:rPr>
              <a:t>KKvaEH · 1-mavzu · Windows OT xavfsizligi</a:t>
            </a:r>
          </a:p>
        </p:txBody>
      </p:sp>
      <p:sp>
        <p:nvSpPr>
          <p:cNvPr id="7" name="Oval 6"/>
          <p:cNvSpPr/>
          <p:nvPr/>
        </p:nvSpPr>
        <p:spPr>
          <a:xfrm>
            <a:off x="11430000" y="6400800"/>
            <a:ext cx="365760" cy="36576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178A73"/>
                </a:solidFill>
                <a:latin typeface="Times New Roman"/>
              </a:rPr>
              <a:t>Oddiy qilib aytganda: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SID — Windows har bir hisob va guruhga beradigan noyob identifikator. Oxirgi raqami (RID) hisob turini bildiradi.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31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 i="0">
                <a:solidFill>
                  <a:srgbClr val="A8660B"/>
                </a:solidFill>
                <a:latin typeface="Times New Roman"/>
              </a:rPr>
              <a:t>Nima uchun muhim: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5196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0" i="0">
                <a:solidFill>
                  <a:srgbClr val="202A38"/>
                </a:solidFill>
                <a:latin typeface="Times New Roman"/>
              </a:rPr>
              <a:t>Ruxsatlar va jurnallar nomga emas, SIDga tayanadi: </a:t>
            </a:r>
            <a:r>
              <a:rPr sz="1300" b="1" i="0">
                <a:solidFill>
                  <a:srgbClr val="178A73"/>
                </a:solidFill>
                <a:latin typeface="Consolas"/>
              </a:rPr>
              <a:t>-500</a:t>
            </a:r>
            <a:r>
              <a:rPr sz="1350" b="0" i="0">
                <a:solidFill>
                  <a:srgbClr val="202A38"/>
                </a:solidFill>
                <a:latin typeface="Times New Roman"/>
              </a:rPr>
              <a:t> bilan tugaydigan SID har doim haqiqiy o‘rnatilgan administratorni ko‘rsatadi.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645920"/>
            <a:ext cx="1371600" cy="731520"/>
          </a:xfrm>
          <a:prstGeom prst="roundRect">
            <a:avLst>
              <a:gd name="adj" fmla="val 1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mes New Roman"/>
              </a:rPr>
              <a:t>S-1-5-21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1645920"/>
            <a:ext cx="2926080" cy="731520"/>
          </a:xfrm>
          <a:prstGeom prst="roundRect">
            <a:avLst>
              <a:gd name="adj" fmla="val 14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Times New Roman"/>
              </a:rPr>
              <a:t>3623811015-3361044348-30300820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66960" y="1645920"/>
            <a:ext cx="1097280" cy="731520"/>
          </a:xfrm>
          <a:prstGeom prst="roundRect">
            <a:avLst>
              <a:gd name="adj" fmla="val 14000"/>
            </a:avLst>
          </a:prstGeom>
          <a:solidFill>
            <a:srgbClr val="E08E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mes New Roman"/>
              </a:rPr>
              <a:t>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468880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50" b="0" i="1">
                <a:solidFill>
                  <a:srgbClr val="54647A"/>
                </a:solidFill>
                <a:latin typeface="Times New Roman"/>
              </a:rPr>
              <a:t>SID = domen/kompyuter qismi + RID (oxirgi raqam)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3017520"/>
            <a:ext cx="1965960" cy="11887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310896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C0392B"/>
                </a:solidFill>
                <a:latin typeface="Consolas"/>
              </a:rPr>
              <a:t>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657600"/>
            <a:ext cx="1783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o‘rnatilgan Administrator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3017520"/>
            <a:ext cx="1965960" cy="11887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310896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1F3864"/>
                </a:solidFill>
                <a:latin typeface="Consolas"/>
              </a:rPr>
              <a:t>501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657600"/>
            <a:ext cx="1783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Guest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3017520"/>
            <a:ext cx="1965960" cy="11887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9050">
            <a:solidFill>
              <a:srgbClr val="17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310896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2200" b="1" i="0">
                <a:solidFill>
                  <a:srgbClr val="178A73"/>
                </a:solidFill>
                <a:latin typeface="Consolas"/>
              </a:rPr>
              <a:t>1000+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3657600"/>
            <a:ext cx="1783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00" b="0" i="0">
                <a:solidFill>
                  <a:srgbClr val="202A38"/>
                </a:solidFill>
                <a:latin typeface="Times New Roman"/>
              </a:rPr>
              <a:t>yaratilgan hisoblar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34840"/>
            <a:ext cx="6126480" cy="11887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earch_1F38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4416" y="4864608"/>
            <a:ext cx="329184" cy="32918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80760" y="4434840"/>
            <a:ext cx="53949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0" i="0">
                <a:solidFill>
                  <a:srgbClr val="202A38"/>
                </a:solidFill>
                <a:latin typeface="Times New Roman"/>
              </a:rPr>
              <a:t>Hisob nomini o‘zgartirish SIDni o‘zgartirmaydi. O‘chirib, shu nom bilan qayta yaratilsa — YANGI SID.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566928" y="598932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7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← Mavzuga qaytish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