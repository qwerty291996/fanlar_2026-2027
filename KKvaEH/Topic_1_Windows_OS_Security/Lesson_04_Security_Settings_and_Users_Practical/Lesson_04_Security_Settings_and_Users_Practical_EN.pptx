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6"/>
    <p:sldId id="279" r:id="rId5"/>
    <p:sldId id="280" r:id="rId4"/>
    <p:sldId id="281" r:id="rId3"/>
    <p:sldId id="282" r:id="rId32"/>
    <p:sldId id="283" r:id="rId33"/>
    <p:sldId id="284" r:id="rId34"/>
    <p:sldId id="285" r:id="rId35"/>
    <p:sldId id="286" r:id="rId36"/>
    <p:sldId id="287" r:id="rId3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6.xml"/><Relationship Id="rId4" Type="http://schemas.openxmlformats.org/officeDocument/2006/relationships/slide" Target="slides/slide25.xml"/><Relationship Id="rId5" Type="http://schemas.openxmlformats.org/officeDocument/2006/relationships/slide" Target="slides/slide24.xml"/><Relationship Id="rId6" Type="http://schemas.openxmlformats.org/officeDocument/2006/relationships/slide" Target="slides/slide23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5.png"/><Relationship Id="rId7" Type="http://schemas.openxmlformats.org/officeDocument/2006/relationships/slide" Target="slide2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slide" Target="slide2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.png"/><Relationship Id="rId4" Type="http://schemas.openxmlformats.org/officeDocument/2006/relationships/image" Target="../media/image15.png"/><Relationship Id="rId5" Type="http://schemas.openxmlformats.org/officeDocument/2006/relationships/slide" Target="slide2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7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8.png"/><Relationship Id="rId4" Type="http://schemas.openxmlformats.org/officeDocument/2006/relationships/image" Target="../media/image15.png"/><Relationship Id="rId5" Type="http://schemas.openxmlformats.org/officeDocument/2006/relationships/slide" Target="slide2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9.png"/><Relationship Id="rId4" Type="http://schemas.openxmlformats.org/officeDocument/2006/relationships/image" Target="../media/image15.png"/><Relationship Id="rId5" Type="http://schemas.openxmlformats.org/officeDocument/2006/relationships/slide" Target="slide3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1.png"/><Relationship Id="rId4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2.png"/><Relationship Id="rId4" Type="http://schemas.openxmlformats.org/officeDocument/2006/relationships/slide" Target="slide31.xml"/><Relationship Id="rId5" Type="http://schemas.openxmlformats.org/officeDocument/2006/relationships/slide" Target="slide3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3.png"/><Relationship Id="rId4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4.png"/><Relationship Id="rId4" Type="http://schemas.openxmlformats.org/officeDocument/2006/relationships/image" Target="../media/image15.png"/><Relationship Id="rId5" Type="http://schemas.openxmlformats.org/officeDocument/2006/relationships/slide" Target="slide3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6.png"/><Relationship Id="rId4" Type="http://schemas.openxmlformats.org/officeDocument/2006/relationships/image" Target="../media/image15.png"/><Relationship Id="rId5" Type="http://schemas.openxmlformats.org/officeDocument/2006/relationships/slide" Target="slide3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7.png"/><Relationship Id="rId4" Type="http://schemas.openxmlformats.org/officeDocument/2006/relationships/image" Target="../media/image10.png"/><Relationship Id="rId5" Type="http://schemas.openxmlformats.org/officeDocument/2006/relationships/image" Target="../media/image27.png"/><Relationship Id="rId6" Type="http://schemas.openxmlformats.org/officeDocument/2006/relationships/image" Target="../media/image9.png"/><Relationship Id="rId7" Type="http://schemas.openxmlformats.org/officeDocument/2006/relationships/image" Target="../media/image2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28.png"/><Relationship Id="rId5" Type="http://schemas.openxmlformats.org/officeDocument/2006/relationships/image" Target="../media/image17.png"/><Relationship Id="rId6" Type="http://schemas.openxmlformats.org/officeDocument/2006/relationships/image" Target="../media/image27.png"/><Relationship Id="rId7" Type="http://schemas.openxmlformats.org/officeDocument/2006/relationships/image" Target="../media/image10.png"/><Relationship Id="rId8" Type="http://schemas.openxmlformats.org/officeDocument/2006/relationships/image" Target="../media/image30.png"/><Relationship Id="rId9" Type="http://schemas.openxmlformats.org/officeDocument/2006/relationships/image" Target="../media/image9.png"/><Relationship Id="rId10" Type="http://schemas.openxmlformats.org/officeDocument/2006/relationships/slide" Target="slide26.xml"/><Relationship Id="rId11" Type="http://schemas.openxmlformats.org/officeDocument/2006/relationships/slide" Target="slide27.xml"/><Relationship Id="rId12" Type="http://schemas.openxmlformats.org/officeDocument/2006/relationships/slide" Target="slide28.xml"/><Relationship Id="rId13" Type="http://schemas.openxmlformats.org/officeDocument/2006/relationships/slide" Target="slide29.xml"/><Relationship Id="rId14" Type="http://schemas.openxmlformats.org/officeDocument/2006/relationships/slide" Target="slide30.xml"/><Relationship Id="rId15" Type="http://schemas.openxmlformats.org/officeDocument/2006/relationships/slide" Target="slide31.xml"/><Relationship Id="rId16" Type="http://schemas.openxmlformats.org/officeDocument/2006/relationships/slide" Target="slide3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slide" Target="slide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1.png"/><Relationship Id="rId4" Type="http://schemas.openxmlformats.org/officeDocument/2006/relationships/image" Target="../media/image15.png"/><Relationship Id="rId5" Type="http://schemas.openxmlformats.org/officeDocument/2006/relationships/slide" Target="slide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slide" Target="slide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slide" Target="slide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slide" Target="slide1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5.png"/><Relationship Id="rId4" Type="http://schemas.openxmlformats.org/officeDocument/2006/relationships/slide" Target="slide1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slide" Target="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194560"/>
            <a:ext cx="2468880" cy="25054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4892040"/>
            <a:ext cx="27432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050" b="0" i="1">
                <a:solidFill>
                  <a:srgbClr val="FFFFFF"/>
                </a:solidFill>
                <a:latin typeface="Times New Roman"/>
              </a:rPr>
              <a:t>REPUBLIC OF UZBEKISTAN</a:t>
            </a: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050" b="0" i="1">
                <a:solidFill>
                  <a:srgbClr val="FFFFFF"/>
                </a:solidFill>
                <a:latin typeface="Times New Roman"/>
              </a:rPr>
              <a:t>UNIVERSITY OF MILITARY SECURITY AND DEFENSE</a:t>
            </a: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050" b="0" i="1">
                <a:solidFill>
                  <a:srgbClr val="FFFFFF"/>
                </a:solidFill>
                <a:latin typeface="Times New Roman"/>
              </a:rPr>
              <a:t>Institute of ICT and Military Communications · Cybersecurity Department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4173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 i="0">
                <a:solidFill>
                  <a:srgbClr val="8FD9C4"/>
                </a:solidFill>
                <a:latin typeface="Times New Roman"/>
              </a:rPr>
              <a:t>COURSE: “CYBER FORENSICS AND ETHICAL HACKING”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20440" y="19659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Times New Roman"/>
              </a:rPr>
              <a:t>TOPIC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2514600"/>
            <a:ext cx="83210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5200" b="1" i="0">
                <a:solidFill>
                  <a:srgbClr val="FFFFFF"/>
                </a:solidFill>
                <a:latin typeface="Times New Roman"/>
              </a:rPr>
              <a:t>WINDOWS OS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5200" b="1" i="0">
                <a:solidFill>
                  <a:srgbClr val="FFFFFF"/>
                </a:solidFill>
                <a:latin typeface="Times New Roman"/>
              </a:rPr>
              <a:t>SECURITY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3566160" y="4343400"/>
            <a:ext cx="1280160" cy="5080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66160" y="4572000"/>
            <a:ext cx="8046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700" b="0" i="0">
                <a:solidFill>
                  <a:srgbClr val="D6E2EE"/>
                </a:solidFill>
                <a:latin typeface="Times New Roman"/>
              </a:rPr>
              <a:t>Lesson 4 · Windows OS Services  |  Practical, 4 hours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5989320"/>
            <a:ext cx="8046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1">
                <a:solidFill>
                  <a:srgbClr val="B9CDE0"/>
                </a:solidFill>
                <a:latin typeface="Times New Roman"/>
              </a:rPr>
              <a:t>Lecturer: Senior Lecturer, Cybersecurity Department — Captain M. Isakov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 i="0">
                <a:solidFill>
                  <a:srgbClr val="178A73"/>
                </a:solidFill>
                <a:latin typeface="Times New Roman"/>
              </a:rPr>
              <a:t>TOPIC 1 · WINDOWS OS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155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2500" b="1" i="0">
                <a:solidFill>
                  <a:srgbClr val="1F3864"/>
                </a:solidFill>
                <a:latin typeface="Times New Roman"/>
              </a:rPr>
              <a:t>Lesson 4: Windows OS Services (Practical)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371600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Topic 1 · Windows OS Security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382512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3566160" cy="123444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95528" y="1938528"/>
            <a:ext cx="731520" cy="731520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pu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353" y="2143353"/>
            <a:ext cx="321870" cy="32187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664208" y="192024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 i="0">
                <a:solidFill>
                  <a:srgbClr val="54647A"/>
                </a:solidFill>
                <a:latin typeface="Times New Roman"/>
              </a:rPr>
              <a:t>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22860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Times New Roman"/>
              </a:rPr>
              <a:t>Windows OS security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24528" y="1691640"/>
            <a:ext cx="3566160" cy="123444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453128" y="1938528"/>
            <a:ext cx="731520" cy="731520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ermina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7953" y="2143353"/>
            <a:ext cx="321870" cy="32187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21808" y="192024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 i="0">
                <a:solidFill>
                  <a:srgbClr val="54647A"/>
                </a:solidFill>
                <a:latin typeface="Times New Roman"/>
              </a:rPr>
              <a:t>Session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21808" y="22860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Times New Roman"/>
              </a:rPr>
              <a:t>Practical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82127" y="1691640"/>
            <a:ext cx="3566160" cy="123444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10727" y="1938528"/>
            <a:ext cx="731520" cy="731520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lock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15552" y="2143353"/>
            <a:ext cx="321870" cy="32187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979407" y="192024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 i="0">
                <a:solidFill>
                  <a:srgbClr val="54647A"/>
                </a:solidFill>
                <a:latin typeface="Times New Roman"/>
              </a:rPr>
              <a:t>Duration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79407" y="22860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Times New Roman"/>
              </a:rPr>
              <a:t>4 hours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154680"/>
            <a:ext cx="6949440" cy="3063240"/>
          </a:xfrm>
          <a:prstGeom prst="roundRect">
            <a:avLst>
              <a:gd name="adj" fmla="val 4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364992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Times New Roman"/>
              </a:rPr>
              <a:t>Learning questions</a:t>
            </a:r>
          </a:p>
        </p:txBody>
      </p:sp>
      <p:sp>
        <p:nvSpPr>
          <p:cNvPr id="25" name="Oval 24"/>
          <p:cNvSpPr/>
          <p:nvPr/>
        </p:nvSpPr>
        <p:spPr>
          <a:xfrm>
            <a:off x="868680" y="4023360"/>
            <a:ext cx="502920" cy="502920"/>
          </a:xfrm>
          <a:prstGeom prst="ellipse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023360"/>
            <a:ext cx="5760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Times New Roman"/>
              </a:rPr>
              <a:t>Configuring security settings (Local Security Policy)</a:t>
            </a:r>
          </a:p>
        </p:txBody>
      </p:sp>
      <p:sp>
        <p:nvSpPr>
          <p:cNvPr id="27" name="Oval 26"/>
          <p:cNvSpPr/>
          <p:nvPr/>
        </p:nvSpPr>
        <p:spPr>
          <a:xfrm>
            <a:off x="868680" y="4892040"/>
            <a:ext cx="502920" cy="502920"/>
          </a:xfrm>
          <a:prstGeom prst="ellipse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4892040"/>
            <a:ext cx="5760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Times New Roman"/>
              </a:rPr>
              <a:t>Configuring user security (accounts and groups)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26679" y="3154680"/>
            <a:ext cx="3904487" cy="3063240"/>
          </a:xfrm>
          <a:prstGeom prst="roundRect">
            <a:avLst>
              <a:gd name="adj" fmla="val 5000"/>
            </a:avLst>
          </a:prstGeom>
          <a:solidFill>
            <a:srgbClr val="E3F3EE"/>
          </a:solidFill>
          <a:ln w="12700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55279" y="3364992"/>
            <a:ext cx="566928" cy="566928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ist-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4018" y="3523731"/>
            <a:ext cx="249450" cy="24945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641080" y="3383280"/>
            <a:ext cx="29260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1" i="0">
                <a:solidFill>
                  <a:srgbClr val="178A73"/>
                </a:solidFill>
                <a:latin typeface="Times New Roman"/>
              </a:rPr>
              <a:t>Before you start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4069080"/>
            <a:ext cx="356616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178A73"/>
                </a:solidFill>
                <a:latin typeface="Times New Roman"/>
              </a:rPr>
              <a:t>▸  </a:t>
            </a:r>
            <a:r>
              <a:rPr sz="1250">
                <a:solidFill>
                  <a:srgbClr val="202A38"/>
                </a:solidFill>
                <a:latin typeface="Times New Roman"/>
              </a:rPr>
              <a:t>A </a:t>
            </a:r>
            <a:r>
              <a:rPr sz="1250" b="1">
                <a:solidFill>
                  <a:srgbClr val="1F3864"/>
                </a:solidFill>
                <a:latin typeface="Times New Roman"/>
              </a:rPr>
              <a:t>Windows 11 Pro / Enterprise</a:t>
            </a:r>
            <a:r>
              <a:rPr sz="1250">
                <a:solidFill>
                  <a:srgbClr val="202A38"/>
                </a:solidFill>
                <a:latin typeface="Times New Roman"/>
              </a:rPr>
              <a:t> VM — secpol.msc is not in Home.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178A73"/>
                </a:solidFill>
                <a:latin typeface="Times New Roman"/>
              </a:rPr>
              <a:t>▸  </a:t>
            </a:r>
            <a:r>
              <a:rPr sz="1250">
                <a:solidFill>
                  <a:srgbClr val="202A38"/>
                </a:solidFill>
                <a:latin typeface="Times New Roman"/>
              </a:rPr>
              <a:t>Restore the </a:t>
            </a:r>
            <a:r>
              <a:rPr sz="1250" b="1">
                <a:solidFill>
                  <a:srgbClr val="1F3864"/>
                </a:solidFill>
                <a:latin typeface="Times New Roman"/>
              </a:rPr>
              <a:t>Lesson 4 snapshot</a:t>
            </a:r>
            <a:r>
              <a:rPr sz="1250">
                <a:solidFill>
                  <a:srgbClr val="202A38"/>
                </a:solidFill>
                <a:latin typeface="Times New Roman"/>
              </a:rPr>
              <a:t> or take a new one.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178A73"/>
                </a:solidFill>
                <a:latin typeface="Times New Roman"/>
              </a:rPr>
              <a:t>▸  </a:t>
            </a:r>
            <a:r>
              <a:rPr sz="1250">
                <a:solidFill>
                  <a:srgbClr val="202A38"/>
                </a:solidFill>
                <a:latin typeface="Times New Roman"/>
              </a:rPr>
              <a:t>Sign in with an administrator account.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178A73"/>
                </a:solidFill>
                <a:latin typeface="Times New Roman"/>
              </a:rPr>
              <a:t>▸  </a:t>
            </a:r>
            <a:r>
              <a:rPr sz="1250">
                <a:solidFill>
                  <a:srgbClr val="202A38"/>
                </a:solidFill>
                <a:latin typeface="Times New Roman"/>
              </a:rPr>
              <a:t>Keep a notebook: write every value you change.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 i="0">
                <a:solidFill>
                  <a:srgbClr val="178A73"/>
                </a:solidFill>
                <a:latin typeface="Times New Roman"/>
              </a:rPr>
              <a:t>PRACTICAL LESSON · ORGANISATION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155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Lab plan for 4 hours and the tools we 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371600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Topic 1 · Windows OS Security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382512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868680" cy="576072"/>
          </a:xfrm>
          <a:prstGeom prst="roundRect">
            <a:avLst>
              <a:gd name="adj" fmla="val 10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1.1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08760" y="1691640"/>
            <a:ext cx="4526280" cy="5760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0" y="1691640"/>
            <a:ext cx="356616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Password policy + account lockout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1691640"/>
            <a:ext cx="86868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1250" b="1" i="0">
                <a:solidFill>
                  <a:srgbClr val="178A73"/>
                </a:solidFill>
                <a:latin typeface="Times New Roman"/>
              </a:rPr>
              <a:t>50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377440"/>
            <a:ext cx="868680" cy="576072"/>
          </a:xfrm>
          <a:prstGeom prst="roundRect">
            <a:avLst>
              <a:gd name="adj" fmla="val 10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1.2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08760" y="2377440"/>
            <a:ext cx="4526280" cy="5760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0" y="2377440"/>
            <a:ext cx="356616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Audit policy + Security log (brute-force demo)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2377440"/>
            <a:ext cx="86868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1250" b="1" i="0">
                <a:solidFill>
                  <a:srgbClr val="178A73"/>
                </a:solidFill>
                <a:latin typeface="Times New Roman"/>
              </a:rPr>
              <a:t>50 min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063240"/>
            <a:ext cx="868680" cy="576072"/>
          </a:xfrm>
          <a:prstGeom prst="roundRect">
            <a:avLst>
              <a:gd name="adj" fmla="val 10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1.3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08760" y="3063240"/>
            <a:ext cx="4526280" cy="5760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3063240"/>
            <a:ext cx="356616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Security Options: hide the last user name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3063240"/>
            <a:ext cx="86868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1250" b="1" i="0">
                <a:solidFill>
                  <a:srgbClr val="178A73"/>
                </a:solidFill>
                <a:latin typeface="Times New Roman"/>
              </a:rPr>
              <a:t>30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749039"/>
            <a:ext cx="868680" cy="576072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2.1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08760" y="3749039"/>
            <a:ext cx="4526280" cy="5760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45920" y="3749039"/>
            <a:ext cx="356616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Create a limited user (GUI and CLI)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3749039"/>
            <a:ext cx="86868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1250" b="1" i="0">
                <a:solidFill>
                  <a:srgbClr val="1F3864"/>
                </a:solidFill>
                <a:latin typeface="Times New Roman"/>
              </a:rPr>
              <a:t>40 min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434840"/>
            <a:ext cx="868680" cy="576072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2.2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08760" y="4434840"/>
            <a:ext cx="4526280" cy="5760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45920" y="4434840"/>
            <a:ext cx="356616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Test the rights, check SIDs, clean 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434840"/>
            <a:ext cx="86868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1250" b="1" i="0">
                <a:solidFill>
                  <a:srgbClr val="1F3864"/>
                </a:solidFill>
                <a:latin typeface="Times New Roman"/>
              </a:rPr>
              <a:t>30 min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120640"/>
            <a:ext cx="868680" cy="576072"/>
          </a:xfrm>
          <a:prstGeom prst="roundRect">
            <a:avLst>
              <a:gd name="adj" fmla="val 1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Lab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508760" y="5120640"/>
            <a:ext cx="4526280" cy="5760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45920" y="5120640"/>
            <a:ext cx="356616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Final hardening checklist + report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5120640"/>
            <a:ext cx="86868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1250" b="1" i="0">
                <a:solidFill>
                  <a:srgbClr val="C0392B"/>
                </a:solidFill>
                <a:latin typeface="Times New Roman"/>
              </a:rPr>
              <a:t>40 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164592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Times New Roman"/>
              </a:rPr>
              <a:t>Tools for today: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60" y="2103120"/>
            <a:ext cx="5321808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46520" y="2194560"/>
            <a:ext cx="530352" cy="530352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hiel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5018" y="2343058"/>
            <a:ext cx="233356" cy="233356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132320" y="2103120"/>
            <a:ext cx="4389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78A73"/>
                </a:solidFill>
                <a:latin typeface="Consolas"/>
              </a:rPr>
              <a:t>secpol.msc</a:t>
            </a:r>
            <a:r>
              <a:rPr sz="1300">
                <a:solidFill>
                  <a:srgbClr val="54647A"/>
                </a:solidFill>
                <a:latin typeface="Times New Roman"/>
              </a:rPr>
              <a:t>  —  Local Security Policy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09360" y="2926079"/>
            <a:ext cx="5321808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446520" y="3017519"/>
            <a:ext cx="530352" cy="530352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use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5018" y="3166017"/>
            <a:ext cx="233356" cy="23335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7132320" y="2926079"/>
            <a:ext cx="4389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78A73"/>
                </a:solidFill>
                <a:latin typeface="Consolas"/>
              </a:rPr>
              <a:t>lusrmgr.msc</a:t>
            </a:r>
            <a:r>
              <a:rPr sz="1300">
                <a:solidFill>
                  <a:srgbClr val="54647A"/>
                </a:solidFill>
                <a:latin typeface="Times New Roman"/>
              </a:rPr>
              <a:t>  —  Local Users and Groups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309360" y="3749039"/>
            <a:ext cx="5321808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46520" y="3840479"/>
            <a:ext cx="530352" cy="530352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book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5018" y="3988977"/>
            <a:ext cx="233356" cy="233356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132320" y="3749039"/>
            <a:ext cx="4389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78A73"/>
                </a:solidFill>
                <a:latin typeface="Consolas"/>
              </a:rPr>
              <a:t>eventvwr.msc</a:t>
            </a:r>
            <a:r>
              <a:rPr sz="1300">
                <a:solidFill>
                  <a:srgbClr val="54647A"/>
                </a:solidFill>
                <a:latin typeface="Times New Roman"/>
              </a:rPr>
              <a:t>  —  Event Viewer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09360" y="4572000"/>
            <a:ext cx="5321808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446520" y="4663440"/>
            <a:ext cx="530352" cy="530352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terminal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5018" y="4811938"/>
            <a:ext cx="233356" cy="23335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7132320" y="4572000"/>
            <a:ext cx="4389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78A73"/>
                </a:solidFill>
                <a:latin typeface="Consolas"/>
              </a:rPr>
              <a:t>net user · net accounts</a:t>
            </a:r>
            <a:r>
              <a:rPr sz="1300">
                <a:solidFill>
                  <a:srgbClr val="54647A"/>
                </a:solidFill>
                <a:latin typeface="Times New Roman"/>
              </a:rPr>
              <a:t>  —  command line (Admin)</a:t>
            </a:r>
          </a:p>
        </p:txBody>
      </p:sp>
      <p:sp>
        <p:nvSpPr>
          <p:cNvPr id="49" name="Rounded Rectangle 48">
            <a:hlinkClick action="ppaction://hlinksldjump" r:id="rId7"/>
          </p:cNvPr>
          <p:cNvSpPr/>
          <p:nvPr/>
        </p:nvSpPr>
        <p:spPr>
          <a:xfrm>
            <a:off x="566928" y="5806440"/>
            <a:ext cx="2199132" cy="457200"/>
          </a:xfrm>
          <a:prstGeom prst="roundRect">
            <a:avLst>
              <a:gd name="adj" fmla="val 50000"/>
            </a:avLst>
          </a:prstGeom>
          <a:solidFill>
            <a:srgbClr val="E3F3EE"/>
          </a:solidFill>
          <a:ln w="12700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200" b="1">
                <a:solidFill>
                  <a:srgbClr val="178A73"/>
                </a:solidFill>
                <a:latin typeface="Times New Roman"/>
              </a:rPr>
              <a:t>?  Local Security Policy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69748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1" i="0">
                <a:solidFill>
                  <a:srgbClr val="8FD9C4"/>
                </a:solidFill>
                <a:latin typeface="Times New Roman"/>
              </a:rPr>
              <a:t>QUESTION 1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Times New Roman"/>
              </a:rPr>
              <a:t>Configuring security settings (Local Security Policy)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4160520"/>
            <a:ext cx="1188720" cy="5486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30000" y="6382512"/>
            <a:ext cx="365760" cy="365760"/>
          </a:xfrm>
          <a:prstGeom prst="ellipse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 i="0">
                <a:solidFill>
                  <a:srgbClr val="178A73"/>
                </a:solidFill>
                <a:latin typeface="Times New Roman"/>
              </a:rPr>
              <a:t>QUESTION 1 · WHERE EVERYTHING LIVES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155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secpol.msc — the map of today’s settings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371600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Topic 1 · Windows OS Security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382512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13931"/>
            <a:ext cx="6400800" cy="288149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ecpol_pw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713931"/>
            <a:ext cx="6400800" cy="288149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4650293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50" b="0" i="1">
                <a:solidFill>
                  <a:srgbClr val="54647A"/>
                </a:solidFill>
                <a:latin typeface="Times New Roman"/>
              </a:rPr>
              <a:t>Fig. 1. secpol.msc → Account Policies → Password Policy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0" y="1691640"/>
            <a:ext cx="4407408" cy="685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23760" y="1691640"/>
            <a:ext cx="109728" cy="685800"/>
          </a:xfrm>
          <a:prstGeom prst="rect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1691640"/>
            <a:ext cx="3200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1F3864"/>
                </a:solidFill>
                <a:latin typeface="Times New Roman"/>
              </a:rPr>
              <a:t>Account Policies → Password Policy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54647A"/>
                </a:solidFill>
                <a:latin typeface="Times New Roman"/>
              </a:rPr>
              <a:t>length, complexity, 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698480" y="1847088"/>
            <a:ext cx="841248" cy="384048"/>
          </a:xfrm>
          <a:prstGeom prst="roundRect">
            <a:avLst>
              <a:gd name="adj" fmla="val 30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Times New Roman"/>
              </a:rPr>
              <a:t>Task 1.1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23760" y="2468880"/>
            <a:ext cx="4407408" cy="685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23760" y="2468880"/>
            <a:ext cx="109728" cy="685800"/>
          </a:xfrm>
          <a:prstGeom prst="rect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52360" y="2468880"/>
            <a:ext cx="3200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1F3864"/>
                </a:solidFill>
                <a:latin typeface="Times New Roman"/>
              </a:rPr>
              <a:t>Account Policies → Account Lockout Policy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54647A"/>
                </a:solidFill>
                <a:latin typeface="Times New Roman"/>
              </a:rPr>
              <a:t>protection from password guessing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98480" y="2624328"/>
            <a:ext cx="841248" cy="384048"/>
          </a:xfrm>
          <a:prstGeom prst="roundRect">
            <a:avLst>
              <a:gd name="adj" fmla="val 30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Times New Roman"/>
              </a:rPr>
              <a:t>Task 1.1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0" y="3246120"/>
            <a:ext cx="4407408" cy="685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23760" y="3246120"/>
            <a:ext cx="109728" cy="685800"/>
          </a:xfrm>
          <a:prstGeom prst="rect">
            <a:avLst/>
          </a:prstGeom>
          <a:solidFill>
            <a:srgbClr val="E08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52360" y="3246120"/>
            <a:ext cx="3200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1F3864"/>
                </a:solidFill>
                <a:latin typeface="Times New Roman"/>
              </a:rPr>
              <a:t>Local Policies → Audit Policy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54647A"/>
                </a:solidFill>
                <a:latin typeface="Times New Roman"/>
              </a:rPr>
              <a:t>what is written to the Security log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98480" y="3401568"/>
            <a:ext cx="841248" cy="384048"/>
          </a:xfrm>
          <a:prstGeom prst="roundRect">
            <a:avLst>
              <a:gd name="adj" fmla="val 30000"/>
            </a:avLst>
          </a:prstGeom>
          <a:solidFill>
            <a:srgbClr val="E08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Times New Roman"/>
              </a:rPr>
              <a:t>Task 1.2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23760" y="4023360"/>
            <a:ext cx="4407408" cy="685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23760" y="4023360"/>
            <a:ext cx="109728" cy="6858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4023360"/>
            <a:ext cx="3200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1F3864"/>
                </a:solidFill>
                <a:latin typeface="Times New Roman"/>
              </a:rPr>
              <a:t>Local Policies → Security Options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54647A"/>
                </a:solidFill>
                <a:latin typeface="Times New Roman"/>
              </a:rPr>
              <a:t>sign-in screen, accounts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698480" y="4178808"/>
            <a:ext cx="841248" cy="384048"/>
          </a:xfrm>
          <a:prstGeom prst="roundRect">
            <a:avLst>
              <a:gd name="adj" fmla="val 3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Times New Roman"/>
              </a:rPr>
              <a:t>Task 1.3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212080"/>
            <a:ext cx="11064240" cy="960120"/>
          </a:xfrm>
          <a:prstGeom prst="roundRect">
            <a:avLst>
              <a:gd name="adj" fmla="val 5000"/>
            </a:avLst>
          </a:prstGeom>
          <a:solidFill>
            <a:srgbClr val="FDF1DF"/>
          </a:solidFill>
          <a:ln w="12700">
            <a:solidFill>
              <a:srgbClr val="E08E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49808" y="5376672"/>
            <a:ext cx="621792" cy="621792"/>
          </a:xfrm>
          <a:prstGeom prst="ellipse">
            <a:avLst/>
          </a:prstGeom>
          <a:solidFill>
            <a:srgbClr val="E08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warning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09" y="5550773"/>
            <a:ext cx="273590" cy="27359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554480" y="5230368"/>
            <a:ext cx="9966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F3864"/>
                </a:solidFill>
                <a:latin typeface="Times New Roman"/>
              </a:rPr>
              <a:t>On a domain computer </a:t>
            </a:r>
            <a:r>
              <a:rPr sz="1250">
                <a:solidFill>
                  <a:srgbClr val="202A38"/>
                </a:solidFill>
                <a:latin typeface="Times New Roman"/>
              </a:rPr>
              <a:t>these local values can be overwritten by the domain GPO (LSDOU — the last one wins). </a:t>
            </a:r>
            <a:r>
              <a:rPr sz="1250">
                <a:solidFill>
                  <a:srgbClr val="202A38"/>
                </a:solidFill>
                <a:latin typeface="Times New Roman"/>
              </a:rPr>
              <a:t>Check what is really applied with </a:t>
            </a:r>
            <a:r>
              <a:rPr sz="1250" b="1">
                <a:solidFill>
                  <a:srgbClr val="178A73"/>
                </a:solidFill>
                <a:latin typeface="Consolas"/>
              </a:rPr>
              <a:t>gpresult /r</a:t>
            </a:r>
            <a:r>
              <a:rPr sz="1250">
                <a:solidFill>
                  <a:srgbClr val="202A38"/>
                </a:solidFill>
                <a:latin typeface="Times New Roman"/>
              </a:rPr>
              <a:t>. Our lab VM is standalone, so changes apply immediately.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 i="0">
                <a:solidFill>
                  <a:srgbClr val="178A73"/>
                </a:solidFill>
                <a:latin typeface="Times New Roman"/>
              </a:rPr>
              <a:t>QUESTION 1 · PRACTICAL TASK 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155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2400" b="1" i="0">
                <a:solidFill>
                  <a:srgbClr val="1F3864"/>
                </a:solidFill>
                <a:latin typeface="Times New Roman"/>
              </a:rPr>
              <a:t>Task 1.1 — set a strong password policy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371600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Topic 1 · Windows OS Security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382512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6355079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792224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8" y="1645920"/>
            <a:ext cx="557784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F3864"/>
                </a:solidFill>
                <a:latin typeface="Times New Roman"/>
              </a:rPr>
              <a:t>Win + R</a:t>
            </a:r>
            <a:r>
              <a:rPr sz="1250">
                <a:solidFill>
                  <a:srgbClr val="202A38"/>
                </a:solidFill>
                <a:latin typeface="Times New Roman"/>
              </a:rPr>
              <a:t> → </a:t>
            </a:r>
            <a:r>
              <a:rPr sz="1250" b="1">
                <a:solidFill>
                  <a:srgbClr val="178A73"/>
                </a:solidFill>
                <a:latin typeface="Consolas"/>
              </a:rPr>
              <a:t>secpol.msc</a:t>
            </a:r>
            <a:r>
              <a:rPr sz="1250">
                <a:solidFill>
                  <a:srgbClr val="202A38"/>
                </a:solidFill>
                <a:latin typeface="Times New Roman"/>
              </a:rPr>
              <a:t> → Account Policies → </a:t>
            </a:r>
            <a:r>
              <a:rPr sz="1250" b="1">
                <a:solidFill>
                  <a:srgbClr val="1F3864"/>
                </a:solidFill>
                <a:latin typeface="Times New Roman"/>
              </a:rPr>
              <a:t>Password Policy</a:t>
            </a:r>
            <a:r>
              <a:rPr sz="1250">
                <a:solidFill>
                  <a:srgbClr val="202A38"/>
                </a:solidFill>
                <a:latin typeface="Times New Roman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414016"/>
            <a:ext cx="6355079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800" y="2560320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2414016"/>
            <a:ext cx="557784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02A38"/>
                </a:solidFill>
                <a:latin typeface="Times New Roman"/>
              </a:rPr>
              <a:t>Double-click </a:t>
            </a:r>
            <a:r>
              <a:rPr sz="1250" b="1">
                <a:solidFill>
                  <a:srgbClr val="178A73"/>
                </a:solidFill>
                <a:latin typeface="Consolas"/>
              </a:rPr>
              <a:t>Minimum password length</a:t>
            </a:r>
            <a:r>
              <a:rPr sz="1250">
                <a:solidFill>
                  <a:srgbClr val="202A38"/>
                </a:solidFill>
                <a:latin typeface="Times New Roman"/>
              </a:rPr>
              <a:t> → set </a:t>
            </a:r>
            <a:r>
              <a:rPr sz="1250" b="1">
                <a:solidFill>
                  <a:srgbClr val="1F3864"/>
                </a:solidFill>
                <a:latin typeface="Times New Roman"/>
              </a:rPr>
              <a:t>10</a:t>
            </a:r>
            <a:r>
              <a:rPr sz="1250">
                <a:solidFill>
                  <a:srgbClr val="202A38"/>
                </a:solidFill>
                <a:latin typeface="Times New Roman"/>
              </a:rPr>
              <a:t> → OK.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182112"/>
            <a:ext cx="6355079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5800" y="3328416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3182112"/>
            <a:ext cx="557784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78A73"/>
                </a:solidFill>
                <a:latin typeface="Consolas"/>
              </a:rPr>
              <a:t>Password must meet complexity requirements</a:t>
            </a:r>
            <a:r>
              <a:rPr sz="1250">
                <a:solidFill>
                  <a:srgbClr val="202A38"/>
                </a:solidFill>
                <a:latin typeface="Times New Roman"/>
              </a:rPr>
              <a:t> → </a:t>
            </a:r>
            <a:r>
              <a:rPr sz="1250" b="1">
                <a:solidFill>
                  <a:srgbClr val="1F3864"/>
                </a:solidFill>
                <a:latin typeface="Times New Roman"/>
              </a:rPr>
              <a:t>Enabled</a:t>
            </a:r>
            <a:r>
              <a:rPr sz="1250">
                <a:solidFill>
                  <a:srgbClr val="202A38"/>
                </a:solidFill>
                <a:latin typeface="Times New Roman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50208"/>
            <a:ext cx="6355079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85800" y="4096512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8" y="3950208"/>
            <a:ext cx="557784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78A73"/>
                </a:solidFill>
                <a:latin typeface="Consolas"/>
              </a:rPr>
              <a:t>Maximum password age</a:t>
            </a:r>
            <a:r>
              <a:rPr sz="1250">
                <a:solidFill>
                  <a:srgbClr val="202A38"/>
                </a:solidFill>
                <a:latin typeface="Times New Roman"/>
              </a:rPr>
              <a:t> → </a:t>
            </a:r>
            <a:r>
              <a:rPr sz="1250" b="1">
                <a:solidFill>
                  <a:srgbClr val="1F3864"/>
                </a:solidFill>
                <a:latin typeface="Times New Roman"/>
              </a:rPr>
              <a:t>90</a:t>
            </a:r>
            <a:r>
              <a:rPr sz="1250">
                <a:solidFill>
                  <a:srgbClr val="202A38"/>
                </a:solidFill>
                <a:latin typeface="Times New Roman"/>
              </a:rPr>
              <a:t> days;  </a:t>
            </a:r>
            <a:r>
              <a:rPr sz="1250" b="1">
                <a:solidFill>
                  <a:srgbClr val="178A73"/>
                </a:solidFill>
                <a:latin typeface="Consolas"/>
              </a:rPr>
              <a:t>Enforce password history</a:t>
            </a:r>
            <a:r>
              <a:rPr sz="1250">
                <a:solidFill>
                  <a:srgbClr val="202A38"/>
                </a:solidFill>
                <a:latin typeface="Times New Roman"/>
              </a:rPr>
              <a:t> → </a:t>
            </a:r>
            <a:r>
              <a:rPr sz="1250" b="1">
                <a:solidFill>
                  <a:srgbClr val="1F3864"/>
                </a:solidFill>
                <a:latin typeface="Times New Roman"/>
              </a:rPr>
              <a:t>5</a:t>
            </a:r>
            <a:r>
              <a:rPr sz="1250">
                <a:solidFill>
                  <a:srgbClr val="202A38"/>
                </a:solidFill>
                <a:latin typeface="Times New Roman"/>
              </a:rPr>
              <a:t>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18304"/>
            <a:ext cx="6355079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4864608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7008" y="4718304"/>
            <a:ext cx="557784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02A38"/>
                </a:solidFill>
                <a:latin typeface="Times New Roman"/>
              </a:rPr>
              <a:t>Screenshot the Password Policy list for the report.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50607" y="2456021"/>
            <a:ext cx="4480560" cy="1900237"/>
          </a:xfrm>
          <a:prstGeom prst="rect">
            <a:avLst/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inpw_pro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607" y="2456021"/>
            <a:ext cx="4480560" cy="190023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150607" y="4411122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50" b="0" i="1">
                <a:solidFill>
                  <a:srgbClr val="54647A"/>
                </a:solidFill>
                <a:latin typeface="Times New Roman"/>
              </a:rPr>
              <a:t>Fig. 2. “Minimum password length” properties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532120"/>
            <a:ext cx="6949440" cy="658368"/>
          </a:xfrm>
          <a:prstGeom prst="roundRect">
            <a:avLst>
              <a:gd name="adj" fmla="val 5000"/>
            </a:avLst>
          </a:prstGeom>
          <a:solidFill>
            <a:srgbClr val="E3F3EE"/>
          </a:solidFill>
          <a:ln w="12700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check-circle_178A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669280"/>
            <a:ext cx="384048" cy="38404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34440" y="5532120"/>
            <a:ext cx="6172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78A73"/>
                </a:solidFill>
                <a:latin typeface="Times New Roman"/>
              </a:rPr>
              <a:t>Expected result: </a:t>
            </a:r>
            <a:r>
              <a:rPr sz="1250">
                <a:solidFill>
                  <a:srgbClr val="202A38"/>
                </a:solidFill>
                <a:latin typeface="Times New Roman"/>
              </a:rPr>
              <a:t>the list shows 10 characters, Enabled, 90 days, 5 passwords remembered.</a:t>
            </a:r>
          </a:p>
        </p:txBody>
      </p:sp>
      <p:sp>
        <p:nvSpPr>
          <p:cNvPr id="29" name="Rounded Rectangle 28">
            <a:hlinkClick action="ppaction://hlinksldjump" r:id="rId5"/>
          </p:cNvPr>
          <p:cNvSpPr/>
          <p:nvPr/>
        </p:nvSpPr>
        <p:spPr>
          <a:xfrm>
            <a:off x="7726679" y="5577840"/>
            <a:ext cx="2043684" cy="457200"/>
          </a:xfrm>
          <a:prstGeom prst="roundRect">
            <a:avLst>
              <a:gd name="adj" fmla="val 50000"/>
            </a:avLst>
          </a:prstGeom>
          <a:solidFill>
            <a:srgbClr val="E3F3EE"/>
          </a:solidFill>
          <a:ln w="12700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200" b="1">
                <a:solidFill>
                  <a:srgbClr val="178A73"/>
                </a:solidFill>
                <a:latin typeface="Times New Roman"/>
              </a:rPr>
              <a:t>?  Password complexity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 i="0">
                <a:solidFill>
                  <a:srgbClr val="178A73"/>
                </a:solidFill>
                <a:latin typeface="Times New Roman"/>
              </a:rPr>
              <a:t>QUESTION 1 · PRACTICAL TASK 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155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2400" b="1" i="0">
                <a:solidFill>
                  <a:srgbClr val="1F3864"/>
                </a:solidFill>
                <a:latin typeface="Times New Roman"/>
              </a:rPr>
              <a:t>Task 1.1 — configure the account lockout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371600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Topic 1 · Windows OS Security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382512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074920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792224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8" y="1645920"/>
            <a:ext cx="429768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02A38"/>
                </a:solidFill>
                <a:latin typeface="Times New Roman"/>
              </a:rPr>
              <a:t>Go to Account Policies → </a:t>
            </a:r>
            <a:r>
              <a:rPr sz="1250" b="1">
                <a:solidFill>
                  <a:srgbClr val="1F3864"/>
                </a:solidFill>
                <a:latin typeface="Times New Roman"/>
              </a:rPr>
              <a:t>Account Lockout Policy</a:t>
            </a:r>
            <a:r>
              <a:rPr sz="1250">
                <a:solidFill>
                  <a:srgbClr val="202A38"/>
                </a:solidFill>
                <a:latin typeface="Times New Roman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414016"/>
            <a:ext cx="5074920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800" y="2560320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2414016"/>
            <a:ext cx="429768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78A73"/>
                </a:solidFill>
                <a:latin typeface="Consolas"/>
              </a:rPr>
              <a:t>Account lockout threshold</a:t>
            </a:r>
            <a:r>
              <a:rPr sz="1250">
                <a:solidFill>
                  <a:srgbClr val="202A38"/>
                </a:solidFill>
                <a:latin typeface="Times New Roman"/>
              </a:rPr>
              <a:t> → </a:t>
            </a:r>
            <a:r>
              <a:rPr sz="1250" b="1">
                <a:solidFill>
                  <a:srgbClr val="1F3864"/>
                </a:solidFill>
                <a:latin typeface="Times New Roman"/>
              </a:rPr>
              <a:t>5</a:t>
            </a:r>
            <a:r>
              <a:rPr sz="1250">
                <a:solidFill>
                  <a:srgbClr val="202A38"/>
                </a:solidFill>
                <a:latin typeface="Times New Roman"/>
              </a:rPr>
              <a:t> invalid logon attempts.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182112"/>
            <a:ext cx="5074920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5800" y="3328416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3182112"/>
            <a:ext cx="429768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02A38"/>
                </a:solidFill>
                <a:latin typeface="Times New Roman"/>
              </a:rPr>
              <a:t>Windows suggests the other two values — accept: duration </a:t>
            </a:r>
            <a:r>
              <a:rPr sz="1250" b="1">
                <a:solidFill>
                  <a:srgbClr val="1F3864"/>
                </a:solidFill>
                <a:latin typeface="Times New Roman"/>
              </a:rPr>
              <a:t>15 min</a:t>
            </a:r>
            <a:r>
              <a:rPr sz="1250">
                <a:solidFill>
                  <a:srgbClr val="202A38"/>
                </a:solidFill>
                <a:latin typeface="Times New Roman"/>
              </a:rPr>
              <a:t>, reset counter after </a:t>
            </a:r>
            <a:r>
              <a:rPr sz="1250" b="1">
                <a:solidFill>
                  <a:srgbClr val="1F3864"/>
                </a:solidFill>
                <a:latin typeface="Times New Roman"/>
              </a:rPr>
              <a:t>15 min</a:t>
            </a:r>
            <a:r>
              <a:rPr sz="1250">
                <a:solidFill>
                  <a:srgbClr val="202A38"/>
                </a:solidFill>
                <a:latin typeface="Times New Roman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50208"/>
            <a:ext cx="5074920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85800" y="4096512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8" y="3950208"/>
            <a:ext cx="429768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02A38"/>
                </a:solidFill>
                <a:latin typeface="Times New Roman"/>
              </a:rPr>
              <a:t>Check from the terminal: </a:t>
            </a:r>
            <a:r>
              <a:rPr sz="1250" b="1">
                <a:solidFill>
                  <a:srgbClr val="178A73"/>
                </a:solidFill>
                <a:latin typeface="Consolas"/>
              </a:rPr>
              <a:t>net accounts</a:t>
            </a:r>
            <a:r>
              <a:rPr sz="1250">
                <a:solidFill>
                  <a:srgbClr val="202A38"/>
                </a:solidFill>
                <a:latin typeface="Times New Roman"/>
              </a:rPr>
              <a:t> → “Lockout threshold: 5”.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18304"/>
            <a:ext cx="5074920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4864608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7008" y="4718304"/>
            <a:ext cx="429768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02A38"/>
                </a:solidFill>
                <a:latin typeface="Times New Roman"/>
              </a:rPr>
              <a:t>Note: the threshold counts only failed attempts in a row.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70448" y="2250408"/>
            <a:ext cx="5760720" cy="2311463"/>
          </a:xfrm>
          <a:prstGeom prst="rect">
            <a:avLst/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ecpol_lock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0448" y="2250408"/>
            <a:ext cx="5760720" cy="231146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870448" y="4616735"/>
            <a:ext cx="5760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50" b="0" i="1">
                <a:solidFill>
                  <a:srgbClr val="54647A"/>
                </a:solidFill>
                <a:latin typeface="Times New Roman"/>
              </a:rPr>
              <a:t>Fig. 3. Account Lockout Policy after the change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532120"/>
            <a:ext cx="6949440" cy="658368"/>
          </a:xfrm>
          <a:prstGeom prst="roundRect">
            <a:avLst>
              <a:gd name="adj" fmla="val 5000"/>
            </a:avLst>
          </a:prstGeom>
          <a:solidFill>
            <a:srgbClr val="E3F3EE"/>
          </a:solidFill>
          <a:ln w="12700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check-circle_178A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669280"/>
            <a:ext cx="384048" cy="38404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34440" y="5532120"/>
            <a:ext cx="6172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78A73"/>
                </a:solidFill>
                <a:latin typeface="Times New Roman"/>
              </a:rPr>
              <a:t>Expected result: </a:t>
            </a:r>
            <a:r>
              <a:rPr sz="1250">
                <a:solidFill>
                  <a:srgbClr val="202A38"/>
                </a:solidFill>
                <a:latin typeface="Times New Roman"/>
              </a:rPr>
              <a:t>after 5 wrong passwords the account is locked for 15 minutes.</a:t>
            </a:r>
          </a:p>
        </p:txBody>
      </p:sp>
      <p:sp>
        <p:nvSpPr>
          <p:cNvPr id="29" name="Rounded Rectangle 28">
            <a:hlinkClick action="ppaction://hlinksldjump" r:id="rId5"/>
          </p:cNvPr>
          <p:cNvSpPr/>
          <p:nvPr/>
        </p:nvSpPr>
        <p:spPr>
          <a:xfrm>
            <a:off x="7726679" y="5577840"/>
            <a:ext cx="1732788" cy="457200"/>
          </a:xfrm>
          <a:prstGeom prst="roundRect">
            <a:avLst>
              <a:gd name="adj" fmla="val 50000"/>
            </a:avLst>
          </a:prstGeom>
          <a:solidFill>
            <a:srgbClr val="E3F3EE"/>
          </a:solidFill>
          <a:ln w="12700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200" b="1">
                <a:solidFill>
                  <a:srgbClr val="178A73"/>
                </a:solidFill>
                <a:latin typeface="Times New Roman"/>
              </a:rPr>
              <a:t>?  Account lockout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 i="0">
                <a:solidFill>
                  <a:srgbClr val="178A73"/>
                </a:solidFill>
                <a:latin typeface="Times New Roman"/>
              </a:rPr>
              <a:t>QUESTION 1 · PRACTICAL SIGNIFICANCE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155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Why length and lockout matter — the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371600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Topic 1 · Windows OS Security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382512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645920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Times New Roman"/>
              </a:rPr>
              <a:t>How long a brute-force attack needs (offline, fast GPU):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14884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0" i="0">
                <a:solidFill>
                  <a:srgbClr val="202A38"/>
                </a:solidFill>
                <a:latin typeface="Times New Roman"/>
              </a:rPr>
              <a:t>6 chars, lower case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17520" y="2240280"/>
            <a:ext cx="160934" cy="384048"/>
          </a:xfrm>
          <a:prstGeom prst="roundRect">
            <a:avLst>
              <a:gd name="adj" fmla="val 2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69894" y="2148840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 i="0">
                <a:solidFill>
                  <a:srgbClr val="C0392B"/>
                </a:solidFill>
                <a:latin typeface="Times New Roman"/>
              </a:rPr>
              <a:t>seconds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92608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0" i="0">
                <a:solidFill>
                  <a:srgbClr val="202A38"/>
                </a:solidFill>
                <a:latin typeface="Times New Roman"/>
              </a:rPr>
              <a:t>8 chars, mixed case + digits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17520" y="3017520"/>
            <a:ext cx="603504" cy="384048"/>
          </a:xfrm>
          <a:prstGeom prst="roundRect">
            <a:avLst>
              <a:gd name="adj" fmla="val 20000"/>
            </a:avLst>
          </a:prstGeom>
          <a:solidFill>
            <a:srgbClr val="E08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2464" y="2926080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 i="0">
                <a:solidFill>
                  <a:srgbClr val="E08E1D"/>
                </a:solidFill>
                <a:latin typeface="Times New Roman"/>
              </a:rPr>
              <a:t>hours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70332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0" i="0">
                <a:solidFill>
                  <a:srgbClr val="202A38"/>
                </a:solidFill>
                <a:latin typeface="Times New Roman"/>
              </a:rPr>
              <a:t>10 chars, complex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17520" y="3794760"/>
            <a:ext cx="1247241" cy="384048"/>
          </a:xfrm>
          <a:prstGeom prst="roundRect">
            <a:avLst>
              <a:gd name="adj" fmla="val 20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6201" y="3703320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 i="0">
                <a:solidFill>
                  <a:srgbClr val="178A73"/>
                </a:solidFill>
                <a:latin typeface="Times New Roman"/>
              </a:rPr>
              <a:t>years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48056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0" i="0">
                <a:solidFill>
                  <a:srgbClr val="202A38"/>
                </a:solidFill>
                <a:latin typeface="Times New Roman"/>
              </a:rPr>
              <a:t>12+ chars, complex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17520" y="4572000"/>
            <a:ext cx="2011680" cy="384048"/>
          </a:xfrm>
          <a:prstGeom prst="roundRect">
            <a:avLst>
              <a:gd name="adj" fmla="val 20000"/>
            </a:avLst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4480560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 i="0">
                <a:solidFill>
                  <a:srgbClr val="43B02A"/>
                </a:solidFill>
                <a:latin typeface="Times New Roman"/>
              </a:rPr>
              <a:t>practically never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303520"/>
            <a:ext cx="5852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 i="1">
                <a:solidFill>
                  <a:srgbClr val="54647A"/>
                </a:solidFill>
                <a:latin typeface="Times New Roman"/>
              </a:rPr>
              <a:t>Order-of-magnitude illustration; real times depend on the hash type and hardware.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0" y="1645920"/>
            <a:ext cx="4956048" cy="2103120"/>
          </a:xfrm>
          <a:prstGeom prst="roundRect">
            <a:avLst>
              <a:gd name="adj" fmla="val 5000"/>
            </a:avLst>
          </a:prstGeom>
          <a:solidFill>
            <a:srgbClr val="E3F3EE"/>
          </a:solidFill>
          <a:ln w="12700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858000" y="1828800"/>
            <a:ext cx="640080" cy="640080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c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7222" y="2008022"/>
            <a:ext cx="281636" cy="28163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635240" y="1847088"/>
            <a:ext cx="38404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1" i="0">
                <a:solidFill>
                  <a:srgbClr val="178A73"/>
                </a:solidFill>
                <a:latin typeface="Times New Roman"/>
              </a:rPr>
              <a:t>Online guessing + lockout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2560320"/>
            <a:ext cx="45720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02A38"/>
                </a:solidFill>
                <a:latin typeface="Times New Roman"/>
              </a:rPr>
              <a:t>With a threshold of 5 an attacker gets </a:t>
            </a:r>
            <a:r>
              <a:rPr sz="1250" b="1">
                <a:solidFill>
                  <a:srgbClr val="1F3864"/>
                </a:solidFill>
                <a:latin typeface="Times New Roman"/>
              </a:rPr>
              <a:t>5 tries per 15 minutes</a:t>
            </a:r>
            <a:r>
              <a:rPr sz="1250">
                <a:solidFill>
                  <a:srgbClr val="202A38"/>
                </a:solidFill>
                <a:latin typeface="Times New Roman"/>
              </a:rPr>
              <a:t> ≈ 480 per day. Even a weak-looking 8-character password becomes useless to guess.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0" y="3931920"/>
            <a:ext cx="4956048" cy="2194560"/>
          </a:xfrm>
          <a:prstGeom prst="roundRect">
            <a:avLst>
              <a:gd name="adj" fmla="val 5000"/>
            </a:avLst>
          </a:prstGeom>
          <a:solidFill>
            <a:srgbClr val="FDF1DF"/>
          </a:solidFill>
          <a:ln w="12700">
            <a:solidFill>
              <a:srgbClr val="E08E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858000" y="4114800"/>
            <a:ext cx="640080" cy="640080"/>
          </a:xfrm>
          <a:prstGeom prst="ellipse">
            <a:avLst/>
          </a:prstGeom>
          <a:solidFill>
            <a:srgbClr val="E08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warning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7222" y="4294022"/>
            <a:ext cx="281636" cy="28163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635240" y="4133087"/>
            <a:ext cx="38404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1" i="0">
                <a:solidFill>
                  <a:srgbClr val="E08E1D"/>
                </a:solidFill>
                <a:latin typeface="Times New Roman"/>
              </a:rPr>
              <a:t>Watch out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03720" y="4846320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E08E1D"/>
                </a:solidFill>
                <a:latin typeface="Times New Roman"/>
              </a:rPr>
              <a:t>▸  </a:t>
            </a:r>
            <a:r>
              <a:rPr sz="1200">
                <a:solidFill>
                  <a:srgbClr val="202A38"/>
                </a:solidFill>
                <a:latin typeface="Times New Roman"/>
              </a:rPr>
              <a:t>A too-low threshold (1–2) locks out real users → help-desk overload (a DoS risk).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E08E1D"/>
                </a:solidFill>
                <a:latin typeface="Times New Roman"/>
              </a:rPr>
              <a:t>▸  </a:t>
            </a:r>
            <a:r>
              <a:rPr sz="1200">
                <a:solidFill>
                  <a:srgbClr val="202A38"/>
                </a:solidFill>
                <a:latin typeface="Times New Roman"/>
              </a:rPr>
              <a:t>Length beats forced frequent changes — users then write passwords down.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 i="0">
                <a:solidFill>
                  <a:srgbClr val="178A73"/>
                </a:solidFill>
                <a:latin typeface="Times New Roman"/>
              </a:rPr>
              <a:t>QUESTION 1 · PRACTICAL TASK 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155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2400" b="1" i="0">
                <a:solidFill>
                  <a:srgbClr val="1F3864"/>
                </a:solidFill>
                <a:latin typeface="Times New Roman"/>
              </a:rPr>
              <a:t>Task 1.2 — turn on auditing of logon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371600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Topic 1 · Windows OS Security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382512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074920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792224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8" y="1645920"/>
            <a:ext cx="429768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02A38"/>
                </a:solidFill>
                <a:latin typeface="Times New Roman"/>
              </a:rPr>
              <a:t>Go to Local Policies → </a:t>
            </a:r>
            <a:r>
              <a:rPr sz="1250" b="1">
                <a:solidFill>
                  <a:srgbClr val="1F3864"/>
                </a:solidFill>
                <a:latin typeface="Times New Roman"/>
              </a:rPr>
              <a:t>Audit Policy</a:t>
            </a:r>
            <a:r>
              <a:rPr sz="1250">
                <a:solidFill>
                  <a:srgbClr val="202A38"/>
                </a:solidFill>
                <a:latin typeface="Times New Roman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414016"/>
            <a:ext cx="5074920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800" y="2560320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2414016"/>
            <a:ext cx="429768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78A73"/>
                </a:solidFill>
                <a:latin typeface="Consolas"/>
              </a:rPr>
              <a:t>Audit logon events</a:t>
            </a:r>
            <a:r>
              <a:rPr sz="1250">
                <a:solidFill>
                  <a:srgbClr val="202A38"/>
                </a:solidFill>
                <a:latin typeface="Times New Roman"/>
              </a:rPr>
              <a:t> → tick </a:t>
            </a:r>
            <a:r>
              <a:rPr sz="1250" b="1">
                <a:solidFill>
                  <a:srgbClr val="1F3864"/>
                </a:solidFill>
                <a:latin typeface="Times New Roman"/>
              </a:rPr>
              <a:t>Success</a:t>
            </a:r>
            <a:r>
              <a:rPr sz="1250">
                <a:solidFill>
                  <a:srgbClr val="202A38"/>
                </a:solidFill>
                <a:latin typeface="Times New Roman"/>
              </a:rPr>
              <a:t> and </a:t>
            </a:r>
            <a:r>
              <a:rPr sz="1250" b="1">
                <a:solidFill>
                  <a:srgbClr val="1F3864"/>
                </a:solidFill>
                <a:latin typeface="Times New Roman"/>
              </a:rPr>
              <a:t>Failure</a:t>
            </a:r>
            <a:r>
              <a:rPr sz="1250">
                <a:solidFill>
                  <a:srgbClr val="202A38"/>
                </a:solidFill>
                <a:latin typeface="Times New Roman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182112"/>
            <a:ext cx="5074920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5800" y="3328416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3182112"/>
            <a:ext cx="429768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78A73"/>
                </a:solidFill>
                <a:latin typeface="Consolas"/>
              </a:rPr>
              <a:t>Audit account logon events</a:t>
            </a:r>
            <a:r>
              <a:rPr sz="1250">
                <a:solidFill>
                  <a:srgbClr val="202A38"/>
                </a:solidFill>
                <a:latin typeface="Times New Roman"/>
              </a:rPr>
              <a:t> and </a:t>
            </a:r>
            <a:r>
              <a:rPr sz="1250" b="1">
                <a:solidFill>
                  <a:srgbClr val="178A73"/>
                </a:solidFill>
                <a:latin typeface="Consolas"/>
              </a:rPr>
              <a:t>Audit account management</a:t>
            </a:r>
            <a:r>
              <a:rPr sz="1250">
                <a:solidFill>
                  <a:srgbClr val="202A38"/>
                </a:solidFill>
                <a:latin typeface="Times New Roman"/>
              </a:rPr>
              <a:t> → Success, Failure.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50208"/>
            <a:ext cx="5074920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85800" y="4096512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8" y="3950208"/>
            <a:ext cx="429768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02A38"/>
                </a:solidFill>
                <a:latin typeface="Times New Roman"/>
              </a:rPr>
              <a:t>Terminal (Admin): </a:t>
            </a:r>
            <a:r>
              <a:rPr sz="1250" b="1">
                <a:solidFill>
                  <a:srgbClr val="178A73"/>
                </a:solidFill>
                <a:latin typeface="Consolas"/>
              </a:rPr>
              <a:t>gpupdate /force</a:t>
            </a:r>
            <a:r>
              <a:rPr sz="1250">
                <a:solidFill>
                  <a:srgbClr val="202A38"/>
                </a:solidFill>
                <a:latin typeface="Times New Roman"/>
              </a:rPr>
              <a:t>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18304"/>
            <a:ext cx="5074920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4864608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7008" y="4718304"/>
            <a:ext cx="429768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02A38"/>
                </a:solidFill>
                <a:latin typeface="Times New Roman"/>
              </a:rPr>
              <a:t>Check: </a:t>
            </a:r>
            <a:r>
              <a:rPr sz="1250" b="1">
                <a:solidFill>
                  <a:srgbClr val="178A73"/>
                </a:solidFill>
                <a:latin typeface="Consolas"/>
              </a:rPr>
              <a:t>auditpol /get /category:"Logon/Logoff"</a:t>
            </a:r>
            <a:r>
              <a:rPr sz="1250">
                <a:solidFill>
                  <a:srgbClr val="202A38"/>
                </a:solidFill>
                <a:latin typeface="Times New Roman"/>
              </a:rPr>
              <a:t>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70448" y="2122278"/>
            <a:ext cx="5760720" cy="2567723"/>
          </a:xfrm>
          <a:prstGeom prst="rect">
            <a:avLst/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ecpol_aud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0448" y="2122278"/>
            <a:ext cx="5760720" cy="256772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870448" y="4744865"/>
            <a:ext cx="5760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50" b="0" i="1">
                <a:solidFill>
                  <a:srgbClr val="54647A"/>
                </a:solidFill>
                <a:latin typeface="Times New Roman"/>
              </a:rPr>
              <a:t>Fig. 4. secpol.msc → Local Policies → Audit Policy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532120"/>
            <a:ext cx="6949440" cy="658368"/>
          </a:xfrm>
          <a:prstGeom prst="roundRect">
            <a:avLst>
              <a:gd name="adj" fmla="val 5000"/>
            </a:avLst>
          </a:prstGeom>
          <a:solidFill>
            <a:srgbClr val="E3F3EE"/>
          </a:solidFill>
          <a:ln w="12700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check-circle_178A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669280"/>
            <a:ext cx="384048" cy="38404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34440" y="5532120"/>
            <a:ext cx="6172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78A73"/>
                </a:solidFill>
                <a:latin typeface="Times New Roman"/>
              </a:rPr>
              <a:t>Expected result: </a:t>
            </a:r>
            <a:r>
              <a:rPr sz="1250">
                <a:solidFill>
                  <a:srgbClr val="202A38"/>
                </a:solidFill>
                <a:latin typeface="Times New Roman"/>
              </a:rPr>
              <a:t>failed and successful logons are now written to the Security log.</a:t>
            </a:r>
          </a:p>
        </p:txBody>
      </p:sp>
      <p:sp>
        <p:nvSpPr>
          <p:cNvPr id="29" name="Rounded Rectangle 28">
            <a:hlinkClick action="ppaction://hlinksldjump" r:id="rId5"/>
          </p:cNvPr>
          <p:cNvSpPr/>
          <p:nvPr/>
        </p:nvSpPr>
        <p:spPr>
          <a:xfrm>
            <a:off x="7726679" y="5577840"/>
            <a:ext cx="1499616" cy="457200"/>
          </a:xfrm>
          <a:prstGeom prst="roundRect">
            <a:avLst>
              <a:gd name="adj" fmla="val 50000"/>
            </a:avLst>
          </a:prstGeom>
          <a:solidFill>
            <a:srgbClr val="E3F3EE"/>
          </a:solidFill>
          <a:ln w="12700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200" b="1">
                <a:solidFill>
                  <a:srgbClr val="178A73"/>
                </a:solidFill>
                <a:latin typeface="Times New Roman"/>
              </a:rPr>
              <a:t>?  Audit policy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 i="0">
                <a:solidFill>
                  <a:srgbClr val="178A73"/>
                </a:solidFill>
                <a:latin typeface="Times New Roman"/>
              </a:rPr>
              <a:t>QUESTION 1 · PRACTICAL TASK 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155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2400" b="1" i="0">
                <a:solidFill>
                  <a:srgbClr val="1F3864"/>
                </a:solidFill>
                <a:latin typeface="Times New Roman"/>
              </a:rPr>
              <a:t>Task 1.2 — simulate password guessing and find the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371600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Topic 1 · Windows OS Security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382512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166359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792224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8" y="1645920"/>
            <a:ext cx="43891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02A38"/>
                </a:solidFill>
                <a:latin typeface="Times New Roman"/>
              </a:rPr>
              <a:t>Lock the screen (</a:t>
            </a:r>
            <a:r>
              <a:rPr sz="1250" b="1">
                <a:solidFill>
                  <a:srgbClr val="1F3864"/>
                </a:solidFill>
                <a:latin typeface="Times New Roman"/>
              </a:rPr>
              <a:t>Win + L</a:t>
            </a:r>
            <a:r>
              <a:rPr sz="1250">
                <a:solidFill>
                  <a:srgbClr val="202A38"/>
                </a:solidFill>
                <a:latin typeface="Times New Roman"/>
              </a:rPr>
              <a:t>) and enter a wrong password for a test account </a:t>
            </a:r>
            <a:r>
              <a:rPr sz="1250" b="1">
                <a:solidFill>
                  <a:srgbClr val="1F3864"/>
                </a:solidFill>
                <a:latin typeface="Times New Roman"/>
              </a:rPr>
              <a:t>6 times</a:t>
            </a:r>
            <a:r>
              <a:rPr sz="1250">
                <a:solidFill>
                  <a:srgbClr val="202A38"/>
                </a:solidFill>
                <a:latin typeface="Times New Roman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414016"/>
            <a:ext cx="5166359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800" y="2560320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2414016"/>
            <a:ext cx="43891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02A38"/>
                </a:solidFill>
                <a:latin typeface="Times New Roman"/>
              </a:rPr>
              <a:t>Sign in as administrator, open </a:t>
            </a:r>
            <a:r>
              <a:rPr sz="1250" b="1">
                <a:solidFill>
                  <a:srgbClr val="178A73"/>
                </a:solidFill>
                <a:latin typeface="Consolas"/>
              </a:rPr>
              <a:t>eventvwr.msc</a:t>
            </a:r>
            <a:r>
              <a:rPr sz="1250">
                <a:solidFill>
                  <a:srgbClr val="202A38"/>
                </a:solidFill>
                <a:latin typeface="Times New Roman"/>
              </a:rPr>
              <a:t> → Windows Logs → </a:t>
            </a:r>
            <a:r>
              <a:rPr sz="1250" b="1">
                <a:solidFill>
                  <a:srgbClr val="1F3864"/>
                </a:solidFill>
                <a:latin typeface="Times New Roman"/>
              </a:rPr>
              <a:t>Security</a:t>
            </a:r>
            <a:r>
              <a:rPr sz="1250">
                <a:solidFill>
                  <a:srgbClr val="202A38"/>
                </a:solidFill>
                <a:latin typeface="Times New Roman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182112"/>
            <a:ext cx="5166359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5800" y="3328416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3182112"/>
            <a:ext cx="43891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02A38"/>
                </a:solidFill>
                <a:latin typeface="Times New Roman"/>
              </a:rPr>
              <a:t>Right-click Security → </a:t>
            </a:r>
            <a:r>
              <a:rPr sz="1250" b="1">
                <a:solidFill>
                  <a:srgbClr val="1F3864"/>
                </a:solidFill>
                <a:latin typeface="Times New Roman"/>
              </a:rPr>
              <a:t>Filter Current Log</a:t>
            </a:r>
            <a:r>
              <a:rPr sz="1250">
                <a:solidFill>
                  <a:srgbClr val="202A38"/>
                </a:solidFill>
                <a:latin typeface="Times New Roman"/>
              </a:rPr>
              <a:t> → Event IDs </a:t>
            </a:r>
            <a:r>
              <a:rPr sz="1250" b="1">
                <a:solidFill>
                  <a:srgbClr val="178A73"/>
                </a:solidFill>
                <a:latin typeface="Consolas"/>
              </a:rPr>
              <a:t>4625,4740</a:t>
            </a:r>
            <a:r>
              <a:rPr sz="1250">
                <a:solidFill>
                  <a:srgbClr val="202A38"/>
                </a:solidFill>
                <a:latin typeface="Times New Roman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50208"/>
            <a:ext cx="5166359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85800" y="4096512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8" y="3950208"/>
            <a:ext cx="43891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02A38"/>
                </a:solidFill>
                <a:latin typeface="Times New Roman"/>
              </a:rPr>
              <a:t>Open a 4625 event: note Account Name, Failure Reason, time, Logon Type.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18304"/>
            <a:ext cx="5166359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4864608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7008" y="4718304"/>
            <a:ext cx="43891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02A38"/>
                </a:solidFill>
                <a:latin typeface="Times New Roman"/>
              </a:rPr>
              <a:t>Unlock the account: </a:t>
            </a:r>
            <a:r>
              <a:rPr sz="1250" b="1">
                <a:solidFill>
                  <a:srgbClr val="178A73"/>
                </a:solidFill>
                <a:latin typeface="Consolas"/>
              </a:rPr>
              <a:t>net user Student /active:yes</a:t>
            </a:r>
            <a:r>
              <a:rPr sz="1250">
                <a:solidFill>
                  <a:srgbClr val="202A38"/>
                </a:solidFill>
                <a:latin typeface="Times New Roman"/>
              </a:rPr>
              <a:t> or wait 15 minutes.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61888" y="2076489"/>
            <a:ext cx="5669280" cy="265930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ventvwr_secu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1888" y="2076489"/>
            <a:ext cx="5669280" cy="265930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961888" y="4790654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50" b="0" i="1">
                <a:solidFill>
                  <a:srgbClr val="54647A"/>
                </a:solidFill>
                <a:latin typeface="Times New Roman"/>
              </a:rPr>
              <a:t>Fig. 5. Event Viewer → Security log — logon events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532120"/>
            <a:ext cx="6949440" cy="658368"/>
          </a:xfrm>
          <a:prstGeom prst="roundRect">
            <a:avLst>
              <a:gd name="adj" fmla="val 5000"/>
            </a:avLst>
          </a:prstGeom>
          <a:solidFill>
            <a:srgbClr val="E3F3EE"/>
          </a:solidFill>
          <a:ln w="12700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check-circle_178A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669280"/>
            <a:ext cx="384048" cy="38404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34440" y="5532120"/>
            <a:ext cx="6172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78A73"/>
                </a:solidFill>
                <a:latin typeface="Times New Roman"/>
              </a:rPr>
              <a:t>Expected result: </a:t>
            </a:r>
            <a:r>
              <a:rPr sz="1250">
                <a:solidFill>
                  <a:srgbClr val="202A38"/>
                </a:solidFill>
                <a:latin typeface="Times New Roman"/>
              </a:rPr>
              <a:t>five 4625 events and one 4740 (account locked) — the classic brute-force pattern.</a:t>
            </a:r>
          </a:p>
        </p:txBody>
      </p:sp>
      <p:sp>
        <p:nvSpPr>
          <p:cNvPr id="29" name="Rounded Rectangle 28">
            <a:hlinkClick action="ppaction://hlinksldjump" r:id="rId5"/>
          </p:cNvPr>
          <p:cNvSpPr/>
          <p:nvPr/>
        </p:nvSpPr>
        <p:spPr>
          <a:xfrm>
            <a:off x="7726679" y="5577840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E3F3EE"/>
          </a:solidFill>
          <a:ln w="12700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200" b="1">
                <a:solidFill>
                  <a:srgbClr val="178A73"/>
                </a:solidFill>
                <a:latin typeface="Times New Roman"/>
              </a:rPr>
              <a:t>?  Event ID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 i="0">
                <a:solidFill>
                  <a:srgbClr val="178A73"/>
                </a:solidFill>
                <a:latin typeface="Times New Roman"/>
              </a:rPr>
              <a:t>QUESTION 1 · PRACTICAL TASK 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155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Reading the evidence like a forensic investigator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371600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Topic 1 · Windows OS Security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382512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1659845" y="1645920"/>
            <a:ext cx="887840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9845" y="1645920"/>
            <a:ext cx="8878406" cy="1783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483864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50" b="0" i="1">
                <a:solidFill>
                  <a:srgbClr val="54647A"/>
                </a:solidFill>
                <a:latin typeface="Times New Roman"/>
              </a:rPr>
              <a:t>Fig. 6. How a password-guessing attack appears in the Security 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886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Times New Roman"/>
              </a:rPr>
              <a:t>Event IDs every defender should know: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343400"/>
            <a:ext cx="914400" cy="658368"/>
          </a:xfrm>
          <a:prstGeom prst="roundRect">
            <a:avLst>
              <a:gd name="adj" fmla="val 10000"/>
            </a:avLst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onsolas"/>
              </a:rPr>
              <a:t>4624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4343400"/>
            <a:ext cx="260604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82496" y="4343400"/>
            <a:ext cx="24231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0" i="0">
                <a:solidFill>
                  <a:srgbClr val="202A38"/>
                </a:solidFill>
                <a:latin typeface="Times New Roman"/>
              </a:rPr>
              <a:t>Successful logon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0248" y="4343400"/>
            <a:ext cx="914400" cy="658368"/>
          </a:xfrm>
          <a:prstGeom prst="roundRect">
            <a:avLst>
              <a:gd name="adj" fmla="val 1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onsolas"/>
              </a:rPr>
              <a:t>4625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4343400"/>
            <a:ext cx="260604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5816" y="4343400"/>
            <a:ext cx="24231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0" i="0">
                <a:solidFill>
                  <a:srgbClr val="202A38"/>
                </a:solidFill>
                <a:latin typeface="Times New Roman"/>
              </a:rPr>
              <a:t>Failed logon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7" y="4343400"/>
            <a:ext cx="914400" cy="65836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onsolas"/>
              </a:rPr>
              <a:t>4740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19" y="4343400"/>
            <a:ext cx="260604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89135" y="4343400"/>
            <a:ext cx="24231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0" i="0">
                <a:solidFill>
                  <a:srgbClr val="202A38"/>
                </a:solidFill>
                <a:latin typeface="Times New Roman"/>
              </a:rPr>
              <a:t>Account locked out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66360"/>
            <a:ext cx="914400" cy="658368"/>
          </a:xfrm>
          <a:prstGeom prst="roundRect">
            <a:avLst>
              <a:gd name="adj" fmla="val 10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onsolas"/>
              </a:rPr>
              <a:t>4720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554480" y="5166360"/>
            <a:ext cx="260604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82496" y="5166360"/>
            <a:ext cx="24231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0" i="0">
                <a:solidFill>
                  <a:srgbClr val="202A38"/>
                </a:solidFill>
                <a:latin typeface="Times New Roman"/>
              </a:rPr>
              <a:t>User account created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70248" y="5166360"/>
            <a:ext cx="914400" cy="658368"/>
          </a:xfrm>
          <a:prstGeom prst="roundRect">
            <a:avLst>
              <a:gd name="adj" fmla="val 10000"/>
            </a:avLst>
          </a:prstGeom>
          <a:solidFill>
            <a:srgbClr val="E08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onsolas"/>
              </a:rPr>
              <a:t>4732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257800" y="5166360"/>
            <a:ext cx="260604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85816" y="5166360"/>
            <a:ext cx="24231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0" i="0">
                <a:solidFill>
                  <a:srgbClr val="202A38"/>
                </a:solidFill>
                <a:latin typeface="Times New Roman"/>
              </a:rPr>
              <a:t>Member added to a local group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73567" y="5166360"/>
            <a:ext cx="914400" cy="658368"/>
          </a:xfrm>
          <a:prstGeom prst="roundRect">
            <a:avLst>
              <a:gd name="adj" fmla="val 10000"/>
            </a:avLst>
          </a:prstGeom>
          <a:solidFill>
            <a:srgbClr val="6E5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onsolas"/>
              </a:rPr>
              <a:t>4672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1119" y="5166360"/>
            <a:ext cx="260604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9135" y="5166360"/>
            <a:ext cx="24231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0" i="0">
                <a:solidFill>
                  <a:srgbClr val="202A38"/>
                </a:solidFill>
                <a:latin typeface="Times New Roman"/>
              </a:rPr>
              <a:t>Special (admin) privileges assigned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 i="0">
                <a:solidFill>
                  <a:srgbClr val="178A73"/>
                </a:solidFill>
                <a:latin typeface="Times New Roman"/>
              </a:rPr>
              <a:t>QUESTION 1 · PRACTICAL TASK 1.3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155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2400" b="1" i="0">
                <a:solidFill>
                  <a:srgbClr val="1F3864"/>
                </a:solidFill>
                <a:latin typeface="Times New Roman"/>
              </a:rPr>
              <a:t>Task 1.3 — hide the last user name on the sign-in screen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371600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Topic 1 · Windows OS Security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382512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715000" cy="7040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796796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8" y="1645920"/>
            <a:ext cx="4937760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02A38"/>
                </a:solidFill>
                <a:latin typeface="Times New Roman"/>
              </a:rPr>
              <a:t>Go to Local Policies → </a:t>
            </a:r>
            <a:r>
              <a:rPr sz="1250" b="1">
                <a:solidFill>
                  <a:srgbClr val="1F3864"/>
                </a:solidFill>
                <a:latin typeface="Times New Roman"/>
              </a:rPr>
              <a:t>Security Options</a:t>
            </a:r>
            <a:r>
              <a:rPr sz="1250">
                <a:solidFill>
                  <a:srgbClr val="202A38"/>
                </a:solidFill>
                <a:latin typeface="Times New Roman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423160"/>
            <a:ext cx="5715000" cy="7040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800" y="2574036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2423160"/>
            <a:ext cx="4937760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02A38"/>
                </a:solidFill>
                <a:latin typeface="Times New Roman"/>
              </a:rPr>
              <a:t>Find </a:t>
            </a:r>
            <a:r>
              <a:rPr sz="1250" b="1">
                <a:solidFill>
                  <a:srgbClr val="178A73"/>
                </a:solidFill>
                <a:latin typeface="Consolas"/>
              </a:rPr>
              <a:t>Interactive logon: Don’t display last signed-in</a:t>
            </a:r>
            <a:r>
              <a:rPr sz="1250">
                <a:solidFill>
                  <a:srgbClr val="202A38"/>
                </a:solidFill>
                <a:latin typeface="Times New Roman"/>
              </a:rPr>
              <a:t> → </a:t>
            </a:r>
            <a:r>
              <a:rPr sz="1250" b="1">
                <a:solidFill>
                  <a:srgbClr val="1F3864"/>
                </a:solidFill>
                <a:latin typeface="Times New Roman"/>
              </a:rPr>
              <a:t>Enabled</a:t>
            </a:r>
            <a:r>
              <a:rPr sz="1250">
                <a:solidFill>
                  <a:srgbClr val="202A38"/>
                </a:solidFill>
                <a:latin typeface="Times New Roman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200400"/>
            <a:ext cx="5715000" cy="7040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5800" y="3351276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3200400"/>
            <a:ext cx="4937760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02A38"/>
                </a:solidFill>
                <a:latin typeface="Times New Roman"/>
              </a:rPr>
              <a:t>Also check: </a:t>
            </a:r>
            <a:r>
              <a:rPr sz="1250" b="1">
                <a:solidFill>
                  <a:srgbClr val="178A73"/>
                </a:solidFill>
                <a:latin typeface="Consolas"/>
              </a:rPr>
              <a:t>Accounts: Guest account status</a:t>
            </a:r>
            <a:r>
              <a:rPr sz="1250">
                <a:solidFill>
                  <a:srgbClr val="202A38"/>
                </a:solidFill>
                <a:latin typeface="Times New Roman"/>
              </a:rPr>
              <a:t> → </a:t>
            </a:r>
            <a:r>
              <a:rPr sz="1250" b="1">
                <a:solidFill>
                  <a:srgbClr val="1F3864"/>
                </a:solidFill>
                <a:latin typeface="Times New Roman"/>
              </a:rPr>
              <a:t>Disabled</a:t>
            </a:r>
            <a:r>
              <a:rPr sz="1250">
                <a:solidFill>
                  <a:srgbClr val="202A38"/>
                </a:solidFill>
                <a:latin typeface="Times New Roman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77639"/>
            <a:ext cx="5715000" cy="7040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85800" y="4128515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8" y="3977639"/>
            <a:ext cx="4937760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02A38"/>
                </a:solidFill>
                <a:latin typeface="Times New Roman"/>
              </a:rPr>
              <a:t>Optionally: </a:t>
            </a:r>
            <a:r>
              <a:rPr sz="1250" b="1">
                <a:solidFill>
                  <a:srgbClr val="178A73"/>
                </a:solidFill>
                <a:latin typeface="Consolas"/>
              </a:rPr>
              <a:t>Accounts: Rename administrator account</a:t>
            </a:r>
            <a:r>
              <a:rPr sz="1250">
                <a:solidFill>
                  <a:srgbClr val="202A38"/>
                </a:solidFill>
                <a:latin typeface="Times New Roman"/>
              </a:rPr>
              <a:t> → a non-obvious name.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54880"/>
            <a:ext cx="5715000" cy="7040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4905756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7008" y="4754880"/>
            <a:ext cx="4937760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02A38"/>
                </a:solidFill>
                <a:latin typeface="Times New Roman"/>
              </a:rPr>
              <a:t>Press </a:t>
            </a:r>
            <a:r>
              <a:rPr sz="1250" b="1">
                <a:solidFill>
                  <a:srgbClr val="1F3864"/>
                </a:solidFill>
                <a:latin typeface="Times New Roman"/>
              </a:rPr>
              <a:t>Win + L</a:t>
            </a:r>
            <a:r>
              <a:rPr sz="1250">
                <a:solidFill>
                  <a:srgbClr val="202A38"/>
                </a:solidFill>
                <a:latin typeface="Times New Roman"/>
              </a:rPr>
              <a:t> and look at the sign-in screen.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10528" y="2115152"/>
            <a:ext cx="5120640" cy="262769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8" y="2115152"/>
            <a:ext cx="5120640" cy="26276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510528" y="479771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50" b="0" i="1">
                <a:solidFill>
                  <a:srgbClr val="54647A"/>
                </a:solidFill>
                <a:latin typeface="Times New Roman"/>
              </a:rPr>
              <a:t>Fig. 7. Result: the sign-in screen shows no user name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596128"/>
            <a:ext cx="11064240" cy="658368"/>
          </a:xfrm>
          <a:prstGeom prst="roundRect">
            <a:avLst>
              <a:gd name="adj" fmla="val 5000"/>
            </a:avLst>
          </a:prstGeom>
          <a:solidFill>
            <a:srgbClr val="E3F3EE"/>
          </a:solidFill>
          <a:ln w="12700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check-circle_178A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733288"/>
            <a:ext cx="384048" cy="38404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34440" y="5596128"/>
            <a:ext cx="102412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78A73"/>
                </a:solidFill>
                <a:latin typeface="Times New Roman"/>
              </a:rPr>
              <a:t>Expected result: </a:t>
            </a:r>
            <a:r>
              <a:rPr sz="1250">
                <a:solidFill>
                  <a:srgbClr val="202A38"/>
                </a:solidFill>
                <a:latin typeface="Times New Roman"/>
              </a:rPr>
              <a:t>the attacker now has to guess both the user name AND the password.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69748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1" i="0">
                <a:solidFill>
                  <a:srgbClr val="8FD9C4"/>
                </a:solidFill>
                <a:latin typeface="Times New Roman"/>
              </a:rPr>
              <a:t>QUESTION 2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Times New Roman"/>
              </a:rPr>
              <a:t>Configuring user security (accounts and groups)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4160520"/>
            <a:ext cx="1188720" cy="5486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30000" y="6382512"/>
            <a:ext cx="365760" cy="365760"/>
          </a:xfrm>
          <a:prstGeom prst="ellipse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 i="0">
                <a:solidFill>
                  <a:srgbClr val="178A73"/>
                </a:solidFill>
                <a:latin typeface="Times New Roman"/>
              </a:rPr>
              <a:t>QUESTION 2 · QUICK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155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Users, groups and SIDs — what we are going to manage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371600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Topic 1 · Windows OS Security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382512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569785" y="1645920"/>
            <a:ext cx="5572125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785" y="1645920"/>
            <a:ext cx="5572125" cy="3566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5266944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50" b="0" i="1">
                <a:solidFill>
                  <a:srgbClr val="54647A"/>
                </a:solidFill>
                <a:latin typeface="Times New Roman"/>
              </a:rPr>
              <a:t>Fig. 8. Windows local users and groups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69164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Administrators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1691640"/>
            <a:ext cx="3310128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691640"/>
            <a:ext cx="31089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0" i="0">
                <a:solidFill>
                  <a:srgbClr val="202A38"/>
                </a:solidFill>
                <a:latin typeface="Times New Roman"/>
              </a:rPr>
              <a:t>full control — only for admin duties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56032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Users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2560320"/>
            <a:ext cx="3310128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2560320"/>
            <a:ext cx="31089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0" i="0">
                <a:solidFill>
                  <a:srgbClr val="202A38"/>
                </a:solidFill>
                <a:latin typeface="Times New Roman"/>
              </a:rPr>
              <a:t>standard rights — for everyday work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42900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546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Guests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3429000"/>
            <a:ext cx="3310128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3429000"/>
            <a:ext cx="31089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0" i="0">
                <a:solidFill>
                  <a:srgbClr val="202A38"/>
                </a:solidFill>
                <a:latin typeface="Times New Roman"/>
              </a:rPr>
              <a:t>very limited — keep disabled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4389120"/>
            <a:ext cx="5230368" cy="1737360"/>
          </a:xfrm>
          <a:prstGeom prst="roundRect">
            <a:avLst>
              <a:gd name="adj" fmla="val 5000"/>
            </a:avLst>
          </a:prstGeom>
          <a:solidFill>
            <a:srgbClr val="E3F3EE"/>
          </a:solidFill>
          <a:ln w="12700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4434840"/>
            <a:ext cx="489204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F3864"/>
                </a:solidFill>
                <a:latin typeface="Times New Roman"/>
              </a:rPr>
              <a:t>Rule of the day: </a:t>
            </a:r>
            <a:r>
              <a:rPr sz="1250">
                <a:solidFill>
                  <a:srgbClr val="202A38"/>
                </a:solidFill>
                <a:latin typeface="Times New Roman"/>
              </a:rPr>
              <a:t>give rights to </a:t>
            </a:r>
            <a:r>
              <a:rPr sz="1250" b="1">
                <a:solidFill>
                  <a:srgbClr val="1F3864"/>
                </a:solidFill>
                <a:latin typeface="Times New Roman"/>
              </a:rPr>
              <a:t>groups</a:t>
            </a:r>
            <a:r>
              <a:rPr sz="1250">
                <a:solidFill>
                  <a:srgbClr val="202A38"/>
                </a:solidFill>
                <a:latin typeface="Times New Roman"/>
              </a:rPr>
              <a:t>, not to people (role-based access control). </a:t>
            </a:r>
            <a:r>
              <a:rPr sz="1250">
                <a:solidFill>
                  <a:srgbClr val="202A38"/>
                </a:solidFill>
                <a:latin typeface="Times New Roman"/>
              </a:rPr>
              <a:t>Everyday work — a </a:t>
            </a:r>
            <a:r>
              <a:rPr sz="1250" b="1">
                <a:solidFill>
                  <a:srgbClr val="1F3864"/>
                </a:solidFill>
                <a:latin typeface="Times New Roman"/>
              </a:rPr>
              <a:t>Users</a:t>
            </a:r>
            <a:r>
              <a:rPr sz="1250">
                <a:solidFill>
                  <a:srgbClr val="202A38"/>
                </a:solidFill>
                <a:latin typeface="Times New Roman"/>
              </a:rPr>
              <a:t> account; admin account — only when needed.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566928" y="5577840"/>
            <a:ext cx="800100" cy="457200"/>
          </a:xfrm>
          <a:prstGeom prst="roundRect">
            <a:avLst>
              <a:gd name="adj" fmla="val 50000"/>
            </a:avLst>
          </a:prstGeom>
          <a:solidFill>
            <a:srgbClr val="E3F3EE"/>
          </a:solidFill>
          <a:ln w="12700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200" b="1">
                <a:solidFill>
                  <a:srgbClr val="178A73"/>
                </a:solidFill>
                <a:latin typeface="Times New Roman"/>
              </a:rPr>
              <a:t>?  SID</a:t>
            </a:r>
          </a:p>
        </p:txBody>
      </p:sp>
      <p:sp>
        <p:nvSpPr>
          <p:cNvPr id="23" name="Rounded Rectangle 22">
            <a:hlinkClick action="ppaction://hlinksldjump" r:id="rId5"/>
          </p:cNvPr>
          <p:cNvSpPr/>
          <p:nvPr/>
        </p:nvSpPr>
        <p:spPr>
          <a:xfrm>
            <a:off x="1522476" y="5577840"/>
            <a:ext cx="877824" cy="457200"/>
          </a:xfrm>
          <a:prstGeom prst="roundRect">
            <a:avLst>
              <a:gd name="adj" fmla="val 50000"/>
            </a:avLst>
          </a:prstGeom>
          <a:solidFill>
            <a:srgbClr val="E3F3EE"/>
          </a:solidFill>
          <a:ln w="12700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200" b="1">
                <a:solidFill>
                  <a:srgbClr val="178A73"/>
                </a:solidFill>
                <a:latin typeface="Times New Roman"/>
              </a:rPr>
              <a:t>?  RBAC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 i="0">
                <a:solidFill>
                  <a:srgbClr val="178A73"/>
                </a:solidFill>
                <a:latin typeface="Times New Roman"/>
              </a:rPr>
              <a:t>QUESTION 2 · PRACTICAL TASK 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155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2400" b="1" i="0">
                <a:solidFill>
                  <a:srgbClr val="1F3864"/>
                </a:solidFill>
                <a:latin typeface="Times New Roman"/>
              </a:rPr>
              <a:t>Task 2.1 — create a limited user (GUI)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371600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Topic 1 · Windows OS Security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382512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6629400" cy="7040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796796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8" y="1645920"/>
            <a:ext cx="5852160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F3864"/>
                </a:solidFill>
                <a:latin typeface="Times New Roman"/>
              </a:rPr>
              <a:t>Win + R</a:t>
            </a:r>
            <a:r>
              <a:rPr sz="1250">
                <a:solidFill>
                  <a:srgbClr val="202A38"/>
                </a:solidFill>
                <a:latin typeface="Times New Roman"/>
              </a:rPr>
              <a:t> → </a:t>
            </a:r>
            <a:r>
              <a:rPr sz="1250" b="1">
                <a:solidFill>
                  <a:srgbClr val="178A73"/>
                </a:solidFill>
                <a:latin typeface="Consolas"/>
              </a:rPr>
              <a:t>lusrmgr.msc</a:t>
            </a:r>
            <a:r>
              <a:rPr sz="1250">
                <a:solidFill>
                  <a:srgbClr val="202A38"/>
                </a:solidFill>
                <a:latin typeface="Times New Roman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423160"/>
            <a:ext cx="6629400" cy="7040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800" y="2574036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2423160"/>
            <a:ext cx="5852160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02A38"/>
                </a:solidFill>
                <a:latin typeface="Times New Roman"/>
              </a:rPr>
              <a:t>Right-click </a:t>
            </a:r>
            <a:r>
              <a:rPr sz="1250" b="1">
                <a:solidFill>
                  <a:srgbClr val="1F3864"/>
                </a:solidFill>
                <a:latin typeface="Times New Roman"/>
              </a:rPr>
              <a:t>Users</a:t>
            </a:r>
            <a:r>
              <a:rPr sz="1250">
                <a:solidFill>
                  <a:srgbClr val="202A38"/>
                </a:solidFill>
                <a:latin typeface="Times New Roman"/>
              </a:rPr>
              <a:t> → </a:t>
            </a:r>
            <a:r>
              <a:rPr sz="1250" b="1">
                <a:solidFill>
                  <a:srgbClr val="1F3864"/>
                </a:solidFill>
                <a:latin typeface="Times New Roman"/>
              </a:rPr>
              <a:t>New User…</a:t>
            </a:r>
            <a:r>
              <a:rPr sz="1250">
                <a:solidFill>
                  <a:srgbClr val="202A38"/>
                </a:solidFill>
                <a:latin typeface="Times New Roman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200400"/>
            <a:ext cx="6629400" cy="7040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5800" y="3351276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3200400"/>
            <a:ext cx="5852160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02A38"/>
                </a:solidFill>
                <a:latin typeface="Times New Roman"/>
              </a:rPr>
              <a:t>User name </a:t>
            </a:r>
            <a:r>
              <a:rPr sz="1250" b="1">
                <a:solidFill>
                  <a:srgbClr val="178A73"/>
                </a:solidFill>
                <a:latin typeface="Consolas"/>
              </a:rPr>
              <a:t>Student</a:t>
            </a:r>
            <a:r>
              <a:rPr sz="1250">
                <a:solidFill>
                  <a:srgbClr val="202A38"/>
                </a:solidFill>
                <a:latin typeface="Times New Roman"/>
              </a:rPr>
              <a:t>, a password that meets your new policy (10+ chars, complex).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77639"/>
            <a:ext cx="6629400" cy="7040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85800" y="4128515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8" y="3977639"/>
            <a:ext cx="5852160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02A38"/>
                </a:solidFill>
                <a:latin typeface="Times New Roman"/>
              </a:rPr>
              <a:t>Untick “User must change password…” for the lab; click </a:t>
            </a:r>
            <a:r>
              <a:rPr sz="1250" b="1">
                <a:solidFill>
                  <a:srgbClr val="1F3864"/>
                </a:solidFill>
                <a:latin typeface="Times New Roman"/>
              </a:rPr>
              <a:t>Create</a:t>
            </a:r>
            <a:r>
              <a:rPr sz="1250">
                <a:solidFill>
                  <a:srgbClr val="202A38"/>
                </a:solidFill>
                <a:latin typeface="Times New Roman"/>
              </a:rPr>
              <a:t> → Close.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54880"/>
            <a:ext cx="6629400" cy="7040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4905756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7008" y="4754880"/>
            <a:ext cx="5852160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02A38"/>
                </a:solidFill>
                <a:latin typeface="Times New Roman"/>
              </a:rPr>
              <a:t>Double-click Student → </a:t>
            </a:r>
            <a:r>
              <a:rPr sz="1250" b="1">
                <a:solidFill>
                  <a:srgbClr val="1F3864"/>
                </a:solidFill>
                <a:latin typeface="Times New Roman"/>
              </a:rPr>
              <a:t>Member Of</a:t>
            </a:r>
            <a:r>
              <a:rPr sz="1250">
                <a:solidFill>
                  <a:srgbClr val="202A38"/>
                </a:solidFill>
                <a:latin typeface="Times New Roman"/>
              </a:rPr>
              <a:t>: only </a:t>
            </a:r>
            <a:r>
              <a:rPr sz="1250" b="1">
                <a:solidFill>
                  <a:srgbClr val="1F3864"/>
                </a:solidFill>
                <a:latin typeface="Times New Roman"/>
              </a:rPr>
              <a:t>Users</a:t>
            </a:r>
            <a:r>
              <a:rPr sz="1250">
                <a:solidFill>
                  <a:srgbClr val="202A38"/>
                </a:solidFill>
                <a:latin typeface="Times New Roman"/>
              </a:rPr>
              <a:t> must be listed.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24928" y="2191349"/>
            <a:ext cx="4206240" cy="247530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newus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4928" y="2191349"/>
            <a:ext cx="4206240" cy="247530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424928" y="4721514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50" b="0" i="1">
                <a:solidFill>
                  <a:srgbClr val="54647A"/>
                </a:solidFill>
                <a:latin typeface="Times New Roman"/>
              </a:rPr>
              <a:t>Fig. 9. The “New User” dialog in lusrmgr.msc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596128"/>
            <a:ext cx="11064240" cy="658368"/>
          </a:xfrm>
          <a:prstGeom prst="roundRect">
            <a:avLst>
              <a:gd name="adj" fmla="val 5000"/>
            </a:avLst>
          </a:prstGeom>
          <a:solidFill>
            <a:srgbClr val="E3F3EE"/>
          </a:solidFill>
          <a:ln w="12700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check-circle_178A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733288"/>
            <a:ext cx="384048" cy="38404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34440" y="5596128"/>
            <a:ext cx="102412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78A73"/>
                </a:solidFill>
                <a:latin typeface="Times New Roman"/>
              </a:rPr>
              <a:t>Expected result: </a:t>
            </a:r>
            <a:r>
              <a:rPr sz="1250">
                <a:solidFill>
                  <a:srgbClr val="202A38"/>
                </a:solidFill>
                <a:latin typeface="Times New Roman"/>
              </a:rPr>
              <a:t>Student exists and belongs only to the Users group.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 i="0">
                <a:solidFill>
                  <a:srgbClr val="178A73"/>
                </a:solidFill>
                <a:latin typeface="Times New Roman"/>
              </a:rPr>
              <a:t>QUESTION 2 · PRACTICAL TASK 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155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Task 2.1 — the same with the command 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371600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Topic 1 · Windows OS Security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382512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6035040" cy="621792"/>
          </a:xfrm>
          <a:prstGeom prst="roundRect">
            <a:avLst>
              <a:gd name="adj" fmla="val 8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57607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 i="0">
                <a:solidFill>
                  <a:srgbClr val="8FD9C4"/>
                </a:solidFill>
                <a:latin typeface="Consolas"/>
              </a:rPr>
              <a:t>net user Student2 Pass@2026Lab /add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691640"/>
            <a:ext cx="2743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600" b="1" i="0">
                <a:solidFill>
                  <a:srgbClr val="54647A"/>
                </a:solidFill>
                <a:latin typeface="Times New Roman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1691640"/>
            <a:ext cx="4572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creates the account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423160"/>
            <a:ext cx="6035040" cy="621792"/>
          </a:xfrm>
          <a:prstGeom prst="roundRect">
            <a:avLst>
              <a:gd name="adj" fmla="val 8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423160"/>
            <a:ext cx="57607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 i="0">
                <a:solidFill>
                  <a:srgbClr val="8FD9C4"/>
                </a:solidFill>
                <a:latin typeface="Consolas"/>
              </a:rPr>
              <a:t>net localgroup Users Student2 /add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423160"/>
            <a:ext cx="2743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600" b="1" i="0">
                <a:solidFill>
                  <a:srgbClr val="54647A"/>
                </a:solidFill>
                <a:latin typeface="Times New Roman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423160"/>
            <a:ext cx="4572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adds it to Users (usually automatic)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54680"/>
            <a:ext cx="6035040" cy="621792"/>
          </a:xfrm>
          <a:prstGeom prst="roundRect">
            <a:avLst>
              <a:gd name="adj" fmla="val 8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154680"/>
            <a:ext cx="57607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 i="0">
                <a:solidFill>
                  <a:srgbClr val="8FD9C4"/>
                </a:solidFill>
                <a:latin typeface="Consolas"/>
              </a:rPr>
              <a:t>net localgroup Administrators Student2 /delete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3154680"/>
            <a:ext cx="2743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600" b="1" i="0">
                <a:solidFill>
                  <a:srgbClr val="54647A"/>
                </a:solidFill>
                <a:latin typeface="Times New Roman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3154680"/>
            <a:ext cx="4572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removes admin rights if given by mistake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886200"/>
            <a:ext cx="6035040" cy="621792"/>
          </a:xfrm>
          <a:prstGeom prst="roundRect">
            <a:avLst>
              <a:gd name="adj" fmla="val 8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886200"/>
            <a:ext cx="57607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 i="0">
                <a:solidFill>
                  <a:srgbClr val="8FD9C4"/>
                </a:solidFill>
                <a:latin typeface="Consolas"/>
              </a:rPr>
              <a:t>net user Student2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3886200"/>
            <a:ext cx="2743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600" b="1" i="0">
                <a:solidFill>
                  <a:srgbClr val="54647A"/>
                </a:solidFill>
                <a:latin typeface="Times New Roman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3886200"/>
            <a:ext cx="4572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shows groups, last logon, status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617720"/>
            <a:ext cx="6035040" cy="621792"/>
          </a:xfrm>
          <a:prstGeom prst="roundRect">
            <a:avLst>
              <a:gd name="adj" fmla="val 8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617720"/>
            <a:ext cx="57607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 i="0">
                <a:solidFill>
                  <a:srgbClr val="8FD9C4"/>
                </a:solidFill>
                <a:latin typeface="Consolas"/>
              </a:rPr>
              <a:t>Get-LocalUser | Select Name, Enabled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617720"/>
            <a:ext cx="2743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600" b="1" i="0">
                <a:solidFill>
                  <a:srgbClr val="54647A"/>
                </a:solidFill>
                <a:latin typeface="Times New Roman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4617720"/>
            <a:ext cx="4572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PowerShell: list all local users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440680"/>
            <a:ext cx="11064240" cy="731520"/>
          </a:xfrm>
          <a:prstGeom prst="roundRect">
            <a:avLst>
              <a:gd name="adj" fmla="val 5000"/>
            </a:avLst>
          </a:prstGeom>
          <a:solidFill>
            <a:srgbClr val="FDF1DF"/>
          </a:solidFill>
          <a:ln w="12700">
            <a:solidFill>
              <a:srgbClr val="E08E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458968"/>
            <a:ext cx="106984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F3864"/>
                </a:solidFill>
                <a:latin typeface="Times New Roman"/>
              </a:rPr>
              <a:t>Note: </a:t>
            </a:r>
            <a:r>
              <a:rPr sz="1150">
                <a:solidFill>
                  <a:srgbClr val="202A38"/>
                </a:solidFill>
                <a:latin typeface="Times New Roman"/>
              </a:rPr>
              <a:t>a password typed in the command stays in the history. In real work use </a:t>
            </a:r>
            <a:r>
              <a:rPr sz="1150" b="1">
                <a:solidFill>
                  <a:srgbClr val="178A73"/>
                </a:solidFill>
                <a:latin typeface="Consolas"/>
              </a:rPr>
              <a:t>net user Student2 * /add</a:t>
            </a:r>
            <a:r>
              <a:rPr sz="1150">
                <a:solidFill>
                  <a:srgbClr val="202A38"/>
                </a:solidFill>
                <a:latin typeface="Times New Roman"/>
              </a:rPr>
              <a:t> — it asks for the password hidden.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 i="0">
                <a:solidFill>
                  <a:srgbClr val="178A73"/>
                </a:solidFill>
                <a:latin typeface="Times New Roman"/>
              </a:rPr>
              <a:t>QUESTION 2 · PRACTICAL TASK 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155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2400" b="1" i="0">
                <a:solidFill>
                  <a:srgbClr val="1F3864"/>
                </a:solidFill>
                <a:latin typeface="Times New Roman"/>
              </a:rPr>
              <a:t>Task 2.2 — test the limited account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371600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Topic 1 · Windows OS Security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382512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6629400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792224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8" y="1645920"/>
            <a:ext cx="58521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02A38"/>
                </a:solidFill>
                <a:latin typeface="Times New Roman"/>
              </a:rPr>
              <a:t>Sign out → sign in as </a:t>
            </a:r>
            <a:r>
              <a:rPr sz="1250" b="1">
                <a:solidFill>
                  <a:srgbClr val="178A73"/>
                </a:solidFill>
                <a:latin typeface="Consolas"/>
              </a:rPr>
              <a:t>Student</a:t>
            </a:r>
            <a:r>
              <a:rPr sz="1250">
                <a:solidFill>
                  <a:srgbClr val="202A38"/>
                </a:solidFill>
                <a:latin typeface="Times New Roman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414016"/>
            <a:ext cx="6629400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800" y="2560320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2414016"/>
            <a:ext cx="58521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02A38"/>
                </a:solidFill>
                <a:latin typeface="Times New Roman"/>
              </a:rPr>
              <a:t>Try to open </a:t>
            </a:r>
            <a:r>
              <a:rPr sz="1250" b="1">
                <a:solidFill>
                  <a:srgbClr val="178A73"/>
                </a:solidFill>
                <a:latin typeface="Consolas"/>
              </a:rPr>
              <a:t>secpol.msc</a:t>
            </a:r>
            <a:r>
              <a:rPr sz="1250">
                <a:solidFill>
                  <a:srgbClr val="202A38"/>
                </a:solidFill>
                <a:latin typeface="Times New Roman"/>
              </a:rPr>
              <a:t> or install a program → a </a:t>
            </a:r>
            <a:r>
              <a:rPr sz="1250" b="1">
                <a:solidFill>
                  <a:srgbClr val="1F3864"/>
                </a:solidFill>
                <a:latin typeface="Times New Roman"/>
              </a:rPr>
              <a:t>Credential prompt</a:t>
            </a:r>
            <a:r>
              <a:rPr sz="1250">
                <a:solidFill>
                  <a:srgbClr val="202A38"/>
                </a:solidFill>
                <a:latin typeface="Times New Roman"/>
              </a:rPr>
              <a:t> appears.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182112"/>
            <a:ext cx="6629400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5800" y="3328416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3182112"/>
            <a:ext cx="58521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02A38"/>
                </a:solidFill>
                <a:latin typeface="Times New Roman"/>
              </a:rPr>
              <a:t>Click </a:t>
            </a:r>
            <a:r>
              <a:rPr sz="1250" b="1">
                <a:solidFill>
                  <a:srgbClr val="1F3864"/>
                </a:solidFill>
                <a:latin typeface="Times New Roman"/>
              </a:rPr>
              <a:t>No</a:t>
            </a:r>
            <a:r>
              <a:rPr sz="1250">
                <a:solidFill>
                  <a:srgbClr val="202A38"/>
                </a:solidFill>
                <a:latin typeface="Times New Roman"/>
              </a:rPr>
              <a:t> — the action is refused: this is least privilege in practice.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50208"/>
            <a:ext cx="6629400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85800" y="4096512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8" y="3950208"/>
            <a:ext cx="58521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02A38"/>
                </a:solidFill>
                <a:latin typeface="Times New Roman"/>
              </a:rPr>
              <a:t>Run </a:t>
            </a:r>
            <a:r>
              <a:rPr sz="1250" b="1">
                <a:solidFill>
                  <a:srgbClr val="178A73"/>
                </a:solidFill>
                <a:latin typeface="Consolas"/>
              </a:rPr>
              <a:t>whoami /groups</a:t>
            </a:r>
            <a:r>
              <a:rPr sz="1250">
                <a:solidFill>
                  <a:srgbClr val="202A38"/>
                </a:solidFill>
                <a:latin typeface="Times New Roman"/>
              </a:rPr>
              <a:t> → Mandatory Label = </a:t>
            </a:r>
            <a:r>
              <a:rPr sz="1250" b="1">
                <a:solidFill>
                  <a:srgbClr val="1F3864"/>
                </a:solidFill>
                <a:latin typeface="Times New Roman"/>
              </a:rPr>
              <a:t>Medium</a:t>
            </a:r>
            <a:r>
              <a:rPr sz="1250">
                <a:solidFill>
                  <a:srgbClr val="202A38"/>
                </a:solidFill>
                <a:latin typeface="Times New Roman"/>
              </a:rPr>
              <a:t>, no Administrators group.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18304"/>
            <a:ext cx="6629400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4864608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7008" y="4718304"/>
            <a:ext cx="58521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02A38"/>
                </a:solidFill>
                <a:latin typeface="Times New Roman"/>
              </a:rPr>
              <a:t>Run </a:t>
            </a:r>
            <a:r>
              <a:rPr sz="1250" b="1">
                <a:solidFill>
                  <a:srgbClr val="178A73"/>
                </a:solidFill>
                <a:latin typeface="Consolas"/>
              </a:rPr>
              <a:t>whoami /user</a:t>
            </a:r>
            <a:r>
              <a:rPr sz="1250">
                <a:solidFill>
                  <a:srgbClr val="202A38"/>
                </a:solidFill>
                <a:latin typeface="Times New Roman"/>
              </a:rPr>
              <a:t> → note the SID (ends with 1000+).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24928" y="2097598"/>
            <a:ext cx="4206240" cy="261708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uac_c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4928" y="2097598"/>
            <a:ext cx="4206240" cy="261708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424928" y="4769546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50" b="0" i="1">
                <a:solidFill>
                  <a:srgbClr val="54647A"/>
                </a:solidFill>
                <a:latin typeface="Times New Roman"/>
              </a:rPr>
              <a:t>Fig. 10. Credential prompt for a standard user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532120"/>
            <a:ext cx="6949440" cy="658368"/>
          </a:xfrm>
          <a:prstGeom prst="roundRect">
            <a:avLst>
              <a:gd name="adj" fmla="val 5000"/>
            </a:avLst>
          </a:prstGeom>
          <a:solidFill>
            <a:srgbClr val="E3F3EE"/>
          </a:solidFill>
          <a:ln w="12700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check-circle_178A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669280"/>
            <a:ext cx="384048" cy="38404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34440" y="5532120"/>
            <a:ext cx="6172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78A73"/>
                </a:solidFill>
                <a:latin typeface="Times New Roman"/>
              </a:rPr>
              <a:t>Expected result: </a:t>
            </a:r>
            <a:r>
              <a:rPr sz="1250">
                <a:solidFill>
                  <a:srgbClr val="202A38"/>
                </a:solidFill>
                <a:latin typeface="Times New Roman"/>
              </a:rPr>
              <a:t>Student can work, but cannot change the system without an admin password.</a:t>
            </a:r>
          </a:p>
        </p:txBody>
      </p:sp>
      <p:sp>
        <p:nvSpPr>
          <p:cNvPr id="29" name="Rounded Rectangle 28">
            <a:hlinkClick action="ppaction://hlinksldjump" r:id="rId5"/>
          </p:cNvPr>
          <p:cNvSpPr/>
          <p:nvPr/>
        </p:nvSpPr>
        <p:spPr>
          <a:xfrm>
            <a:off x="7726679" y="5577840"/>
            <a:ext cx="800100" cy="457200"/>
          </a:xfrm>
          <a:prstGeom prst="roundRect">
            <a:avLst>
              <a:gd name="adj" fmla="val 50000"/>
            </a:avLst>
          </a:prstGeom>
          <a:solidFill>
            <a:srgbClr val="E3F3EE"/>
          </a:solidFill>
          <a:ln w="12700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200" b="1">
                <a:solidFill>
                  <a:srgbClr val="178A73"/>
                </a:solidFill>
                <a:latin typeface="Times New Roman"/>
              </a:rPr>
              <a:t>?  SID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 i="0">
                <a:solidFill>
                  <a:srgbClr val="178A73"/>
                </a:solidFill>
                <a:latin typeface="Times New Roman"/>
              </a:rPr>
              <a:t>QUESTION 2 · PRACTICAL TASK 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155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SID — how Windows really recognizes an account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371600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Topic 1 · Windows OS Security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382512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221725"/>
            <a:ext cx="6675120" cy="1774469"/>
          </a:xfrm>
          <a:prstGeom prst="rect">
            <a:avLst/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221725"/>
            <a:ext cx="6675120" cy="177446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4051058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50" b="0" i="1">
                <a:solidFill>
                  <a:srgbClr val="54647A"/>
                </a:solidFill>
                <a:latin typeface="Times New Roman"/>
              </a:rPr>
              <a:t>Fig. 11. Structure of a security identifier (SID)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1691640"/>
            <a:ext cx="4133087" cy="1920240"/>
          </a:xfrm>
          <a:prstGeom prst="roundRect">
            <a:avLst>
              <a:gd name="adj" fmla="val 3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59" y="1801368"/>
            <a:ext cx="3767327" cy="17007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8FD9C4"/>
                </a:solidFill>
                <a:latin typeface="Consolas"/>
              </a:rPr>
              <a:t>PS&gt; </a:t>
            </a:r>
            <a:r>
              <a:rPr sz="1100" b="1">
                <a:solidFill>
                  <a:srgbClr val="8FD9C4"/>
                </a:solidFill>
                <a:latin typeface="Consolas"/>
              </a:rPr>
              <a:t>whoami /user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>
                <a:solidFill>
                  <a:srgbClr val="FFFFFF"/>
                </a:solidFill>
                <a:latin typeface="Consolas"/>
              </a:rPr>
              <a:t>USER INFORMATION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>
                <a:solidFill>
                  <a:srgbClr val="7CE38B"/>
                </a:solidFill>
                <a:latin typeface="Consolas"/>
              </a:rPr>
              <a:t>student  S-1-5-21-…-1001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8FD9C4"/>
                </a:solidFill>
                <a:latin typeface="Consolas"/>
              </a:rPr>
              <a:t>PS&gt; </a:t>
            </a:r>
            <a:r>
              <a:rPr sz="1100" b="1">
                <a:solidFill>
                  <a:srgbClr val="8FD9C4"/>
                </a:solidFill>
                <a:latin typeface="Consolas"/>
              </a:rPr>
              <a:t>Get-LocalUser | Select Name,SID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3794760"/>
            <a:ext cx="4133087" cy="2331720"/>
          </a:xfrm>
          <a:prstGeom prst="roundRect">
            <a:avLst>
              <a:gd name="adj" fmla="val 5000"/>
            </a:avLst>
          </a:prstGeom>
          <a:solidFill>
            <a:srgbClr val="E3F3EE"/>
          </a:solidFill>
          <a:ln w="12700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0" y="3931920"/>
            <a:ext cx="3840480" cy="2148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178A73"/>
                </a:solidFill>
                <a:latin typeface="Times New Roman"/>
              </a:rPr>
              <a:t>▸  </a:t>
            </a:r>
            <a:r>
              <a:rPr sz="1200" b="1">
                <a:solidFill>
                  <a:srgbClr val="1F3864"/>
                </a:solidFill>
                <a:latin typeface="Times New Roman"/>
              </a:rPr>
              <a:t>500</a:t>
            </a:r>
            <a:r>
              <a:rPr sz="1200">
                <a:solidFill>
                  <a:srgbClr val="202A38"/>
                </a:solidFill>
                <a:latin typeface="Times New Roman"/>
              </a:rPr>
              <a:t> = built-in Administrator — renaming does not change it.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178A73"/>
                </a:solidFill>
                <a:latin typeface="Times New Roman"/>
              </a:rPr>
              <a:t>▸  </a:t>
            </a:r>
            <a:r>
              <a:rPr sz="1200" b="1">
                <a:solidFill>
                  <a:srgbClr val="1F3864"/>
                </a:solidFill>
                <a:latin typeface="Times New Roman"/>
              </a:rPr>
              <a:t>501</a:t>
            </a:r>
            <a:r>
              <a:rPr sz="1200">
                <a:solidFill>
                  <a:srgbClr val="202A38"/>
                </a:solidFill>
                <a:latin typeface="Times New Roman"/>
              </a:rPr>
              <a:t> = Guest.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178A73"/>
                </a:solidFill>
                <a:latin typeface="Times New Roman"/>
              </a:rPr>
              <a:t>▸  </a:t>
            </a:r>
            <a:r>
              <a:rPr sz="1200" b="1">
                <a:solidFill>
                  <a:srgbClr val="1F3864"/>
                </a:solidFill>
                <a:latin typeface="Times New Roman"/>
              </a:rPr>
              <a:t>1000+</a:t>
            </a:r>
            <a:r>
              <a:rPr sz="1200">
                <a:solidFill>
                  <a:srgbClr val="202A38"/>
                </a:solidFill>
                <a:latin typeface="Times New Roman"/>
              </a:rPr>
              <a:t> = accounts you create.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178A73"/>
                </a:solidFill>
                <a:latin typeface="Times New Roman"/>
              </a:rPr>
              <a:t>▸  </a:t>
            </a:r>
            <a:r>
              <a:rPr sz="1200">
                <a:solidFill>
                  <a:srgbClr val="202A38"/>
                </a:solidFill>
                <a:latin typeface="Times New Roman"/>
              </a:rPr>
              <a:t>A deleted and re-created “Student” gets a NEW SID — old permissions do not return.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983480"/>
            <a:ext cx="6675120" cy="1143000"/>
          </a:xfrm>
          <a:prstGeom prst="roundRect">
            <a:avLst>
              <a:gd name="adj" fmla="val 5000"/>
            </a:avLst>
          </a:prstGeom>
          <a:solidFill>
            <a:srgbClr val="FDF1DF"/>
          </a:solidFill>
          <a:ln w="12700">
            <a:solidFill>
              <a:srgbClr val="E08E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5010912"/>
            <a:ext cx="64008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F3864"/>
                </a:solidFill>
                <a:latin typeface="Times New Roman"/>
              </a:rPr>
              <a:t>Forensics tip: </a:t>
            </a:r>
            <a:r>
              <a:rPr sz="1250">
                <a:solidFill>
                  <a:srgbClr val="202A38"/>
                </a:solidFill>
                <a:latin typeface="Times New Roman"/>
              </a:rPr>
              <a:t>in event logs accounts appear by SID. A SID ending in </a:t>
            </a:r>
            <a:r>
              <a:rPr sz="1250" b="1">
                <a:solidFill>
                  <a:srgbClr val="1F3864"/>
                </a:solidFill>
                <a:latin typeface="Times New Roman"/>
              </a:rPr>
              <a:t>-500</a:t>
            </a:r>
            <a:r>
              <a:rPr sz="1250">
                <a:solidFill>
                  <a:srgbClr val="202A38"/>
                </a:solidFill>
                <a:latin typeface="Times New Roman"/>
              </a:rPr>
              <a:t> shows the real built-in admin, whatever its name is now.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 i="0">
                <a:solidFill>
                  <a:srgbClr val="178A73"/>
                </a:solidFill>
                <a:latin typeface="Times New Roman"/>
              </a:rPr>
              <a:t>QUESTION 2 · PRACTICAL TASK 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155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2400" b="1" i="0">
                <a:solidFill>
                  <a:srgbClr val="1F3864"/>
                </a:solidFill>
                <a:latin typeface="Times New Roman"/>
              </a:rPr>
              <a:t>Task 2.2 — clean up (and what the log remembers)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371600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Topic 1 · Windows OS Security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382512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166359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792224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8" y="1645920"/>
            <a:ext cx="43891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02A38"/>
                </a:solidFill>
                <a:latin typeface="Times New Roman"/>
              </a:rPr>
              <a:t>Sign in as administrator again.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414016"/>
            <a:ext cx="5166359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800" y="2560320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2414016"/>
            <a:ext cx="43891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02A38"/>
                </a:solidFill>
                <a:latin typeface="Times New Roman"/>
              </a:rPr>
              <a:t>Delete the test accounts: </a:t>
            </a:r>
            <a:r>
              <a:rPr sz="1250" b="1">
                <a:solidFill>
                  <a:srgbClr val="178A73"/>
                </a:solidFill>
                <a:latin typeface="Consolas"/>
              </a:rPr>
              <a:t>net user Student /delete</a:t>
            </a:r>
            <a:r>
              <a:rPr sz="1250">
                <a:solidFill>
                  <a:srgbClr val="202A38"/>
                </a:solidFill>
                <a:latin typeface="Times New Roman"/>
              </a:rPr>
              <a:t> and </a:t>
            </a:r>
            <a:r>
              <a:rPr sz="1250" b="1">
                <a:solidFill>
                  <a:srgbClr val="178A73"/>
                </a:solidFill>
                <a:latin typeface="Consolas"/>
              </a:rPr>
              <a:t>net user Student2 /delete</a:t>
            </a:r>
            <a:r>
              <a:rPr sz="1250">
                <a:solidFill>
                  <a:srgbClr val="202A38"/>
                </a:solidFill>
                <a:latin typeface="Times New Roman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182112"/>
            <a:ext cx="5166359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5800" y="3328416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3182112"/>
            <a:ext cx="43891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02A38"/>
                </a:solidFill>
                <a:latin typeface="Times New Roman"/>
              </a:rPr>
              <a:t>Or: </a:t>
            </a:r>
            <a:r>
              <a:rPr sz="1250" b="1">
                <a:solidFill>
                  <a:srgbClr val="178A73"/>
                </a:solidFill>
                <a:latin typeface="Consolas"/>
              </a:rPr>
              <a:t>lusrmgr.msc</a:t>
            </a:r>
            <a:r>
              <a:rPr sz="1250">
                <a:solidFill>
                  <a:srgbClr val="202A38"/>
                </a:solidFill>
                <a:latin typeface="Times New Roman"/>
              </a:rPr>
              <a:t> → right-click the account → Delete.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50208"/>
            <a:ext cx="5166359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85800" y="4096512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8" y="3950208"/>
            <a:ext cx="43891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02A38"/>
                </a:solidFill>
                <a:latin typeface="Times New Roman"/>
              </a:rPr>
              <a:t>Open the Security log and filter </a:t>
            </a:r>
            <a:r>
              <a:rPr sz="1250" b="1">
                <a:solidFill>
                  <a:srgbClr val="178A73"/>
                </a:solidFill>
                <a:latin typeface="Consolas"/>
              </a:rPr>
              <a:t>4720,4726,4732</a:t>
            </a:r>
            <a:r>
              <a:rPr sz="1250">
                <a:solidFill>
                  <a:srgbClr val="202A38"/>
                </a:solidFill>
                <a:latin typeface="Times New Roman"/>
              </a:rPr>
              <a:t> — created, deleted, added to group.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18304"/>
            <a:ext cx="5166359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4864608"/>
            <a:ext cx="402336" cy="402336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7008" y="4718304"/>
            <a:ext cx="43891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02A38"/>
                </a:solidFill>
                <a:latin typeface="Times New Roman"/>
              </a:rPr>
              <a:t>Restore the snapshot at the end of the lesson if required.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61888" y="2209634"/>
            <a:ext cx="5669280" cy="239301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usrmg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1888" y="2209634"/>
            <a:ext cx="5669280" cy="239301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961888" y="4657509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50" b="0" i="1">
                <a:solidFill>
                  <a:srgbClr val="54647A"/>
                </a:solidFill>
                <a:latin typeface="Times New Roman"/>
              </a:rPr>
              <a:t>Fig. 12. lusrmgr.msc — Local Users and Groups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532120"/>
            <a:ext cx="6949440" cy="658368"/>
          </a:xfrm>
          <a:prstGeom prst="roundRect">
            <a:avLst>
              <a:gd name="adj" fmla="val 5000"/>
            </a:avLst>
          </a:prstGeom>
          <a:solidFill>
            <a:srgbClr val="E3F3EE"/>
          </a:solidFill>
          <a:ln w="12700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check-circle_178A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669280"/>
            <a:ext cx="384048" cy="38404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34440" y="5532120"/>
            <a:ext cx="6172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78A73"/>
                </a:solidFill>
                <a:latin typeface="Times New Roman"/>
              </a:rPr>
              <a:t>Expected result: </a:t>
            </a:r>
            <a:r>
              <a:rPr sz="1250">
                <a:solidFill>
                  <a:srgbClr val="202A38"/>
                </a:solidFill>
                <a:latin typeface="Times New Roman"/>
              </a:rPr>
              <a:t>the accounts are gone, but the log still shows who created and deleted them and when.</a:t>
            </a:r>
          </a:p>
        </p:txBody>
      </p:sp>
      <p:sp>
        <p:nvSpPr>
          <p:cNvPr id="29" name="Rounded Rectangle 28">
            <a:hlinkClick action="ppaction://hlinksldjump" r:id="rId5"/>
          </p:cNvPr>
          <p:cNvSpPr/>
          <p:nvPr/>
        </p:nvSpPr>
        <p:spPr>
          <a:xfrm>
            <a:off x="7726679" y="5577840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E3F3EE"/>
          </a:solidFill>
          <a:ln w="12700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200" b="1">
                <a:solidFill>
                  <a:srgbClr val="178A73"/>
                </a:solidFill>
                <a:latin typeface="Times New Roman"/>
              </a:rPr>
              <a:t>?  Event ID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 i="0">
                <a:solidFill>
                  <a:srgbClr val="178A73"/>
                </a:solidFill>
                <a:latin typeface="Times New Roman"/>
              </a:rPr>
              <a:t>PRACTICAL LESSON · TROUBLESHOOTING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155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2500" b="1" i="0">
                <a:solidFill>
                  <a:srgbClr val="1F3864"/>
                </a:solidFill>
                <a:latin typeface="Times New Roman"/>
              </a:rPr>
              <a:t>Something does not work? — check these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371600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Topic 1 · Windows OS Security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382512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91640"/>
          <a:ext cx="11064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657600"/>
                <a:gridCol w="4114800"/>
              </a:tblGrid>
              <a:tr h="6858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Symptom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Most likely cause</a:t>
                      </a:r>
                    </a:p>
                  </a:txBody>
                  <a:tcPr>
                    <a:solidFill>
                      <a:srgbClr val="E08E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Fix</a:t>
                      </a:r>
                    </a:p>
                  </a:txBody>
                  <a:tcPr>
                    <a:solidFill>
                      <a:srgbClr val="178A7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3864"/>
                          </a:solidFill>
                          <a:latin typeface="Times New Roman"/>
                        </a:rPr>
                        <a:t>“secpol.msc not found”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A38"/>
                          </a:solidFill>
                          <a:latin typeface="Times New Roman"/>
                        </a:rPr>
                        <a:t>Windows Home edition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A38"/>
                          </a:solidFill>
                          <a:latin typeface="Times New Roman"/>
                        </a:rPr>
                        <a:t>Use a Pro / Enterprise VM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3864"/>
                          </a:solidFill>
                          <a:latin typeface="Times New Roman"/>
                        </a:rPr>
                        <a:t>Password policy change has no effect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A38"/>
                          </a:solidFill>
                          <a:latin typeface="Times New Roman"/>
                        </a:rPr>
                        <a:t>Domain GPO overrides the local policy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A38"/>
                          </a:solidFill>
                          <a:latin typeface="Times New Roman"/>
                        </a:rPr>
                        <a:t>gpresult /r; ask the domain admin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3864"/>
                          </a:solidFill>
                          <a:latin typeface="Times New Roman"/>
                        </a:rPr>
                        <a:t>No 4625 events in the Security log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A38"/>
                          </a:solidFill>
                          <a:latin typeface="Times New Roman"/>
                        </a:rPr>
                        <a:t>Audit logon events not enabled / not applied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A38"/>
                          </a:solidFill>
                          <a:latin typeface="Times New Roman"/>
                        </a:rPr>
                        <a:t>Audit Policy → Success, Failure; gpupdate /force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3864"/>
                          </a:solidFill>
                          <a:latin typeface="Times New Roman"/>
                        </a:rPr>
                        <a:t>New user cannot sign 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A38"/>
                          </a:solidFill>
                          <a:latin typeface="Times New Roman"/>
                        </a:rPr>
                        <a:t>“Account is disabled” ticked or password rule not met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A38"/>
                          </a:solidFill>
                          <a:latin typeface="Times New Roman"/>
                        </a:rPr>
                        <a:t>net user Student /active:yes; set a compliant password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3864"/>
                          </a:solidFill>
                          <a:latin typeface="Times New Roman"/>
                        </a:rPr>
                        <a:t>Account locked during the lab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A38"/>
                          </a:solidFill>
                          <a:latin typeface="Times New Roman"/>
                        </a:rPr>
                        <a:t>Lockout threshold reached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A38"/>
                          </a:solidFill>
                          <a:latin typeface="Times New Roman"/>
                        </a:rPr>
                        <a:t>Wait 15 min or net user Student /active:yes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 i="0">
                <a:solidFill>
                  <a:srgbClr val="178A73"/>
                </a:solidFill>
                <a:latin typeface="Times New Roman"/>
              </a:rPr>
              <a:t>FINAL PRACTICAL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155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Hardening checklist — apply it and prove it in a report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371600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Topic 1 · Windows OS Security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382512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21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4592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926080"/>
                <a:gridCol w="4297680"/>
                <a:gridCol w="3291840"/>
              </a:tblGrid>
              <a:tr h="54864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Times New Roman"/>
                        </a:rPr>
                        <a:t>✓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Times New Roman"/>
                        </a:rPr>
                        <a:t>Setting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Times New Roman"/>
                        </a:rPr>
                        <a:t>Required value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Times New Roman"/>
                        </a:rPr>
                        <a:t>Evidence in the report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864"/>
                          </a:solidFill>
                          <a:latin typeface="Times New Roman"/>
                        </a:rPr>
                        <a:t>☐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3864"/>
                          </a:solidFill>
                          <a:latin typeface="Times New Roman"/>
                        </a:rPr>
                        <a:t>Password policy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A38"/>
                          </a:solidFill>
                          <a:latin typeface="Times New Roman"/>
                        </a:rPr>
                        <a:t>≥ 10 characters, complexity Enabled, history 5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A38"/>
                          </a:solidFill>
                          <a:latin typeface="Times New Roman"/>
                        </a:rPr>
                        <a:t>secpol screenshot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864"/>
                          </a:solidFill>
                          <a:latin typeface="Times New Roman"/>
                        </a:rPr>
                        <a:t>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3864"/>
                          </a:solidFill>
                          <a:latin typeface="Times New Roman"/>
                        </a:rPr>
                        <a:t>Account lockout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A38"/>
                          </a:solidFill>
                          <a:latin typeface="Times New Roman"/>
                        </a:rPr>
                        <a:t>threshold 5, duration 15 min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A38"/>
                          </a:solidFill>
                          <a:latin typeface="Times New Roman"/>
                        </a:rPr>
                        <a:t>net accounts output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864"/>
                          </a:solidFill>
                          <a:latin typeface="Times New Roman"/>
                        </a:rPr>
                        <a:t>☐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3864"/>
                          </a:solidFill>
                          <a:latin typeface="Times New Roman"/>
                        </a:rPr>
                        <a:t>Audit logon events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A38"/>
                          </a:solidFill>
                          <a:latin typeface="Times New Roman"/>
                        </a:rPr>
                        <a:t>Success + Failure; show a 4625 event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A38"/>
                          </a:solidFill>
                          <a:latin typeface="Times New Roman"/>
                        </a:rPr>
                        <a:t>Event Viewer screenshot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864"/>
                          </a:solidFill>
                          <a:latin typeface="Times New Roman"/>
                        </a:rPr>
                        <a:t>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3864"/>
                          </a:solidFill>
                          <a:latin typeface="Times New Roman"/>
                        </a:rPr>
                        <a:t>Sign-in screen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A38"/>
                          </a:solidFill>
                          <a:latin typeface="Times New Roman"/>
                        </a:rPr>
                        <a:t>last user name hidden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A38"/>
                          </a:solidFill>
                          <a:latin typeface="Times New Roman"/>
                        </a:rPr>
                        <a:t>Win + L photo/screenshot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864"/>
                          </a:solidFill>
                          <a:latin typeface="Times New Roman"/>
                        </a:rPr>
                        <a:t>☐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3864"/>
                          </a:solidFill>
                          <a:latin typeface="Times New Roman"/>
                        </a:rPr>
                        <a:t>Guest account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A38"/>
                          </a:solidFill>
                          <a:latin typeface="Times New Roman"/>
                        </a:rPr>
                        <a:t>Disabled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A38"/>
                          </a:solidFill>
                          <a:latin typeface="Times New Roman"/>
                        </a:rPr>
                        <a:t>Security Options screenshot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864"/>
                          </a:solidFill>
                          <a:latin typeface="Times New Roman"/>
                        </a:rPr>
                        <a:t>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3864"/>
                          </a:solidFill>
                          <a:latin typeface="Times New Roman"/>
                        </a:rPr>
                        <a:t>Limited user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A38"/>
                          </a:solidFill>
                          <a:latin typeface="Times New Roman"/>
                        </a:rPr>
                        <a:t>Student in Users only; blocked from secpol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A38"/>
                          </a:solidFill>
                          <a:latin typeface="Times New Roman"/>
                        </a:rPr>
                        <a:t>whoami /groups + prompt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" y="5669280"/>
            <a:ext cx="11064240" cy="548640"/>
          </a:xfrm>
          <a:prstGeom prst="roundRect">
            <a:avLst>
              <a:gd name="adj" fmla="val 5000"/>
            </a:avLst>
          </a:prstGeom>
          <a:solidFill>
            <a:srgbClr val="E3F3EE"/>
          </a:solidFill>
          <a:ln w="12700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98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F3864"/>
                </a:solidFill>
                <a:latin typeface="Times New Roman"/>
              </a:rPr>
              <a:t>Assessment: </a:t>
            </a:r>
            <a:r>
              <a:rPr sz="1250">
                <a:solidFill>
                  <a:srgbClr val="202A38"/>
                </a:solidFill>
                <a:latin typeface="Times New Roman"/>
              </a:rPr>
              <a:t>each row = 15% · report quality (captions, short explanations) = 10%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 i="0">
                <a:solidFill>
                  <a:srgbClr val="178A73"/>
                </a:solidFill>
                <a:latin typeface="Times New Roman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155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Times New Roman"/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371600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Topic 1 · Windows OS Security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382512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83080"/>
            <a:ext cx="11064240" cy="786384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1901952"/>
            <a:ext cx="548640" cy="548640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c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139" y="2055571"/>
            <a:ext cx="241402" cy="2414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508760" y="1783080"/>
            <a:ext cx="987552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0" i="0">
                <a:solidFill>
                  <a:srgbClr val="202A38"/>
                </a:solidFill>
                <a:latin typeface="Times New Roman"/>
              </a:rPr>
              <a:t>Password policy (length, complexity, history) and Account lockout make password guessing useless.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615"/>
            <a:ext cx="11064240" cy="786384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761487"/>
            <a:ext cx="548640" cy="548640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book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139" y="2915106"/>
            <a:ext cx="241402" cy="24140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508760" y="2642615"/>
            <a:ext cx="987552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0" i="0">
                <a:solidFill>
                  <a:srgbClr val="202A38"/>
                </a:solidFill>
                <a:latin typeface="Times New Roman"/>
              </a:rPr>
              <a:t>Audit Policy decides what goes to the Security log: 4625 failed logon, 4740 lockout, 4720 new account.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02152"/>
            <a:ext cx="11064240" cy="786384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3621024"/>
            <a:ext cx="548640" cy="548640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ey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139" y="3774643"/>
            <a:ext cx="241402" cy="24140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508760" y="3502152"/>
            <a:ext cx="987552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0" i="0">
                <a:solidFill>
                  <a:srgbClr val="202A38"/>
                </a:solidFill>
                <a:latin typeface="Times New Roman"/>
              </a:rPr>
              <a:t>Security Options hide useful hints from attackers: last user name, Guest account, the “Administrator” name.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1688"/>
            <a:ext cx="11064240" cy="786384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4480560"/>
            <a:ext cx="548640" cy="548640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users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139" y="4634179"/>
            <a:ext cx="241402" cy="24140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508760" y="4361688"/>
            <a:ext cx="987552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0" i="0">
                <a:solidFill>
                  <a:srgbClr val="202A38"/>
                </a:solidFill>
                <a:latin typeface="Times New Roman"/>
              </a:rPr>
              <a:t>Give rights to groups: everyday work in Users, admin rights only when needed (least privilege, RBAC).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21224"/>
            <a:ext cx="11064240" cy="786384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340096"/>
            <a:ext cx="548640" cy="548640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key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5139" y="5493715"/>
            <a:ext cx="241402" cy="24140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508760" y="5221224"/>
            <a:ext cx="987552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0" i="0">
                <a:solidFill>
                  <a:srgbClr val="202A38"/>
                </a:solidFill>
                <a:latin typeface="Times New Roman"/>
              </a:rPr>
              <a:t>Windows identifies accounts by SID, not by name: 500 = built-in Administrator, 1000+ = your accounts.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 i="0">
                <a:solidFill>
                  <a:srgbClr val="178A73"/>
                </a:solidFill>
                <a:latin typeface="Times New Roman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155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Review questions — Lesson 4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371600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Topic 1 · Windows OS Security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382512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54864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1943100"/>
            <a:ext cx="457200" cy="45720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91640"/>
            <a:ext cx="45720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What do Account lockout threshold and Account lockout duration mean?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54864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22092"/>
            <a:ext cx="457200" cy="45720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4168" y="2770632"/>
            <a:ext cx="45720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Why does “Do not display last user name” increase security?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849624"/>
            <a:ext cx="54864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4101084"/>
            <a:ext cx="457200" cy="45720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3849624"/>
            <a:ext cx="45720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Explain the difference between the Administrators, Users and Guests groups.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928616"/>
            <a:ext cx="54864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5180076"/>
            <a:ext cx="457200" cy="45720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928616"/>
            <a:ext cx="45720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Explain what the net user and net localgroup commands do.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4768" y="1691640"/>
            <a:ext cx="54864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09360" y="1943100"/>
            <a:ext cx="457200" cy="45720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22008" y="1691640"/>
            <a:ext cx="45720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Why should an administrator account not be used for everyday work?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2770632"/>
            <a:ext cx="54864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09360" y="3022092"/>
            <a:ext cx="457200" cy="45720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22008" y="2770632"/>
            <a:ext cx="45720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Explain “role-based access control” in your own words.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3849624"/>
            <a:ext cx="54864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0" y="4101084"/>
            <a:ext cx="457200" cy="45720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22008" y="3849624"/>
            <a:ext cx="45720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Which Event IDs show a password-guessing attack?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44768" y="4928616"/>
            <a:ext cx="54864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09360" y="5180076"/>
            <a:ext cx="457200" cy="45720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22008" y="4928616"/>
            <a:ext cx="45720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Why does renaming “Administrator” not hide it from a forensic investigator?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hankyo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0368" y="1234440"/>
            <a:ext cx="1737360" cy="176479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114800" y="3246120"/>
            <a:ext cx="3959352" cy="5486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42900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200" b="1" i="0">
                <a:solidFill>
                  <a:srgbClr val="FFFFFF"/>
                </a:solidFill>
                <a:latin typeface="Times New Roman"/>
              </a:rPr>
              <a:t>THANK YOU FOR YOUR ATTENTION!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600" b="0" i="1">
                <a:solidFill>
                  <a:srgbClr val="C7D6E6"/>
                </a:solidFill>
                <a:latin typeface="Times New Roman"/>
              </a:rPr>
              <a:t>Questions are welcome.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300" b="0" i="1">
                <a:solidFill>
                  <a:srgbClr val="8FD9C4"/>
                </a:solidFill>
                <a:latin typeface="Times New Roman"/>
              </a:rPr>
              <a:t>Next section — glossary of terms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 i="0">
                <a:solidFill>
                  <a:srgbClr val="178A73"/>
                </a:solidFill>
                <a:latin typeface="Times New Roman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155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2400" b="1" i="0">
                <a:solidFill>
                  <a:srgbClr val="1F3864"/>
                </a:solidFill>
                <a:latin typeface="Times New Roman"/>
              </a:rPr>
              <a:t>Glossary — this section explains the following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371600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Topic 1 · Windows OS Security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382512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25</a:t>
            </a:r>
          </a:p>
        </p:txBody>
      </p:sp>
      <p:sp>
        <p:nvSpPr>
          <p:cNvPr id="8" name="Rounded Rectangle 7">
            <a:hlinkClick action="ppaction://hlinksldjump" r:id="rId10"/>
          </p:cNvPr>
          <p:cNvSpPr/>
          <p:nvPr/>
        </p:nvSpPr>
        <p:spPr>
          <a:xfrm>
            <a:off x="566928" y="1783080"/>
            <a:ext cx="2743200" cy="123444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49808" y="1984248"/>
            <a:ext cx="566928" cy="566928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hiel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547" y="2142987"/>
            <a:ext cx="249450" cy="2494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35608" y="1965960"/>
            <a:ext cx="17830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 i="0">
                <a:solidFill>
                  <a:srgbClr val="1F3864"/>
                </a:solidFill>
                <a:latin typeface="Times New Roman"/>
              </a:rPr>
              <a:t>Local Security Policy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62432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 i="1">
                <a:solidFill>
                  <a:srgbClr val="54647A"/>
                </a:solidFill>
                <a:latin typeface="Times New Roman"/>
              </a:rPr>
              <a:t>secpol.msc</a:t>
            </a:r>
          </a:p>
        </p:txBody>
      </p:sp>
      <p:sp>
        <p:nvSpPr>
          <p:cNvPr id="13" name="Rounded Rectangle 12">
            <a:hlinkClick action="ppaction://hlinksldjump" r:id="rId11"/>
          </p:cNvPr>
          <p:cNvSpPr/>
          <p:nvPr/>
        </p:nvSpPr>
        <p:spPr>
          <a:xfrm>
            <a:off x="3355848" y="1783080"/>
            <a:ext cx="2743200" cy="123444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8728" y="1984248"/>
            <a:ext cx="566928" cy="566928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key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7467" y="2142987"/>
            <a:ext cx="249450" cy="2494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224528" y="1965960"/>
            <a:ext cx="17830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 i="0">
                <a:solidFill>
                  <a:srgbClr val="1F3864"/>
                </a:solidFill>
                <a:latin typeface="Times New Roman"/>
              </a:rPr>
              <a:t>Password complexity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8" y="262432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 i="1">
                <a:solidFill>
                  <a:srgbClr val="54647A"/>
                </a:solidFill>
                <a:latin typeface="Times New Roman"/>
              </a:rPr>
              <a:t>what “complex” means</a:t>
            </a:r>
          </a:p>
        </p:txBody>
      </p:sp>
      <p:sp>
        <p:nvSpPr>
          <p:cNvPr id="18" name="Rounded Rectangle 17">
            <a:hlinkClick action="ppaction://hlinksldjump" r:id="rId12"/>
          </p:cNvPr>
          <p:cNvSpPr/>
          <p:nvPr/>
        </p:nvSpPr>
        <p:spPr>
          <a:xfrm>
            <a:off x="6144768" y="1783080"/>
            <a:ext cx="2743200" cy="123444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27648" y="1984248"/>
            <a:ext cx="566928" cy="566928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ock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6387" y="2142987"/>
            <a:ext cx="249450" cy="2494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13448" y="1965960"/>
            <a:ext cx="17830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 i="0">
                <a:solidFill>
                  <a:srgbClr val="1F3864"/>
                </a:solidFill>
                <a:latin typeface="Times New Roman"/>
              </a:rPr>
              <a:t>Account lockout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7648" y="262432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 i="1">
                <a:solidFill>
                  <a:srgbClr val="54647A"/>
                </a:solidFill>
                <a:latin typeface="Times New Roman"/>
              </a:rPr>
              <a:t>stop guessing</a:t>
            </a:r>
          </a:p>
        </p:txBody>
      </p:sp>
      <p:sp>
        <p:nvSpPr>
          <p:cNvPr id="23" name="Rounded Rectangle 22">
            <a:hlinkClick action="ppaction://hlinksldjump" r:id="rId13"/>
          </p:cNvPr>
          <p:cNvSpPr/>
          <p:nvPr/>
        </p:nvSpPr>
        <p:spPr>
          <a:xfrm>
            <a:off x="8933687" y="1783080"/>
            <a:ext cx="2743200" cy="123444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16567" y="1984248"/>
            <a:ext cx="566928" cy="566928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ey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75306" y="2142987"/>
            <a:ext cx="249450" cy="24945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802367" y="1965960"/>
            <a:ext cx="17830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 i="0">
                <a:solidFill>
                  <a:srgbClr val="1F3864"/>
                </a:solidFill>
                <a:latin typeface="Times New Roman"/>
              </a:rPr>
              <a:t>Audit policy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16567" y="262432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 i="1">
                <a:solidFill>
                  <a:srgbClr val="54647A"/>
                </a:solidFill>
                <a:latin typeface="Times New Roman"/>
              </a:rPr>
              <a:t>what gets logged</a:t>
            </a:r>
          </a:p>
        </p:txBody>
      </p:sp>
      <p:sp>
        <p:nvSpPr>
          <p:cNvPr id="28" name="Rounded Rectangle 27">
            <a:hlinkClick action="ppaction://hlinksldjump" r:id="rId14"/>
          </p:cNvPr>
          <p:cNvSpPr/>
          <p:nvPr/>
        </p:nvSpPr>
        <p:spPr>
          <a:xfrm>
            <a:off x="566928" y="3154680"/>
            <a:ext cx="2743200" cy="123444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49808" y="3355848"/>
            <a:ext cx="566928" cy="566928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book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8547" y="3514587"/>
            <a:ext cx="249450" cy="2494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435608" y="3337560"/>
            <a:ext cx="17830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 i="0">
                <a:solidFill>
                  <a:srgbClr val="1F3864"/>
                </a:solidFill>
                <a:latin typeface="Times New Roman"/>
              </a:rPr>
              <a:t>Event ID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399592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 i="1">
                <a:solidFill>
                  <a:srgbClr val="54647A"/>
                </a:solidFill>
                <a:latin typeface="Times New Roman"/>
              </a:rPr>
              <a:t>the event’s number</a:t>
            </a:r>
          </a:p>
        </p:txBody>
      </p:sp>
      <p:sp>
        <p:nvSpPr>
          <p:cNvPr id="33" name="Rounded Rectangle 32">
            <a:hlinkClick action="ppaction://hlinksldjump" r:id="rId15"/>
          </p:cNvPr>
          <p:cNvSpPr/>
          <p:nvPr/>
        </p:nvSpPr>
        <p:spPr>
          <a:xfrm>
            <a:off x="3355848" y="3154680"/>
            <a:ext cx="2743200" cy="123444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538728" y="3355848"/>
            <a:ext cx="566928" cy="566928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user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97467" y="3514587"/>
            <a:ext cx="249450" cy="24945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224528" y="3337560"/>
            <a:ext cx="17830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 i="0">
                <a:solidFill>
                  <a:srgbClr val="1F3864"/>
                </a:solidFill>
                <a:latin typeface="Times New Roman"/>
              </a:rPr>
              <a:t>SID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38728" y="399592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 i="1">
                <a:solidFill>
                  <a:srgbClr val="54647A"/>
                </a:solidFill>
                <a:latin typeface="Times New Roman"/>
              </a:rPr>
              <a:t>the account’s real ID</a:t>
            </a:r>
          </a:p>
        </p:txBody>
      </p:sp>
      <p:sp>
        <p:nvSpPr>
          <p:cNvPr id="38" name="Rounded Rectangle 37">
            <a:hlinkClick action="ppaction://hlinksldjump" r:id="rId16"/>
          </p:cNvPr>
          <p:cNvSpPr/>
          <p:nvPr/>
        </p:nvSpPr>
        <p:spPr>
          <a:xfrm>
            <a:off x="6144768" y="3154680"/>
            <a:ext cx="2743200" cy="123444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327648" y="3355848"/>
            <a:ext cx="566928" cy="566928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users_FFFF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86387" y="3514587"/>
            <a:ext cx="249450" cy="24945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013448" y="3337560"/>
            <a:ext cx="17830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 i="0">
                <a:solidFill>
                  <a:srgbClr val="1F3864"/>
                </a:solidFill>
                <a:latin typeface="Times New Roman"/>
              </a:rPr>
              <a:t>RBAC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27648" y="399592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 i="1">
                <a:solidFill>
                  <a:srgbClr val="54647A"/>
                </a:solidFill>
                <a:latin typeface="Times New Roman"/>
              </a:rPr>
              <a:t>rights by role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4617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1">
                <a:solidFill>
                  <a:srgbClr val="54647A"/>
                </a:solidFill>
                <a:latin typeface="Times New Roman"/>
              </a:rPr>
              <a:t>Each term is explained in beginner-friendly language, with an example and a diagram.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9260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 i="0">
                <a:solidFill>
                  <a:srgbClr val="8FD9C4"/>
                </a:solidFill>
                <a:latin typeface="Times New Roman"/>
              </a:rPr>
              <a:t>GLOSSARY · TERM EXPLAINED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217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Times New Roman"/>
              </a:rPr>
              <a:t>Local Security Policy (secpol.msc)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457200"/>
            <a:ext cx="384048" cy="384048"/>
          </a:xfrm>
          <a:prstGeom prst="ellipse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26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566928" y="6144768"/>
            <a:ext cx="2926080" cy="502920"/>
          </a:xfrm>
          <a:prstGeom prst="roundRect">
            <a:avLst>
              <a:gd name="adj" fmla="val 50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← Back to lesson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45920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 i="0">
                <a:solidFill>
                  <a:srgbClr val="178A73"/>
                </a:solidFill>
                <a:latin typeface="Times New Roman"/>
              </a:rPr>
              <a:t>In plain terms: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11680"/>
            <a:ext cx="5577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02A38"/>
                </a:solidFill>
                <a:latin typeface="Times New Roman"/>
              </a:rPr>
              <a:t>A console that gathers the </a:t>
            </a:r>
            <a:r>
              <a:rPr sz="1300" b="1">
                <a:solidFill>
                  <a:srgbClr val="1F3864"/>
                </a:solidFill>
                <a:latin typeface="Times New Roman"/>
              </a:rPr>
              <a:t>security settings of one computer</a:t>
            </a:r>
            <a:r>
              <a:rPr sz="1300">
                <a:solidFill>
                  <a:srgbClr val="202A38"/>
                </a:solidFill>
                <a:latin typeface="Times New Roman"/>
              </a:rPr>
              <a:t> in one place: passwords, lockout, auditing, user rights, security options, AppLocker. </a:t>
            </a:r>
            <a:r>
              <a:rPr sz="1300">
                <a:solidFill>
                  <a:srgbClr val="202A38"/>
                </a:solidFill>
                <a:latin typeface="Times New Roman"/>
              </a:rPr>
              <a:t>Open it with </a:t>
            </a:r>
            <a:r>
              <a:rPr sz="1300" b="1">
                <a:solidFill>
                  <a:srgbClr val="178A73"/>
                </a:solidFill>
                <a:latin typeface="Consolas"/>
              </a:rPr>
              <a:t>Win + R → secpol.msc</a:t>
            </a:r>
            <a:r>
              <a:rPr sz="1300">
                <a:solidFill>
                  <a:srgbClr val="202A38"/>
                </a:solidFill>
                <a:latin typeface="Times New Roman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931920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 i="0">
                <a:solidFill>
                  <a:srgbClr val="178A73"/>
                </a:solidFill>
                <a:latin typeface="Times New Roman"/>
              </a:rPr>
              <a:t>Why it matters: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297680"/>
            <a:ext cx="55778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02A38"/>
                </a:solidFill>
                <a:latin typeface="Times New Roman"/>
              </a:rPr>
              <a:t>It is the local layer of Group Policy. In a domain the same settings are pushed to thousands of PCs by a GPO — so learning secpol.msc is learning how organisations are hardened.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783080"/>
            <a:ext cx="5212080" cy="685800"/>
          </a:xfrm>
          <a:prstGeom prst="roundRect">
            <a:avLst>
              <a:gd name="adj" fmla="val 10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Account Policies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651760"/>
            <a:ext cx="5212080" cy="685800"/>
          </a:xfrm>
          <a:prstGeom prst="roundRect">
            <a:avLst>
              <a:gd name="adj" fmla="val 10000"/>
            </a:avLst>
          </a:prstGeom>
          <a:solidFill>
            <a:srgbClr val="E08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Local Policies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3520439"/>
            <a:ext cx="5212080" cy="685800"/>
          </a:xfrm>
          <a:prstGeom prst="roundRect">
            <a:avLst>
              <a:gd name="adj" fmla="val 10000"/>
            </a:avLst>
          </a:prstGeom>
          <a:solidFill>
            <a:srgbClr val="6E5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Windows Defender Firewall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4389120"/>
            <a:ext cx="5212080" cy="685800"/>
          </a:xfrm>
          <a:prstGeom prst="roundRect">
            <a:avLst>
              <a:gd name="adj" fmla="val 1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Application Control (AppLocker)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9260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 i="0">
                <a:solidFill>
                  <a:srgbClr val="8FD9C4"/>
                </a:solidFill>
                <a:latin typeface="Times New Roman"/>
              </a:rPr>
              <a:t>GLOSSARY · TERM EXPLAINED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217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Times New Roman"/>
              </a:rPr>
              <a:t>Password complexity requirements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457200"/>
            <a:ext cx="384048" cy="384048"/>
          </a:xfrm>
          <a:prstGeom prst="ellipse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27</a:t>
            </a:r>
          </a:p>
        </p:txBody>
      </p:sp>
      <p:sp>
        <p:nvSpPr>
          <p:cNvPr id="8" name="Rounded Rectangle 7">
            <a:hlinkClick action="ppaction://hlinksldjump" r:id="rId5"/>
          </p:cNvPr>
          <p:cNvSpPr/>
          <p:nvPr/>
        </p:nvSpPr>
        <p:spPr>
          <a:xfrm>
            <a:off x="566928" y="6144768"/>
            <a:ext cx="2926080" cy="502920"/>
          </a:xfrm>
          <a:prstGeom prst="roundRect">
            <a:avLst>
              <a:gd name="adj" fmla="val 50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← Back to lesson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45920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 i="0">
                <a:solidFill>
                  <a:srgbClr val="178A73"/>
                </a:solidFill>
                <a:latin typeface="Times New Roman"/>
              </a:rPr>
              <a:t>In plain terms: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11680"/>
            <a:ext cx="5577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02A38"/>
                </a:solidFill>
                <a:latin typeface="Times New Roman"/>
              </a:rPr>
              <a:t>When this policy is Enabled, a password must contain characters from </a:t>
            </a:r>
            <a:r>
              <a:rPr sz="1300" b="1">
                <a:solidFill>
                  <a:srgbClr val="1F3864"/>
                </a:solidFill>
                <a:latin typeface="Times New Roman"/>
              </a:rPr>
              <a:t>at least 3 of 4 groups</a:t>
            </a:r>
            <a:r>
              <a:rPr sz="1300">
                <a:solidFill>
                  <a:srgbClr val="202A38"/>
                </a:solidFill>
                <a:latin typeface="Times New Roman"/>
              </a:rPr>
              <a:t>: upper-case, lower-case, digits, symbols — and must not contain the user name.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931920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 i="0">
                <a:solidFill>
                  <a:srgbClr val="178A73"/>
                </a:solidFill>
                <a:latin typeface="Times New Roman"/>
              </a:rPr>
              <a:t>Why it matters: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297680"/>
            <a:ext cx="55778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02A38"/>
                </a:solidFill>
                <a:latin typeface="Times New Roman"/>
              </a:rPr>
              <a:t>Each extra character group multiplies the number of combinations an attacker must try. Combined with a minimum length of 10+, guessing becomes impractical.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828800"/>
            <a:ext cx="52120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ban_C039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075688"/>
            <a:ext cx="411480" cy="411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78040" y="1828800"/>
            <a:ext cx="42976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Consolas"/>
              </a:rPr>
              <a:t>student2026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54647A"/>
                </a:solidFill>
                <a:latin typeface="Times New Roman"/>
              </a:rPr>
              <a:t>only 2 groups, contains the name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2926080"/>
            <a:ext cx="52120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an_C039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3172968"/>
            <a:ext cx="411480" cy="4114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178040" y="2926080"/>
            <a:ext cx="42976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Consolas"/>
              </a:rPr>
              <a:t>Password1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54647A"/>
                </a:solidFill>
                <a:latin typeface="Times New Roman"/>
              </a:rPr>
              <a:t>too short, very common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023360"/>
            <a:ext cx="52120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43B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-circle_178A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4270248"/>
            <a:ext cx="411480" cy="4114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178040" y="4023360"/>
            <a:ext cx="42976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Consolas"/>
              </a:rPr>
              <a:t>Blue-Tiger7-Sky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54647A"/>
                </a:solidFill>
                <a:latin typeface="Times New Roman"/>
              </a:rPr>
              <a:t>4 groups, 15 characters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9260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 i="0">
                <a:solidFill>
                  <a:srgbClr val="8FD9C4"/>
                </a:solidFill>
                <a:latin typeface="Times New Roman"/>
              </a:rPr>
              <a:t>GLOSSARY · TERM EXPLAINED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217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Times New Roman"/>
              </a:rPr>
              <a:t>Account lockout (threshold, duration, reset)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457200"/>
            <a:ext cx="384048" cy="384048"/>
          </a:xfrm>
          <a:prstGeom prst="ellipse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28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566928" y="6144768"/>
            <a:ext cx="2926080" cy="502920"/>
          </a:xfrm>
          <a:prstGeom prst="roundRect">
            <a:avLst>
              <a:gd name="adj" fmla="val 50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← Back to lesson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45920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 i="0">
                <a:solidFill>
                  <a:srgbClr val="178A73"/>
                </a:solidFill>
                <a:latin typeface="Times New Roman"/>
              </a:rPr>
              <a:t>In plain terms: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11680"/>
            <a:ext cx="5577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Times New Roman"/>
              </a:rPr>
              <a:t>Threshold</a:t>
            </a:r>
            <a:r>
              <a:rPr sz="1300">
                <a:solidFill>
                  <a:srgbClr val="202A38"/>
                </a:solidFill>
                <a:latin typeface="Times New Roman"/>
              </a:rPr>
              <a:t> — how many wrong passwords in a row are allowed. </a:t>
            </a:r>
            <a:r>
              <a:rPr sz="1300" b="1">
                <a:solidFill>
                  <a:srgbClr val="1F3864"/>
                </a:solidFill>
                <a:latin typeface="Times New Roman"/>
              </a:rPr>
              <a:t>Duration</a:t>
            </a:r>
            <a:r>
              <a:rPr sz="1300">
                <a:solidFill>
                  <a:srgbClr val="202A38"/>
                </a:solidFill>
                <a:latin typeface="Times New Roman"/>
              </a:rPr>
              <a:t> — how long the account stays locked. </a:t>
            </a:r>
            <a:r>
              <a:rPr sz="1300" b="1">
                <a:solidFill>
                  <a:srgbClr val="1F3864"/>
                </a:solidFill>
                <a:latin typeface="Times New Roman"/>
              </a:rPr>
              <a:t>Reset counter after</a:t>
            </a:r>
            <a:r>
              <a:rPr sz="1300">
                <a:solidFill>
                  <a:srgbClr val="202A38"/>
                </a:solidFill>
                <a:latin typeface="Times New Roman"/>
              </a:rPr>
              <a:t> — when the failure counter starts again from zero.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931920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 i="0">
                <a:solidFill>
                  <a:srgbClr val="178A73"/>
                </a:solidFill>
                <a:latin typeface="Times New Roman"/>
              </a:rPr>
              <a:t>Why it matters: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297680"/>
            <a:ext cx="55778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02A38"/>
                </a:solidFill>
                <a:latin typeface="Times New Roman"/>
              </a:rPr>
              <a:t>It turns an online guessing attack from millions of tries into a few per hour. The locked account also creates event 4740 — an alarm for the defenders.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920240"/>
            <a:ext cx="960120" cy="640080"/>
          </a:xfrm>
          <a:prstGeom prst="roundRect">
            <a:avLst>
              <a:gd name="adj" fmla="val 1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try 1 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1920240"/>
            <a:ext cx="960120" cy="640080"/>
          </a:xfrm>
          <a:prstGeom prst="roundRect">
            <a:avLst>
              <a:gd name="adj" fmla="val 1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try 2 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03920" y="1920240"/>
            <a:ext cx="960120" cy="640080"/>
          </a:xfrm>
          <a:prstGeom prst="roundRect">
            <a:avLst>
              <a:gd name="adj" fmla="val 1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try 3 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1920240"/>
            <a:ext cx="960120" cy="640080"/>
          </a:xfrm>
          <a:prstGeom prst="roundRect">
            <a:avLst>
              <a:gd name="adj" fmla="val 1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try 4 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7040" y="1920240"/>
            <a:ext cx="960120" cy="640080"/>
          </a:xfrm>
          <a:prstGeom prst="roundRect">
            <a:avLst>
              <a:gd name="adj" fmla="val 1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try 5 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2834640"/>
            <a:ext cx="5166360" cy="73152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LOCKED for 15 minutes — event 4740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3840480"/>
            <a:ext cx="5166360" cy="640080"/>
          </a:xfrm>
          <a:prstGeom prst="roundRect">
            <a:avLst>
              <a:gd name="adj" fmla="val 10000"/>
            </a:avLst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after 15 minutes — unlocked automatically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9260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 i="0">
                <a:solidFill>
                  <a:srgbClr val="8FD9C4"/>
                </a:solidFill>
                <a:latin typeface="Times New Roman"/>
              </a:rPr>
              <a:t>GLOSSARY · TERM EXPLAINED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217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Times New Roman"/>
              </a:rPr>
              <a:t>Audit policy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457200"/>
            <a:ext cx="384048" cy="384048"/>
          </a:xfrm>
          <a:prstGeom prst="ellipse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29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566928" y="6144768"/>
            <a:ext cx="2926080" cy="502920"/>
          </a:xfrm>
          <a:prstGeom prst="roundRect">
            <a:avLst>
              <a:gd name="adj" fmla="val 50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← Back to lesson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45920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 i="0">
                <a:solidFill>
                  <a:srgbClr val="178A73"/>
                </a:solidFill>
                <a:latin typeface="Times New Roman"/>
              </a:rPr>
              <a:t>In plain terms: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11680"/>
            <a:ext cx="5577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02A38"/>
                </a:solidFill>
                <a:latin typeface="Times New Roman"/>
              </a:rPr>
              <a:t>The audit policy tells Windows </a:t>
            </a:r>
            <a:r>
              <a:rPr sz="1300" b="1">
                <a:solidFill>
                  <a:srgbClr val="1F3864"/>
                </a:solidFill>
                <a:latin typeface="Times New Roman"/>
              </a:rPr>
              <a:t>which events to write into the Security log</a:t>
            </a:r>
            <a:r>
              <a:rPr sz="1300">
                <a:solidFill>
                  <a:srgbClr val="202A38"/>
                </a:solidFill>
                <a:latin typeface="Times New Roman"/>
              </a:rPr>
              <a:t> — for example successful and failed logons, account changes, policy changes. </a:t>
            </a:r>
            <a:r>
              <a:rPr sz="1300">
                <a:solidFill>
                  <a:srgbClr val="202A38"/>
                </a:solidFill>
                <a:latin typeface="Times New Roman"/>
              </a:rPr>
              <a:t>Each category can log </a:t>
            </a:r>
            <a:r>
              <a:rPr sz="1300" b="1">
                <a:solidFill>
                  <a:srgbClr val="1F3864"/>
                </a:solidFill>
                <a:latin typeface="Times New Roman"/>
              </a:rPr>
              <a:t>Success</a:t>
            </a:r>
            <a:r>
              <a:rPr sz="1300">
                <a:solidFill>
                  <a:srgbClr val="202A38"/>
                </a:solidFill>
                <a:latin typeface="Times New Roman"/>
              </a:rPr>
              <a:t>, </a:t>
            </a:r>
            <a:r>
              <a:rPr sz="1300" b="1">
                <a:solidFill>
                  <a:srgbClr val="1F3864"/>
                </a:solidFill>
                <a:latin typeface="Times New Roman"/>
              </a:rPr>
              <a:t>Failure</a:t>
            </a:r>
            <a:r>
              <a:rPr sz="1300">
                <a:solidFill>
                  <a:srgbClr val="202A38"/>
                </a:solidFill>
                <a:latin typeface="Times New Roman"/>
              </a:rPr>
              <a:t> or both.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931920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 i="0">
                <a:solidFill>
                  <a:srgbClr val="178A73"/>
                </a:solidFill>
                <a:latin typeface="Times New Roman"/>
              </a:rPr>
              <a:t>Why it matters: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297680"/>
            <a:ext cx="55778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02A38"/>
                </a:solidFill>
                <a:latin typeface="Times New Roman"/>
              </a:rPr>
              <a:t>No audit — no evidence. Without it, a brute-force attack or a new hidden admin account leaves no trace. SIEM systems (later topics) are built on these events.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828800"/>
            <a:ext cx="5212080" cy="2011680"/>
          </a:xfrm>
          <a:prstGeom prst="roundRect">
            <a:avLst>
              <a:gd name="adj" fmla="val 3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938528"/>
            <a:ext cx="4846320" cy="1792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8FD9C4"/>
                </a:solidFill>
                <a:latin typeface="Consolas"/>
              </a:rPr>
              <a:t>PS&gt; </a:t>
            </a:r>
            <a:r>
              <a:rPr sz="1100" b="1">
                <a:solidFill>
                  <a:srgbClr val="8FD9C4"/>
                </a:solidFill>
                <a:latin typeface="Consolas"/>
              </a:rPr>
              <a:t>auditpol /get /category:"Logon/Logoff"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>
                <a:solidFill>
                  <a:srgbClr val="FFFFFF"/>
                </a:solidFill>
                <a:latin typeface="Consolas"/>
              </a:rPr>
              <a:t>Logon/Logoff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>
                <a:solidFill>
                  <a:srgbClr val="7CE38B"/>
                </a:solidFill>
                <a:latin typeface="Consolas"/>
              </a:rPr>
              <a:t>  Logon              Success and Failure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>
                <a:solidFill>
                  <a:srgbClr val="7CE38B"/>
                </a:solidFill>
                <a:latin typeface="Consolas"/>
              </a:rPr>
              <a:t>  Logoff             Success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>
                <a:solidFill>
                  <a:srgbClr val="7CE38B"/>
                </a:solidFill>
                <a:latin typeface="Consolas"/>
              </a:rPr>
              <a:t>  Account Lockout    Success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9260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 i="0">
                <a:solidFill>
                  <a:srgbClr val="8FD9C4"/>
                </a:solidFill>
                <a:latin typeface="Times New Roman"/>
              </a:rPr>
              <a:t>GLOSSARY · TERM EXPLAINED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217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Times New Roman"/>
              </a:rPr>
              <a:t>Event ID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457200"/>
            <a:ext cx="384048" cy="384048"/>
          </a:xfrm>
          <a:prstGeom prst="ellipse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30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566928" y="6144768"/>
            <a:ext cx="2926080" cy="502920"/>
          </a:xfrm>
          <a:prstGeom prst="roundRect">
            <a:avLst>
              <a:gd name="adj" fmla="val 50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← Back to lesson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45920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 i="0">
                <a:solidFill>
                  <a:srgbClr val="178A73"/>
                </a:solidFill>
                <a:latin typeface="Times New Roman"/>
              </a:rPr>
              <a:t>In plain terms: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11680"/>
            <a:ext cx="5577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02A38"/>
                </a:solidFill>
                <a:latin typeface="Times New Roman"/>
              </a:rPr>
              <a:t>Every record in a Windows log has an </a:t>
            </a:r>
            <a:r>
              <a:rPr sz="1300" b="1">
                <a:solidFill>
                  <a:srgbClr val="1F3864"/>
                </a:solidFill>
                <a:latin typeface="Times New Roman"/>
              </a:rPr>
              <a:t>Event ID</a:t>
            </a:r>
            <a:r>
              <a:rPr sz="1300">
                <a:solidFill>
                  <a:srgbClr val="202A38"/>
                </a:solidFill>
                <a:latin typeface="Times New Roman"/>
              </a:rPr>
              <a:t> — a number that tells what kind of event it is. The same ID always means the same thing on every Windows PC.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931920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 i="0">
                <a:solidFill>
                  <a:srgbClr val="178A73"/>
                </a:solidFill>
                <a:latin typeface="Times New Roman"/>
              </a:rPr>
              <a:t>Why it matters: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297680"/>
            <a:ext cx="55778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02A38"/>
                </a:solidFill>
                <a:latin typeface="Times New Roman"/>
              </a:rPr>
              <a:t>Defenders and forensic investigators search logs by ID: “show me all 4625 in the last hour”. It is the fastest way to find an attack among millions of records.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737360"/>
            <a:ext cx="1097280" cy="621792"/>
          </a:xfrm>
          <a:prstGeom prst="roundRect">
            <a:avLst>
              <a:gd name="adj" fmla="val 10000"/>
            </a:avLst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onsolas"/>
              </a:rPr>
              <a:t>4624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1737360"/>
            <a:ext cx="402336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26679" y="1737360"/>
            <a:ext cx="38404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202A38"/>
                </a:solidFill>
                <a:latin typeface="Times New Roman"/>
              </a:rPr>
              <a:t>successful logon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2514600"/>
            <a:ext cx="1097280" cy="621792"/>
          </a:xfrm>
          <a:prstGeom prst="roundRect">
            <a:avLst>
              <a:gd name="adj" fmla="val 1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onsolas"/>
              </a:rPr>
              <a:t>4625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0" y="2514600"/>
            <a:ext cx="402336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79" y="2514600"/>
            <a:ext cx="38404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202A38"/>
                </a:solidFill>
                <a:latin typeface="Times New Roman"/>
              </a:rPr>
              <a:t>failed logon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3291839"/>
            <a:ext cx="1097280" cy="621792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onsolas"/>
              </a:rPr>
              <a:t>4740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89520" y="3291839"/>
            <a:ext cx="402336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26679" y="3291839"/>
            <a:ext cx="38404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202A38"/>
                </a:solidFill>
                <a:latin typeface="Times New Roman"/>
              </a:rPr>
              <a:t>account locked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4069079"/>
            <a:ext cx="1097280" cy="621792"/>
          </a:xfrm>
          <a:prstGeom prst="roundRect">
            <a:avLst>
              <a:gd name="adj" fmla="val 10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onsolas"/>
              </a:rPr>
              <a:t>4720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0" y="4069079"/>
            <a:ext cx="402336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26679" y="4069079"/>
            <a:ext cx="38404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202A38"/>
                </a:solidFill>
                <a:latin typeface="Times New Roman"/>
              </a:rPr>
              <a:t>account created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4846320"/>
            <a:ext cx="1097280" cy="621792"/>
          </a:xfrm>
          <a:prstGeom prst="roundRect">
            <a:avLst>
              <a:gd name="adj" fmla="val 10000"/>
            </a:avLst>
          </a:prstGeom>
          <a:solidFill>
            <a:srgbClr val="546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onsolas"/>
              </a:rPr>
              <a:t>4726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89520" y="4846320"/>
            <a:ext cx="402336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4846320"/>
            <a:ext cx="38404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202A38"/>
                </a:solidFill>
                <a:latin typeface="Times New Roman"/>
              </a:rPr>
              <a:t>account deleted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9260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 i="0">
                <a:solidFill>
                  <a:srgbClr val="8FD9C4"/>
                </a:solidFill>
                <a:latin typeface="Times New Roman"/>
              </a:rPr>
              <a:t>GLOSSARY · TERM EXPLAINED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217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Times New Roman"/>
              </a:rPr>
              <a:t>SID (Security Identifier)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457200"/>
            <a:ext cx="384048" cy="384048"/>
          </a:xfrm>
          <a:prstGeom prst="ellipse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31</a:t>
            </a:r>
          </a:p>
        </p:txBody>
      </p:sp>
      <p:sp>
        <p:nvSpPr>
          <p:cNvPr id="8" name="Rounded Rectangle 7">
            <a:hlinkClick action="ppaction://hlinksldjump" r:id="rId4"/>
          </p:cNvPr>
          <p:cNvSpPr/>
          <p:nvPr/>
        </p:nvSpPr>
        <p:spPr>
          <a:xfrm>
            <a:off x="566928" y="6144768"/>
            <a:ext cx="2926080" cy="502920"/>
          </a:xfrm>
          <a:prstGeom prst="roundRect">
            <a:avLst>
              <a:gd name="adj" fmla="val 50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← Back to lesson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45920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 i="0">
                <a:solidFill>
                  <a:srgbClr val="178A73"/>
                </a:solidFill>
                <a:latin typeface="Times New Roman"/>
              </a:rPr>
              <a:t>In plain terms: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11680"/>
            <a:ext cx="5577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02A38"/>
                </a:solidFill>
                <a:latin typeface="Times New Roman"/>
              </a:rPr>
              <a:t>A SID is the </a:t>
            </a:r>
            <a:r>
              <a:rPr sz="1300" b="1">
                <a:solidFill>
                  <a:srgbClr val="1F3864"/>
                </a:solidFill>
                <a:latin typeface="Times New Roman"/>
              </a:rPr>
              <a:t>unique number</a:t>
            </a:r>
            <a:r>
              <a:rPr sz="1300">
                <a:solidFill>
                  <a:srgbClr val="202A38"/>
                </a:solidFill>
                <a:latin typeface="Times New Roman"/>
              </a:rPr>
              <a:t> Windows gives to every user and group, e.g. </a:t>
            </a:r>
            <a:r>
              <a:rPr sz="1300" b="1">
                <a:solidFill>
                  <a:srgbClr val="178A73"/>
                </a:solidFill>
                <a:latin typeface="Consolas"/>
              </a:rPr>
              <a:t>S-1-5-21-…-1001</a:t>
            </a:r>
            <a:r>
              <a:rPr sz="1300">
                <a:solidFill>
                  <a:srgbClr val="202A38"/>
                </a:solidFill>
                <a:latin typeface="Times New Roman"/>
              </a:rPr>
              <a:t>. Names are only labels for people; permissions and logs use the SID.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931920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 i="0">
                <a:solidFill>
                  <a:srgbClr val="178A73"/>
                </a:solidFill>
                <a:latin typeface="Times New Roman"/>
              </a:rPr>
              <a:t>Why it matters: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297680"/>
            <a:ext cx="55778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02A38"/>
                </a:solidFill>
                <a:latin typeface="Times New Roman"/>
              </a:rPr>
              <a:t>Renaming “Administrator” does not change its SID (it still ends in -500). Deleting and re-creating a user with the same name gives a new SID — the old permissions do not come back.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599068"/>
            <a:ext cx="5212080" cy="1385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599068"/>
            <a:ext cx="5212080" cy="138554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9260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 i="0">
                <a:solidFill>
                  <a:srgbClr val="8FD9C4"/>
                </a:solidFill>
                <a:latin typeface="Times New Roman"/>
              </a:rPr>
              <a:t>GLOSSARY · TERM EXPLAINED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217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Times New Roman"/>
              </a:rPr>
              <a:t>RBAC — role-based access control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457200"/>
            <a:ext cx="384048" cy="384048"/>
          </a:xfrm>
          <a:prstGeom prst="ellipse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32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566928" y="6144768"/>
            <a:ext cx="2926080" cy="502920"/>
          </a:xfrm>
          <a:prstGeom prst="roundRect">
            <a:avLst>
              <a:gd name="adj" fmla="val 50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← Back to lesson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45920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 i="0">
                <a:solidFill>
                  <a:srgbClr val="178A73"/>
                </a:solidFill>
                <a:latin typeface="Times New Roman"/>
              </a:rPr>
              <a:t>In plain terms: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11680"/>
            <a:ext cx="5577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02A38"/>
                </a:solidFill>
                <a:latin typeface="Times New Roman"/>
              </a:rPr>
              <a:t>Rights are given to a </a:t>
            </a:r>
            <a:r>
              <a:rPr sz="1300" b="1">
                <a:solidFill>
                  <a:srgbClr val="1F3864"/>
                </a:solidFill>
                <a:latin typeface="Times New Roman"/>
              </a:rPr>
              <a:t>role (group)</a:t>
            </a:r>
            <a:r>
              <a:rPr sz="1300">
                <a:solidFill>
                  <a:srgbClr val="202A38"/>
                </a:solidFill>
                <a:latin typeface="Times New Roman"/>
              </a:rPr>
              <a:t>, and people are put into roles. To change what a person can do, you move them between groups — you do not edit their rights one by 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931920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 i="0">
                <a:solidFill>
                  <a:srgbClr val="178A73"/>
                </a:solidFill>
                <a:latin typeface="Times New Roman"/>
              </a:rPr>
              <a:t>Why it matters: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297680"/>
            <a:ext cx="55778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02A38"/>
                </a:solidFill>
                <a:latin typeface="Times New Roman"/>
              </a:rPr>
              <a:t>With 500 cadets, managing rights person by person is impossible and error-prone. With groups, one change applies to everyone in the role — and audits become simple.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828800"/>
            <a:ext cx="2560320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828800"/>
            <a:ext cx="23774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Consolas"/>
              </a:rPr>
              <a:t>cadet1, cadet2, cadet3 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6840" y="1828800"/>
            <a:ext cx="3657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1" i="0">
                <a:solidFill>
                  <a:srgbClr val="54647A"/>
                </a:solidFill>
                <a:latin typeface="Times New Roman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72600" y="1828800"/>
            <a:ext cx="2240280" cy="822960"/>
          </a:xfrm>
          <a:prstGeom prst="roundRect">
            <a:avLst>
              <a:gd name="adj" fmla="val 10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Times New Roman"/>
              </a:rPr>
              <a:t>Users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2926080"/>
            <a:ext cx="2560320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926080"/>
            <a:ext cx="23774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Consolas"/>
              </a:rPr>
              <a:t>instructor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2926080"/>
            <a:ext cx="3657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1" i="0">
                <a:solidFill>
                  <a:srgbClr val="54647A"/>
                </a:solidFill>
                <a:latin typeface="Times New Roman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72600" y="2926080"/>
            <a:ext cx="2240280" cy="822960"/>
          </a:xfrm>
          <a:prstGeom prst="roundRect">
            <a:avLst>
              <a:gd name="adj" fmla="val 10000"/>
            </a:avLst>
          </a:prstGeom>
          <a:solidFill>
            <a:srgbClr val="E08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Times New Roman"/>
              </a:rPr>
              <a:t>Users + Remote Desktop Users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4023360"/>
            <a:ext cx="2560320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4023360"/>
            <a:ext cx="23774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Consolas"/>
              </a:rPr>
              <a:t>admin_it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4023360"/>
            <a:ext cx="3657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1" i="0">
                <a:solidFill>
                  <a:srgbClr val="54647A"/>
                </a:solidFill>
                <a:latin typeface="Times New Roman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72600" y="4023360"/>
            <a:ext cx="2240280" cy="822960"/>
          </a:xfrm>
          <a:prstGeom prst="roundRect">
            <a:avLst>
              <a:gd name="adj" fmla="val 1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Times New Roman"/>
              </a:rPr>
              <a:t>Administrators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2363</Words>
  <Application>Microsoft Office PowerPoint</Application>
  <PresentationFormat>Широкоэкранный</PresentationFormat>
  <Paragraphs>351</Paragraphs>
  <Slides>26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26</vt:i4>
      </vt:variant>
    </vt:vector>
  </HeadingPairs>
  <TitlesOfParts>
    <vt:vector size="32" baseType="lpstr">
      <vt:lpstr>Arial</vt:lpstr>
      <vt:lpstr>Calibri</vt:lpstr>
      <vt:lpstr>Cambria Math</vt:lpstr>
      <vt:lpstr>Consolas</vt:lpstr>
      <vt:lpstr>Times New Roman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user</cp:lastModifiedBy>
  <cp:revision>4</cp:revision>
  <dcterms:created xsi:type="dcterms:W3CDTF">2013-01-27T09:14:16Z</dcterms:created>
  <dcterms:modified xsi:type="dcterms:W3CDTF">2026-09-21T17:43:44Z</dcterms:modified>
  <cp:category/>
</cp:coreProperties>
</file>