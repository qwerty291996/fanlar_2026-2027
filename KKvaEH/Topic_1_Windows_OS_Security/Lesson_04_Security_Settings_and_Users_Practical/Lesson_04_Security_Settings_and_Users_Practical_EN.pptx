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slide" Target="slide3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slide" Target="slide30.xml"/><Relationship Id="rId5" Type="http://schemas.openxmlformats.org/officeDocument/2006/relationships/slide" Target="slide3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slide" Target="slide3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slide" Target="slide3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slide" Target="slide3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3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slide" Target="slide3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slide" Target="slide30.xml"/><Relationship Id="rId9" Type="http://schemas.openxmlformats.org/officeDocument/2006/relationships/slide" Target="slide31.xml"/><Relationship Id="rId10" Type="http://schemas.openxmlformats.org/officeDocument/2006/relationships/slide" Target="slide32.xml"/><Relationship Id="rId11" Type="http://schemas.openxmlformats.org/officeDocument/2006/relationships/slide" Target="slide33.xml"/><Relationship Id="rId12" Type="http://schemas.openxmlformats.org/officeDocument/2006/relationships/slide" Target="slide3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slide" Target="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slide" Target="slide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slide" Target="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slide" Target="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slide" Target="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1920240" cy="1947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43484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0" i="1">
                <a:solidFill>
                  <a:srgbClr val="C9D6E8"/>
                </a:solidFill>
                <a:latin typeface="Times New Roman"/>
              </a:rPr>
              <a:t>REPUBLIC OF UZBEKISTAN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0" i="1">
                <a:solidFill>
                  <a:srgbClr val="C9D6E8"/>
                </a:solidFill>
                <a:latin typeface="Times New Roman"/>
              </a:rPr>
              <a:t>MILITARY SECURITY AND DEFENSE UNIVERSITY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0" i="1">
                <a:solidFill>
                  <a:srgbClr val="C9D6E8"/>
                </a:solidFill>
                <a:latin typeface="Times New Roman"/>
              </a:rPr>
              <a:t>Information and Communication Technologies and Military Communications Institute · Cybersecurity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7160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7FD1BD"/>
                </a:solidFill>
                <a:latin typeface="Times New Roman"/>
              </a:rPr>
              <a:t>COURSE: “CYBER FORENSICS AND ETHICAL HACKING”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1168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TOPIC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514600"/>
            <a:ext cx="8138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Times New Roman"/>
              </a:rPr>
              <a:t>WINDOWS 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Times New Roman"/>
              </a:rPr>
              <a:t>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4160520"/>
            <a:ext cx="1280160" cy="4445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343400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 i="0">
                <a:solidFill>
                  <a:srgbClr val="DDE6F2"/>
                </a:solidFill>
                <a:latin typeface="Times New Roman"/>
              </a:rPr>
              <a:t>Lesson 4 · Configuring security settings and user security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 i="0">
                <a:solidFill>
                  <a:srgbClr val="DDE6F2"/>
                </a:solidFill>
                <a:latin typeface="Times New Roman"/>
              </a:rPr>
              <a:t>Practical lesson, 4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8978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C9D6E8"/>
                </a:solidFill>
                <a:latin typeface="Times New Roman"/>
              </a:rPr>
              <a:t>Lecturer: Senior Lecturer of the Cybersecurity Department — Captain M. Isakov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TOPIC 1 · WINDOWS OS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Lesson 4: Security settings and users (practical)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73736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1880006"/>
            <a:ext cx="263348" cy="2633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35608" y="16916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19659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Windows OS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600200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3128" y="173736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ermin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774" y="1880006"/>
            <a:ext cx="263348" cy="2633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84648" y="16916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Lesson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19659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Practical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7" y="1600200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02167" y="173736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4813" y="1880006"/>
            <a:ext cx="263348" cy="2633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33687" y="16916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7" y="19659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4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6517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651760"/>
            <a:ext cx="64008" cy="2514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734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Learning questions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3154679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108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Configuring security settings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401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Microsoft Defender Antivirus, Windows Defender Firewall, Local Security Policy (1.1–1.7)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114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Configuring user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40740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Accounts, groups, password policy, lockout, account audit (2.1–2.5)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651760"/>
            <a:ext cx="5349240" cy="25146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2651760"/>
            <a:ext cx="64008" cy="251460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73405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A8660B"/>
                </a:solidFill>
                <a:latin typeface="Times New Roman"/>
              </a:rPr>
              <a:t>Safety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063240"/>
            <a:ext cx="4983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All actions are performed only in a virtual machine.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Take a snapshot before every major task.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Do the exercises with an ordinary account in the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Administrators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group.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If you are connected via RDP, firewall and user changes may cut off your own connection.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349240"/>
            <a:ext cx="11045952" cy="7772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earch_1F38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5573268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61288" y="5349240"/>
            <a:ext cx="103144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Each task has a place for a screenshot: paste your result into the workbook (handout). Every task ends with a “Conclusion”.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PRACTICAL LESSON ·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Lab plan: 12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Question 1 · Security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A8660B"/>
                </a:solidFill>
                <a:latin typeface="Times New Roman"/>
              </a:rPr>
              <a:t>Question 2 · User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74519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" y="1929384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874519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Preparation: checking the lab 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423160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" y="2478024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423160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Checking Defender status and scanning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423160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15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971800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" y="3026664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2971800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Testing Defender with the EICAR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971800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10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520439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" y="3575303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3520439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Exclusions and Tamper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3520439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10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69079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" y="4123943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4069079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 port-blocking rule (three ways)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4069079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20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617720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" y="4672583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617720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Testing the rule (Test-NetConnection)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4617720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10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66359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" y="5221223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66359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Enabling auditing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5166359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10 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715000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0936" y="5769864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6736" y="5715000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Security Options: a security parameter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8928" y="5715000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10 min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1874519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27648" y="1929384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3448" y="1874519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Creating a restricted user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35640" y="1874519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15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2423160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27648" y="2478024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3448" y="2423160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Checking standard user rights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5640" y="2423160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15 min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2971800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27648" y="3026664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13448" y="2971800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Configuring the password policy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5640" y="2971800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15 min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3520439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327648" y="3575303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3448" y="3520439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Simulating a password-guessing attack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35640" y="3520439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20 min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3640" y="4069079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27648" y="4123943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13448" y="4069079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Auditing user rights and accounts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35640" y="4069079"/>
            <a:ext cx="685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10 min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63640" y="4617720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27648" y="4672583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13448" y="4617720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Restoring the lab to its previous state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63640" y="5166359"/>
            <a:ext cx="53492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327648" y="5221223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Lab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13448" y="5166359"/>
            <a:ext cx="384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Final task and self-assessment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571500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5715000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secpol.msc</a:t>
            </a:r>
            <a:r>
              <a:rPr sz="1250" b="0" i="0">
                <a:solidFill>
                  <a:srgbClr val="FFFFFF"/>
                </a:solidFill>
                <a:latin typeface="Times New Roman"/>
              </a:rPr>
              <a:t> · </a:t>
            </a:r>
            <a:r>
              <a:rPr sz="1200" b="1" i="0">
                <a:solidFill>
                  <a:srgbClr val="FFFFFF"/>
                </a:solidFill>
                <a:latin typeface="Consolas"/>
              </a:rPr>
              <a:t>lusrmgr.msc</a:t>
            </a:r>
            <a:r>
              <a:rPr sz="1250" b="0" i="0">
                <a:solidFill>
                  <a:srgbClr val="FFFFFF"/>
                </a:solidFill>
                <a:latin typeface="Times New Roman"/>
              </a:rPr>
              <a:t> · </a:t>
            </a:r>
            <a:r>
              <a:rPr sz="1200" b="1" i="0">
                <a:solidFill>
                  <a:srgbClr val="FFFFFF"/>
                </a:solidFill>
                <a:latin typeface="Consolas"/>
              </a:rPr>
              <a:t>wf.msc</a:t>
            </a:r>
            <a:r>
              <a:rPr sz="1250" b="0" i="0">
                <a:solidFill>
                  <a:srgbClr val="FFFFFF"/>
                </a:solidFill>
                <a:latin typeface="Times New Roman"/>
              </a:rPr>
              <a:t> · </a:t>
            </a:r>
            <a:r>
              <a:rPr sz="1200" b="1" i="0">
                <a:solidFill>
                  <a:srgbClr val="FFFFFF"/>
                </a:solidFill>
                <a:latin typeface="Consolas"/>
              </a:rPr>
              <a:t>eventvwr.msc</a:t>
            </a:r>
            <a:r>
              <a:rPr sz="1250" b="0" i="0">
                <a:solidFill>
                  <a:srgbClr val="FFFFFF"/>
                </a:solidFill>
                <a:latin typeface="Times New Roman"/>
              </a:rPr>
              <a:t> · PowerShell (Admin)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Checking the laboratory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675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92481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45920"/>
            <a:ext cx="6080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350" b="1" i="0">
                <a:solidFill>
                  <a:srgbClr val="178A73"/>
                </a:solidFill>
                <a:latin typeface="Consolas"/>
              </a:rPr>
              <a:t>Win + R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350" b="1" i="0">
                <a:solidFill>
                  <a:srgbClr val="178A73"/>
                </a:solidFill>
                <a:latin typeface="Consolas"/>
              </a:rPr>
              <a:t>winver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 → check that this is Windows 11 Pro or Enterprise.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1760"/>
            <a:ext cx="6675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93065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51760"/>
            <a:ext cx="6080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In an Administrator PowerShell run </a:t>
            </a:r>
            <a:r>
              <a:rPr sz="1350" b="1" i="0">
                <a:solidFill>
                  <a:srgbClr val="178A73"/>
                </a:solidFill>
                <a:latin typeface="Consolas"/>
              </a:rPr>
              <a:t>whoami /user</a:t>
            </a:r>
            <a:r>
              <a:rPr sz="1400" b="0" i="0">
                <a:solidFill>
                  <a:srgbClr val="202A38"/>
                </a:solidFill>
                <a:latin typeface="Times New Roman"/>
              </a:rPr>
              <a:t> → check the account type (RID 1000+ – an ordinary account).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7600"/>
            <a:ext cx="6675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93649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657600"/>
            <a:ext cx="6080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400" b="0" i="0">
                <a:solidFill>
                  <a:srgbClr val="202A38"/>
                </a:solidFill>
                <a:latin typeface="Times New Roman"/>
              </a:rPr>
              <a:t>In VirtualBox take the snapshot “Lesson-4 start”.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74920"/>
            <a:ext cx="6675120" cy="10972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074920"/>
            <a:ext cx="64008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1572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Screenshot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6309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The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winver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window and the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whoami /user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result — pasted into the workbook.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645920"/>
            <a:ext cx="4114800" cy="1965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645920"/>
            <a:ext cx="64008" cy="19659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59" y="172821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Hotkeys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103120"/>
            <a:ext cx="420624" cy="329184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mbria Math"/>
              </a:rPr>
              <a:t>Win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3" y="2103120"/>
            <a:ext cx="2011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8471" y="2103120"/>
            <a:ext cx="292608" cy="329184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mbria Math"/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103120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Run box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2651760"/>
            <a:ext cx="420624" cy="329184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mbria Math"/>
              </a:rPr>
              <a:t>Win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7303" y="2651760"/>
            <a:ext cx="2011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8471" y="2651760"/>
            <a:ext cx="292608" cy="329184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mbria Math"/>
              </a:rPr>
              <a:t>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651760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lock the screen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3108960"/>
            <a:ext cx="420624" cy="329184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mbria Math"/>
              </a:rPr>
              <a:t>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7303" y="3108960"/>
            <a:ext cx="2011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8471" y="3108960"/>
            <a:ext cx="292608" cy="329184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mbria Math"/>
              </a:rPr>
              <a:t>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108960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Admin terminal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3794760"/>
            <a:ext cx="4114800" cy="2377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79" y="3794760"/>
            <a:ext cx="64008" cy="237744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59" y="387705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A8660B"/>
                </a:solidFill>
                <a:latin typeface="Times New Roman"/>
              </a:rPr>
              <a:t>Today’s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4206240"/>
            <a:ext cx="374903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secpol.msc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— Local Security Policy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lusrmgr.msc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— Local Users and Groups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wf.msc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— Windows Defender Firewall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eventvwr.msc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— Event Viewer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PowerShell ·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net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·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auditpol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200" b="1" i="0">
                <a:solidFill>
                  <a:srgbClr val="7FD1BD"/>
                </a:solidFill>
                <a:latin typeface="Times New Roman"/>
              </a:rP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Configuring security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697480"/>
            <a:ext cx="1280160" cy="4445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1 · WHERE EVERYTHING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Three protection areas — today’s settings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566160" cy="3977639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3566160" cy="73152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1828800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" y="1995220"/>
            <a:ext cx="307240" cy="30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27048" y="1828800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Part 1. Microsoft Defender Antivirus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9748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Protects the computer from malware in real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832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1.1 Status and scanning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1.2 EICAR test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1.3 Exclusions, Tamper Protection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4572000"/>
            <a:ext cx="3291840" cy="86868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645152"/>
            <a:ext cx="301752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Get-MpComputerStatus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Start-MpScan · Get-MpThreat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600200"/>
            <a:ext cx="3566160" cy="3977639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600200"/>
            <a:ext cx="3566160" cy="731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182880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lob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268" y="1995220"/>
            <a:ext cx="307240" cy="307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76088" y="1828800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Part 2. Windows Defender Firewall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69748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Allows or blocks network traffic according to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33832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1.4 Port-block rule (3 ways)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1.5 Testing the rule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4572000"/>
            <a:ext cx="3291840" cy="86868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4645152"/>
            <a:ext cx="301752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wf.msc · netsh advfirewall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New-NetFirewallRule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Test-NetConnection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7" y="1600200"/>
            <a:ext cx="3566160" cy="3977639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7" y="1600200"/>
            <a:ext cx="3566160" cy="73152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7887" y="1828800"/>
            <a:ext cx="640080" cy="64008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ist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4307" y="1995220"/>
            <a:ext cx="307240" cy="3072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25128" y="1828800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Part 3. Local Security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7" y="269748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Password, audit and user-rights settings in one place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7" y="33832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1">
                <a:solidFill>
                  <a:srgbClr val="E08E1D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1.6 Audit policy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1">
                <a:solidFill>
                  <a:srgbClr val="E08E1D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1.7 Security Options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02167" y="4572000"/>
            <a:ext cx="3291840" cy="86868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7" y="4645152"/>
            <a:ext cx="301752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secpol.msc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auditpol /set · /get</a:t>
            </a:r>
          </a:p>
        </p:txBody>
      </p:sp>
      <p:sp>
        <p:nvSpPr>
          <p:cNvPr id="35" name="Rounded Rectangle 34">
            <a:hlinkClick action="ppaction://hlinksldjump" r:id="rId7"/>
          </p:cNvPr>
          <p:cNvSpPr/>
          <p:nvPr/>
        </p:nvSpPr>
        <p:spPr>
          <a:xfrm>
            <a:off x="566928" y="5760720"/>
            <a:ext cx="27980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Consolas"/>
              </a:rPr>
              <a:t>?  Local Security Policy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5715000"/>
            <a:ext cx="8503920" cy="5029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earch_1F38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6976" y="5801868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703320" y="571500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Every task: goal → steps → screenshot → possible results → conclusion.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1 · TASK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1.1 — Checking Defender status and scanning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852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190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5257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In an Administrator PowerShell check the status: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Get-MpComputerStatus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40280"/>
            <a:ext cx="5852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35915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0280"/>
            <a:ext cx="5257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Update the signatures: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Update-MpSignature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880360"/>
            <a:ext cx="5852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99923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880360"/>
            <a:ext cx="5257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Quick scan: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Start-MpScan -ScanType QuickScan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20440"/>
            <a:ext cx="58521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37764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520440"/>
            <a:ext cx="5257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Scan the Downloads folder: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Start-MpScan -ScanType CustomScan -ScanPath "$env:USERPROFILE\Downloads"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1600200"/>
            <a:ext cx="4983480" cy="269748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673352"/>
            <a:ext cx="4709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 i="0">
                <a:solidFill>
                  <a:srgbClr val="7FD1BD"/>
                </a:solidFill>
                <a:latin typeface="Consolas"/>
              </a:rPr>
              <a:t>PowerShell (Admin)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920240"/>
            <a:ext cx="4709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PS&gt; Get-MpComputerStatus | Select-Object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  RealTimeProtectionEnabled,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  AntivirusSignatureLastUpdated,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  IsTamperProtected, AMRunningMode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7FD1BD"/>
                </a:solidFill>
                <a:latin typeface="Consolas"/>
              </a:rPr>
              <a:t># sample output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RealTimeProtectionEnabled     : True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AntivirusSignatureLastUpdated : 03.10.2026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IsTamperProtected             : True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AMRunningMode                 : Normal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4434840"/>
            <a:ext cx="4983480" cy="594360"/>
          </a:xfrm>
          <a:prstGeom prst="roundRect">
            <a:avLst>
              <a:gd name="adj" fmla="val 10000"/>
            </a:avLst>
          </a:prstGeom>
          <a:solidFill>
            <a:srgbClr val="FAE5E2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x-circle_C03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4567428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434840"/>
            <a:ext cx="4251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If you find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RealTimeProtectionEnabled : False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protection is turned off!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074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Scan types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34924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349240"/>
            <a:ext cx="64008" cy="8686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394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Quick scan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6692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places where malware hides most — daily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55848" y="534924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5848" y="5349240"/>
            <a:ext cx="64008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8728" y="5394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Consolas"/>
              </a:rPr>
              <a:t>Full scan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8728" y="56692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the whole disk — weekly deep check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34924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44768" y="5349240"/>
            <a:ext cx="64008" cy="8686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5394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A8660B"/>
                </a:solidFill>
                <a:latin typeface="Consolas"/>
              </a:rPr>
              <a:t>Custom scan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6692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a chosen folder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33687" y="534924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33687" y="5349240"/>
            <a:ext cx="64008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16567" y="5394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Offline scan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16567" y="56692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before Windows loads — rootkits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1 · TASK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1.2 — Testing Defender with the EICAR test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64922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92481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5897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30" b="0" i="0">
                <a:solidFill>
                  <a:srgbClr val="202A38"/>
                </a:solidFill>
                <a:latin typeface="Times New Roman"/>
              </a:rPr>
              <a:t>Temporarily turn off real-time protection: </a:t>
            </a:r>
            <a:r>
              <a:rPr sz="1180" b="1" i="0">
                <a:solidFill>
                  <a:srgbClr val="178A73"/>
                </a:solidFill>
                <a:latin typeface="Consolas"/>
              </a:rPr>
              <a:t>Set-MpPreference -DisableRealtimeMonitoring $true</a:t>
            </a:r>
            <a:r>
              <a:rPr sz="1230" b="0" i="0">
                <a:solidFill>
                  <a:srgbClr val="202A38"/>
                </a:solidFill>
                <a:latin typeface="Times New Roman"/>
              </a:rPr>
              <a:t> (if Tamper Protection is on — do it manually via Windows Security → Manage settings).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42616"/>
            <a:ext cx="6492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852928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42616"/>
            <a:ext cx="5897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30" b="0" i="0">
                <a:solidFill>
                  <a:srgbClr val="202A38"/>
                </a:solidFill>
                <a:latin typeface="Times New Roman"/>
              </a:rPr>
              <a:t>In Notepad type the EICAR string and save it to the Desktop as </a:t>
            </a:r>
            <a:r>
              <a:rPr sz="1180" b="1" i="0">
                <a:solidFill>
                  <a:srgbClr val="178A73"/>
                </a:solidFill>
                <a:latin typeface="Consolas"/>
              </a:rPr>
              <a:t>eicar.com</a:t>
            </a:r>
            <a:r>
              <a:rPr sz="1230" b="0" i="0">
                <a:solidFill>
                  <a:srgbClr val="202A38"/>
                </a:solidFill>
                <a:latin typeface="Times New Roman"/>
              </a:rPr>
              <a:t> (exactly one line).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56432"/>
            <a:ext cx="6492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621024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456432"/>
            <a:ext cx="5897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30" b="0" i="0">
                <a:solidFill>
                  <a:srgbClr val="202A38"/>
                </a:solidFill>
                <a:latin typeface="Times New Roman"/>
              </a:rPr>
              <a:t>Turn real-time protection back on: </a:t>
            </a:r>
            <a:r>
              <a:rPr sz="1180" b="1" i="0">
                <a:solidFill>
                  <a:srgbClr val="178A73"/>
                </a:solidFill>
                <a:latin typeface="Consolas"/>
              </a:rPr>
              <a:t>Set-MpPreference -DisableRealtimeMonitoring $false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78808"/>
            <a:ext cx="6492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4389120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178808"/>
            <a:ext cx="5897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30" b="0" i="0">
                <a:solidFill>
                  <a:srgbClr val="202A38"/>
                </a:solidFill>
                <a:latin typeface="Times New Roman"/>
              </a:rPr>
              <a:t>Defender detects the file and quarantines it: Windows Security → Protection history → “Threat found”.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92624"/>
            <a:ext cx="6492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515721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92624"/>
            <a:ext cx="5897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30" b="0" i="0">
                <a:solidFill>
                  <a:srgbClr val="202A38"/>
                </a:solidFill>
                <a:latin typeface="Times New Roman"/>
              </a:rPr>
              <a:t>View the threat: </a:t>
            </a:r>
            <a:r>
              <a:rPr sz="1180" b="1" i="0">
                <a:solidFill>
                  <a:srgbClr val="178A73"/>
                </a:solidFill>
                <a:latin typeface="Consolas"/>
              </a:rPr>
              <a:t>Get-MpThreat</a:t>
            </a:r>
            <a:r>
              <a:rPr sz="1230" b="0" i="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80" b="1" i="0">
                <a:solidFill>
                  <a:srgbClr val="178A73"/>
                </a:solidFill>
                <a:latin typeface="Consolas"/>
              </a:rPr>
              <a:t>Virus:DOS/EICAR_Test_File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600200"/>
            <a:ext cx="4297680" cy="1234440"/>
          </a:xfrm>
          <a:prstGeom prst="roundRect">
            <a:avLst>
              <a:gd name="adj" fmla="val 10000"/>
            </a:avLst>
          </a:prstGeom>
          <a:solidFill>
            <a:srgbClr val="FDF3E1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arning_E08E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052828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09560" y="1600200"/>
            <a:ext cx="35661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EICAR is a test string created by antivirus organizations. It contains no malicious code, but all antiviruses recognize it as a “virus”. Do this only in a virtual machine!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017520"/>
            <a:ext cx="4297680" cy="141732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3090672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 i="0">
                <a:solidFill>
                  <a:srgbClr val="7FD1BD"/>
                </a:solidFill>
                <a:latin typeface="Consolas"/>
              </a:rPr>
              <a:t>EICAR string (one line)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33756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>
                <a:solidFill>
                  <a:srgbClr val="7FD1BD"/>
                </a:solidFill>
                <a:latin typeface="Consolas"/>
              </a:rPr>
              <a:t># eicar.com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>
                <a:solidFill>
                  <a:srgbClr val="E6EDF5"/>
                </a:solidFill>
                <a:latin typeface="Consolas"/>
              </a:rPr>
              <a:t>X5O!P%@AP[4\PZX54(P^)7CC)7}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>
                <a:solidFill>
                  <a:srgbClr val="E6EDF5"/>
                </a:solidFill>
                <a:latin typeface="Consolas"/>
              </a:rPr>
              <a:t>$EICAR-STANDARD-ANTIVIRUS-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>
                <a:solidFill>
                  <a:srgbClr val="E6EDF5"/>
                </a:solidFill>
                <a:latin typeface="Consolas"/>
              </a:rPr>
              <a:t>TEST-FILE!$H+H*</a:t>
            </a:r>
          </a:p>
        </p:txBody>
      </p:sp>
      <p:sp>
        <p:nvSpPr>
          <p:cNvPr id="29" name="Rounded Rectangle 28">
            <a:hlinkClick action="ppaction://hlinksldjump" r:id="rId4"/>
          </p:cNvPr>
          <p:cNvSpPr/>
          <p:nvPr/>
        </p:nvSpPr>
        <p:spPr>
          <a:xfrm>
            <a:off x="7315200" y="46177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Consolas"/>
              </a:rPr>
              <a:t>?  EICAR</a:t>
            </a:r>
          </a:p>
        </p:txBody>
      </p:sp>
      <p:sp>
        <p:nvSpPr>
          <p:cNvPr id="30" name="Rounded Rectangle 29">
            <a:hlinkClick action="ppaction://hlinksldjump" r:id="rId5"/>
          </p:cNvPr>
          <p:cNvSpPr/>
          <p:nvPr/>
        </p:nvSpPr>
        <p:spPr>
          <a:xfrm>
            <a:off x="8641080" y="461772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Consolas"/>
              </a:rPr>
              <a:t>?  Tamper Protection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760720"/>
            <a:ext cx="11045952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760720"/>
            <a:ext cx="64008" cy="5029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76072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Screenshot 1.2: Protection history — the EICAR threat is detected.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1 · TASK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The EICAR test: what happens and how to read the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eicar.com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saved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41448" y="1984248"/>
            <a:ext cx="320040" cy="237744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8" y="1645920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Real-time protection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turned 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81728" y="1984248"/>
            <a:ext cx="320040" cy="237744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7488" y="1645920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Defender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detects (~1 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22008" y="1984248"/>
            <a:ext cx="320040" cy="237744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87768" y="1645920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Moved to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quarantine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62288" y="1984248"/>
            <a:ext cx="320040" cy="237744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28048" y="1645920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Protection history: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“Threat found”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43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All possible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10896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4612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52728" y="320040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The file vanished at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84048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 Protection history entry appeared — protection works.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10896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59" y="3246120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01768" y="320040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The file remained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84048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Real-time protection is still off, or the folder is excluded.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7" y="310896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AE5E2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ck_C039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599" y="324612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750807" y="320040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Consolas"/>
              </a:rPr>
              <a:t>Set-MpPreference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 “access denied”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7" y="384048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Tamper Protection is on — this is normal protection.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937760"/>
            <a:ext cx="11045952" cy="12801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937760"/>
            <a:ext cx="64008" cy="128016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020056"/>
            <a:ext cx="10771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Conclusion — Task 1.2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035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Meaning: Defender detected the EICAR file in a second and quarantined it — proof that real-time protection works. Protection history is a log of all detected threats.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Where needed: in forensic analysis, Protection history shows when and which file was detected.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1 · TASK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1.3 — Exclusions and Tamper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7607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87909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5166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View current exclusions: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Get-MpPreference | Select-Object -ExpandProperty ExclusionPath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empty on a clean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78608"/>
            <a:ext cx="5760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880360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578608"/>
            <a:ext cx="5166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Tamper Protection status: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(Get-MpComputerStatus).IsTamperProtected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→ if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True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malware cannot disable the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02736"/>
            <a:ext cx="57607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881628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602736"/>
            <a:ext cx="5166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Open Windows Security → Virus &amp; threat protection → Ransomware protection → Controlled folder access.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Why an exclusion is dangerous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920240"/>
            <a:ext cx="1463040" cy="82296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C:\Tools\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(excluded)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092440" y="2194560"/>
            <a:ext cx="365760" cy="27432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1920240"/>
            <a:ext cx="1463040" cy="82296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malicious file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in that folder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012680" y="2194560"/>
            <a:ext cx="365760" cy="27432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24160" y="1920240"/>
            <a:ext cx="1188720" cy="82296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Defender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does not see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926080"/>
            <a:ext cx="5029200" cy="1051560"/>
          </a:xfrm>
          <a:prstGeom prst="roundRect">
            <a:avLst>
              <a:gd name="adj" fmla="val 10000"/>
            </a:avLst>
          </a:prstGeom>
          <a:solidFill>
            <a:srgbClr val="FAE5E2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x-circle_C03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3287268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78040" y="2926080"/>
            <a:ext cx="42976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An unexpected exclusion (the whole disk or a user folder) is a sign that protection was deliberately weakened.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6052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4160520"/>
            <a:ext cx="64008" cy="91440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24281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Tamper Protection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49884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Prevents malware from changing Defender settings.</a:t>
            </a:r>
          </a:p>
        </p:txBody>
      </p:sp>
      <p:sp>
        <p:nvSpPr>
          <p:cNvPr id="30" name="Rounded Rectangle 29">
            <a:hlinkClick action="ppaction://hlinksldjump" r:id="rId4"/>
          </p:cNvPr>
          <p:cNvSpPr/>
          <p:nvPr/>
        </p:nvSpPr>
        <p:spPr>
          <a:xfrm>
            <a:off x="6583680" y="5257800"/>
            <a:ext cx="159105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Consolas"/>
              </a:rPr>
              <a:t>?  Exclusion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754880"/>
            <a:ext cx="5760720" cy="14630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754880"/>
            <a:ext cx="64008" cy="146304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8371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Conclusion — Task 1.3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120640"/>
            <a:ext cx="5440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An exclusion is a folder/file Defender does not scan: sometimes necessary but risky. In a forensic investigation the exclusion list is always reviewed.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1 · TASK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1.4 — Blocking port 4444: three 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Port 4444 is often used in penetration tests (e.g., Metasploit) — that is why blocking it was chosen as the example.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64008" cy="365760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0253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a) GUI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Win + R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wf.msc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(or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control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→ Windows Defender Firewall → Advanced settings).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Inbound Rules → New Rule…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Rule Type: Port → Protocol: TCP, Specific local ports: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4444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Action: Block the connection → profiles → name “Block TCP 4444” → Finish.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20240"/>
            <a:ext cx="3611880" cy="365760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93392"/>
            <a:ext cx="3337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 i="0">
                <a:solidFill>
                  <a:srgbClr val="7FD1BD"/>
                </a:solidFill>
                <a:latin typeface="Consolas"/>
              </a:rPr>
              <a:t>b) netsh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333756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onsolas"/>
              </a:rPr>
              <a:t>&gt; netsh advfirewall firewall add rule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6EDF5"/>
                </a:solidFill>
                <a:latin typeface="Consolas"/>
              </a:rPr>
              <a:t>    name="Block 4444"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6EDF5"/>
                </a:solidFill>
                <a:latin typeface="Consolas"/>
              </a:rPr>
              <a:t>    dir=in action=block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6EDF5"/>
                </a:solidFill>
                <a:latin typeface="Consolas"/>
              </a:rPr>
              <a:t>    protocol=TCP localport=4444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920240"/>
            <a:ext cx="3429000" cy="365760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993392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 i="0">
                <a:solidFill>
                  <a:srgbClr val="7FD1BD"/>
                </a:solidFill>
                <a:latin typeface="Consolas"/>
              </a:rPr>
              <a:t>c) PowerShell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240280"/>
            <a:ext cx="31546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onsolas"/>
              </a:rPr>
              <a:t>PS&gt; New-NetFirewallRule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6EDF5"/>
                </a:solidFill>
                <a:latin typeface="Consolas"/>
              </a:rPr>
              <a:t>    -DisplayName "Block 4444"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6EDF5"/>
                </a:solidFill>
                <a:latin typeface="Consolas"/>
              </a:rPr>
              <a:t>    -Direction Inbound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6EDF5"/>
                </a:solidFill>
                <a:latin typeface="Consolas"/>
              </a:rPr>
              <a:t>    -LocalPort 4444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6EDF5"/>
                </a:solidFill>
                <a:latin typeface="Consolas"/>
              </a:rPr>
              <a:t>    -Protocol TCP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6EDF5"/>
                </a:solidFill>
                <a:latin typeface="Consolas"/>
              </a:rPr>
              <a:t>    -Action Block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715000"/>
            <a:ext cx="11045952" cy="54864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824728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61288" y="5715000"/>
            <a:ext cx="10314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Conclusion: the GUI suits a single computer;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netsh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and PowerShell suit fast, centralized setup of many computers. Screenshot 1.4: “Block 4444” in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wf.msc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1 · TASK 1.5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1.5 — Testing the rule: Test-NetConnection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852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190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5257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In window 1 listen on port 4444: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40280"/>
            <a:ext cx="58521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47345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0280"/>
            <a:ext cx="5257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In window 2 test the connection: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Test-NetConnection -ComputerName localhost -Port 4444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58521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45643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108960"/>
            <a:ext cx="5257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Rule on: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TcpTestSucceeded : False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. Remove the rule: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Remove-NetFirewallRule -DisplayName "Block 4444"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→ test again: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True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80560"/>
            <a:ext cx="5852160" cy="77724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553712"/>
            <a:ext cx="5577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 i="0">
                <a:solidFill>
                  <a:srgbClr val="7FD1BD"/>
                </a:solidFill>
                <a:latin typeface="Consolas"/>
              </a:rPr>
              <a:t>Window 1 (listener)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80060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PS&gt; $L = [System.Net.Sockets.TcpListener]4444; $L.Start()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5544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Reading the results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675120" y="1874519"/>
          <a:ext cx="4937760" cy="22677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28346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TcpTestSucceeded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False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port closed or blocked by the firewall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True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port open, connection succeeds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False*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no listener started — start the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TcpListener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first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675120" y="4480560"/>
            <a:ext cx="1371600" cy="73152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Rule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092440" y="4709160"/>
            <a:ext cx="320040" cy="27432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58200" y="4480560"/>
            <a:ext cx="1280160" cy="73152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False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440680"/>
            <a:ext cx="11045952" cy="73152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641848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61288" y="5440680"/>
            <a:ext cx="103144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Conclusion: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Test-NetConnection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is the simplest way to test a firewall rule or a network connection; it is also used in network troubleshooting. For outbound traffic use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-Direction Outbound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1 ·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Local Security Policy: how policies are applied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Windows password, audit and user-rights settings are gathered in the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secpol.msc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console. In a domain, policies apply in LSDOU order — the last one wins.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86000"/>
            <a:ext cx="2011680" cy="100584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L</a:t>
            </a:r>
          </a:p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Times New Roman"/>
              </a:rPr>
              <a:t>Local · local setting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26079" y="2651760"/>
            <a:ext cx="548640" cy="27432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79" y="2286000"/>
            <a:ext cx="2011680" cy="100584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S</a:t>
            </a:r>
          </a:p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Times New Roman"/>
              </a:rPr>
              <a:t>Site · site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15000" y="2651760"/>
            <a:ext cx="548640" cy="27432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2011680" cy="100584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D</a:t>
            </a:r>
          </a:p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Times New Roman"/>
              </a:rPr>
              <a:t>Domain · domain GPO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03920" y="2651760"/>
            <a:ext cx="548640" cy="27432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89719" y="2286000"/>
            <a:ext cx="2011680" cy="100584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OU</a:t>
            </a:r>
          </a:p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Times New Roman"/>
              </a:rPr>
              <a:t>OU · organizational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3832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→ the last applied policy takes precedence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94760"/>
            <a:ext cx="3566160" cy="11887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794760"/>
            <a:ext cx="64008" cy="11887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8770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Account Policies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20624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password policy · account lockout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794760"/>
            <a:ext cx="3566160" cy="11887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3794760"/>
            <a:ext cx="64008" cy="118872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38770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A8660B"/>
                </a:solidFill>
                <a:latin typeface="Times New Roman"/>
              </a:rPr>
              <a:t>Local Policies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420624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Audit Policy · User Rights Assignment · Security Options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7" y="3794760"/>
            <a:ext cx="3566160" cy="11887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5007" y="3794760"/>
            <a:ext cx="64008" cy="1188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7" y="38770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Windows Defender Firewall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420624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inbound/outbound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21208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FDF3E1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warning_E08E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481828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61288" y="5212080"/>
            <a:ext cx="8412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Therefore on a domain computer a local setting may be overridden by a domain GPO.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9966960" y="5468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Consolas"/>
              </a:rPr>
              <a:t>?  LSDOU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1 · TASK 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1.6 — Enabling auditing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90195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5074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1" i="0">
                <a:solidFill>
                  <a:srgbClr val="178A73"/>
                </a:solidFill>
                <a:latin typeface="Consolas"/>
              </a:rPr>
              <a:t>secpol.msc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→ Local Policies → Audit Policy → “Audit logon events” → tick Success and Failure.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24328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857500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24328"/>
            <a:ext cx="5074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Or on the command line (more precise, per subcategory) — the commands on the right.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00200"/>
            <a:ext cx="5120640" cy="219456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673352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 i="0">
                <a:solidFill>
                  <a:srgbClr val="7FD1BD"/>
                </a:solidFill>
                <a:latin typeface="Consolas"/>
              </a:rPr>
              <a:t>cmd (Admin)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920240"/>
            <a:ext cx="484632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&gt; auditpol /set /subcategory:"Logon"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    /success:enable /failure:enable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&gt; auditpol /set /subcategory:"Account Lockout"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    /failure:enable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&gt; auditpol /get /category:"Logon/Logoff"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11880"/>
            <a:ext cx="2834640" cy="15544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611880"/>
            <a:ext cx="64008" cy="15544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69417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178A73"/>
                </a:solidFill>
                <a:latin typeface="Times New Roman"/>
              </a:rPr>
              <a:t>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023360"/>
            <a:ext cx="2514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successful events are logged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38728" y="3611880"/>
            <a:ext cx="2834640" cy="15544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38728" y="3611880"/>
            <a:ext cx="64008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1608" y="369417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C0392B"/>
                </a:solidFill>
                <a:latin typeface="Times New Roman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9896" y="4023360"/>
            <a:ext cx="2514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failed attempts are logged — especially important for detecting attacks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977639"/>
            <a:ext cx="5120640" cy="11887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4407407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86600" y="3977639"/>
            <a:ext cx="4389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This audit will be needed in the password-guessing simulation in Question 2 (Task 2.4).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394960"/>
            <a:ext cx="11045952" cy="77724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618988"/>
            <a:ext cx="329184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61288" y="5394960"/>
            <a:ext cx="103144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Conclusion: auditing writes the events occurring in the system to the Security log. Screenshot 1.6: the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auditpol /get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result — auditing enabled.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1 · TASK 1.7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1.7 — Security Options: hiding the last signed-in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8521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4193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5257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1" i="0">
                <a:solidFill>
                  <a:srgbClr val="178A73"/>
                </a:solidFill>
                <a:latin typeface="Consolas"/>
              </a:rPr>
              <a:t>secpol.msc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→ Local Policies → Security Options.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86000"/>
            <a:ext cx="58521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5191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86000"/>
            <a:ext cx="5257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Find “Interactive logon: Don’t display last signed-in” and set it to Enabled.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54680"/>
            <a:ext cx="58521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4335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154680"/>
            <a:ext cx="5257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Lock the computer (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Win + L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) — the last user name must not appear on the sign-in screen.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600200"/>
            <a:ext cx="2331720" cy="2240280"/>
          </a:xfrm>
          <a:prstGeom prst="roundRect">
            <a:avLst>
              <a:gd name="adj" fmla="val 5000"/>
            </a:avLst>
          </a:prstGeom>
          <a:solidFill>
            <a:srgbClr val="255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79" y="1737360"/>
            <a:ext cx="685800" cy="685800"/>
          </a:xfrm>
          <a:prstGeom prst="ellipse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48716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Student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2834640"/>
            <a:ext cx="1874519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28346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54647A"/>
                </a:solidFill>
                <a:latin typeface="Times New Roman"/>
              </a:rPr>
              <a:t>Password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886200"/>
            <a:ext cx="2331720" cy="347472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886200"/>
            <a:ext cx="2331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Before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1600200"/>
            <a:ext cx="2331720" cy="2240280"/>
          </a:xfrm>
          <a:prstGeom prst="roundRect">
            <a:avLst>
              <a:gd name="adj" fmla="val 5000"/>
            </a:avLst>
          </a:prstGeom>
          <a:solidFill>
            <a:srgbClr val="255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737360"/>
            <a:ext cx="685800" cy="685800"/>
          </a:xfrm>
          <a:prstGeom prst="ellipse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48716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Other user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2834640"/>
            <a:ext cx="1874519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28346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54647A"/>
                </a:solidFill>
                <a:latin typeface="Times New Roman"/>
              </a:rPr>
              <a:t>User name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3200400"/>
            <a:ext cx="1874519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2328" y="320040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54647A"/>
                </a:solidFill>
                <a:latin typeface="Times New Roman"/>
              </a:rPr>
              <a:t>Password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3886200"/>
            <a:ext cx="2331720" cy="347472"/>
          </a:xfrm>
          <a:prstGeom prst="roundRect">
            <a:avLst>
              <a:gd name="adj" fmla="val 3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3886200"/>
            <a:ext cx="2331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After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434840"/>
            <a:ext cx="585216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434840"/>
            <a:ext cx="64008" cy="17830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517136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A8660B"/>
                </a:solidFill>
                <a:latin typeface="Times New Roman"/>
              </a:rPr>
              <a:t>Other useful Security Options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828032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8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130" b="1" i="0">
                <a:solidFill>
                  <a:srgbClr val="178A73"/>
                </a:solidFill>
                <a:latin typeface="Consolas"/>
              </a:rPr>
              <a:t>Accounts: Rename administrator account</a:t>
            </a:r>
            <a:r>
              <a:rPr sz="1180" b="0" i="0">
                <a:solidFill>
                  <a:srgbClr val="202A38"/>
                </a:solidFill>
                <a:latin typeface="Times New Roman"/>
              </a:rPr>
              <a:t> — change the default name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8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130" b="1" i="0">
                <a:solidFill>
                  <a:srgbClr val="178A73"/>
                </a:solidFill>
                <a:latin typeface="Consolas"/>
              </a:rPr>
              <a:t>Accounts: Guest account status</a:t>
            </a:r>
            <a:r>
              <a:rPr sz="1180" b="0" i="0">
                <a:solidFill>
                  <a:srgbClr val="202A38"/>
                </a:solidFill>
                <a:latin typeface="Times New Roman"/>
              </a:rPr>
              <a:t> — disable the guest account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8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130" b="1" i="0">
                <a:solidFill>
                  <a:srgbClr val="178A73"/>
                </a:solidFill>
                <a:latin typeface="Consolas"/>
              </a:rPr>
              <a:t>Interactive logon: Machine inactivity limit</a:t>
            </a:r>
            <a:r>
              <a:rPr sz="1180" b="0" i="0">
                <a:solidFill>
                  <a:srgbClr val="202A38"/>
                </a:solidFill>
                <a:latin typeface="Times New Roman"/>
              </a:rPr>
              <a:t> — auto-lock on inactivity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4434840"/>
            <a:ext cx="4937760" cy="178308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5161788"/>
            <a:ext cx="329184" cy="3291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69480" y="4434840"/>
            <a:ext cx="420624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Conclusion: an outsider must now guess not only the password but also the login name. This is a simple but effective hardening measure.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200" b="1" i="0">
                <a:solidFill>
                  <a:srgbClr val="7FD1BD"/>
                </a:solidFill>
                <a:latin typeface="Times New Roman"/>
              </a:rP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Configuring user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697480"/>
            <a:ext cx="1280160" cy="4445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2 ·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Accounts, groups and SIDs — what we manage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A separate account is created for every person, and rights are granted through groups (role-based access control).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Table 1. The main Windows groups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423160"/>
          <a:ext cx="6035040" cy="27797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2377440"/>
                <a:gridCol w="2194560"/>
              </a:tblGrid>
              <a:tr h="69494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Group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Rights level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Recommendation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Administrators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Full — can change all settings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Only for those performing admin duties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Standard — cannot install software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For everyday working accounts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Guests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Very restricted, temporary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Keep disabled whenever possible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0" y="21031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SID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423160"/>
            <a:ext cx="1143000" cy="59436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S-1-5-21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423160"/>
            <a:ext cx="1920240" cy="59436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…computer ID…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2423160"/>
            <a:ext cx="1371600" cy="59436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200400"/>
            <a:ext cx="15087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24612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 i="0">
                <a:solidFill>
                  <a:srgbClr val="C0392B"/>
                </a:solidFill>
                <a:latin typeface="Consolas"/>
              </a:rPr>
              <a:t>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70332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built-in Administrator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3200400"/>
            <a:ext cx="15087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24612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 i="0">
                <a:solidFill>
                  <a:srgbClr val="1F3864"/>
                </a:solidFill>
                <a:latin typeface="Consolas"/>
              </a:rPr>
              <a:t>501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0332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Guest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3200400"/>
            <a:ext cx="1508760" cy="10515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324612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 i="0">
                <a:solidFill>
                  <a:srgbClr val="178A73"/>
                </a:solidFill>
                <a:latin typeface="Consolas"/>
              </a:rPr>
              <a:t>1000+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370332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created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38912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The number at the end of the SID (RID) tells the account type. Every account’s SID is unique.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6858000" y="5120640"/>
            <a:ext cx="159105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Consolas"/>
              </a:rPr>
              <a:t>?  SID / RID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440680"/>
            <a:ext cx="6035040" cy="77724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664708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61288" y="5440680"/>
            <a:ext cx="5303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Rule: daily work — in a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Users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account; the admin account only when necessary.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2 · TASK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2.1 — Creating a restricted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943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87909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5349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GUI: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Win + R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lusrmgr.msc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→ right-click Users → New User → name (“Student”), password → Create.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59436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72491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560320"/>
            <a:ext cx="5349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Or via the command line (as administrator) — the commands on the right.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91840"/>
            <a:ext cx="59436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4335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291840"/>
            <a:ext cx="5349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Sign in with the new account (Sign out → Student).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77640"/>
            <a:ext cx="5943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425653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977640"/>
            <a:ext cx="5349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Try to install a program or change a system setting — a Credential prompt (admin login + password) appears.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60020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1673352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 i="0">
                <a:solidFill>
                  <a:srgbClr val="7FD1BD"/>
                </a:solidFill>
                <a:latin typeface="Consolas"/>
              </a:rPr>
              <a:t>cmd (Admin)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920240"/>
            <a:ext cx="4572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onsolas"/>
              </a:rPr>
              <a:t>&gt; net user Student Password@2026 /add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onsolas"/>
              </a:rPr>
              <a:t>&gt; net localgroup Users Student /add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onsolas"/>
              </a:rPr>
              <a:t>&gt; net user Student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56616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In the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net user Student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output: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Local Group Memberships : *Users</a:t>
            </a:r>
          </a:p>
        </p:txBody>
      </p:sp>
      <p:sp>
        <p:nvSpPr>
          <p:cNvPr id="24" name="Rounded Rectangle 23">
            <a:hlinkClick action="ppaction://hlinksldjump" r:id="rId3"/>
          </p:cNvPr>
          <p:cNvSpPr/>
          <p:nvPr/>
        </p:nvSpPr>
        <p:spPr>
          <a:xfrm>
            <a:off x="6766560" y="4160520"/>
            <a:ext cx="159105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Consolas"/>
              </a:rPr>
              <a:t>?  SID / RID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029200"/>
            <a:ext cx="11045952" cy="11887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5029200"/>
            <a:ext cx="64008" cy="11887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111496"/>
            <a:ext cx="10771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Conclusion — Task 2.1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Any program running under the Student account (even a malicious one) cannot change the system on its own — the admin password is requested. This is the “least privilege” principle. Screenshot 2.1: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net user Student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*Users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2 · TASK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2.2 — Checking standard user rights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Sign in as Student and run the following in an ordinary PowerShell: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11045950" cy="3017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34281"/>
                <a:gridCol w="5154777"/>
                <a:gridCol w="165689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Command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whoami /user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the account SID (RID 1000+)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whoami /groups | findstr /i "BUILTIN"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BUILTIN\Users</a:t>
                      </a:r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 present, </a:t>
                      </a:r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BUILTIN\Administrators</a:t>
                      </a:r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 absent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net user Test Password@2026 /add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Access is denied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New-Item C:\Windows\System32\test.txt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Access is denied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Creating a file in Documents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created without problems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12064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504688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1288" y="5120640"/>
            <a:ext cx="47548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 standard account can work only with its own files: it cannot change other accounts, system folders or security settings.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12064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5504688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0" y="5120640"/>
            <a:ext cx="4617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Even if an attacker obtains this account’s password, they cannot fully control the system — they would need additional privilege escalation.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2 · TASK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2.3 — Configuring the password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63093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85623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5715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70" b="1" i="0">
                <a:solidFill>
                  <a:srgbClr val="178A73"/>
                </a:solidFill>
                <a:latin typeface="Consolas"/>
              </a:rPr>
              <a:t>secpol.msc</a:t>
            </a:r>
            <a:r>
              <a:rPr sz="1220" b="0" i="0">
                <a:solidFill>
                  <a:srgbClr val="202A38"/>
                </a:solidFill>
                <a:latin typeface="Times New Roman"/>
              </a:rPr>
              <a:t> → Account Policies → Password Policy → “Minimum password length” = </a:t>
            </a:r>
            <a:r>
              <a:rPr sz="1170" b="1" i="0">
                <a:solidFill>
                  <a:srgbClr val="178A73"/>
                </a:solidFill>
                <a:latin typeface="Consolas"/>
              </a:rPr>
              <a:t>10</a:t>
            </a:r>
            <a:r>
              <a:rPr sz="1220" b="0" i="0">
                <a:solidFill>
                  <a:srgbClr val="202A38"/>
                </a:solidFill>
                <a:latin typeface="Times New Roman"/>
              </a:rPr>
              <a:t>; “Password must meet complexity requirements” = Enabled.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96312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569464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496312"/>
            <a:ext cx="5715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View the current policy: </a:t>
            </a:r>
            <a:r>
              <a:rPr sz="1170" b="1" i="0">
                <a:solidFill>
                  <a:srgbClr val="178A73"/>
                </a:solidFill>
                <a:latin typeface="Consolas"/>
              </a:rPr>
              <a:t>net accounts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26664"/>
            <a:ext cx="63093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21411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026664"/>
            <a:ext cx="5715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Try creating an account with a non-compliant (short) password: </a:t>
            </a:r>
            <a:r>
              <a:rPr sz="1170" b="1" i="0">
                <a:solidFill>
                  <a:srgbClr val="178A73"/>
                </a:solidFill>
                <a:latin typeface="Consolas"/>
              </a:rPr>
              <a:t>net user Trial 12345 /add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85616"/>
            <a:ext cx="63093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3927348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85616"/>
            <a:ext cx="5715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Result: “The password does not meet the password policy requirements…” — the policy works.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3128"/>
            <a:ext cx="63093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4663440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453128"/>
            <a:ext cx="5715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Create with a compliant password and delete: </a:t>
            </a:r>
            <a:r>
              <a:rPr sz="1170" b="1" i="0">
                <a:solidFill>
                  <a:srgbClr val="178A73"/>
                </a:solidFill>
                <a:latin typeface="Consolas"/>
              </a:rPr>
              <a:t>net user Trial Secure@2026 /add</a:t>
            </a:r>
            <a:r>
              <a:rPr sz="1220" b="0" i="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170" b="1" i="0">
                <a:solidFill>
                  <a:srgbClr val="178A73"/>
                </a:solidFill>
                <a:latin typeface="Consolas"/>
              </a:rPr>
              <a:t>net user Trial /delete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600200"/>
            <a:ext cx="4480560" cy="2286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1600200"/>
            <a:ext cx="64008" cy="228600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68249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Complexity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1993392"/>
            <a:ext cx="41605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At least 3 of 4 types (uppercase, lowercase, digit, special character).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No 3+ consecutive characters of the user name.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4023360"/>
            <a:ext cx="2194560" cy="54864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password123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6177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Times New Roman"/>
              </a:rPr>
              <a:t>✗ rejected (2 types)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4023360"/>
            <a:ext cx="2194560" cy="54864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Shield#2026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6177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178A73"/>
                </a:solidFill>
                <a:latin typeface="Times New Roman"/>
              </a:rPr>
              <a:t>✓ accepted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486400"/>
            <a:ext cx="11045952" cy="73152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687568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61288" y="5486400"/>
            <a:ext cx="103144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Conclusion: the password policy prevents weak passwords and makes brute-force attacks harder.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secpol.msc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(GUI) and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net accounts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show the same policy.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2 · TASK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2.4 — Simulating a password-guessing attack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65836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8333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5989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50" b="1" i="0">
                <a:solidFill>
                  <a:srgbClr val="178A73"/>
                </a:solidFill>
                <a:latin typeface="Consolas"/>
              </a:rPr>
              <a:t>secpol.msc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→ Account Policies → Account Lockout Policy → “Account lockout threshold” =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3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(accept the two other values Windows suggests).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87168"/>
            <a:ext cx="65836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697480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487168"/>
            <a:ext cx="5989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In an Administrator cmd, deliberately enter a wrong password for Student 3 times: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runas /user:Student cmd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82696"/>
            <a:ext cx="65836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282696"/>
            <a:ext cx="5989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The fourth time with the correct password: “The referenced account is currently locked out…” — the account is locked.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8224"/>
            <a:ext cx="65836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417423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078224"/>
            <a:ext cx="5989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Check the status: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net user Student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— “Locked” in the Account active 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45152"/>
            <a:ext cx="65836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4741164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645152"/>
            <a:ext cx="5989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Find the attack traces in the Security log (command on the right).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212080"/>
            <a:ext cx="65836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" y="53766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5212080"/>
            <a:ext cx="5989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Unlock: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lusrmgr.msc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→ Student → Properties → clear “Account is locked out”.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1554480"/>
            <a:ext cx="4206240" cy="118872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1627632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 i="0">
                <a:solidFill>
                  <a:srgbClr val="7FD1BD"/>
                </a:solidFill>
                <a:latin typeface="Consolas"/>
              </a:rPr>
              <a:t>simulating the attack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1874520"/>
            <a:ext cx="3931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onsolas"/>
              </a:rPr>
              <a:t>&gt; runas /user:Student cmd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2880360"/>
            <a:ext cx="4206240" cy="146304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2953512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 i="0">
                <a:solidFill>
                  <a:srgbClr val="7FD1BD"/>
                </a:solidFill>
                <a:latin typeface="Consolas"/>
              </a:rPr>
              <a:t>searching the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200400"/>
            <a:ext cx="39319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PS&gt; Get-WinEvent -FilterHashtable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  @{LogName='Security';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    Id=4625,4740} -MaxEvents 10 |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>
                <a:solidFill>
                  <a:srgbClr val="E6EDF5"/>
                </a:solidFill>
                <a:latin typeface="Consolas"/>
              </a:rPr>
              <a:t>  Format-Table TimeCreated,Id,Message -Wrap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7406640" y="4526280"/>
            <a:ext cx="17922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Consolas"/>
              </a:rPr>
              <a:t>?  Brute-force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507492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5458968"/>
            <a:ext cx="329184" cy="3291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001000" y="5074920"/>
            <a:ext cx="3474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Screenshot 2.4: the account is locked out (1909) and events 4625/4740.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2 · TASK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Reading the evidence like a forensic analyst: event codes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2011680" cy="96012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4625</a:t>
            </a:r>
          </a:p>
          <a:p>
            <a:pPr algn="ctr">
              <a:lnSpc>
                <a:spcPct val="100000"/>
              </a:lnSpc>
            </a:pPr>
            <a:r>
              <a:rPr sz="1850" b="0" i="0">
                <a:solidFill>
                  <a:srgbClr val="FFFFFF"/>
                </a:solidFill>
                <a:latin typeface="Times New Roman"/>
              </a:rPr>
              <a:t>wrong password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96896" y="2057400"/>
            <a:ext cx="182880" cy="22860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8" y="1691640"/>
            <a:ext cx="2011680" cy="96012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4625</a:t>
            </a:r>
          </a:p>
          <a:p>
            <a:pPr algn="ctr">
              <a:lnSpc>
                <a:spcPct val="100000"/>
              </a:lnSpc>
            </a:pPr>
            <a:r>
              <a:rPr sz="1850" b="0" i="0">
                <a:solidFill>
                  <a:srgbClr val="FFFFFF"/>
                </a:solidFill>
                <a:latin typeface="Times New Roman"/>
              </a:rPr>
              <a:t>wrong password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37176" y="2057400"/>
            <a:ext cx="182880" cy="22860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7488" y="1691640"/>
            <a:ext cx="2011680" cy="96012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4625</a:t>
            </a:r>
          </a:p>
          <a:p>
            <a:pPr algn="ctr">
              <a:lnSpc>
                <a:spcPct val="100000"/>
              </a:lnSpc>
            </a:pPr>
            <a:r>
              <a:rPr sz="1850" b="0" i="0">
                <a:solidFill>
                  <a:srgbClr val="FFFFFF"/>
                </a:solidFill>
                <a:latin typeface="Times New Roman"/>
              </a:rPr>
              <a:t>wrong password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77456" y="2057400"/>
            <a:ext cx="182880" cy="22860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87768" y="1691640"/>
            <a:ext cx="2011680" cy="96012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4740</a:t>
            </a:r>
          </a:p>
          <a:p>
            <a:pPr algn="ctr">
              <a:lnSpc>
                <a:spcPct val="100000"/>
              </a:lnSpc>
            </a:pPr>
            <a:r>
              <a:rPr sz="1850" b="0" i="0">
                <a:solidFill>
                  <a:srgbClr val="FFFFFF"/>
                </a:solidFill>
                <a:latin typeface="Times New Roman"/>
              </a:rPr>
              <a:t>account LOCKED OUT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17736" y="2057400"/>
            <a:ext cx="182880" cy="22860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28048" y="1691640"/>
            <a:ext cx="2011680" cy="96012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1909</a:t>
            </a:r>
          </a:p>
          <a:p>
            <a:pPr algn="ctr">
              <a:lnSpc>
                <a:spcPct val="100000"/>
              </a:lnSpc>
            </a:pPr>
            <a:r>
              <a:rPr sz="1850" b="0" i="0">
                <a:solidFill>
                  <a:srgbClr val="FFFFFF"/>
                </a:solidFill>
                <a:latin typeface="Times New Roman"/>
              </a:rPr>
              <a:t>4th try: denied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43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3 × 4625 + 4740 = the classic trace of a brute-force attack. Lockout stopped the attack at the 3rd attempt, and auditing documented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2461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User-related event codes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57600"/>
            <a:ext cx="3566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749039"/>
            <a:ext cx="960120" cy="658368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4624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657600"/>
            <a:ext cx="23317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successful logon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657600"/>
            <a:ext cx="3566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3749039"/>
            <a:ext cx="960120" cy="658368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4625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3657600"/>
            <a:ext cx="23317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failed logon (wrong password)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7" y="3657600"/>
            <a:ext cx="3566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59" y="3749039"/>
            <a:ext cx="960120" cy="658368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4740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7" y="3657600"/>
            <a:ext cx="23317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account locked 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617720"/>
            <a:ext cx="3566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4709159"/>
            <a:ext cx="960120" cy="658368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4720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9928" y="4617720"/>
            <a:ext cx="23317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new account created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5968" y="4617720"/>
            <a:ext cx="3566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9120" y="4709159"/>
            <a:ext cx="960120" cy="658368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4726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4617720"/>
            <a:ext cx="23317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account deleted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5007" y="4617720"/>
            <a:ext cx="3566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59" y="4709159"/>
            <a:ext cx="960120" cy="658368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4732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7" y="4617720"/>
            <a:ext cx="23317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user added to a security group (e.g., Administrators)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669280"/>
            <a:ext cx="11045952" cy="566928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788152"/>
            <a:ext cx="329184" cy="3291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61288" y="5669280"/>
            <a:ext cx="103144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SIEM systems detect exactly such patterns automatically. If a new admin account is opened, events 4720 and 4732 expose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QUESTION 2 · TASK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2.5 — Auditing user rights and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7607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99339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51663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View your current privileges: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whoami /priv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privileges such as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SeDebugPrivilege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and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SeImpersonatePrivilege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are dangerous for privilege escalation.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88920"/>
            <a:ext cx="57607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99923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788920"/>
            <a:ext cx="5166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List all accounts and administrators (commands on the right).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11880"/>
            <a:ext cx="57607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86791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611880"/>
            <a:ext cx="5166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Verify: Guest is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Enabled: False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; only the necessary accounts are in Administrators.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60020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673352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 i="0">
                <a:solidFill>
                  <a:srgbClr val="7FD1BD"/>
                </a:solidFill>
                <a:latin typeface="Consolas"/>
              </a:rPr>
              <a:t>PowerShell / cmd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920240"/>
            <a:ext cx="47548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PS&gt; Get-LocalUser |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E6EDF5"/>
                </a:solidFill>
                <a:latin typeface="Consolas"/>
              </a:rPr>
              <a:t>  Format-Table Name,Enabled,LastLogon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PS&gt; Get-LocalGroupMember -Group Administrators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&gt; net user Guest</a:t>
            </a:r>
          </a:p>
        </p:txBody>
      </p:sp>
      <p:pic>
        <p:nvPicPr>
          <p:cNvPr id="20" name="Picture 19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749039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86600" y="3703320"/>
            <a:ext cx="4526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Guest: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Enabled: False</a:t>
            </a:r>
          </a:p>
        </p:txBody>
      </p:sp>
      <p:pic>
        <p:nvPicPr>
          <p:cNvPr id="22" name="Picture 21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251959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86600" y="4206240"/>
            <a:ext cx="4526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Administrators: only necessary members</a:t>
            </a:r>
          </a:p>
        </p:txBody>
      </p:sp>
      <p:pic>
        <p:nvPicPr>
          <p:cNvPr id="24" name="Picture 23" descr="x-circle_C039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754880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6600" y="4709160"/>
            <a:ext cx="4526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Unneeded accounts, enabled Guest — a 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54880"/>
            <a:ext cx="5760720" cy="14630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754880"/>
            <a:ext cx="64008" cy="146304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8371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Conclusion — Task 2.5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440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Regularly reviewing accounts is one of the simplest yet most effective protection measures. In a penetration test, one of the first commands run after getting in is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whoami /priv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5349240"/>
            <a:ext cx="5029200" cy="868680"/>
          </a:xfrm>
          <a:prstGeom prst="roundRect">
            <a:avLst>
              <a:gd name="adj" fmla="val 10000"/>
            </a:avLst>
          </a:prstGeom>
          <a:solidFill>
            <a:srgbClr val="FDF3E1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arning_E08E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5618988"/>
            <a:ext cx="329184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78040" y="53492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If a dangerous privilege shows up — privilege escalation may be possible.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Restoring the laboratory to its previous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69494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6479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6355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Delete the test account: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net user Student /delete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50008"/>
            <a:ext cx="69494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514600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350008"/>
            <a:ext cx="6355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Restore the account lockout threshold and the password policy.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99816"/>
            <a:ext cx="69494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355848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099816"/>
            <a:ext cx="6355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Delete the “Block 4444” firewall rule: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Remove-NetFirewallRule -DisplayName "Block 4444"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32504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424281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032504"/>
            <a:ext cx="6355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Delete the EICAR and test files; revert the Security Options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73752"/>
            <a:ext cx="69494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5038344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873752"/>
            <a:ext cx="6355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The easiest way — revert the virtual machine to the snapshot (Restore).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600200"/>
            <a:ext cx="3749039" cy="411480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0" y="1920240"/>
            <a:ext cx="1188720" cy="11887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067" y="2229307"/>
            <a:ext cx="570586" cy="57058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46720" y="32918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onsolas"/>
              </a:rPr>
              <a:t>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3192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DDE6F2"/>
                </a:solidFill>
                <a:latin typeface="Times New Roman"/>
              </a:rPr>
              <a:t>Restore — undoes every change in one action.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FINAL LABORATORY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Complete independently and prepare a screenshot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45950" cy="37307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56444"/>
                <a:gridCol w="6572797"/>
                <a:gridCol w="4016709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Task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Evidence in the report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Show the Defender status with </a:t>
                      </a:r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Get-MpComputerStatus</a:t>
                      </a:r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 and test with the EICAR file.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status + Protection history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Create a firewall rule blocking port 4444 and confirm it with </a:t>
                      </a:r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Test-NetConnection</a:t>
                      </a:r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wf.msc</a:t>
                      </a:r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 + </a:t>
                      </a:r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TcpTestSucceeded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Enable “Don’t display last signed-in” and screenshot the sign-in screen.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sign-in screen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Create the standard “Student” account and show its restrictions.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net user</a:t>
                      </a:r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 + Access is denied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Set account lockout (threshold = 3), run the brute-force simulation and find events 4625/4740.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02A38"/>
                          </a:solidFill>
                          <a:latin typeface="Times New Roman"/>
                        </a:rPr>
                        <a:t>Event Viewer / </a:t>
                      </a:r>
                      <a:r>
                        <a:rPr sz="1200" b="1" i="0">
                          <a:solidFill>
                            <a:srgbClr val="178A73"/>
                          </a:solidFill>
                          <a:latin typeface="Consolas"/>
                        </a:rPr>
                        <a:t>Get-WinEvent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69280"/>
            <a:ext cx="11045952" cy="5486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779008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1288" y="5669280"/>
            <a:ext cx="10314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Add comments and short explanations to the report — write what each screenshot proves.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965960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144268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18488" y="1600200"/>
            <a:ext cx="42519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Defender gives real-time protection: check status with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Get-MpComputerStatus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, threats with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Get-MpThreat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; EICAR tests it safely.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002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965960"/>
            <a:ext cx="685800" cy="6858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y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2144268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96327" y="1600200"/>
            <a:ext cx="42519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Exclusions and Tamper Protection: an exclusion is a weakness, Tamper Protection is protection.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5468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3520440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lob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3698748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18488" y="3154680"/>
            <a:ext cx="42519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A firewall rule is created in 3 ways (GUI,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netsh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, PowerShell);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Test-NetConnection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tests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315468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8" y="3520440"/>
            <a:ext cx="685800" cy="6858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ist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3698748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96327" y="3154680"/>
            <a:ext cx="42519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Audit and Security Options: Failure records reveal attacks; the name is hidden on the sign-in screen.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70916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" y="5074920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" y="5253228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18488" y="4709160"/>
            <a:ext cx="42519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Least privilege: daily work in a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Users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account; account audit (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whoami /priv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Get-LocalGroupMember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470916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27648" y="5074920"/>
            <a:ext cx="685800" cy="6858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o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956" y="5253228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96327" y="4709160"/>
            <a:ext cx="42519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Password policy + lockout make guessing futile; 4625 → 4740 is the brute-force trace.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Review questions — Lesson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182880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600200"/>
            <a:ext cx="4709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How do Quick scan and Full scan differ? Why is the EICAR file harmless?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32888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656" y="276148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2532888"/>
            <a:ext cx="4709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Why are exclusions both useful and dangerous?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65576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" y="369417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465576"/>
            <a:ext cx="4709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What is the firewall’s default behavior (inbound/outbound)? Which takes precedence — Block or Allow?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98264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" y="4626864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398264"/>
            <a:ext cx="4709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What does </a:t>
            </a:r>
            <a:r>
              <a:rPr sz="1170" b="1" i="0">
                <a:solidFill>
                  <a:srgbClr val="178A73"/>
                </a:solidFill>
                <a:latin typeface="Consolas"/>
              </a:rPr>
              <a:t>TcpTestSucceeded : False</a:t>
            </a:r>
            <a:r>
              <a:rPr sz="1220" b="0" i="0">
                <a:solidFill>
                  <a:srgbClr val="202A38"/>
                </a:solidFill>
                <a:latin typeface="Times New Roman"/>
              </a:rPr>
              <a:t> mean?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30952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555955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7" y="5330952"/>
            <a:ext cx="4709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What is LSDOU? Why can a local setting be overridden on a domain computer?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00200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54496" y="1828800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1600200"/>
            <a:ext cx="4709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What is the difference between Success and Failure in Audit Policy? Which event codes show a brute-force attack?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532888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54496" y="2761488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2532888"/>
            <a:ext cx="4709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How do the Administrators, Users and Guests groups differ? What are SID and RID?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3465576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54496" y="3694176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3465576"/>
            <a:ext cx="4709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What does the password complexity requirement check?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4398264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54496" y="4626864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4398264"/>
            <a:ext cx="4709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What problem arises if the account lockout threshold is too low (1–2)?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330952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54496" y="5559552"/>
            <a:ext cx="384048" cy="38404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5330952"/>
            <a:ext cx="4709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20" b="0" i="0">
                <a:solidFill>
                  <a:srgbClr val="202A38"/>
                </a:solidFill>
                <a:latin typeface="Times New Roman"/>
              </a:rPr>
              <a:t>What does </a:t>
            </a:r>
            <a:r>
              <a:rPr sz="1170" b="1" i="0">
                <a:solidFill>
                  <a:srgbClr val="178A73"/>
                </a:solidFill>
                <a:latin typeface="Consolas"/>
              </a:rPr>
              <a:t>whoami /priv</a:t>
            </a:r>
            <a:r>
              <a:rPr sz="1220" b="0" i="0">
                <a:solidFill>
                  <a:srgbClr val="202A38"/>
                </a:solidFill>
                <a:latin typeface="Times New Roman"/>
              </a:rPr>
              <a:t> show? Which privileges are dangerous?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22960"/>
            <a:ext cx="1371600" cy="1389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THANK YOU FOR YOUR ATTENTION!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2000" b="0" i="0">
                <a:solidFill>
                  <a:srgbClr val="DDE6F2"/>
                </a:solidFill>
                <a:latin typeface="Times New Roman"/>
              </a:rPr>
              <a:t>Any questions?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2000" b="0" i="0">
                <a:solidFill>
                  <a:srgbClr val="DDE6F2"/>
                </a:solidFill>
                <a:latin typeface="Times New Roman"/>
              </a:rPr>
              <a:t>Next section — glossary of terms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Glossary — this section explains the following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29</a:t>
            </a:r>
          </a:p>
        </p:txBody>
      </p:sp>
      <p:sp>
        <p:nvSpPr>
          <p:cNvPr id="8" name="Rounded Rectangle 7">
            <a:hlinkClick action="ppaction://hlinksldjump" r:id="rId8"/>
          </p:cNvPr>
          <p:cNvSpPr/>
          <p:nvPr/>
        </p:nvSpPr>
        <p:spPr>
          <a:xfrm>
            <a:off x="566928" y="169164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965960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2156155"/>
            <a:ext cx="351130" cy="3511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09928" y="187452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EICAR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889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a safe test “virus”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315968" y="169164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44568" y="1965960"/>
            <a:ext cx="731520" cy="73152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old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763" y="2156155"/>
            <a:ext cx="351130" cy="3511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58968" y="187452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Exclusion · Tamper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7889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a “hole” in protection and its lock</a:t>
            </a:r>
          </a:p>
        </p:txBody>
      </p:sp>
      <p:sp>
        <p:nvSpPr>
          <p:cNvPr id="18" name="Rounded Rectangle 17">
            <a:hlinkClick action="ppaction://hlinksldjump" r:id="rId10"/>
          </p:cNvPr>
          <p:cNvSpPr/>
          <p:nvPr/>
        </p:nvSpPr>
        <p:spPr>
          <a:xfrm>
            <a:off x="8065007" y="169164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93607" y="1965960"/>
            <a:ext cx="731520" cy="7315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802" y="2156155"/>
            <a:ext cx="351130" cy="35113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08007" y="187452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LSDOU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27889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order of policies</a:t>
            </a:r>
          </a:p>
        </p:txBody>
      </p:sp>
      <p:sp>
        <p:nvSpPr>
          <p:cNvPr id="23" name="Rounded Rectangle 22">
            <a:hlinkClick action="ppaction://hlinksldjump" r:id="rId11"/>
          </p:cNvPr>
          <p:cNvSpPr/>
          <p:nvPr/>
        </p:nvSpPr>
        <p:spPr>
          <a:xfrm>
            <a:off x="566928" y="370332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5528" y="3977640"/>
            <a:ext cx="731520" cy="7315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za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" y="4167835"/>
            <a:ext cx="351130" cy="35113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09928" y="388620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Brute-force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8006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a password-guessing attack</a:t>
            </a:r>
          </a:p>
        </p:txBody>
      </p:sp>
      <p:sp>
        <p:nvSpPr>
          <p:cNvPr id="28" name="Rounded Rectangle 27">
            <a:hlinkClick action="ppaction://hlinksldjump" r:id="rId12"/>
          </p:cNvPr>
          <p:cNvSpPr/>
          <p:nvPr/>
        </p:nvSpPr>
        <p:spPr>
          <a:xfrm>
            <a:off x="4315968" y="370332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44568" y="3977640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ke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4763" y="4167835"/>
            <a:ext cx="351130" cy="35113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58968" y="388620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SID / RID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48006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the account’s real identifier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Each term is explained at beginner level, with an example and a diagram.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EICAR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simple words: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 special text created by antivirus organizations: it has no malicious code, yet every antivirus recognizes it as a “virus”.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319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A8660B"/>
                </a:solidFill>
                <a:latin typeface="Times New Roman"/>
              </a:rPr>
              <a:t>Why it matters: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5196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 safe way to check that real-time protection is working.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645920"/>
            <a:ext cx="6126480" cy="100584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71907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 i="0">
                <a:solidFill>
                  <a:srgbClr val="7FD1BD"/>
                </a:solidFill>
                <a:latin typeface="Consolas"/>
              </a:rPr>
              <a:t>EICAR string — plain 68-character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>
                <a:solidFill>
                  <a:srgbClr val="E6EDF5"/>
                </a:solidFill>
                <a:latin typeface="Consolas"/>
              </a:rPr>
              <a:t>X5O!P%@AP[4\PZX54(P^)7CC)7}$EICAR-STANDARD-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>
                <a:solidFill>
                  <a:srgbClr val="E6EDF5"/>
                </a:solidFill>
                <a:latin typeface="Consolas"/>
              </a:rPr>
              <a:t>ANTIVIRUS-TEST-FILE!$H+H*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017520"/>
            <a:ext cx="1828800" cy="100584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plain text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file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42631" y="3383280"/>
            <a:ext cx="228600" cy="22860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0" y="3017520"/>
            <a:ext cx="1828800" cy="100584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Defender matches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the signature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445752" y="3383280"/>
            <a:ext cx="228600" cy="22860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0" y="3017520"/>
            <a:ext cx="1828800" cy="100584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flagged as “virus”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quarantined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389120"/>
            <a:ext cx="6126480" cy="128016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-circle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4864608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80760" y="4389120"/>
            <a:ext cx="5394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There is no malicious code — so an antivirus can be tested safely. Never test with real malware.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566928" y="598932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← Back to topic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Exclusion and Tamper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simple words: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An exclusion is a folder or file Defender does not scan. Tamper Protection is a lock that stops malware from changing Defender’s settings.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319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A8660B"/>
                </a:solidFill>
                <a:latin typeface="Times New Roman"/>
              </a:rPr>
              <a:t>Why it matters: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5196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Malware placed in an exclusion stays invisible — a forensic analyst checks the exclusion list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645920"/>
            <a:ext cx="2834640" cy="82296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Exclusion list: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Times New Roman"/>
              </a:rPr>
              <a:t>C:\Tools\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675120" y="2514600"/>
            <a:ext cx="457200" cy="457200"/>
          </a:xfrm>
          <a:prstGeom prst="down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3017520"/>
            <a:ext cx="2834640" cy="82296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malicious file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Times New Roman"/>
              </a:rPr>
              <a:t>C:\Tools\evil.exe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12480" y="3310128"/>
            <a:ext cx="365760" cy="27432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0" y="3017520"/>
            <a:ext cx="2743200" cy="82296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Defender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Times New Roman"/>
              </a:rPr>
              <a:t>does not scan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645920"/>
            <a:ext cx="2743200" cy="82296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Tamper Protection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Times New Roman"/>
              </a:rPr>
              <a:t>locks the setting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4297680"/>
            <a:ext cx="612648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4818888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80760" y="4297680"/>
            <a:ext cx="53949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Tamper Protection is needed so malware cannot add itself to the exclusion list: it blocks outside changes to Defender settings.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566928" y="598932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← Back to topic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LSDOU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simple words: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The order in which policies apply in a domain: Local → Site → Domain → OU. The last one wins.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319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A8660B"/>
                </a:solidFill>
                <a:latin typeface="Times New Roman"/>
              </a:rPr>
              <a:t>Why it matters: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5196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On a domain computer a local setting may be overridden — without knowing this you will wonder why “the setting does not work”.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645920"/>
            <a:ext cx="2194560" cy="82296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L — Local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400800" y="2468880"/>
            <a:ext cx="320040" cy="228600"/>
          </a:xfrm>
          <a:prstGeom prst="down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2697480"/>
            <a:ext cx="2194560" cy="82296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S — Site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400800" y="3520440"/>
            <a:ext cx="320040" cy="228600"/>
          </a:xfrm>
          <a:prstGeom prst="down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3749039"/>
            <a:ext cx="2194560" cy="82296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D — Domain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400800" y="4572000"/>
            <a:ext cx="320040" cy="228600"/>
          </a:xfrm>
          <a:prstGeom prst="down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0" y="4800600"/>
            <a:ext cx="2194560" cy="82296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OU — 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6459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The last applied policy wins.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37744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DF3E1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arning_E08E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3127248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41080" y="2377440"/>
            <a:ext cx="28346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Example: the local setting says “Minimum password length = 10”, the domain GPO says 14 — the computer uses 14.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566928" y="598932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← Back to topic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Brute-force (password-guessing) attack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simple words: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The attacker tries many passwords until one is right. Account lockout stops this by locking the account after a few failures.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319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A8660B"/>
                </a:solidFill>
                <a:latin typeface="Times New Roman"/>
              </a:rPr>
              <a:t>Why it matters: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5196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With auditing on, the attack leaves 4625 and 4740 traces — SIEM systems look for exactly that.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645920"/>
            <a:ext cx="1051560" cy="73152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1 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645920"/>
            <a:ext cx="1051560" cy="73152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2 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1051560" cy="73152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3 ✗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8280" y="1856231"/>
            <a:ext cx="274320" cy="27432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64040" y="1645920"/>
            <a:ext cx="2148840" cy="73152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4740</a:t>
            </a: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Times New Roman"/>
              </a:rPr>
              <a:t>LOCKED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560320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Each ✗ = event 4625 (failed logon); lockout threshold = 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291840"/>
            <a:ext cx="2926080" cy="82296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4625</a:t>
            </a:r>
          </a:p>
          <a:p>
            <a:pPr algn="ctr">
              <a:lnSpc>
                <a:spcPct val="100000"/>
              </a:lnSpc>
            </a:pPr>
            <a:r>
              <a:rPr sz="1850" b="0" i="0">
                <a:solidFill>
                  <a:srgbClr val="FFFFFF"/>
                </a:solidFill>
                <a:latin typeface="Times New Roman"/>
              </a:rPr>
              <a:t>wrong password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3291840"/>
            <a:ext cx="2926080" cy="82296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4740</a:t>
            </a:r>
          </a:p>
          <a:p>
            <a:pPr algn="ctr">
              <a:lnSpc>
                <a:spcPct val="100000"/>
              </a:lnSpc>
            </a:pPr>
            <a:r>
              <a:rPr sz="1850" b="0" i="0">
                <a:solidFill>
                  <a:srgbClr val="FFFFFF"/>
                </a:solidFill>
                <a:latin typeface="Times New Roman"/>
              </a:rPr>
              <a:t>account locked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434840"/>
            <a:ext cx="6126480" cy="1188720"/>
          </a:xfrm>
          <a:prstGeom prst="roundRect">
            <a:avLst>
              <a:gd name="adj" fmla="val 10000"/>
            </a:avLst>
          </a:prstGeom>
          <a:solidFill>
            <a:srgbClr val="FAE5E2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x-circle_C03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4864608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80760" y="4434840"/>
            <a:ext cx="5394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Many 4625 events in a short time followed by 4740 — an attack signal for the defender.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566928" y="598932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← Back to topic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GLOSSARY · TERM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SID and 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Topic 1 · Windows OS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In simple words: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 SID is the unique identifier Windows gives each account and group. Its last number (RID) tells the account type.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319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A8660B"/>
                </a:solidFill>
                <a:latin typeface="Times New Roman"/>
              </a:rPr>
              <a:t>Why it matters: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5196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Permissions and logs rely on the SID, not the name: a SID ending in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-500</a:t>
            </a:r>
            <a:r>
              <a:rPr sz="1350" b="0" i="0">
                <a:solidFill>
                  <a:srgbClr val="202A38"/>
                </a:solidFill>
                <a:latin typeface="Times New Roman"/>
              </a:rPr>
              <a:t> always points to the real built-in administrator.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645920"/>
            <a:ext cx="1371600" cy="73152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S-1-5-21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645920"/>
            <a:ext cx="2926080" cy="731520"/>
          </a:xfrm>
          <a:prstGeom prst="roundRect">
            <a:avLst>
              <a:gd name="adj" fmla="val 1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3623811015-3361044348-30300820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1645920"/>
            <a:ext cx="1097280" cy="731520"/>
          </a:xfrm>
          <a:prstGeom prst="roundRect">
            <a:avLst>
              <a:gd name="adj" fmla="val 1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46888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SID = domain/computer part + RID (final number)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17520"/>
            <a:ext cx="1965960" cy="11887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10896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200" b="1" i="0">
                <a:solidFill>
                  <a:srgbClr val="C0392B"/>
                </a:solidFill>
                <a:latin typeface="Consolas"/>
              </a:rPr>
              <a:t>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65760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built-in Administrator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017520"/>
            <a:ext cx="1965960" cy="11887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10896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200" b="1" i="0">
                <a:solidFill>
                  <a:srgbClr val="1F3864"/>
                </a:solidFill>
                <a:latin typeface="Consolas"/>
              </a:rPr>
              <a:t>501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65760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Guest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3017520"/>
            <a:ext cx="1965960" cy="11887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310896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200" b="1" i="0">
                <a:solidFill>
                  <a:srgbClr val="178A73"/>
                </a:solidFill>
                <a:latin typeface="Consolas"/>
              </a:rPr>
              <a:t>1000+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65760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created accounts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4434840"/>
            <a:ext cx="6126480" cy="11887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4864608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80760" y="4434840"/>
            <a:ext cx="5394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Renaming an account does not change its SID. Delete and recreate it under the same name — a NEW SID.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566928" y="598932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← Back to topic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