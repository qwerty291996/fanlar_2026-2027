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r>
              <a:rPr lang="pl-PL" sz="1100">
                <a:latin typeface="Times New Roman"/>
              </a:rPr>
              <a:t>Tur bo‘yicha (jami 180 soat)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soat</c:v>
                </c:pt>
              </c:strCache>
            </c:strRef>
          </c:tx>
          <c:dPt>
            <c:idx val="0"/>
            <c:bubble3D val="0"/>
            <c:spPr>
              <a:solidFill>
                <a:srgbClr val="178A73"/>
              </a:solidFill>
            </c:spPr>
            <c:extLst>
              <c:ext xmlns:c16="http://schemas.microsoft.com/office/drawing/2014/chart" uri="{C3380CC4-5D6E-409C-BE32-E72D297353CC}">
                <c16:uniqueId val="{00000001-9E2D-4707-A406-258635CDCECA}"/>
              </c:ext>
            </c:extLst>
          </c:dPt>
          <c:dPt>
            <c:idx val="1"/>
            <c:bubble3D val="0"/>
            <c:spPr>
              <a:solidFill>
                <a:srgbClr val="1F3864"/>
              </a:solidFill>
            </c:spPr>
            <c:extLst>
              <c:ext xmlns:c16="http://schemas.microsoft.com/office/drawing/2014/chart" uri="{C3380CC4-5D6E-409C-BE32-E72D297353CC}">
                <c16:uniqueId val="{00000003-9E2D-4707-A406-258635CDCECA}"/>
              </c:ext>
            </c:extLst>
          </c:dPt>
          <c:dPt>
            <c:idx val="2"/>
            <c:bubble3D val="0"/>
            <c:spPr>
              <a:solidFill>
                <a:srgbClr val="E08E1D"/>
              </a:solidFill>
            </c:spPr>
            <c:extLst>
              <c:ext xmlns:c16="http://schemas.microsoft.com/office/drawing/2014/chart" uri="{C3380CC4-5D6E-409C-BE32-E72D297353CC}">
                <c16:uniqueId val="{00000005-9E2D-4707-A406-258635CDCECA}"/>
              </c:ext>
            </c:extLst>
          </c:dPt>
          <c:dLbls>
            <c:numFmt formatCode="0&quot;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Amaliy</c:v>
                </c:pt>
                <c:pt idx="1">
                  <c:v>Ma’ruza</c:v>
                </c:pt>
                <c:pt idx="2">
                  <c:v>Seminar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2D-4707-A406-258635CDC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000">
              <a:latin typeface="Times New Roman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slide" Target="slide2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5.xml"/><Relationship Id="rId5" Type="http://schemas.openxmlformats.org/officeDocument/2006/relationships/slide" Target="slide2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1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468880" cy="250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8920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 dirty="0">
                <a:solidFill>
                  <a:srgbClr val="FFFFFF"/>
                </a:solidFill>
                <a:latin typeface="Times New Roman"/>
              </a:rPr>
              <a:t>O‘ZBEKISTON RESPUBLIKASI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 dirty="0">
                <a:solidFill>
                  <a:srgbClr val="FFFFFF"/>
                </a:solidFill>
                <a:latin typeface="Times New Roman"/>
              </a:rPr>
              <a:t>HARBIY XAVFSIZLIK VA MUDOFAA UNIVERSITETI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 dirty="0">
                <a:solidFill>
                  <a:srgbClr val="FFFFFF"/>
                </a:solidFill>
                <a:latin typeface="Times New Roman"/>
              </a:rPr>
              <a:t>AKT </a:t>
            </a:r>
            <a:r>
              <a:rPr sz="1050" b="0" i="1" dirty="0" err="1">
                <a:solidFill>
                  <a:srgbClr val="FFFFFF"/>
                </a:solidFill>
                <a:latin typeface="Times New Roman"/>
              </a:rPr>
              <a:t>va</a:t>
            </a:r>
            <a:r>
              <a:rPr sz="1050" b="0" i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050" b="0" i="1" dirty="0" err="1">
                <a:solidFill>
                  <a:srgbClr val="FFFFFF"/>
                </a:solidFill>
                <a:latin typeface="Times New Roman"/>
              </a:rPr>
              <a:t>harbiy</a:t>
            </a:r>
            <a:r>
              <a:rPr sz="1050" b="0" i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050" b="0" i="1" dirty="0" err="1">
                <a:solidFill>
                  <a:srgbClr val="FFFFFF"/>
                </a:solidFill>
                <a:latin typeface="Times New Roman"/>
              </a:rPr>
              <a:t>aloqa</a:t>
            </a:r>
            <a:r>
              <a:rPr sz="1050" b="0" i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050" b="0" i="1" dirty="0" err="1">
                <a:solidFill>
                  <a:srgbClr val="FFFFFF"/>
                </a:solidFill>
                <a:latin typeface="Times New Roman"/>
              </a:rPr>
              <a:t>instituti</a:t>
            </a:r>
            <a:r>
              <a:rPr sz="1050" b="0" i="1" dirty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050" b="0" i="1" dirty="0" err="1">
                <a:solidFill>
                  <a:srgbClr val="FFFFFF"/>
                </a:solidFill>
                <a:latin typeface="Times New Roman"/>
              </a:rPr>
              <a:t>Kiberxavfsizlik</a:t>
            </a:r>
            <a:r>
              <a:rPr sz="1050" b="0" i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050" b="0" i="1" dirty="0" err="1">
                <a:solidFill>
                  <a:srgbClr val="FFFFFF"/>
                </a:solidFill>
                <a:latin typeface="Times New Roman"/>
              </a:rPr>
              <a:t>kafedrasi</a:t>
            </a:r>
            <a:endParaRPr sz="1050" b="0" i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8FD9C4"/>
                </a:solidFill>
                <a:latin typeface="Times New Roman"/>
              </a:rPr>
              <a:t>“KIBER KRIMINALISTIKA VA ETIKAL HAKING” FANI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965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1-MAVZU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514600"/>
            <a:ext cx="8321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WINDOWS OT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XAVFSIZLIGI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343400"/>
            <a:ext cx="1280160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0" i="0">
                <a:solidFill>
                  <a:srgbClr val="D6E2EE"/>
                </a:solidFill>
                <a:latin typeface="Times New Roman"/>
              </a:rPr>
              <a:t>1-mashg‘ulot · Windows OT servislari  |  Ma’ruza, 2 soat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89320"/>
            <a:ext cx="8046720" cy="20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1" dirty="0" err="1">
                <a:solidFill>
                  <a:srgbClr val="B9CDE0"/>
                </a:solidFill>
                <a:latin typeface="Times New Roman"/>
              </a:rPr>
              <a:t>Ma’ruzachi</a:t>
            </a:r>
            <a:r>
              <a:rPr sz="1300" b="0" i="1" dirty="0">
                <a:solidFill>
                  <a:srgbClr val="B9CDE0"/>
                </a:solidFill>
                <a:latin typeface="Times New Roman"/>
              </a:rPr>
              <a:t>: </a:t>
            </a:r>
            <a:r>
              <a:rPr sz="1300" b="0" i="1" dirty="0" err="1">
                <a:solidFill>
                  <a:srgbClr val="B9CDE0"/>
                </a:solidFill>
                <a:latin typeface="Times New Roman"/>
              </a:rPr>
              <a:t>Kiberxavfsizlik</a:t>
            </a:r>
            <a:r>
              <a:rPr sz="1300" b="0" i="1" dirty="0">
                <a:solidFill>
                  <a:srgbClr val="B9CDE0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B9CDE0"/>
                </a:solidFill>
                <a:latin typeface="Times New Roman"/>
              </a:rPr>
              <a:t>kafedrasi</a:t>
            </a:r>
            <a:r>
              <a:rPr sz="1300" b="0" i="1" dirty="0">
                <a:solidFill>
                  <a:srgbClr val="B9CDE0"/>
                </a:solidFill>
                <a:latin typeface="Times New Roman"/>
              </a:rPr>
              <a:t> </a:t>
            </a:r>
            <a:r>
              <a:rPr lang="en-US" sz="1300" b="0" i="1" dirty="0" err="1">
                <a:solidFill>
                  <a:srgbClr val="B9CDE0"/>
                </a:solidFill>
                <a:latin typeface="Times New Roman"/>
              </a:rPr>
              <a:t>katta</a:t>
            </a:r>
            <a:r>
              <a:rPr lang="en-US" sz="1300" b="0" i="1" dirty="0">
                <a:solidFill>
                  <a:srgbClr val="B9CDE0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B9CDE0"/>
                </a:solidFill>
                <a:latin typeface="Times New Roman"/>
              </a:rPr>
              <a:t>o‘qituvchisi</a:t>
            </a:r>
            <a:r>
              <a:rPr lang="en-US" sz="1300" b="0" i="1" dirty="0">
                <a:solidFill>
                  <a:srgbClr val="B9CDE0"/>
                </a:solidFill>
                <a:latin typeface="Times New Roman"/>
              </a:rPr>
              <a:t>: </a:t>
            </a:r>
            <a:r>
              <a:rPr lang="en-US" sz="1300" b="1" i="1" dirty="0" err="1">
                <a:solidFill>
                  <a:srgbClr val="B9CDE0"/>
                </a:solidFill>
                <a:latin typeface="Times New Roman"/>
              </a:rPr>
              <a:t>kapitan</a:t>
            </a:r>
            <a:r>
              <a:rPr lang="en-US" sz="1300" b="1" i="1" dirty="0">
                <a:solidFill>
                  <a:srgbClr val="B9CDE0"/>
                </a:solidFill>
                <a:latin typeface="Times New Roman"/>
              </a:rPr>
              <a:t> </a:t>
            </a:r>
            <a:r>
              <a:rPr lang="en-US" sz="1300" b="1" i="1" dirty="0" err="1">
                <a:solidFill>
                  <a:srgbClr val="B9CDE0"/>
                </a:solidFill>
                <a:latin typeface="Times New Roman"/>
              </a:rPr>
              <a:t>M.Isakov</a:t>
            </a:r>
            <a:endParaRPr sz="1300" b="1" i="1" dirty="0">
              <a:solidFill>
                <a:srgbClr val="B9CDE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FAN HAQIDA UMUMIY MA’LUMOT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Auditoriya mashg‘ulotlari — soatlar taqsimoti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5800" b="1" i="0">
                <a:solidFill>
                  <a:srgbClr val="FFFFFF"/>
                </a:solidFill>
                <a:latin typeface="Times New Roman"/>
              </a:rP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auditoriya soati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00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C7D6E6"/>
                </a:solidFill>
                <a:latin typeface="Times New Roman"/>
              </a:rPr>
              <a:t>5-, 6- va 7-semestrlarda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C7D6E6"/>
                </a:solidFill>
                <a:latin typeface="Times New Roman"/>
              </a:rPr>
              <a:t>o‘tiladi (har biri 60 soat)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11880" y="1645920"/>
          <a:ext cx="3200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086600" y="1691640"/>
            <a:ext cx="4526280" cy="30632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users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2024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193852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Auditoriya mashg‘uloti nima?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14600"/>
            <a:ext cx="4114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02A38"/>
                </a:solidFill>
                <a:latin typeface="Times New Roman"/>
              </a:rPr>
              <a:t>O‘qituvchi bilan sinfda o‘tiladigan mashg‘ulotlar: </a:t>
            </a:r>
            <a:r>
              <a:rPr sz="1250">
                <a:solidFill>
                  <a:srgbClr val="202A38"/>
                </a:solidFill>
                <a:latin typeface="Times New Roman"/>
              </a:rPr>
              <a:t>ma’ruza, amaliy va seminar.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Asosiy urg‘u — </a:t>
            </a:r>
            <a:r>
              <a:rPr sz="1250" b="1">
                <a:solidFill>
                  <a:srgbClr val="202A38"/>
                </a:solidFill>
                <a:latin typeface="Times New Roman"/>
              </a:rPr>
              <a:t>amaliy mashg‘ulotlar (160 soat)</a:t>
            </a:r>
            <a:r>
              <a:rPr sz="1250">
                <a:solidFill>
                  <a:srgbClr val="202A38"/>
                </a:solidFill>
                <a:latin typeface="Times New Roman"/>
              </a:rPr>
              <a:t>: kursant nazariyani real/virtual muhitda qo‘llaydi.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Har bir semestr — 60 soat auditoriya; jami 3 semestrda 180 soat.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0292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Eslatma: bundan tashqari mustaqil ta’lim ham bor (150 soat), lekin darslar aynan auditoriya soatlarida olib boriladi.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FAN HAQIDA UMUMIY MA’LUMOT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Fanning maqsadi va kutilayotgan natijalari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l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2137867"/>
            <a:ext cx="341986" cy="341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83080" y="19659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Times New Roman"/>
              </a:rPr>
              <a:t>MAQSAD — biz nimaga erishmoqchimiz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Kursantni Windows va Linux tizimlarini “ichidan” tushunadigan, zararli dasturlarni topa oladigan, tarmoq va tizimlardagi raqamli izlarni kuzatib, hujumni ham, himoyani ham amalda bajara oladigan kiberxavfsizlik ofitseri sifatida tayyorlash.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1300" b="0" i="0">
              <a:solidFill>
                <a:srgbClr val="202A38"/>
              </a:solidFill>
              <a:latin typeface="Times New Roman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Qisqasi: “tugmani bosishni” emas, tizim qanday ishlashini va uni qanday himoya qilishni o‘rgatish.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349240" cy="356616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10528" y="1920240"/>
            <a:ext cx="777240" cy="77724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ist-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155" y="2137867"/>
            <a:ext cx="341986" cy="3419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52360" y="19659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Times New Roman"/>
              </a:rPr>
              <a:t>KUTILAYOTGAN NATIJA — kursant nimani biladi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4892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43B02A"/>
                </a:solidFill>
                <a:latin typeface="Times New Roman"/>
              </a:rPr>
              <a:t>▸  </a:t>
            </a:r>
            <a:r>
              <a:rPr sz="1250">
                <a:solidFill>
                  <a:srgbClr val="E6EDF4"/>
                </a:solidFill>
                <a:latin typeface="Times New Roman"/>
              </a:rPr>
              <a:t>Windows/Linux tizimini administrator darajasida boshqaradi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43B02A"/>
                </a:solidFill>
                <a:latin typeface="Times New Roman"/>
              </a:rPr>
              <a:t>▸  </a:t>
            </a:r>
            <a:r>
              <a:rPr sz="1250">
                <a:solidFill>
                  <a:srgbClr val="E6EDF4"/>
                </a:solidFill>
                <a:latin typeface="Times New Roman"/>
              </a:rPr>
              <a:t>Virus va zararli kodni tanib, tahlil qila oladi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43B02A"/>
                </a:solidFill>
                <a:latin typeface="Times New Roman"/>
              </a:rPr>
              <a:t>▸  </a:t>
            </a:r>
            <a:r>
              <a:rPr sz="1250">
                <a:solidFill>
                  <a:srgbClr val="E6EDF4"/>
                </a:solidFill>
                <a:latin typeface="Times New Roman"/>
              </a:rPr>
              <a:t>SIEM, EDR, DLP, IPS/IDS himoya tizimlarini biladi va qo‘llaydi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43B02A"/>
                </a:solidFill>
                <a:latin typeface="Times New Roman"/>
              </a:rPr>
              <a:t>▸  </a:t>
            </a:r>
            <a:r>
              <a:rPr sz="1250">
                <a:solidFill>
                  <a:srgbClr val="E6EDF4"/>
                </a:solidFill>
                <a:latin typeface="Times New Roman"/>
              </a:rPr>
              <a:t>Metasploit va tarmoq skanerlari bilan ishlaydi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43B02A"/>
                </a:solidFill>
                <a:latin typeface="Times New Roman"/>
              </a:rPr>
              <a:t>▸  </a:t>
            </a:r>
            <a:r>
              <a:rPr sz="1250">
                <a:solidFill>
                  <a:srgbClr val="E6EDF4"/>
                </a:solidFill>
                <a:latin typeface="Times New Roman"/>
              </a:rPr>
              <a:t>OSINT orqali ochiq manbalardan ma’lumot to‘playdi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FAN HAQIDA UMUMIY MA’LUMOT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Fan tarkibi — 3 semestr, 6 ta mavzu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611880" cy="640080"/>
          </a:xfrm>
          <a:prstGeom prst="roundRect">
            <a:avLst>
              <a:gd name="adj" fmla="val 4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057400"/>
            <a:ext cx="3611880" cy="274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5-semestr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73736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60 soat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256032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2713939"/>
            <a:ext cx="241402" cy="2414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35608" y="256032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1-mavzu. Windows OT xavfsizligi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" y="3584448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3738067"/>
            <a:ext cx="241402" cy="2414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35608" y="358444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2-mavzu. Linux OT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4608576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bu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" y="4762195"/>
            <a:ext cx="241402" cy="2414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35608" y="4608576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3-mavzu. Virusologiya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69164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61688" y="1691640"/>
            <a:ext cx="3611880" cy="64008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1688" y="2057400"/>
            <a:ext cx="361188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17373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6-semestr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173736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60 soat</a:t>
            </a:r>
          </a:p>
        </p:txBody>
      </p:sp>
      <p:sp>
        <p:nvSpPr>
          <p:cNvPr id="25" name="Oval 24"/>
          <p:cNvSpPr/>
          <p:nvPr/>
        </p:nvSpPr>
        <p:spPr>
          <a:xfrm>
            <a:off x="4562856" y="256032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6475" y="2713939"/>
            <a:ext cx="241402" cy="2414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0368" y="256032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4-mavzu. Tarmoqni nazorat qilish va xavfsizlik tizimlari (DLP, IDS/IPS, SIEM, EDR, Metasploit)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169164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156448" y="1691640"/>
            <a:ext cx="3611880" cy="640080"/>
          </a:xfrm>
          <a:prstGeom prst="roundRect">
            <a:avLst>
              <a:gd name="adj" fmla="val 4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56448" y="2057400"/>
            <a:ext cx="3611880" cy="27432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85048" y="17373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7-semestr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96728" y="173736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60 soat</a:t>
            </a:r>
          </a:p>
        </p:txBody>
      </p:sp>
      <p:sp>
        <p:nvSpPr>
          <p:cNvPr id="33" name="Oval 32"/>
          <p:cNvSpPr/>
          <p:nvPr/>
        </p:nvSpPr>
        <p:spPr>
          <a:xfrm>
            <a:off x="8357616" y="2560320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crosshai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235" y="2713939"/>
            <a:ext cx="241402" cy="24140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25128" y="256032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5-mavzu. Kiberrazvedka va etikal haking (OSINT, C2, forensics)</a:t>
            </a:r>
          </a:p>
        </p:txBody>
      </p:sp>
      <p:sp>
        <p:nvSpPr>
          <p:cNvPr id="36" name="Oval 35"/>
          <p:cNvSpPr/>
          <p:nvPr/>
        </p:nvSpPr>
        <p:spPr>
          <a:xfrm>
            <a:off x="8357616" y="3584448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fla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1235" y="3738067"/>
            <a:ext cx="241402" cy="24140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25128" y="3584448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6-mavzu. Loyiha ishlab chiqish va himoya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Bugungi mashg‘ulot — 1-mavzu (Windows OT xavfsizligi), uning 1-mashg‘uloti: Windows OT servislari.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41" name="Oval 40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1-MAVZU · WINDOWS OT XAVFSIZLIGI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1-mashg‘ulot: Windows OT servislari (Ma’ruza)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" y="2143353"/>
            <a:ext cx="321870" cy="3218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Mavzu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Windows OT xavfsizligi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6916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531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3" y="2143353"/>
            <a:ext cx="321870" cy="3218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218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Mashg‘ulot turi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Ma’ruza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169164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107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553" y="2143353"/>
            <a:ext cx="321870" cy="3218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794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Soat hajmi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2 soat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46120"/>
            <a:ext cx="11064240" cy="2468880"/>
          </a:xfrm>
          <a:prstGeom prst="roundRect">
            <a:avLst>
              <a:gd name="adj" fmla="val 3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O‘quv savollari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148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Servislar xususiyatlari va vazifalari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84632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463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Servislarni ishga tushirish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1-SAVOL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Servislar xususiyatlari va vazifalari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SERVISLAR XUSUSIYATLARI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 servisi (xizmat) nima?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74519"/>
            <a:ext cx="685800" cy="685800"/>
          </a:xfrm>
          <a:prstGeom prst="ellipse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nito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066543"/>
            <a:ext cx="301752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87451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Oddiy dastur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Ekranda oynasi bor, siz ochasiz (Word, brauzer)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Siz kirganingizda, siz ishga tushirasiz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40" y="1874519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ge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066543"/>
            <a:ext cx="301752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60920" y="1874519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Servis (xizmat)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Oynasi yo‘q, fonda ko‘rinmay ishlaydi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Tizim yuklanishi bilan avtomatik ishlaydi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Servisning oddiy dasturdan 3 ta asosiy farqi: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5528" y="452628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us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" y="4705502"/>
            <a:ext cx="281636" cy="2816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72768" y="455371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Foydalanuvchisiz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1663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Hech kim tizimga kirmagan bo‘lsa ham ishlaydi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429768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98848" y="452628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pow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070" y="4705502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76088" y="455371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Avtomatik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1663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Windows yuklanishi bilanoq o‘zi ishga tushadi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429768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02168" y="452628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390" y="4705502"/>
            <a:ext cx="281636" cy="2816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79408" y="455371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Maxsus hisob ostida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51663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SYSTEM, LocalService yoki NetworkService huquqi bilan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33" name="Oval 32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SERVISLAR XUSUSIYATLARI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Servislar nega kiberxavfsizlik uchun muhim?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611880" cy="128016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057400"/>
            <a:ext cx="868680" cy="8686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z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2300630"/>
            <a:ext cx="382220" cy="3822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154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Yuqori imtiyoz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94760"/>
            <a:ext cx="3063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Ko‘pgina servis </a:t>
            </a:r>
            <a:r>
              <a:rPr sz="1250" b="1">
                <a:solidFill>
                  <a:srgbClr val="178A73"/>
                </a:solidFill>
                <a:latin typeface="Consolas"/>
              </a:rPr>
              <a:t>SYSTEM</a:t>
            </a:r>
            <a:r>
              <a:rPr sz="1250">
                <a:solidFill>
                  <a:srgbClr val="202A38"/>
                </a:solidFill>
                <a:latin typeface="Times New Roman"/>
              </a:rPr>
              <a:t> darajasida ishlaydi — bu Windows’dagi eng yuqori huquq bo‘lib, hatto administratordan ham kuchli. Servisni qo‘lga kiritish = butun tizimni boshqarish.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9164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61688" y="1691640"/>
            <a:ext cx="3611880" cy="128016"/>
          </a:xfrm>
          <a:prstGeom prst="roundRect">
            <a:avLst>
              <a:gd name="adj" fmla="val 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36008" y="2057400"/>
            <a:ext cx="868680" cy="8686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e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38" y="2300630"/>
            <a:ext cx="382220" cy="3822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36008" y="3154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794760"/>
            <a:ext cx="3063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Zararli dastur o‘zini yangi </a:t>
            </a:r>
            <a:r>
              <a:rPr sz="1250" b="1">
                <a:solidFill>
                  <a:srgbClr val="202A38"/>
                </a:solidFill>
                <a:latin typeface="Times New Roman"/>
              </a:rPr>
              <a:t>servis</a:t>
            </a:r>
            <a:r>
              <a:rPr sz="1250">
                <a:solidFill>
                  <a:srgbClr val="202A38"/>
                </a:solidFill>
                <a:latin typeface="Times New Roman"/>
              </a:rPr>
              <a:t> sifatida ro‘yxatga qo‘shadi — shunda kompyuter qayta yoqilsa ham avtomatik qayta ishga tushadi (mustahkamlanadi).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69164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56448" y="1691640"/>
            <a:ext cx="3611880" cy="128016"/>
          </a:xfrm>
          <a:prstGeom prst="roundRect">
            <a:avLst>
              <a:gd name="adj" fmla="val 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30768" y="2057400"/>
            <a:ext cx="868680" cy="8686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998" y="2300630"/>
            <a:ext cx="382220" cy="3822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30768" y="3154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Privilege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794760"/>
            <a:ext cx="3063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Noto‘g‘ri sozlangan servis (masalan </a:t>
            </a:r>
            <a:r>
              <a:rPr sz="1250" b="1">
                <a:solidFill>
                  <a:srgbClr val="178A73"/>
                </a:solidFill>
                <a:latin typeface="Consolas"/>
              </a:rPr>
              <a:t>unquoted service path</a:t>
            </a:r>
            <a:r>
              <a:rPr sz="1250">
                <a:solidFill>
                  <a:srgbClr val="202A38"/>
                </a:solidFill>
                <a:latin typeface="Times New Roman"/>
              </a:rPr>
              <a:t>) orqali oddiy foydalanuvchi SYSTEM huquqiga ko‘tarilishi mumkin.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SERVISLAR XUSUSIYATLARI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300" b="1" i="0">
                <a:solidFill>
                  <a:srgbClr val="1F3864"/>
                </a:solidFill>
                <a:latin typeface="Times New Roman"/>
              </a:rPr>
              <a:t>Service Control Manager (SCM) — servislar “nazoratchisi”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6930" y="1600200"/>
            <a:ext cx="70008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30" y="1600200"/>
            <a:ext cx="70008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2648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1-rasm. Windows yuklanishi va SCM arxitekturasi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00200"/>
            <a:ext cx="3840480" cy="41605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4290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Kernel </a:t>
            </a:r>
            <a:r>
              <a:rPr sz="1250">
                <a:solidFill>
                  <a:srgbClr val="202A38"/>
                </a:solidFill>
                <a:latin typeface="Times New Roman"/>
              </a:rPr>
              <a:t>(</a:t>
            </a:r>
            <a:r>
              <a:rPr sz="1250" b="1">
                <a:solidFill>
                  <a:srgbClr val="178A73"/>
                </a:solidFill>
                <a:latin typeface="Consolas"/>
              </a:rPr>
              <a:t>ntoskrnl.exe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) birinchi ishga tushadi.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U </a:t>
            </a:r>
            <a:r>
              <a:rPr sz="1250" b="1">
                <a:solidFill>
                  <a:srgbClr val="178A73"/>
                </a:solidFill>
                <a:latin typeface="Consolas"/>
              </a:rPr>
              <a:t>services.exe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ya’ni SCM ni ishga tushiradi.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SCM barcha servislar ro‘yxatini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registrdan</a:t>
            </a:r>
            <a:r>
              <a:rPr sz="1250">
                <a:solidFill>
                  <a:srgbClr val="202A38"/>
                </a:solidFill>
                <a:latin typeface="Times New Roman"/>
              </a:rPr>
              <a:t> o‘qiydi.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SCM ularni ishga tushiradi, holatini kuzatadi, huquqlarini belgilaydi.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services.msc, sc.exe, PowerShell servis bilan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bevosita</a:t>
            </a:r>
            <a:r>
              <a:rPr sz="1250">
                <a:solidFill>
                  <a:srgbClr val="202A38"/>
                </a:solidFill>
                <a:latin typeface="Times New Roman"/>
              </a:rPr>
              <a:t> gaplashmaydi — hammasi SCM orqali o‘tadi.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SERVISLAR XUSUSIYATLARI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Servisning hayot sikli (Service States)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694944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6949440" cy="4169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2-rasm. Servis holatlari va ular orasidagi o‘tishlar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886200" cy="40233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Asosiy holatlar: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8600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Stopped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to‘xtagan, ishlamayapti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Start Pending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ishga tushish jarayonida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Running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to‘liq ishlamoqda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Paused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vaqtincha to‘xtatilgan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Stop Pending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to‘xtatilish jarayonida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SERVISLAR XUSUSIYATLARI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Ishga tushirish turlari (Startup Type)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27249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2724912" cy="822960"/>
          </a:xfrm>
          <a:prstGeom prst="roundRect">
            <a:avLst>
              <a:gd name="adj" fmla="val 5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286000"/>
            <a:ext cx="2724912" cy="2743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ow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38528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9888" y="1847088"/>
            <a:ext cx="18105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Automatic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788920"/>
            <a:ext cx="22677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Tizim yuklanishi bilan darhol ishga tushadi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16052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i="0">
                <a:solidFill>
                  <a:srgbClr val="43B02A"/>
                </a:solidFill>
                <a:latin typeface="Times New Roman"/>
              </a:rPr>
              <a:t>Qachon: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480560"/>
            <a:ext cx="22677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Muhim, doimiy servislar (tarmoq, Update)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737360"/>
            <a:ext cx="27249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01568" y="1737360"/>
            <a:ext cx="2724912" cy="822960"/>
          </a:xfrm>
          <a:prstGeom prst="roundRect">
            <a:avLst>
              <a:gd name="adj" fmla="val 5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1568" y="2286000"/>
            <a:ext cx="2724912" cy="2743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38528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24528" y="1847088"/>
            <a:ext cx="18105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Automatic (Delayed)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788920"/>
            <a:ext cx="22677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Yuklanib bo‘lgach, biroz kechikib ishlaydi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16052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i="0">
                <a:solidFill>
                  <a:srgbClr val="178A73"/>
                </a:solidFill>
                <a:latin typeface="Times New Roman"/>
              </a:rPr>
              <a:t>Qachon: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480560"/>
            <a:ext cx="22677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Zarur, lekin darhol shart bo‘lmaganlar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27249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36208" y="1737360"/>
            <a:ext cx="2724912" cy="822960"/>
          </a:xfrm>
          <a:prstGeom prst="roundRect">
            <a:avLst>
              <a:gd name="adj" fmla="val 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6208" y="2286000"/>
            <a:ext cx="2724912" cy="27432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pla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38528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9168" y="1847088"/>
            <a:ext cx="18105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788920"/>
            <a:ext cx="22677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Faqat so‘ralganda ishga tushadi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16052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i="0">
                <a:solidFill>
                  <a:srgbClr val="E08E1D"/>
                </a:solidFill>
                <a:latin typeface="Times New Roman"/>
              </a:rPr>
              <a:t>Qachon: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480560"/>
            <a:ext cx="22677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Kam ishlatiladiganlar (Print Spooler)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0848" y="1737360"/>
            <a:ext cx="27249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70848" y="1737360"/>
            <a:ext cx="2724912" cy="82296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70848" y="2286000"/>
            <a:ext cx="2724912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to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938528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93808" y="1847088"/>
            <a:ext cx="18105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Disabled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2788920"/>
            <a:ext cx="22677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Umuman ishga tushmaydi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416052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Times New Roman"/>
              </a:rPr>
              <a:t>Qachon: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4480560"/>
            <a:ext cx="22677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Ishlatilmaydigan, xavfli bo‘lishi mumkinlar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39" name="Oval 38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SERVISLAR XUSUSIYATLARI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Servis qaysi hisob ostida ishlaydi?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195" y="1645920"/>
            <a:ext cx="662002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5" y="1645920"/>
            <a:ext cx="662002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0644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3-rasm. Servis hisoblari va imtiyoz (privilege) darajasi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645920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874519"/>
            <a:ext cx="36576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onsolas"/>
              </a:rPr>
              <a:t>SYSTEM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eng yuqori, deyarli cheklovsiz huquq.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onsolas"/>
              </a:rPr>
              <a:t>LocalService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minimal huquq, tarmoqqa cheklangan kirish.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onsolas"/>
              </a:rPr>
              <a:t>NetworkService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minimal, lekin tarmoqda faol.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Xavfsizlik qoidasi: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“</a:t>
            </a:r>
            <a:r>
              <a:rPr sz="1250" b="1">
                <a:solidFill>
                  <a:srgbClr val="178A73"/>
                </a:solidFill>
                <a:latin typeface="Consolas"/>
              </a:rPr>
              <a:t>least privilege</a:t>
            </a:r>
            <a:r>
              <a:rPr sz="1250">
                <a:solidFill>
                  <a:srgbClr val="202A38"/>
                </a:solidFill>
                <a:latin typeface="Times New Roman"/>
              </a:rPr>
              <a:t>” — servisga qancha kam huquq berilsa, tizim shuncha xavfsiz.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C0392B"/>
                </a:solidFill>
                <a:latin typeface="Times New Roman"/>
              </a:rPr>
              <a:t>SYSTEM huquqidagi servis — buzg‘unchi uchun eng qimmatli o‘lja.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2-SAVOL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Servislarni ishga tushirish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SERVISLARNI ISHGA TUSHIRISH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Servislarni boshqarishning 3 ta vositasi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011680"/>
            <a:ext cx="868680" cy="8686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nito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2254910"/>
            <a:ext cx="382220" cy="382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7088" y="20574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GUI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5059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onsolas"/>
              </a:rPr>
              <a:t>services.msc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00400"/>
            <a:ext cx="3063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Sichqoncha bilan ishlaydigan grafik oyna. Barcha servislar ro‘yxati, holati va “Log On” bo‘limi ko‘rinadi.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36008" y="2011680"/>
            <a:ext cx="868680" cy="8686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38" y="2254910"/>
            <a:ext cx="382220" cy="382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41848" y="20574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CMD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45059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onsolas"/>
              </a:rPr>
              <a:t>sc.exe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00400"/>
            <a:ext cx="3063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Buyruq qatoridan boshqarish uchun klassik vosita. Sintaksis: sc [buyruq] [servis_nomi] [parametr].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3736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2011680"/>
            <a:ext cx="868680" cy="8686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z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998" y="2254910"/>
            <a:ext cx="382220" cy="382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36608" y="20574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PowerShell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45059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onsolas"/>
              </a:rPr>
              <a:t>Get-Service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200400"/>
            <a:ext cx="3063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Zamonaviy, avtomatlashtirishga qulay. Fe’l-Ot shaklidagi cmdlet’lar: Get-Service, Start-Service.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SERVISLARNI ISHGA TUSHIRISH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GUI orqali — services.msc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Ochish uchun: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536192"/>
            <a:ext cx="461772" cy="384048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mbria Math"/>
              </a:rPr>
              <a:t>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0572" y="1536192"/>
            <a:ext cx="2194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0028" y="1536192"/>
            <a:ext cx="314553" cy="384048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mbria Math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1741" y="153619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→  services.msc  →  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57543"/>
            <a:ext cx="4023360" cy="226859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57543"/>
            <a:ext cx="4023360" cy="2268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4480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4-rasm. Run oynasida services.msc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5385" y="2148840"/>
            <a:ext cx="5676989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385" y="2148840"/>
            <a:ext cx="5676989" cy="3566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57607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5-rasm. Services oynasi: Status, Startup Type va Log On As ustunlari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63440"/>
            <a:ext cx="4114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78A73"/>
                </a:solidFill>
                <a:latin typeface="Consolas"/>
              </a:rPr>
              <a:t>Status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Running / Stopped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78A73"/>
                </a:solidFill>
                <a:latin typeface="Consolas"/>
              </a:rPr>
              <a:t>Startup Type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Automatic / Manual…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78A73"/>
                </a:solidFill>
                <a:latin typeface="Consolas"/>
              </a:rPr>
              <a:t>Log On As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qaysi hisob ostida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9" name="Oval 18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SERVISLARNI ISHGA TUSHIRISH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CMD orqali — sc.exe buyruqlari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Buyruq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Nima qiladi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Misol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sc query &lt;nom&gt;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Servisning joriy holatini ko‘rsatadi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sc query Spooler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sc start &lt;nom&gt;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Servisni ishga tushiradi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sc start Spooler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sc stop &lt;nom&gt;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Servisni to‘xtatadi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sc stop Spooler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sc qc &lt;nom&gt;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To‘liq konfiguratsiya (fayl yo‘li, hisob)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sc qc Spooler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sc config &lt;nom&gt; start= disabled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Startup turini o‘zgartiradi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sc config Spooler start= disabled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806440"/>
            <a:ext cx="11064240" cy="502920"/>
          </a:xfrm>
          <a:prstGeom prst="roundRect">
            <a:avLst>
              <a:gd name="adj" fmla="val 2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arning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888736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58521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Diqqat: </a:t>
            </a:r>
            <a:r>
              <a:rPr sz="1150">
                <a:solidFill>
                  <a:srgbClr val="202A38"/>
                </a:solidFill>
                <a:latin typeface="Times New Roman"/>
              </a:rPr>
              <a:t>“</a:t>
            </a:r>
            <a:r>
              <a:rPr sz="1150" b="1">
                <a:solidFill>
                  <a:srgbClr val="178A73"/>
                </a:solidFill>
                <a:latin typeface="Consolas"/>
              </a:rPr>
              <a:t>=</a:t>
            </a:r>
            <a:r>
              <a:rPr sz="1150">
                <a:solidFill>
                  <a:srgbClr val="202A38"/>
                </a:solidFill>
                <a:latin typeface="Times New Roman"/>
              </a:rPr>
              <a:t>” belgisidan keyin bo‘sh joy qoldiriladi (</a:t>
            </a:r>
            <a:r>
              <a:rPr sz="1150" b="1">
                <a:solidFill>
                  <a:srgbClr val="178A73"/>
                </a:solidFill>
                <a:latin typeface="Consolas"/>
              </a:rPr>
              <a:t>start= disabled</a:t>
            </a:r>
            <a:r>
              <a:rPr sz="1150">
                <a:solidFill>
                  <a:srgbClr val="202A38"/>
                </a:solidFill>
                <a:latin typeface="Times New Roman"/>
              </a:rPr>
              <a:t>), lekin oldidan bo‘sh joy bo‘lmaydi.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SERVISLARNI ISHGA TUSHIRISH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PowerShell orqali — cmdlet’lar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6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Cmdlet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Fe’l (nima qiladi)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Ot (nimaga)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Get-Service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Get — olish, ko‘rish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Service — servis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Start-Service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Start — ishga tushirish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Service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Stop-Service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Stop — to‘xtatish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onsolas"/>
                        </a:rPr>
                        <a:t>Set-Service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Set — sozlash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A38"/>
                          </a:solidFill>
                          <a:latin typeface="Times New Roman"/>
                        </a:rPr>
                        <a:t>Service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480560"/>
            <a:ext cx="11064240" cy="1371600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4709160"/>
            <a:ext cx="731520" cy="73152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z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" y="4913985"/>
            <a:ext cx="321870" cy="3218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4709160"/>
            <a:ext cx="9509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Cmdlet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faqat PowerShell ichida yashaydigan buyruq (oddiy </a:t>
            </a:r>
            <a:r>
              <a:rPr sz="1250" b="1">
                <a:solidFill>
                  <a:srgbClr val="178A73"/>
                </a:solidFill>
                <a:latin typeface="Consolas"/>
              </a:rPr>
              <a:t>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 fayl emas).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Nomlanishi doim </a:t>
            </a:r>
            <a:r>
              <a:rPr sz="1250" b="1">
                <a:solidFill>
                  <a:srgbClr val="202A38"/>
                </a:solidFill>
                <a:latin typeface="Times New Roman"/>
              </a:rPr>
              <a:t>Fe’l-Ot (Verb-Noun)</a:t>
            </a:r>
            <a:r>
              <a:rPr sz="1250">
                <a:solidFill>
                  <a:srgbClr val="202A38"/>
                </a:solidFill>
                <a:latin typeface="Times New Roman"/>
              </a:rPr>
              <a:t> shaklida: </a:t>
            </a:r>
            <a:r>
              <a:rPr sz="1250" b="1">
                <a:solidFill>
                  <a:srgbClr val="178A73"/>
                </a:solidFill>
                <a:latin typeface="Consolas"/>
              </a:rPr>
              <a:t>Get-Service</a:t>
            </a:r>
            <a:r>
              <a:rPr sz="1250">
                <a:solidFill>
                  <a:srgbClr val="202A38"/>
                </a:solidFill>
                <a:latin typeface="Times New Roman"/>
              </a:rPr>
              <a:t>, </a:t>
            </a:r>
            <a:r>
              <a:rPr sz="1250" b="1">
                <a:solidFill>
                  <a:srgbClr val="178A73"/>
                </a:solidFill>
                <a:latin typeface="Consolas"/>
              </a:rPr>
              <a:t>Start-Service</a:t>
            </a:r>
            <a:r>
              <a:rPr sz="1250">
                <a:solidFill>
                  <a:srgbClr val="202A38"/>
                </a:solidFill>
                <a:latin typeface="Times New Roman"/>
              </a:rPr>
              <a:t>. Shuning uchun </a:t>
            </a:r>
            <a:r>
              <a:rPr sz="1250" b="1">
                <a:solidFill>
                  <a:srgbClr val="178A73"/>
                </a:solidFill>
                <a:latin typeface="Consolas"/>
              </a:rPr>
              <a:t>Get-Service</a:t>
            </a:r>
            <a:r>
              <a:rPr sz="1250">
                <a:solidFill>
                  <a:srgbClr val="202A38"/>
                </a:solidFill>
                <a:latin typeface="Times New Roman"/>
              </a:rPr>
              <a:t> CMD’da ishlamaydi — faqat PowerShell’da.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300" b="1" i="0">
                <a:solidFill>
                  <a:srgbClr val="1F3864"/>
                </a:solidFill>
                <a:latin typeface="Times New Roman"/>
              </a:rPr>
              <a:t>sc qc — xavfsizlik nuqtai nazaridan nega muhim?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486400" cy="2194560"/>
          </a:xfrm>
          <a:prstGeom prst="roundRect">
            <a:avLst>
              <a:gd name="adj" fmla="val 3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8FE6C4"/>
                </a:solidFill>
                <a:latin typeface="Consolas"/>
              </a:rPr>
              <a:t>&gt; sc qc Spooler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endParaRPr sz="1300" b="0" i="0">
              <a:solidFill>
                <a:srgbClr val="8FE6C4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8FE6C4"/>
                </a:solidFill>
                <a:latin typeface="Consolas"/>
              </a:rPr>
              <a:t>BINARY_PATH_NAME 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8FE6C4"/>
                </a:solidFill>
                <a:latin typeface="Consolas"/>
              </a:rPr>
              <a:t>   C:\Windows\System32\spoolsv.exe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8FE6C4"/>
                </a:solidFill>
                <a:latin typeface="Consolas"/>
              </a:rPr>
              <a:t>SERVICE_START_NAME : LocalSystem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03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BINARY_PATH_NAME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fayl yo‘li. Tirnoqsiz va bo‘sh joyli bo‘lsa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unquoted service path</a:t>
            </a:r>
            <a:r>
              <a:rPr sz="1250">
                <a:solidFill>
                  <a:srgbClr val="202A38"/>
                </a:solidFill>
                <a:latin typeface="Times New Roman"/>
              </a:rPr>
              <a:t> zaifligi bo‘lishi mumkin.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SERVICE_START_NAME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servis qaysi hisob ostida ishlashini ko‘rsatadi.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Forensika va etikal hakingda </a:t>
            </a:r>
            <a:r>
              <a:rPr sz="1250" b="1">
                <a:solidFill>
                  <a:srgbClr val="178A73"/>
                </a:solidFill>
                <a:latin typeface="Consolas"/>
              </a:rPr>
              <a:t>sc qc</a:t>
            </a:r>
            <a:r>
              <a:rPr sz="1250">
                <a:solidFill>
                  <a:srgbClr val="202A38"/>
                </a:solidFill>
                <a:latin typeface="Times New Roman"/>
              </a:rPr>
              <a:t> — birinchi tekshiriladigan buyruqlardan biri.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69080"/>
            <a:ext cx="5440680" cy="12344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4279392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4458614"/>
            <a:ext cx="281636" cy="2816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4224528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Blue Team</a:t>
            </a:r>
            <a:r>
              <a:rPr sz="1200">
                <a:solidFill>
                  <a:srgbClr val="202A38"/>
                </a:solidFill>
                <a:latin typeface="Times New Roman"/>
              </a:rPr>
              <a:t>: ortiqcha servislarni </a:t>
            </a:r>
            <a:r>
              <a:rPr sz="1200" b="1">
                <a:solidFill>
                  <a:srgbClr val="178A73"/>
                </a:solidFill>
                <a:latin typeface="Consolas"/>
              </a:rPr>
              <a:t>Disabled</a:t>
            </a:r>
            <a:r>
              <a:rPr sz="1200">
                <a:solidFill>
                  <a:srgbClr val="202A38"/>
                </a:solidFill>
                <a:latin typeface="Times New Roman"/>
              </a:rPr>
              <a:t> qilib, hujum yuzasini kamaytiradi.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4069080"/>
            <a:ext cx="5440680" cy="123444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0" y="42793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u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2" y="4458614"/>
            <a:ext cx="281636" cy="2816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78040" y="4224528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Times New Roman"/>
              </a:rPr>
              <a:t>Red Team / Forensics</a:t>
            </a:r>
            <a:r>
              <a:rPr sz="1200">
                <a:solidFill>
                  <a:srgbClr val="202A38"/>
                </a:solidFill>
                <a:latin typeface="Times New Roman"/>
              </a:rPr>
              <a:t>: yangi yaratilgan yoki noto‘g‘ri sozlangan servislarni qidiradi.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532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Atamalar (izoh uchun bosing):</a:t>
            </a:r>
          </a:p>
        </p:txBody>
      </p:sp>
      <p:sp>
        <p:nvSpPr>
          <p:cNvPr id="18" name="Rounded Rectangle 17">
            <a:hlinkClick r:id="rId5" action="ppaction://hlinksldjump"/>
          </p:cNvPr>
          <p:cNvSpPr/>
          <p:nvPr/>
        </p:nvSpPr>
        <p:spPr>
          <a:xfrm>
            <a:off x="566928" y="5852160"/>
            <a:ext cx="266547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Unquoted service path</a:t>
            </a:r>
          </a:p>
        </p:txBody>
      </p:sp>
      <p:sp>
        <p:nvSpPr>
          <p:cNvPr id="19" name="Rounded Rectangle 18">
            <a:hlinkClick r:id="rId6" action="ppaction://hlinksldjump"/>
          </p:cNvPr>
          <p:cNvSpPr/>
          <p:nvPr/>
        </p:nvSpPr>
        <p:spPr>
          <a:xfrm>
            <a:off x="3461004" y="585216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MITRE ATT&amp;CK</a:t>
            </a:r>
          </a:p>
        </p:txBody>
      </p:sp>
      <p:sp>
        <p:nvSpPr>
          <p:cNvPr id="20" name="Rounded Rectangle 19">
            <a:hlinkClick r:id="rId7" action="ppaction://hlinksldjump"/>
          </p:cNvPr>
          <p:cNvSpPr/>
          <p:nvPr/>
        </p:nvSpPr>
        <p:spPr>
          <a:xfrm>
            <a:off x="5408676" y="5852160"/>
            <a:ext cx="108813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cmdlet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22" name="Oval 21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Times New Roman"/>
              </a:rPr>
              <a:t>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2055571"/>
            <a:ext cx="241402" cy="2414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1783080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Windows servislari — fonda avtomatik ishlaydigan, maxsus tizim hisoblari ostidagi dasturlar.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616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761488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915107"/>
            <a:ext cx="241402" cy="2414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8760" y="2642616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Barcha servislarni Service Control Manager (SCM) boshqaradi; ro‘yxat registrda saqlanadi.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02152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621024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ermina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3774643"/>
            <a:ext cx="241402" cy="2414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08760" y="3502152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Boshqarish 3 usulda: GUI (services.msc), CMD (sc.exe), PowerShell (cmdlet’lar).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61688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warn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4634179"/>
            <a:ext cx="241402" cy="2414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4361688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Noto‘g‘ri sozlangan servis — privilege escalation va persistence uchun xavf.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21224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5340096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ay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" y="5493715"/>
            <a:ext cx="241402" cy="24140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8760" y="5221224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Bu bilim keyingi mavzular (virusologiya, tarmoq monitoringi) uchun poydevor.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Nazorat savollari — 1-mashg‘ulot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200253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78308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Windows servisi oddiy dasturdan nimasi bilan farq qiladi?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7063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299008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770632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SYSTEM, LocalService va NetworkService hisoblari o‘rtasidagi farq?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5818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9776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SCM qanday vazifalarni bajaradi va u qayerda joylashgan?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4573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9808" y="496519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745736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Startup type’ning 4 turini sanab, qachon ishlatilishini tushuntiring.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7830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73368" y="200253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178308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Nega noto‘g‘ri sozlangan servis privilege escalation’ga olib keladi?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73368" y="299008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770632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sc query va sc config buyruqlari o‘rtasidagi farq nima?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75818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3368" y="397764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758184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Nega forensik tahlilda servislarni tekshirish muhim?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234440"/>
            <a:ext cx="1737360" cy="1764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3246120"/>
            <a:ext cx="3959352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0" i="1">
                <a:solidFill>
                  <a:srgbClr val="C7D6E6"/>
                </a:solidFill>
                <a:latin typeface="Times New Roman"/>
              </a:rPr>
              <a:t>Savollaringiz bo‘lsa, marhamat.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8FD9C4"/>
                </a:solidFill>
                <a:latin typeface="Times New Roman"/>
              </a:rPr>
              <a:t>Keyingi qism — atamalar izohi (glossariy)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ATAMALAR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Glossariy — bu bo‘limda quyidagilar tushuntiriladi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47" y="2142987"/>
            <a:ext cx="249450" cy="249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3560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Servis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fonda ishlaydigan dastur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3872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467" y="2142987"/>
            <a:ext cx="249450" cy="249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2452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Service Control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servislar dispetcheri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2764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387" y="2142987"/>
            <a:ext cx="249450" cy="249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1344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Windows sozlamalar bazasi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1656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ow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307" y="2142987"/>
            <a:ext cx="249450" cy="249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0236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Startup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qachon ishga tushishi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1546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980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547" y="3514587"/>
            <a:ext cx="249450" cy="249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3560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Servis hisoblari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SYSTEM/LocalService…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55848" y="31546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3872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warn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7467" y="3514587"/>
            <a:ext cx="249450" cy="249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2452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Unquoted service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xavfli zaiflik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1546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2764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rosshai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387" y="3514587"/>
            <a:ext cx="249450" cy="249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1344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MITRE ATT&amp;CK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hujum texnikalari bazasi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33688" y="31546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1656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za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5307" y="3514587"/>
            <a:ext cx="249450" cy="2494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0236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cmdlet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656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PowerShell buyrug‘i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663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Har bir atama boshlang‘ich talabaga tushunarli tilda, misol va chizma bilan tushuntirilgan.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48" name="Oval 47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ATAMA IZOHI · GLOSSARIY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Service Control Manager (SCM)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tilda: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SCM — bu barcha servislarning “boshlig‘i” yoki dispetcheri. U services.exe fayli ko‘rinishida ishlaydi. Windows yonganda kernel uni ishga tushiradi, so‘ng SCM registrdagi ro‘yxatni o‘qib, har bir servisni ishga tushiradi, to‘xtatadi va nazorat qiladi.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Nega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97680"/>
            <a:ext cx="5577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Siz “Spooler’ni to‘xtat” desangiz, buyruq to‘g‘ridan-to‘g‘ri servisga emas, avval SCM’ga boradi — SCM esa uni bajaradi. Ya’ni hamma boshqaruv SCM orqali o‘tadi.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4754880" cy="5943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Kernel (ntoskrnl.exe)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77656" y="2331720"/>
            <a:ext cx="201168" cy="32004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4754880" cy="64008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SCM — services.exe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677656" y="3383280"/>
            <a:ext cx="201168" cy="32004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3749039"/>
            <a:ext cx="4754880" cy="59436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Registry: HKLM\SYSTEM\...\Services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677656" y="4389120"/>
            <a:ext cx="201168" cy="320040"/>
          </a:xfrm>
          <a:prstGeom prst="down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4754880"/>
            <a:ext cx="1481328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Spooler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4754880"/>
            <a:ext cx="1481328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2" y="475488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Wuauserv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4754880"/>
            <a:ext cx="1481328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56064" y="475488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Dhcp</a:t>
            </a:r>
          </a:p>
        </p:txBody>
      </p:sp>
      <p:sp>
        <p:nvSpPr>
          <p:cNvPr id="27" name="Rounded Rectangle 26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ATAMA IZOHI · GLOSSARIY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Unquoted Service Path (zaiflik)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Muammo: servis fayli manzili tirnoqsiz va ichida bo‘sh joy bo‘lsa. Masalan: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94560"/>
            <a:ext cx="6675120" cy="502920"/>
          </a:xfrm>
          <a:prstGeom prst="roundRect">
            <a:avLst>
              <a:gd name="adj" fmla="val 6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8FE6C4"/>
                </a:solidFill>
                <a:latin typeface="Consolas"/>
              </a:rPr>
              <a:t>C:\Program Files\My App\service.exe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80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202A38"/>
                </a:solidFill>
                <a:latin typeface="Times New Roman"/>
              </a:rPr>
              <a:t>Bo‘sh joy uchraganda Windows ketma-ket sinab ko‘radi: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91840"/>
            <a:ext cx="12801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3291840"/>
            <a:ext cx="4572000" cy="5486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1F3864"/>
                </a:solidFill>
                <a:latin typeface="Consolas"/>
              </a:rPr>
              <a:t>C:\Program.exe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9184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Times New Roman"/>
              </a:rPr>
              <a:t>← buzg‘unchi shu yerga zararli fayl qo‘ysa — birinchi shu ishga tushadi!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50208"/>
            <a:ext cx="128016" cy="54864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3950208"/>
            <a:ext cx="4572000" cy="5486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8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1F3864"/>
                </a:solidFill>
                <a:latin typeface="Consolas"/>
              </a:rPr>
              <a:t>C:\Program Files\My.exe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95020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B06E10"/>
                </a:solidFill>
                <a:latin typeface="Times New Roman"/>
              </a:rPr>
              <a:t>← bu ham sinab ko‘riladi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08576"/>
            <a:ext cx="128016" cy="548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608576"/>
            <a:ext cx="4572000" cy="5486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08576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1F3864"/>
                </a:solidFill>
                <a:latin typeface="Consolas"/>
              </a:rPr>
              <a:t>C:\Program Files\My App\service.exe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608576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43B02A"/>
                </a:solidFill>
                <a:latin typeface="Times New Roman"/>
              </a:rPr>
              <a:t>← asl, to‘g‘ri fayl (eng oxirida)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warning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532120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546811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Times New Roman"/>
              </a:rPr>
              <a:t>Eng yomoni: </a:t>
            </a:r>
            <a:r>
              <a:rPr sz="1200">
                <a:solidFill>
                  <a:srgbClr val="202A38"/>
                </a:solidFill>
                <a:latin typeface="Times New Roman"/>
              </a:rPr>
              <a:t>servis </a:t>
            </a:r>
            <a:r>
              <a:rPr sz="1200" b="1">
                <a:solidFill>
                  <a:srgbClr val="178A73"/>
                </a:solidFill>
                <a:latin typeface="Consolas"/>
              </a:rPr>
              <a:t>SYSTEM</a:t>
            </a:r>
            <a:r>
              <a:rPr sz="1200">
                <a:solidFill>
                  <a:srgbClr val="202A38"/>
                </a:solidFill>
                <a:latin typeface="Times New Roman"/>
              </a:rPr>
              <a:t> huquqi bilan ishlagani uchun, zararli fayl ham SYSTEM huquqi bilan ishga tushadi — oddiy foydalanuvchi butun tizimni egallaydi. Yechim: manzilni doim tirnoq ichida yozish.</a:t>
            </a:r>
          </a:p>
        </p:txBody>
      </p:sp>
      <p:sp>
        <p:nvSpPr>
          <p:cNvPr id="27" name="Rounded Rectangle 26">
            <a:hlinkClick r:id="rId4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ATAMA IZOHI · GLOSSARIY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MITRE ATT&amp;CK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tilda: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6400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MITRE ATT&amp;CK — hujumchilar haqiqiy hayotda ishlatgan taktika va texnikalarni (masalan, “unquoted service path”) tartibga solib, katalog qilib qo‘ygan bepul, ochiq ma’lumotlar bazasi.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300" b="0" i="0">
              <a:solidFill>
                <a:srgbClr val="202A38"/>
              </a:solidFill>
              <a:latin typeface="Times New Roman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Kiberxavfsizlik mutaxassislari undan hujumlarni tushunish, aniqlash va himoyalanish uchun foydalanadi — bu sohaning umumiy “lug‘ati”.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4434840" cy="356616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52360" y="1920240"/>
            <a:ext cx="822960" cy="8229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rosshai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788" y="2150668"/>
            <a:ext cx="362104" cy="3621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58200" y="20116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Misol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926080"/>
            <a:ext cx="39776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Bizning zaiflik bazada shunday kodlangan: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178A73"/>
                </a:solidFill>
                <a:latin typeface="Consolas"/>
              </a:rPr>
              <a:t>T1574.009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54647A"/>
                </a:solidFill>
                <a:latin typeface="Times New Roman"/>
              </a:rPr>
              <a:t>Hijack Execution Flow: Path Interception by Unquoted Path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Manba: </a:t>
            </a:r>
            <a:r>
              <a:rPr sz="1300" b="1">
                <a:solidFill>
                  <a:srgbClr val="178A73"/>
                </a:solidFill>
                <a:latin typeface="Consolas"/>
              </a:rPr>
              <a:t>attack.mitre.org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ATAMA IZOHI · GLOSSARIY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cmdlet (PowerShell buyrug‘i)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tilda: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6400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Cmdlet (o‘qilishi “command-let”) — PowerShell’ga xos, kichik va aniq bitta vazifani bajaradigan buyruq. U oddiy .exe dastur emas — faqat PowerShell ichida ishlaydi.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300" b="0" i="0">
              <a:solidFill>
                <a:srgbClr val="202A38"/>
              </a:solidFill>
              <a:latin typeface="Times New Roman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Cmdlet doim “Fe’l-Ot” (Verb-Noun) shaklida nomlanadi: avval nima qilishi (fe’l), keyin nimaga (ot).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737360"/>
            <a:ext cx="4434840" cy="4572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173736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Fe’l  +  Ot  =  cmdlet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286000"/>
            <a:ext cx="443484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onsolas"/>
              </a:rPr>
              <a:t>Get-Service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8600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54647A"/>
                </a:solidFill>
                <a:latin typeface="Times New Roman"/>
              </a:rPr>
              <a:t>Get (olish) · Service (servis)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834640"/>
            <a:ext cx="443484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28346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onsolas"/>
              </a:rPr>
              <a:t>Start-Service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34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54647A"/>
                </a:solidFill>
                <a:latin typeface="Times New Roman"/>
              </a:rPr>
              <a:t>Start (ishga tushirish) ·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383280"/>
            <a:ext cx="443484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3383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Consolas"/>
              </a:rPr>
              <a:t>Stop-Service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832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54647A"/>
                </a:solidFill>
                <a:latin typeface="Times New Roman"/>
              </a:rPr>
              <a:t>Stop (to‘xtatish) ·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80560"/>
            <a:ext cx="6400800" cy="8229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53712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Diqqat: </a:t>
            </a:r>
            <a:r>
              <a:rPr sz="1250" b="1">
                <a:solidFill>
                  <a:srgbClr val="178A73"/>
                </a:solidFill>
                <a:latin typeface="Consolas"/>
              </a:rPr>
              <a:t>Get-Service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CMD’da yozsangiz ishlamaydi — faqat PowerShell’da ishlaydi.</a:t>
            </a:r>
          </a:p>
        </p:txBody>
      </p:sp>
      <p:sp>
        <p:nvSpPr>
          <p:cNvPr id="23" name="Rounded Rectangle 22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2320</Words>
  <Application>Microsoft Office PowerPoint</Application>
  <PresentationFormat>Широкоэкранный</PresentationFormat>
  <Paragraphs>351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2026-09-21T17:01:09Z</dcterms:modified>
  <cp:category/>
</cp:coreProperties>
</file>